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AFCA"/>
    <a:srgbClr val="F1F5F9"/>
    <a:srgbClr val="E8EEF7"/>
    <a:srgbClr val="707372"/>
    <a:srgbClr val="EDF25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2932" autoAdjust="0"/>
  </p:normalViewPr>
  <p:slideViewPr>
    <p:cSldViewPr snapToGrid="0" snapToObjects="1">
      <p:cViewPr varScale="1">
        <p:scale>
          <a:sx n="49" d="100"/>
          <a:sy n="49" d="100"/>
        </p:scale>
        <p:origin x="833"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AA2AD0-C8FE-4D0F-9A5C-C586323AE2E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CE69A4B-FBA1-4A10-BCEC-98E8ED121932}">
      <dgm:prSet phldrT="[Text]" phldr="0"/>
      <dgm:spPr/>
      <dgm:t>
        <a:bodyPr/>
        <a:lstStyle/>
        <a:p>
          <a:r>
            <a:rPr lang="en-US" b="1" dirty="0">
              <a:solidFill>
                <a:schemeClr val="bg1"/>
              </a:solidFill>
              <a:latin typeface="Arial Black"/>
              <a:cs typeface="Arial Black"/>
            </a:rPr>
            <a:t>Country &amp; Group Intelligence</a:t>
          </a:r>
          <a:endParaRPr lang="en-US" dirty="0">
            <a:solidFill>
              <a:schemeClr val="bg1"/>
            </a:solidFill>
          </a:endParaRPr>
        </a:p>
      </dgm:t>
    </dgm:pt>
    <dgm:pt modelId="{F369AF15-FCE3-4A65-9A57-50EF9CB9BAB1}" type="parTrans" cxnId="{47311DBF-10D3-43AD-B61A-1F77DFC9FD67}">
      <dgm:prSet/>
      <dgm:spPr/>
      <dgm:t>
        <a:bodyPr/>
        <a:lstStyle/>
        <a:p>
          <a:endParaRPr lang="en-US">
            <a:solidFill>
              <a:schemeClr val="bg1"/>
            </a:solidFill>
          </a:endParaRPr>
        </a:p>
      </dgm:t>
    </dgm:pt>
    <dgm:pt modelId="{17B97F16-1E83-4AC3-BBF7-6F57B27411AD}" type="sibTrans" cxnId="{47311DBF-10D3-43AD-B61A-1F77DFC9FD67}">
      <dgm:prSet/>
      <dgm:spPr/>
      <dgm:t>
        <a:bodyPr/>
        <a:lstStyle/>
        <a:p>
          <a:endParaRPr lang="en-US">
            <a:solidFill>
              <a:schemeClr val="bg1"/>
            </a:solidFill>
          </a:endParaRPr>
        </a:p>
      </dgm:t>
    </dgm:pt>
    <dgm:pt modelId="{D17DC6C5-DD54-4BA5-9458-B8FEEFD2C4B4}">
      <dgm:prSet phldrT="[Text]" phldr="0"/>
      <dgm:spPr/>
      <dgm:t>
        <a:bodyPr/>
        <a:lstStyle/>
        <a:p>
          <a:r>
            <a:rPr lang="en-US" b="1" dirty="0">
              <a:solidFill>
                <a:schemeClr val="bg1"/>
              </a:solidFill>
              <a:latin typeface="Arial Black"/>
              <a:cs typeface="Arial Black"/>
            </a:rPr>
            <a:t>IMF Statistics</a:t>
          </a:r>
          <a:endParaRPr lang="en-US" dirty="0">
            <a:solidFill>
              <a:schemeClr val="bg1"/>
            </a:solidFill>
          </a:endParaRPr>
        </a:p>
      </dgm:t>
    </dgm:pt>
    <dgm:pt modelId="{8C4B6FB7-2DFD-4AFF-8EE8-B8F993565118}" type="parTrans" cxnId="{2A2EB55F-98EC-4355-8C43-26019A7BA6FF}">
      <dgm:prSet/>
      <dgm:spPr/>
      <dgm:t>
        <a:bodyPr/>
        <a:lstStyle/>
        <a:p>
          <a:endParaRPr lang="en-US">
            <a:solidFill>
              <a:schemeClr val="bg1"/>
            </a:solidFill>
          </a:endParaRPr>
        </a:p>
      </dgm:t>
    </dgm:pt>
    <dgm:pt modelId="{C62F420C-A119-4AAA-BD3C-5013EF8966BC}" type="sibTrans" cxnId="{2A2EB55F-98EC-4355-8C43-26019A7BA6FF}">
      <dgm:prSet/>
      <dgm:spPr/>
      <dgm:t>
        <a:bodyPr/>
        <a:lstStyle/>
        <a:p>
          <a:endParaRPr lang="en-US">
            <a:solidFill>
              <a:schemeClr val="bg1"/>
            </a:solidFill>
          </a:endParaRPr>
        </a:p>
      </dgm:t>
    </dgm:pt>
    <dgm:pt modelId="{C9FD24DA-8ADA-4EC5-8EFD-569908B23763}">
      <dgm:prSet phldrT="[Text]" phldr="0"/>
      <dgm:spPr/>
      <dgm:t>
        <a:bodyPr/>
        <a:lstStyle/>
        <a:p>
          <a:r>
            <a:rPr lang="en-US" b="1" dirty="0">
              <a:solidFill>
                <a:schemeClr val="bg1"/>
              </a:solidFill>
              <a:latin typeface="Arial Black"/>
              <a:cs typeface="Arial Black"/>
            </a:rPr>
            <a:t>Markets &amp; Finance</a:t>
          </a:r>
          <a:endParaRPr lang="en-US" dirty="0">
            <a:solidFill>
              <a:schemeClr val="bg1"/>
            </a:solidFill>
          </a:endParaRPr>
        </a:p>
      </dgm:t>
    </dgm:pt>
    <dgm:pt modelId="{9F8FA61E-1AAD-4D57-9222-651C6545D84F}" type="parTrans" cxnId="{3DF74894-1592-4213-A20C-4D57AF2FB46E}">
      <dgm:prSet/>
      <dgm:spPr/>
      <dgm:t>
        <a:bodyPr/>
        <a:lstStyle/>
        <a:p>
          <a:endParaRPr lang="en-US">
            <a:solidFill>
              <a:schemeClr val="bg1"/>
            </a:solidFill>
          </a:endParaRPr>
        </a:p>
      </dgm:t>
    </dgm:pt>
    <dgm:pt modelId="{6128FA28-C2D6-47DB-8FA7-8C58F48601E7}" type="sibTrans" cxnId="{3DF74894-1592-4213-A20C-4D57AF2FB46E}">
      <dgm:prSet/>
      <dgm:spPr/>
      <dgm:t>
        <a:bodyPr/>
        <a:lstStyle/>
        <a:p>
          <a:endParaRPr lang="en-US">
            <a:solidFill>
              <a:schemeClr val="bg1"/>
            </a:solidFill>
          </a:endParaRPr>
        </a:p>
      </dgm:t>
    </dgm:pt>
    <dgm:pt modelId="{C3372372-DBBC-451D-99F0-36C6452768D6}">
      <dgm:prSet phldrT="[Text]" phldr="0"/>
      <dgm:spPr/>
      <dgm:t>
        <a:bodyPr/>
        <a:lstStyle/>
        <a:p>
          <a:r>
            <a:rPr lang="en-US" b="1" dirty="0">
              <a:solidFill>
                <a:schemeClr val="bg1"/>
              </a:solidFill>
              <a:latin typeface="Arial Black"/>
              <a:cs typeface="Arial Black"/>
            </a:rPr>
            <a:t>Development &amp; Trade</a:t>
          </a:r>
          <a:endParaRPr lang="en-US" dirty="0">
            <a:solidFill>
              <a:schemeClr val="bg1"/>
            </a:solidFill>
          </a:endParaRPr>
        </a:p>
      </dgm:t>
    </dgm:pt>
    <dgm:pt modelId="{7584D800-FC87-4793-B221-538934160DEF}" type="parTrans" cxnId="{5144BB34-54B3-4C2D-ADB6-B2839111269B}">
      <dgm:prSet/>
      <dgm:spPr/>
      <dgm:t>
        <a:bodyPr/>
        <a:lstStyle/>
        <a:p>
          <a:endParaRPr lang="en-US">
            <a:solidFill>
              <a:schemeClr val="bg1"/>
            </a:solidFill>
          </a:endParaRPr>
        </a:p>
      </dgm:t>
    </dgm:pt>
    <dgm:pt modelId="{7C3B8E62-8164-4D3E-90E1-89E48C012D32}" type="sibTrans" cxnId="{5144BB34-54B3-4C2D-ADB6-B2839111269B}">
      <dgm:prSet/>
      <dgm:spPr/>
      <dgm:t>
        <a:bodyPr/>
        <a:lstStyle/>
        <a:p>
          <a:endParaRPr lang="en-US">
            <a:solidFill>
              <a:schemeClr val="bg1"/>
            </a:solidFill>
          </a:endParaRPr>
        </a:p>
      </dgm:t>
    </dgm:pt>
    <dgm:pt modelId="{E1B403F4-ECA8-4BFD-9DF5-721AFFE9FD5B}">
      <dgm:prSet phldrT="[Text]"/>
      <dgm:spPr/>
      <dgm:t>
        <a:bodyPr/>
        <a:lstStyle/>
        <a:p>
          <a:r>
            <a:rPr lang="en-US" b="1">
              <a:solidFill>
                <a:schemeClr val="bg1"/>
              </a:solidFill>
              <a:latin typeface="Arial Black"/>
              <a:cs typeface="Arial Black"/>
            </a:rPr>
            <a:t>Macro &amp; WEO</a:t>
          </a:r>
          <a:endParaRPr lang="en-US" dirty="0">
            <a:solidFill>
              <a:schemeClr val="bg1"/>
            </a:solidFill>
          </a:endParaRPr>
        </a:p>
      </dgm:t>
    </dgm:pt>
    <dgm:pt modelId="{74E235BC-C7C0-4B95-BBA9-B0202F4A398C}" type="parTrans" cxnId="{42088410-185B-4CB7-A21A-D20A13C3749E}">
      <dgm:prSet/>
      <dgm:spPr/>
      <dgm:t>
        <a:bodyPr/>
        <a:lstStyle/>
        <a:p>
          <a:endParaRPr lang="en-US">
            <a:solidFill>
              <a:schemeClr val="bg1"/>
            </a:solidFill>
          </a:endParaRPr>
        </a:p>
      </dgm:t>
    </dgm:pt>
    <dgm:pt modelId="{014967B5-8187-4CEA-9AE9-D5D8A10C4E2B}" type="sibTrans" cxnId="{42088410-185B-4CB7-A21A-D20A13C3749E}">
      <dgm:prSet/>
      <dgm:spPr/>
      <dgm:t>
        <a:bodyPr/>
        <a:lstStyle/>
        <a:p>
          <a:endParaRPr lang="en-US">
            <a:solidFill>
              <a:schemeClr val="bg1"/>
            </a:solidFill>
          </a:endParaRPr>
        </a:p>
      </dgm:t>
    </dgm:pt>
    <dgm:pt modelId="{C68D8F22-A058-4A91-85EA-6BA599208757}" type="pres">
      <dgm:prSet presAssocID="{94AA2AD0-C8FE-4D0F-9A5C-C586323AE2EB}" presName="linear" presStyleCnt="0">
        <dgm:presLayoutVars>
          <dgm:dir/>
          <dgm:animLvl val="lvl"/>
          <dgm:resizeHandles val="exact"/>
        </dgm:presLayoutVars>
      </dgm:prSet>
      <dgm:spPr/>
    </dgm:pt>
    <dgm:pt modelId="{7FBBDC8F-7334-4BE1-81AA-347508806033}" type="pres">
      <dgm:prSet presAssocID="{5CE69A4B-FBA1-4A10-BCEC-98E8ED121932}" presName="parentLin" presStyleCnt="0"/>
      <dgm:spPr/>
    </dgm:pt>
    <dgm:pt modelId="{1184D6EF-DA42-4758-AE5D-A89630C42924}" type="pres">
      <dgm:prSet presAssocID="{5CE69A4B-FBA1-4A10-BCEC-98E8ED121932}" presName="parentLeftMargin" presStyleLbl="node1" presStyleIdx="0" presStyleCnt="5"/>
      <dgm:spPr/>
    </dgm:pt>
    <dgm:pt modelId="{C9F3EB56-34C7-4AA2-ACDE-A03BCBF1B973}" type="pres">
      <dgm:prSet presAssocID="{5CE69A4B-FBA1-4A10-BCEC-98E8ED121932}" presName="parentText" presStyleLbl="node1" presStyleIdx="0" presStyleCnt="5" custScaleX="28949">
        <dgm:presLayoutVars>
          <dgm:chMax val="0"/>
          <dgm:bulletEnabled val="1"/>
        </dgm:presLayoutVars>
      </dgm:prSet>
      <dgm:spPr/>
    </dgm:pt>
    <dgm:pt modelId="{743AF40B-3DB4-49C4-9F33-3C33BA3CA92A}" type="pres">
      <dgm:prSet presAssocID="{5CE69A4B-FBA1-4A10-BCEC-98E8ED121932}" presName="negativeSpace" presStyleCnt="0"/>
      <dgm:spPr/>
    </dgm:pt>
    <dgm:pt modelId="{F05FF17B-0007-4BF4-B2F2-AFB110D501AF}" type="pres">
      <dgm:prSet presAssocID="{5CE69A4B-FBA1-4A10-BCEC-98E8ED121932}" presName="childText" presStyleLbl="conFgAcc1" presStyleIdx="0" presStyleCnt="5">
        <dgm:presLayoutVars>
          <dgm:bulletEnabled val="1"/>
        </dgm:presLayoutVars>
      </dgm:prSet>
      <dgm:spPr/>
    </dgm:pt>
    <dgm:pt modelId="{FBEC9860-75BA-4F10-9336-2E80236B92E9}" type="pres">
      <dgm:prSet presAssocID="{17B97F16-1E83-4AC3-BBF7-6F57B27411AD}" presName="spaceBetweenRectangles" presStyleCnt="0"/>
      <dgm:spPr/>
    </dgm:pt>
    <dgm:pt modelId="{12D6BD65-3623-472D-B0DC-4DEA0148F616}" type="pres">
      <dgm:prSet presAssocID="{E1B403F4-ECA8-4BFD-9DF5-721AFFE9FD5B}" presName="parentLin" presStyleCnt="0"/>
      <dgm:spPr/>
    </dgm:pt>
    <dgm:pt modelId="{13A7D06C-14DE-437E-B57A-420960F53704}" type="pres">
      <dgm:prSet presAssocID="{E1B403F4-ECA8-4BFD-9DF5-721AFFE9FD5B}" presName="parentLeftMargin" presStyleLbl="node1" presStyleIdx="0" presStyleCnt="5"/>
      <dgm:spPr/>
    </dgm:pt>
    <dgm:pt modelId="{955A6F1E-D4BC-4946-B3D4-E556C843C810}" type="pres">
      <dgm:prSet presAssocID="{E1B403F4-ECA8-4BFD-9DF5-721AFFE9FD5B}" presName="parentText" presStyleLbl="node1" presStyleIdx="1" presStyleCnt="5" custScaleX="28949">
        <dgm:presLayoutVars>
          <dgm:chMax val="0"/>
          <dgm:bulletEnabled val="1"/>
        </dgm:presLayoutVars>
      </dgm:prSet>
      <dgm:spPr/>
    </dgm:pt>
    <dgm:pt modelId="{A53EFC3F-3952-4422-BF65-1709F6DF605B}" type="pres">
      <dgm:prSet presAssocID="{E1B403F4-ECA8-4BFD-9DF5-721AFFE9FD5B}" presName="negativeSpace" presStyleCnt="0"/>
      <dgm:spPr/>
    </dgm:pt>
    <dgm:pt modelId="{9B3DB832-DA84-4840-AA91-7CD3FC623A71}" type="pres">
      <dgm:prSet presAssocID="{E1B403F4-ECA8-4BFD-9DF5-721AFFE9FD5B}" presName="childText" presStyleLbl="conFgAcc1" presStyleIdx="1" presStyleCnt="5">
        <dgm:presLayoutVars>
          <dgm:bulletEnabled val="1"/>
        </dgm:presLayoutVars>
      </dgm:prSet>
      <dgm:spPr/>
    </dgm:pt>
    <dgm:pt modelId="{584F47AA-EB37-4CFA-BC91-648A05099AD0}" type="pres">
      <dgm:prSet presAssocID="{014967B5-8187-4CEA-9AE9-D5D8A10C4E2B}" presName="spaceBetweenRectangles" presStyleCnt="0"/>
      <dgm:spPr/>
    </dgm:pt>
    <dgm:pt modelId="{8A5A894F-F5B8-41B3-8DE6-83AB76B45C68}" type="pres">
      <dgm:prSet presAssocID="{D17DC6C5-DD54-4BA5-9458-B8FEEFD2C4B4}" presName="parentLin" presStyleCnt="0"/>
      <dgm:spPr/>
    </dgm:pt>
    <dgm:pt modelId="{3EE4873D-3F7D-4742-A2A8-9FB140D548E1}" type="pres">
      <dgm:prSet presAssocID="{D17DC6C5-DD54-4BA5-9458-B8FEEFD2C4B4}" presName="parentLeftMargin" presStyleLbl="node1" presStyleIdx="1" presStyleCnt="5"/>
      <dgm:spPr/>
    </dgm:pt>
    <dgm:pt modelId="{04012DAF-172C-4BAE-85CD-3555B48CCE57}" type="pres">
      <dgm:prSet presAssocID="{D17DC6C5-DD54-4BA5-9458-B8FEEFD2C4B4}" presName="parentText" presStyleLbl="node1" presStyleIdx="2" presStyleCnt="5" custScaleX="28949">
        <dgm:presLayoutVars>
          <dgm:chMax val="0"/>
          <dgm:bulletEnabled val="1"/>
        </dgm:presLayoutVars>
      </dgm:prSet>
      <dgm:spPr/>
    </dgm:pt>
    <dgm:pt modelId="{7B03F9A3-BD1C-4989-8D6C-5BCFBD985769}" type="pres">
      <dgm:prSet presAssocID="{D17DC6C5-DD54-4BA5-9458-B8FEEFD2C4B4}" presName="negativeSpace" presStyleCnt="0"/>
      <dgm:spPr/>
    </dgm:pt>
    <dgm:pt modelId="{FC5F79A7-E207-42D5-B034-6D598922D4EB}" type="pres">
      <dgm:prSet presAssocID="{D17DC6C5-DD54-4BA5-9458-B8FEEFD2C4B4}" presName="childText" presStyleLbl="conFgAcc1" presStyleIdx="2" presStyleCnt="5">
        <dgm:presLayoutVars>
          <dgm:bulletEnabled val="1"/>
        </dgm:presLayoutVars>
      </dgm:prSet>
      <dgm:spPr/>
    </dgm:pt>
    <dgm:pt modelId="{95178F20-8418-4849-A577-A67C65C03531}" type="pres">
      <dgm:prSet presAssocID="{C62F420C-A119-4AAA-BD3C-5013EF8966BC}" presName="spaceBetweenRectangles" presStyleCnt="0"/>
      <dgm:spPr/>
    </dgm:pt>
    <dgm:pt modelId="{672F300B-7CE6-481E-A7CD-7FCD473A2CB3}" type="pres">
      <dgm:prSet presAssocID="{C9FD24DA-8ADA-4EC5-8EFD-569908B23763}" presName="parentLin" presStyleCnt="0"/>
      <dgm:spPr/>
    </dgm:pt>
    <dgm:pt modelId="{2CE63197-46DF-4C7C-BB7A-35375471F005}" type="pres">
      <dgm:prSet presAssocID="{C9FD24DA-8ADA-4EC5-8EFD-569908B23763}" presName="parentLeftMargin" presStyleLbl="node1" presStyleIdx="2" presStyleCnt="5"/>
      <dgm:spPr/>
    </dgm:pt>
    <dgm:pt modelId="{FB3D84C2-9A0B-4027-9AC2-B9BD8932B4EB}" type="pres">
      <dgm:prSet presAssocID="{C9FD24DA-8ADA-4EC5-8EFD-569908B23763}" presName="parentText" presStyleLbl="node1" presStyleIdx="3" presStyleCnt="5" custScaleX="28949">
        <dgm:presLayoutVars>
          <dgm:chMax val="0"/>
          <dgm:bulletEnabled val="1"/>
        </dgm:presLayoutVars>
      </dgm:prSet>
      <dgm:spPr/>
    </dgm:pt>
    <dgm:pt modelId="{DBBA1DC5-8AB7-4546-9240-0352B7BA4B82}" type="pres">
      <dgm:prSet presAssocID="{C9FD24DA-8ADA-4EC5-8EFD-569908B23763}" presName="negativeSpace" presStyleCnt="0"/>
      <dgm:spPr/>
    </dgm:pt>
    <dgm:pt modelId="{34213AC4-6D7F-417C-9075-65C2AAB53940}" type="pres">
      <dgm:prSet presAssocID="{C9FD24DA-8ADA-4EC5-8EFD-569908B23763}" presName="childText" presStyleLbl="conFgAcc1" presStyleIdx="3" presStyleCnt="5">
        <dgm:presLayoutVars>
          <dgm:bulletEnabled val="1"/>
        </dgm:presLayoutVars>
      </dgm:prSet>
      <dgm:spPr/>
    </dgm:pt>
    <dgm:pt modelId="{D640F85A-764A-4DFD-98E6-47F361643F01}" type="pres">
      <dgm:prSet presAssocID="{6128FA28-C2D6-47DB-8FA7-8C58F48601E7}" presName="spaceBetweenRectangles" presStyleCnt="0"/>
      <dgm:spPr/>
    </dgm:pt>
    <dgm:pt modelId="{29198B76-52AB-4BDF-94A9-082A9B637F04}" type="pres">
      <dgm:prSet presAssocID="{C3372372-DBBC-451D-99F0-36C6452768D6}" presName="parentLin" presStyleCnt="0"/>
      <dgm:spPr/>
    </dgm:pt>
    <dgm:pt modelId="{EEF37835-FCE6-4CEB-9925-B1E9F3DEF454}" type="pres">
      <dgm:prSet presAssocID="{C3372372-DBBC-451D-99F0-36C6452768D6}" presName="parentLeftMargin" presStyleLbl="node1" presStyleIdx="3" presStyleCnt="5"/>
      <dgm:spPr/>
    </dgm:pt>
    <dgm:pt modelId="{8BDC437E-AD3E-4634-85A9-55873EE7A5CE}" type="pres">
      <dgm:prSet presAssocID="{C3372372-DBBC-451D-99F0-36C6452768D6}" presName="parentText" presStyleLbl="node1" presStyleIdx="4" presStyleCnt="5" custScaleX="28949">
        <dgm:presLayoutVars>
          <dgm:chMax val="0"/>
          <dgm:bulletEnabled val="1"/>
        </dgm:presLayoutVars>
      </dgm:prSet>
      <dgm:spPr/>
    </dgm:pt>
    <dgm:pt modelId="{CE74B972-043E-4436-A106-9559513A8C42}" type="pres">
      <dgm:prSet presAssocID="{C3372372-DBBC-451D-99F0-36C6452768D6}" presName="negativeSpace" presStyleCnt="0"/>
      <dgm:spPr/>
    </dgm:pt>
    <dgm:pt modelId="{57315F37-FFBC-428E-A824-DAECAC1E61B6}" type="pres">
      <dgm:prSet presAssocID="{C3372372-DBBC-451D-99F0-36C6452768D6}" presName="childText" presStyleLbl="conFgAcc1" presStyleIdx="4" presStyleCnt="5">
        <dgm:presLayoutVars>
          <dgm:bulletEnabled val="1"/>
        </dgm:presLayoutVars>
      </dgm:prSet>
      <dgm:spPr/>
    </dgm:pt>
  </dgm:ptLst>
  <dgm:cxnLst>
    <dgm:cxn modelId="{42088410-185B-4CB7-A21A-D20A13C3749E}" srcId="{94AA2AD0-C8FE-4D0F-9A5C-C586323AE2EB}" destId="{E1B403F4-ECA8-4BFD-9DF5-721AFFE9FD5B}" srcOrd="1" destOrd="0" parTransId="{74E235BC-C7C0-4B95-BBA9-B0202F4A398C}" sibTransId="{014967B5-8187-4CEA-9AE9-D5D8A10C4E2B}"/>
    <dgm:cxn modelId="{69715C18-1FBD-4B43-81D0-8FDE7A63E5C8}" type="presOf" srcId="{94AA2AD0-C8FE-4D0F-9A5C-C586323AE2EB}" destId="{C68D8F22-A058-4A91-85EA-6BA599208757}" srcOrd="0" destOrd="0" presId="urn:microsoft.com/office/officeart/2005/8/layout/list1"/>
    <dgm:cxn modelId="{5144BB34-54B3-4C2D-ADB6-B2839111269B}" srcId="{94AA2AD0-C8FE-4D0F-9A5C-C586323AE2EB}" destId="{C3372372-DBBC-451D-99F0-36C6452768D6}" srcOrd="4" destOrd="0" parTransId="{7584D800-FC87-4793-B221-538934160DEF}" sibTransId="{7C3B8E62-8164-4D3E-90E1-89E48C012D32}"/>
    <dgm:cxn modelId="{4827D33A-E639-45C9-A199-F550E1922FEC}" type="presOf" srcId="{C9FD24DA-8ADA-4EC5-8EFD-569908B23763}" destId="{FB3D84C2-9A0B-4027-9AC2-B9BD8932B4EB}" srcOrd="1" destOrd="0" presId="urn:microsoft.com/office/officeart/2005/8/layout/list1"/>
    <dgm:cxn modelId="{2A2EB55F-98EC-4355-8C43-26019A7BA6FF}" srcId="{94AA2AD0-C8FE-4D0F-9A5C-C586323AE2EB}" destId="{D17DC6C5-DD54-4BA5-9458-B8FEEFD2C4B4}" srcOrd="2" destOrd="0" parTransId="{8C4B6FB7-2DFD-4AFF-8EE8-B8F993565118}" sibTransId="{C62F420C-A119-4AAA-BD3C-5013EF8966BC}"/>
    <dgm:cxn modelId="{5B191447-D58D-4654-8D6E-5AB488665751}" type="presOf" srcId="{E1B403F4-ECA8-4BFD-9DF5-721AFFE9FD5B}" destId="{13A7D06C-14DE-437E-B57A-420960F53704}" srcOrd="0" destOrd="0" presId="urn:microsoft.com/office/officeart/2005/8/layout/list1"/>
    <dgm:cxn modelId="{3449E857-5F4A-4674-A11F-B04DC947A5BF}" type="presOf" srcId="{C9FD24DA-8ADA-4EC5-8EFD-569908B23763}" destId="{2CE63197-46DF-4C7C-BB7A-35375471F005}" srcOrd="0" destOrd="0" presId="urn:microsoft.com/office/officeart/2005/8/layout/list1"/>
    <dgm:cxn modelId="{8216D688-A52C-4B19-BA0F-C24D58C8DAC8}" type="presOf" srcId="{C3372372-DBBC-451D-99F0-36C6452768D6}" destId="{8BDC437E-AD3E-4634-85A9-55873EE7A5CE}" srcOrd="1" destOrd="0" presId="urn:microsoft.com/office/officeart/2005/8/layout/list1"/>
    <dgm:cxn modelId="{9252FD8E-1985-4E2E-AFE9-091881A0CB29}" type="presOf" srcId="{5CE69A4B-FBA1-4A10-BCEC-98E8ED121932}" destId="{1184D6EF-DA42-4758-AE5D-A89630C42924}" srcOrd="0" destOrd="0" presId="urn:microsoft.com/office/officeart/2005/8/layout/list1"/>
    <dgm:cxn modelId="{3DF74894-1592-4213-A20C-4D57AF2FB46E}" srcId="{94AA2AD0-C8FE-4D0F-9A5C-C586323AE2EB}" destId="{C9FD24DA-8ADA-4EC5-8EFD-569908B23763}" srcOrd="3" destOrd="0" parTransId="{9F8FA61E-1AAD-4D57-9222-651C6545D84F}" sibTransId="{6128FA28-C2D6-47DB-8FA7-8C58F48601E7}"/>
    <dgm:cxn modelId="{89D6ABB8-65BA-4605-AA84-F87A6C31E711}" type="presOf" srcId="{5CE69A4B-FBA1-4A10-BCEC-98E8ED121932}" destId="{C9F3EB56-34C7-4AA2-ACDE-A03BCBF1B973}" srcOrd="1" destOrd="0" presId="urn:microsoft.com/office/officeart/2005/8/layout/list1"/>
    <dgm:cxn modelId="{47311DBF-10D3-43AD-B61A-1F77DFC9FD67}" srcId="{94AA2AD0-C8FE-4D0F-9A5C-C586323AE2EB}" destId="{5CE69A4B-FBA1-4A10-BCEC-98E8ED121932}" srcOrd="0" destOrd="0" parTransId="{F369AF15-FCE3-4A65-9A57-50EF9CB9BAB1}" sibTransId="{17B97F16-1E83-4AC3-BBF7-6F57B27411AD}"/>
    <dgm:cxn modelId="{49D96BC0-91C0-4CFF-836E-8C7620793EBF}" type="presOf" srcId="{D17DC6C5-DD54-4BA5-9458-B8FEEFD2C4B4}" destId="{04012DAF-172C-4BAE-85CD-3555B48CCE57}" srcOrd="1" destOrd="0" presId="urn:microsoft.com/office/officeart/2005/8/layout/list1"/>
    <dgm:cxn modelId="{80F16FC4-A385-4BCD-AF06-CC40315121AC}" type="presOf" srcId="{E1B403F4-ECA8-4BFD-9DF5-721AFFE9FD5B}" destId="{955A6F1E-D4BC-4946-B3D4-E556C843C810}" srcOrd="1" destOrd="0" presId="urn:microsoft.com/office/officeart/2005/8/layout/list1"/>
    <dgm:cxn modelId="{00DB15E8-7864-4FB9-939A-3AAC3F714B78}" type="presOf" srcId="{D17DC6C5-DD54-4BA5-9458-B8FEEFD2C4B4}" destId="{3EE4873D-3F7D-4742-A2A8-9FB140D548E1}" srcOrd="0" destOrd="0" presId="urn:microsoft.com/office/officeart/2005/8/layout/list1"/>
    <dgm:cxn modelId="{4F84FDEC-EDAD-4545-A3A7-191EC4224B0B}" type="presOf" srcId="{C3372372-DBBC-451D-99F0-36C6452768D6}" destId="{EEF37835-FCE6-4CEB-9925-B1E9F3DEF454}" srcOrd="0" destOrd="0" presId="urn:microsoft.com/office/officeart/2005/8/layout/list1"/>
    <dgm:cxn modelId="{7521B5FD-9411-4C63-BF99-51CB960DE67B}" type="presParOf" srcId="{C68D8F22-A058-4A91-85EA-6BA599208757}" destId="{7FBBDC8F-7334-4BE1-81AA-347508806033}" srcOrd="0" destOrd="0" presId="urn:microsoft.com/office/officeart/2005/8/layout/list1"/>
    <dgm:cxn modelId="{8C3742AB-EF3C-4D01-B8A9-39A4922406C4}" type="presParOf" srcId="{7FBBDC8F-7334-4BE1-81AA-347508806033}" destId="{1184D6EF-DA42-4758-AE5D-A89630C42924}" srcOrd="0" destOrd="0" presId="urn:microsoft.com/office/officeart/2005/8/layout/list1"/>
    <dgm:cxn modelId="{13282909-B5E6-4445-9BA9-E836A5FACD58}" type="presParOf" srcId="{7FBBDC8F-7334-4BE1-81AA-347508806033}" destId="{C9F3EB56-34C7-4AA2-ACDE-A03BCBF1B973}" srcOrd="1" destOrd="0" presId="urn:microsoft.com/office/officeart/2005/8/layout/list1"/>
    <dgm:cxn modelId="{29C5E7B4-02FB-40C7-A234-5E9AC590C1A7}" type="presParOf" srcId="{C68D8F22-A058-4A91-85EA-6BA599208757}" destId="{743AF40B-3DB4-49C4-9F33-3C33BA3CA92A}" srcOrd="1" destOrd="0" presId="urn:microsoft.com/office/officeart/2005/8/layout/list1"/>
    <dgm:cxn modelId="{E956D68E-C0C7-43DA-8ECC-F1065213486A}" type="presParOf" srcId="{C68D8F22-A058-4A91-85EA-6BA599208757}" destId="{F05FF17B-0007-4BF4-B2F2-AFB110D501AF}" srcOrd="2" destOrd="0" presId="urn:microsoft.com/office/officeart/2005/8/layout/list1"/>
    <dgm:cxn modelId="{04832948-4949-4C2A-AE14-3ED06FF847F8}" type="presParOf" srcId="{C68D8F22-A058-4A91-85EA-6BA599208757}" destId="{FBEC9860-75BA-4F10-9336-2E80236B92E9}" srcOrd="3" destOrd="0" presId="urn:microsoft.com/office/officeart/2005/8/layout/list1"/>
    <dgm:cxn modelId="{7AC83151-4A7E-4448-BE76-7A348E664C2D}" type="presParOf" srcId="{C68D8F22-A058-4A91-85EA-6BA599208757}" destId="{12D6BD65-3623-472D-B0DC-4DEA0148F616}" srcOrd="4" destOrd="0" presId="urn:microsoft.com/office/officeart/2005/8/layout/list1"/>
    <dgm:cxn modelId="{4C8483B8-1970-4C79-B854-5D9E67D76EB6}" type="presParOf" srcId="{12D6BD65-3623-472D-B0DC-4DEA0148F616}" destId="{13A7D06C-14DE-437E-B57A-420960F53704}" srcOrd="0" destOrd="0" presId="urn:microsoft.com/office/officeart/2005/8/layout/list1"/>
    <dgm:cxn modelId="{5C715F05-7AB0-4BB8-9165-2BB464A63B9F}" type="presParOf" srcId="{12D6BD65-3623-472D-B0DC-4DEA0148F616}" destId="{955A6F1E-D4BC-4946-B3D4-E556C843C810}" srcOrd="1" destOrd="0" presId="urn:microsoft.com/office/officeart/2005/8/layout/list1"/>
    <dgm:cxn modelId="{225852F2-C450-4215-A8FB-633DAD7F35FB}" type="presParOf" srcId="{C68D8F22-A058-4A91-85EA-6BA599208757}" destId="{A53EFC3F-3952-4422-BF65-1709F6DF605B}" srcOrd="5" destOrd="0" presId="urn:microsoft.com/office/officeart/2005/8/layout/list1"/>
    <dgm:cxn modelId="{663508BC-A015-466C-BDC8-2301A00DACC8}" type="presParOf" srcId="{C68D8F22-A058-4A91-85EA-6BA599208757}" destId="{9B3DB832-DA84-4840-AA91-7CD3FC623A71}" srcOrd="6" destOrd="0" presId="urn:microsoft.com/office/officeart/2005/8/layout/list1"/>
    <dgm:cxn modelId="{019AEB91-7DE1-4CA1-9368-30FBA5444EFD}" type="presParOf" srcId="{C68D8F22-A058-4A91-85EA-6BA599208757}" destId="{584F47AA-EB37-4CFA-BC91-648A05099AD0}" srcOrd="7" destOrd="0" presId="urn:microsoft.com/office/officeart/2005/8/layout/list1"/>
    <dgm:cxn modelId="{97898727-90A8-4670-B095-8EAA5FAF8A92}" type="presParOf" srcId="{C68D8F22-A058-4A91-85EA-6BA599208757}" destId="{8A5A894F-F5B8-41B3-8DE6-83AB76B45C68}" srcOrd="8" destOrd="0" presId="urn:microsoft.com/office/officeart/2005/8/layout/list1"/>
    <dgm:cxn modelId="{FDC364FC-1752-4C9A-81EB-8AF647B244AE}" type="presParOf" srcId="{8A5A894F-F5B8-41B3-8DE6-83AB76B45C68}" destId="{3EE4873D-3F7D-4742-A2A8-9FB140D548E1}" srcOrd="0" destOrd="0" presId="urn:microsoft.com/office/officeart/2005/8/layout/list1"/>
    <dgm:cxn modelId="{C67CFD11-469F-4613-9A1F-8FEAD630F5EC}" type="presParOf" srcId="{8A5A894F-F5B8-41B3-8DE6-83AB76B45C68}" destId="{04012DAF-172C-4BAE-85CD-3555B48CCE57}" srcOrd="1" destOrd="0" presId="urn:microsoft.com/office/officeart/2005/8/layout/list1"/>
    <dgm:cxn modelId="{D437BA94-EAAC-4527-9FD9-893C033A416A}" type="presParOf" srcId="{C68D8F22-A058-4A91-85EA-6BA599208757}" destId="{7B03F9A3-BD1C-4989-8D6C-5BCFBD985769}" srcOrd="9" destOrd="0" presId="urn:microsoft.com/office/officeart/2005/8/layout/list1"/>
    <dgm:cxn modelId="{70C95637-DCC3-4E3D-8DA0-92B8D9BDCA58}" type="presParOf" srcId="{C68D8F22-A058-4A91-85EA-6BA599208757}" destId="{FC5F79A7-E207-42D5-B034-6D598922D4EB}" srcOrd="10" destOrd="0" presId="urn:microsoft.com/office/officeart/2005/8/layout/list1"/>
    <dgm:cxn modelId="{6E48335E-AC92-438A-900C-8D508BF2ACA9}" type="presParOf" srcId="{C68D8F22-A058-4A91-85EA-6BA599208757}" destId="{95178F20-8418-4849-A577-A67C65C03531}" srcOrd="11" destOrd="0" presId="urn:microsoft.com/office/officeart/2005/8/layout/list1"/>
    <dgm:cxn modelId="{E2D5A8AD-02BF-4B10-B966-0F4E907E45FF}" type="presParOf" srcId="{C68D8F22-A058-4A91-85EA-6BA599208757}" destId="{672F300B-7CE6-481E-A7CD-7FCD473A2CB3}" srcOrd="12" destOrd="0" presId="urn:microsoft.com/office/officeart/2005/8/layout/list1"/>
    <dgm:cxn modelId="{8D1944C0-FC8D-42EB-BA9C-2385869C0BBA}" type="presParOf" srcId="{672F300B-7CE6-481E-A7CD-7FCD473A2CB3}" destId="{2CE63197-46DF-4C7C-BB7A-35375471F005}" srcOrd="0" destOrd="0" presId="urn:microsoft.com/office/officeart/2005/8/layout/list1"/>
    <dgm:cxn modelId="{A224F92B-CFF3-458C-AD26-841EB8FB3812}" type="presParOf" srcId="{672F300B-7CE6-481E-A7CD-7FCD473A2CB3}" destId="{FB3D84C2-9A0B-4027-9AC2-B9BD8932B4EB}" srcOrd="1" destOrd="0" presId="urn:microsoft.com/office/officeart/2005/8/layout/list1"/>
    <dgm:cxn modelId="{360C6D68-C5AF-454D-BD67-1ADFB574B38F}" type="presParOf" srcId="{C68D8F22-A058-4A91-85EA-6BA599208757}" destId="{DBBA1DC5-8AB7-4546-9240-0352B7BA4B82}" srcOrd="13" destOrd="0" presId="urn:microsoft.com/office/officeart/2005/8/layout/list1"/>
    <dgm:cxn modelId="{009F2F62-C859-49D7-8D52-62930A0CB00E}" type="presParOf" srcId="{C68D8F22-A058-4A91-85EA-6BA599208757}" destId="{34213AC4-6D7F-417C-9075-65C2AAB53940}" srcOrd="14" destOrd="0" presId="urn:microsoft.com/office/officeart/2005/8/layout/list1"/>
    <dgm:cxn modelId="{0DC79E62-6EE0-45D2-B9EF-9A89E49B79B5}" type="presParOf" srcId="{C68D8F22-A058-4A91-85EA-6BA599208757}" destId="{D640F85A-764A-4DFD-98E6-47F361643F01}" srcOrd="15" destOrd="0" presId="urn:microsoft.com/office/officeart/2005/8/layout/list1"/>
    <dgm:cxn modelId="{A64B4CFF-D388-4F98-98D1-E40E3E318E45}" type="presParOf" srcId="{C68D8F22-A058-4A91-85EA-6BA599208757}" destId="{29198B76-52AB-4BDF-94A9-082A9B637F04}" srcOrd="16" destOrd="0" presId="urn:microsoft.com/office/officeart/2005/8/layout/list1"/>
    <dgm:cxn modelId="{FE439D4B-98DB-4EB3-B704-7018452F41CC}" type="presParOf" srcId="{29198B76-52AB-4BDF-94A9-082A9B637F04}" destId="{EEF37835-FCE6-4CEB-9925-B1E9F3DEF454}" srcOrd="0" destOrd="0" presId="urn:microsoft.com/office/officeart/2005/8/layout/list1"/>
    <dgm:cxn modelId="{6E72262B-4204-4EB9-B5DB-B7F6717A6EF2}" type="presParOf" srcId="{29198B76-52AB-4BDF-94A9-082A9B637F04}" destId="{8BDC437E-AD3E-4634-85A9-55873EE7A5CE}" srcOrd="1" destOrd="0" presId="urn:microsoft.com/office/officeart/2005/8/layout/list1"/>
    <dgm:cxn modelId="{CAEF9808-A826-4B2B-AC92-29A2981879AC}" type="presParOf" srcId="{C68D8F22-A058-4A91-85EA-6BA599208757}" destId="{CE74B972-043E-4436-A106-9559513A8C42}" srcOrd="17" destOrd="0" presId="urn:microsoft.com/office/officeart/2005/8/layout/list1"/>
    <dgm:cxn modelId="{1900234B-23F9-41FE-9F80-15E71C227764}" type="presParOf" srcId="{C68D8F22-A058-4A91-85EA-6BA599208757}" destId="{57315F37-FFBC-428E-A824-DAECAC1E61B6}"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FF17B-0007-4BF4-B2F2-AFB110D501AF}">
      <dsp:nvSpPr>
        <dsp:cNvPr id="0" name=""/>
        <dsp:cNvSpPr/>
      </dsp:nvSpPr>
      <dsp:spPr>
        <a:xfrm>
          <a:off x="0" y="324431"/>
          <a:ext cx="11280865"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F3EB56-34C7-4AA2-ACDE-A03BCBF1B973}">
      <dsp:nvSpPr>
        <dsp:cNvPr id="0" name=""/>
        <dsp:cNvSpPr/>
      </dsp:nvSpPr>
      <dsp:spPr>
        <a:xfrm>
          <a:off x="564043" y="58751"/>
          <a:ext cx="2285988"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3" tIns="0" rIns="298473"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bg1"/>
              </a:solidFill>
              <a:latin typeface="Arial Black"/>
              <a:cs typeface="Arial Black"/>
            </a:rPr>
            <a:t>Country &amp; Group Intelligence</a:t>
          </a:r>
          <a:endParaRPr lang="en-US" sz="1400" kern="1200" dirty="0">
            <a:solidFill>
              <a:schemeClr val="bg1"/>
            </a:solidFill>
          </a:endParaRPr>
        </a:p>
      </dsp:txBody>
      <dsp:txXfrm>
        <a:off x="589982" y="84690"/>
        <a:ext cx="2234110" cy="479482"/>
      </dsp:txXfrm>
    </dsp:sp>
    <dsp:sp modelId="{9B3DB832-DA84-4840-AA91-7CD3FC623A71}">
      <dsp:nvSpPr>
        <dsp:cNvPr id="0" name=""/>
        <dsp:cNvSpPr/>
      </dsp:nvSpPr>
      <dsp:spPr>
        <a:xfrm>
          <a:off x="0" y="1140911"/>
          <a:ext cx="11280865"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5A6F1E-D4BC-4946-B3D4-E556C843C810}">
      <dsp:nvSpPr>
        <dsp:cNvPr id="0" name=""/>
        <dsp:cNvSpPr/>
      </dsp:nvSpPr>
      <dsp:spPr>
        <a:xfrm>
          <a:off x="564043" y="875231"/>
          <a:ext cx="2285988"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3" tIns="0" rIns="298473" bIns="0" numCol="1" spcCol="1270" anchor="ctr" anchorCtr="0">
          <a:noAutofit/>
        </a:bodyPr>
        <a:lstStyle/>
        <a:p>
          <a:pPr marL="0" lvl="0" indent="0" algn="l" defTabSz="622300">
            <a:lnSpc>
              <a:spcPct val="90000"/>
            </a:lnSpc>
            <a:spcBef>
              <a:spcPct val="0"/>
            </a:spcBef>
            <a:spcAft>
              <a:spcPct val="35000"/>
            </a:spcAft>
            <a:buNone/>
          </a:pPr>
          <a:r>
            <a:rPr lang="en-US" sz="1400" b="1" kern="1200">
              <a:solidFill>
                <a:schemeClr val="bg1"/>
              </a:solidFill>
              <a:latin typeface="Arial Black"/>
              <a:cs typeface="Arial Black"/>
            </a:rPr>
            <a:t>Macro &amp; WEO</a:t>
          </a:r>
          <a:endParaRPr lang="en-US" sz="1400" kern="1200" dirty="0">
            <a:solidFill>
              <a:schemeClr val="bg1"/>
            </a:solidFill>
          </a:endParaRPr>
        </a:p>
      </dsp:txBody>
      <dsp:txXfrm>
        <a:off x="589982" y="901170"/>
        <a:ext cx="2234110" cy="479482"/>
      </dsp:txXfrm>
    </dsp:sp>
    <dsp:sp modelId="{FC5F79A7-E207-42D5-B034-6D598922D4EB}">
      <dsp:nvSpPr>
        <dsp:cNvPr id="0" name=""/>
        <dsp:cNvSpPr/>
      </dsp:nvSpPr>
      <dsp:spPr>
        <a:xfrm>
          <a:off x="0" y="1957391"/>
          <a:ext cx="11280865"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4012DAF-172C-4BAE-85CD-3555B48CCE57}">
      <dsp:nvSpPr>
        <dsp:cNvPr id="0" name=""/>
        <dsp:cNvSpPr/>
      </dsp:nvSpPr>
      <dsp:spPr>
        <a:xfrm>
          <a:off x="564043" y="1691712"/>
          <a:ext cx="2285988"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3" tIns="0" rIns="298473"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bg1"/>
              </a:solidFill>
              <a:latin typeface="Arial Black"/>
              <a:cs typeface="Arial Black"/>
            </a:rPr>
            <a:t>IMF Statistics</a:t>
          </a:r>
          <a:endParaRPr lang="en-US" sz="1400" kern="1200" dirty="0">
            <a:solidFill>
              <a:schemeClr val="bg1"/>
            </a:solidFill>
          </a:endParaRPr>
        </a:p>
      </dsp:txBody>
      <dsp:txXfrm>
        <a:off x="589982" y="1717651"/>
        <a:ext cx="2234110" cy="479482"/>
      </dsp:txXfrm>
    </dsp:sp>
    <dsp:sp modelId="{34213AC4-6D7F-417C-9075-65C2AAB53940}">
      <dsp:nvSpPr>
        <dsp:cNvPr id="0" name=""/>
        <dsp:cNvSpPr/>
      </dsp:nvSpPr>
      <dsp:spPr>
        <a:xfrm>
          <a:off x="0" y="2773872"/>
          <a:ext cx="11280865"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3D84C2-9A0B-4027-9AC2-B9BD8932B4EB}">
      <dsp:nvSpPr>
        <dsp:cNvPr id="0" name=""/>
        <dsp:cNvSpPr/>
      </dsp:nvSpPr>
      <dsp:spPr>
        <a:xfrm>
          <a:off x="564043" y="2508192"/>
          <a:ext cx="2285988"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3" tIns="0" rIns="298473"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bg1"/>
              </a:solidFill>
              <a:latin typeface="Arial Black"/>
              <a:cs typeface="Arial Black"/>
            </a:rPr>
            <a:t>Markets &amp; Finance</a:t>
          </a:r>
          <a:endParaRPr lang="en-US" sz="1400" kern="1200" dirty="0">
            <a:solidFill>
              <a:schemeClr val="bg1"/>
            </a:solidFill>
          </a:endParaRPr>
        </a:p>
      </dsp:txBody>
      <dsp:txXfrm>
        <a:off x="589982" y="2534131"/>
        <a:ext cx="2234110" cy="479482"/>
      </dsp:txXfrm>
    </dsp:sp>
    <dsp:sp modelId="{57315F37-FFBC-428E-A824-DAECAC1E61B6}">
      <dsp:nvSpPr>
        <dsp:cNvPr id="0" name=""/>
        <dsp:cNvSpPr/>
      </dsp:nvSpPr>
      <dsp:spPr>
        <a:xfrm>
          <a:off x="0" y="3590352"/>
          <a:ext cx="11280865" cy="453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BDC437E-AD3E-4634-85A9-55873EE7A5CE}">
      <dsp:nvSpPr>
        <dsp:cNvPr id="0" name=""/>
        <dsp:cNvSpPr/>
      </dsp:nvSpPr>
      <dsp:spPr>
        <a:xfrm>
          <a:off x="564043" y="3324672"/>
          <a:ext cx="2285988" cy="5313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8473" tIns="0" rIns="298473"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chemeClr val="bg1"/>
              </a:solidFill>
              <a:latin typeface="Arial Black"/>
              <a:cs typeface="Arial Black"/>
            </a:rPr>
            <a:t>Development &amp; Trade</a:t>
          </a:r>
          <a:endParaRPr lang="en-US" sz="1400" kern="1200" dirty="0">
            <a:solidFill>
              <a:schemeClr val="bg1"/>
            </a:solidFill>
          </a:endParaRPr>
        </a:p>
      </dsp:txBody>
      <dsp:txXfrm>
        <a:off x="589982" y="3350611"/>
        <a:ext cx="2234110"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7194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Welcome. Over the next ten minutes I want to walk you through RA Skills — a small project that takes a big bet. The bet is that today's AI is stuck in a chat window, and the real value comes when it moves out of the chat and into the tools an analyst already uses. So the through-line of this deck is one phrase: from chatbot to colleague.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Let's start with the problem we're actually trying to solve. Today, AI for the research analyst lives in a separate browser tab. You ask Claude or ChatGPT a question, you read the answer, and then you copy something out and paste it into iData, or Excel, or Stata, or a Jupyter notebook — that is where the actual work happens. The chatbot can't see your SDK. It doesn't know your country codes. It has no memory of the question you answered the same way last Monday. So every query becomes a fresh copy-paste loop, and institutional knowledge stays stranded in heads and email threads.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vision is to flip that. Instead of an AI you talk to, an AI that does the work. Three things make this possible. First, it has to be local — running inside the analyst's repo, alongside the SDK and the catalogs, not in a separate tab. Second, it has to speak the SDK natively, so there's no copy-pasting code and no guessing API conventions. And third, it has to encode institutional knowledge — WEO groups, LIVE versus vintage, retired endpoints — so the same question doesn't get re-asked every Monday. The shorthand for all of this is: discovery, fetch, tidy, chart — chained, not stitched.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That is what RA Skills is. It is a family of project-local Claude Code skills for IMF Research Assistants. It lives under the .claude/skills directory inside the analyst's repo, so it's auto-loaded only when working in that repo — there is no global install. The input is plain English: pull WEO real GDP growth for G20 countries from 2010 to present. The output is a refreshable Excel, or a wide or long CSV, and soon a chart. It runs on top of Claude Code, so there is no new application to learn — the analyst's existing workspace simply gets smarter.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Architecturally, RA Skills is four small skills that chain — not one monolith. The umbrella, imf-ra, holds shared conventions: country codes, frequencies, SDK setup. Then imf-ra-catalog turns plain English into the right identifier. imf-ra-data calls the SDK and fetches the data. And imf-ra-charts hands the tidy output to the internal chart tool — that last one is scaffolded but not yet wired up. The design principle is that these are siblings, not nested. The umbrella does not orchestrate. Workers reference each other directly, which keeps each skill small, inspectable, and replaceable.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RA Skills covers, including various research country group catalogs and more than 150 non-vintage datasets, align with current </a:t>
            </a:r>
            <a:r>
              <a:rPr lang="en-US" dirty="0" err="1"/>
              <a:t>iData</a:t>
            </a:r>
            <a:r>
              <a:rPr lang="en-US" dirty="0"/>
              <a:t> coverage— </a:t>
            </a:r>
          </a:p>
          <a:p>
            <a:pPr marL="228600" indent="-228600">
              <a:buAutoNum type="arabicPeriod"/>
            </a:pPr>
            <a:r>
              <a:rPr lang="en-US" dirty="0"/>
              <a:t>Country &amp; Group is a routing layer that resolves country groups like IMF member countries, AE, EMDE, G20, etc.</a:t>
            </a:r>
          </a:p>
          <a:p>
            <a:pPr marL="228600" indent="-228600">
              <a:buAutoNum type="arabicPeriod"/>
            </a:pPr>
            <a:r>
              <a:rPr lang="en-US" dirty="0"/>
              <a:t>For database coverage, you can find the most commonly use datasets like WEO Live, GAS, GEE, Have, Bloomberg, etc. We will expand our database later to enable indicator searching functionality for some external databases like DataStream and Dealogic.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Now the two capabilities. The first one is discovery: turning plain English into an exact identifier. Take the query, pull WEO real GDP growth for G20 countries from 2010 to present. The catalog skill resolves that to four things — the database WEO_LIVE, the indicator NGDP_RPCH, the frequency annual, and the G20 ISO3 list auto-expanded from the country-group CSV. Four rules of the road. LIVE versus vintage is explicit; the latest is the default but you can lock to April 2024 if you want. Country groups expand by name or code. Ambiguous queries are surfaced as candidates with notes — the skill never guesses. And retired endpoints like EcOS are refused with a pointer to the current iData equivalent.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second capability is the fetch. Once the four-tuple is resolved, imf-ra-data runs a seven-step protocol: it receives the handoff, explores dimensions, builds the iData key, and calls a pre-built wrapper called fetch_idata.py. There is no ad-hoc SDK code, no re-implementing of the private-access boilerplate. The analyst then picks one of three output shapes: a refreshable Excel that's enriched with country names and IFS codes, a wide CSV with dates as rows, or a long CSV with one observation per row. And crucially, the data stays local. The SDK runs on the analyst's laptop. There is no cloud round-trip for IMF data.</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Putting it all together end-to-end takes about thirty seconds. The analyst types the sentence. The catalog resolves it. The data skill fetches. The charts skill — once it's wired up — hands off to the internal chart tool. And the analyst opens the Excel, ready for Stata or the next memo. The interesting list is on the bottom of this slide: what the analyst didn't have to do. They didn't look up an indicator code. They didn't remember which ISO3 codes are in the G20. They didn't read the SDK docs or set the private-access flag. They didn't reformat a wide API response into a long panel. And they didn't re-ask the question they asked last Monday.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Phase 1. </a:t>
            </a:r>
            <a:endParaRPr lang="en-US" altLang="zh-CN" dirty="0"/>
          </a:p>
          <a:p>
            <a:pPr marL="0" indent="0">
              <a:buNone/>
            </a:pPr>
            <a:r>
              <a:rPr lang="en-US" altLang="zh-CN" dirty="0"/>
              <a:t>1. Currently, we have finished the 1</a:t>
            </a:r>
            <a:r>
              <a:rPr lang="en-US" altLang="zh-CN" baseline="30000" dirty="0"/>
              <a:t>st</a:t>
            </a:r>
            <a:r>
              <a:rPr lang="en-US" altLang="zh-CN" dirty="0"/>
              <a:t> step of RA-skillset design to enable the basic indicator finding and data pulling functionality. </a:t>
            </a:r>
          </a:p>
          <a:p>
            <a:pPr marL="0" indent="0">
              <a:buNone/>
            </a:pPr>
            <a:r>
              <a:rPr lang="en-US" altLang="zh-CN" dirty="0"/>
              <a:t>2. Where it goes next, in priority order. First, we will add sources beyond </a:t>
            </a:r>
            <a:r>
              <a:rPr lang="en-US" altLang="zh-CN" dirty="0" err="1"/>
              <a:t>iData</a:t>
            </a:r>
            <a:r>
              <a:rPr lang="en-US" altLang="zh-CN" dirty="0"/>
              <a:t> — </a:t>
            </a:r>
            <a:r>
              <a:rPr lang="en-US" altLang="zh-CN" dirty="0" err="1"/>
              <a:t>Datastream</a:t>
            </a:r>
            <a:r>
              <a:rPr lang="en-US" altLang="zh-CN" dirty="0"/>
              <a:t>, Dealogic — as additional </a:t>
            </a:r>
            <a:r>
              <a:rPr lang="en-US" altLang="zh-CN" dirty="0" err="1"/>
              <a:t>imf-ra</a:t>
            </a:r>
            <a:r>
              <a:rPr lang="en-US" altLang="zh-CN" dirty="0"/>
              <a:t> workers. </a:t>
            </a:r>
          </a:p>
          <a:p>
            <a:r>
              <a:rPr lang="en-US" altLang="zh-CN" dirty="0"/>
              <a:t>3. Then we want to </a:t>
            </a:r>
            <a:r>
              <a:rPr lang="zh-CN" dirty="0"/>
              <a:t>wire up imf-ra-charts so the discovery-to-fetch-to-chart loop closes end-to-end. And then downstream automation — notebook templates, reusable modules, scheduled refresh pipelines. The closing thought is the one we started with: from chatbot to colleague — and the colleague keeps getting better.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20"/>
          <p:cNvGrpSpPr/>
          <p:nvPr/>
        </p:nvGrpSpPr>
        <p:grpSpPr>
          <a:xfrm>
            <a:off x="559118" y="571500"/>
            <a:ext cx="1908700" cy="473869"/>
            <a:chOff x="559118" y="571500"/>
            <a:chExt cx="1908700" cy="473869"/>
          </a:xfrm>
        </p:grpSpPr>
        <p:sp>
          <p:nvSpPr>
            <p:cNvPr id="18" name="Rectangle 18"/>
            <p:cNvSpPr/>
            <p:nvPr/>
          </p:nvSpPr>
          <p:spPr>
            <a:xfrm>
              <a:off x="571500" y="571500"/>
              <a:ext cx="571500" cy="57150"/>
            </a:xfrm>
            <a:prstGeom prst="rect">
              <a:avLst/>
            </a:prstGeom>
            <a:solidFill>
              <a:srgbClr val="707372"/>
            </a:solidFill>
            <a:ln>
              <a:noFill/>
            </a:ln>
          </p:spPr>
          <p:txBody>
            <a:bodyPr/>
            <a:lstStyle/>
            <a:p>
              <a:endParaRPr lang="en-US"/>
            </a:p>
          </p:txBody>
        </p:sp>
        <p:sp>
          <p:nvSpPr>
            <p:cNvPr id="19" name="TextBox 19"/>
            <p:cNvSpPr txBox="1"/>
            <p:nvPr/>
          </p:nvSpPr>
          <p:spPr>
            <a:xfrm>
              <a:off x="559118" y="847249"/>
              <a:ext cx="1908700" cy="198120"/>
            </a:xfrm>
            <a:prstGeom prst="rect">
              <a:avLst/>
            </a:prstGeom>
            <a:noFill/>
            <a:ln>
              <a:noFill/>
            </a:ln>
          </p:spPr>
          <p:txBody>
            <a:bodyPr wrap="none" lIns="0" tIns="0" rIns="0" bIns="0" anchor="t" anchorCtr="0">
              <a:spAutoFit/>
            </a:bodyPr>
            <a:lstStyle/>
            <a:p>
              <a:pPr algn="l"/>
              <a:r>
                <a:rPr lang="zh-CN" sz="975" b="1" dirty="0">
                  <a:solidFill>
                    <a:srgbClr val="5B6470"/>
                  </a:solidFill>
                  <a:latin typeface="Arial"/>
                  <a:ea typeface="Microsoft YaHei"/>
                  <a:cs typeface="Arial"/>
                </a:rPr>
                <a:t>INTERNAL SHOWCASE · 2026</a:t>
              </a:r>
            </a:p>
          </p:txBody>
        </p:sp>
      </p:grpSp>
      <p:grpSp>
        <p:nvGrpSpPr>
          <p:cNvPr id="24" name="Group 24"/>
          <p:cNvGrpSpPr/>
          <p:nvPr/>
        </p:nvGrpSpPr>
        <p:grpSpPr>
          <a:xfrm>
            <a:off x="536209" y="1367314"/>
            <a:ext cx="3976197" cy="1575033"/>
            <a:chOff x="491490" y="2082165"/>
            <a:chExt cx="3976197" cy="1575033"/>
          </a:xfrm>
        </p:grpSpPr>
        <p:sp>
          <p:nvSpPr>
            <p:cNvPr id="21" name="TextBox 21"/>
            <p:cNvSpPr txBox="1"/>
            <p:nvPr/>
          </p:nvSpPr>
          <p:spPr>
            <a:xfrm>
              <a:off x="491490" y="2082165"/>
              <a:ext cx="3976197" cy="1280160"/>
            </a:xfrm>
            <a:prstGeom prst="rect">
              <a:avLst/>
            </a:prstGeom>
            <a:noFill/>
            <a:ln>
              <a:noFill/>
            </a:ln>
          </p:spPr>
          <p:txBody>
            <a:bodyPr wrap="none" lIns="0" tIns="0" rIns="0" bIns="0" anchor="t" anchorCtr="0">
              <a:spAutoFit/>
            </a:bodyPr>
            <a:lstStyle/>
            <a:p>
              <a:pPr algn="l"/>
              <a:r>
                <a:rPr lang="zh-CN" sz="6300" b="1" dirty="0">
                  <a:solidFill>
                    <a:srgbClr val="004C97"/>
                  </a:solidFill>
                  <a:latin typeface="Arial Black"/>
                  <a:ea typeface="Microsoft YaHei"/>
                  <a:cs typeface="Arial Black"/>
                </a:rPr>
                <a:t>RA Skills</a:t>
              </a:r>
            </a:p>
          </p:txBody>
        </p:sp>
        <p:sp>
          <p:nvSpPr>
            <p:cNvPr id="22" name="TextBox 22"/>
            <p:cNvSpPr txBox="1"/>
            <p:nvPr/>
          </p:nvSpPr>
          <p:spPr>
            <a:xfrm>
              <a:off x="550545" y="3117532"/>
              <a:ext cx="2716816" cy="335280"/>
            </a:xfrm>
            <a:prstGeom prst="rect">
              <a:avLst/>
            </a:prstGeom>
            <a:noFill/>
            <a:ln>
              <a:noFill/>
            </a:ln>
          </p:spPr>
          <p:txBody>
            <a:bodyPr wrap="none" lIns="0" tIns="0" rIns="0" bIns="0" anchor="t" anchorCtr="0">
              <a:spAutoFit/>
            </a:bodyPr>
            <a:lstStyle/>
            <a:p>
              <a:pPr algn="l"/>
              <a:r>
                <a:rPr lang="zh-CN" sz="1650" dirty="0">
                  <a:solidFill>
                    <a:srgbClr val="1F2937"/>
                  </a:solidFill>
                  <a:latin typeface="Arial"/>
                  <a:ea typeface="Microsoft YaHei"/>
                  <a:cs typeface="Arial"/>
                </a:rPr>
                <a:t>Local AI agents for IMF</a:t>
              </a:r>
            </a:p>
          </p:txBody>
        </p:sp>
        <p:sp>
          <p:nvSpPr>
            <p:cNvPr id="23" name="TextBox 23"/>
            <p:cNvSpPr txBox="1"/>
            <p:nvPr/>
          </p:nvSpPr>
          <p:spPr>
            <a:xfrm>
              <a:off x="550545" y="3403282"/>
              <a:ext cx="2687787" cy="253916"/>
            </a:xfrm>
            <a:prstGeom prst="rect">
              <a:avLst/>
            </a:prstGeom>
            <a:noFill/>
            <a:ln>
              <a:noFill/>
            </a:ln>
          </p:spPr>
          <p:txBody>
            <a:bodyPr wrap="none" lIns="0" tIns="0" rIns="0" bIns="0" anchor="t" anchorCtr="0">
              <a:spAutoFit/>
            </a:bodyPr>
            <a:lstStyle/>
            <a:p>
              <a:pPr algn="l"/>
              <a:r>
                <a:rPr lang="zh-CN" sz="1650" dirty="0">
                  <a:solidFill>
                    <a:srgbClr val="1F2937"/>
                  </a:solidFill>
                  <a:latin typeface="Arial"/>
                  <a:ea typeface="Microsoft YaHei"/>
                  <a:cs typeface="Arial"/>
                </a:rPr>
                <a:t>Research </a:t>
              </a:r>
              <a:r>
                <a:rPr lang="en-US" altLang="zh-CN" sz="1650" dirty="0">
                  <a:solidFill>
                    <a:srgbClr val="1F2937"/>
                  </a:solidFill>
                  <a:latin typeface="Arial"/>
                  <a:ea typeface="Microsoft YaHei"/>
                  <a:cs typeface="Arial"/>
                </a:rPr>
                <a:t>Analyst</a:t>
              </a:r>
              <a:r>
                <a:rPr lang="zh-CN" sz="1650" dirty="0">
                  <a:solidFill>
                    <a:srgbClr val="1F2937"/>
                  </a:solidFill>
                  <a:latin typeface="Arial"/>
                  <a:ea typeface="Microsoft YaHei"/>
                  <a:cs typeface="Arial"/>
                </a:rPr>
                <a:t> workflows.</a:t>
              </a:r>
            </a:p>
          </p:txBody>
        </p:sp>
      </p:grpSp>
      <p:grpSp>
        <p:nvGrpSpPr>
          <p:cNvPr id="26" name="Group 26"/>
          <p:cNvGrpSpPr/>
          <p:nvPr/>
        </p:nvGrpSpPr>
        <p:grpSpPr>
          <a:xfrm>
            <a:off x="580716" y="5157109"/>
            <a:ext cx="5905500" cy="9525"/>
            <a:chOff x="571500" y="4095750"/>
            <a:chExt cx="5905500" cy="9525"/>
          </a:xfrm>
        </p:grpSpPr>
        <p:sp>
          <p:nvSpPr>
            <p:cNvPr id="25" name="Line 25"/>
            <p:cNvSpPr/>
            <p:nvPr/>
          </p:nvSpPr>
          <p:spPr>
            <a:xfrm>
              <a:off x="571500" y="4095750"/>
              <a:ext cx="5905500" cy="9525"/>
            </a:xfrm>
            <a:custGeom>
              <a:avLst/>
              <a:gdLst/>
              <a:ahLst/>
              <a:cxnLst/>
              <a:rect l="l" t="t" r="r" b="b"/>
              <a:pathLst>
                <a:path w="5905500" h="9525">
                  <a:moveTo>
                    <a:pt x="0" y="0"/>
                  </a:moveTo>
                  <a:lnTo>
                    <a:pt x="5905500" y="0"/>
                  </a:lnTo>
                </a:path>
              </a:pathLst>
            </a:custGeom>
            <a:noFill/>
            <a:ln w="9525">
              <a:solidFill>
                <a:srgbClr val="CDD7E2"/>
              </a:solidFill>
            </a:ln>
          </p:spPr>
          <p:txBody>
            <a:bodyPr/>
            <a:lstStyle/>
            <a:p>
              <a:endParaRPr lang="en-US"/>
            </a:p>
          </p:txBody>
        </p:sp>
      </p:grpSp>
      <p:grpSp>
        <p:nvGrpSpPr>
          <p:cNvPr id="52" name="Group 52"/>
          <p:cNvGrpSpPr/>
          <p:nvPr/>
        </p:nvGrpSpPr>
        <p:grpSpPr>
          <a:xfrm>
            <a:off x="838484" y="3259766"/>
            <a:ext cx="3345255" cy="1483541"/>
            <a:chOff x="614362" y="4476274"/>
            <a:chExt cx="3345255" cy="1483541"/>
          </a:xfrm>
        </p:grpSpPr>
        <p:grpSp>
          <p:nvGrpSpPr>
            <p:cNvPr id="33" name="Group 33"/>
            <p:cNvGrpSpPr/>
            <p:nvPr/>
          </p:nvGrpSpPr>
          <p:grpSpPr>
            <a:xfrm>
              <a:off x="614362" y="4476274"/>
              <a:ext cx="2377042" cy="340541"/>
              <a:chOff x="614362" y="4476274"/>
              <a:chExt cx="2377042" cy="340541"/>
            </a:xfrm>
          </p:grpSpPr>
          <p:grpSp>
            <p:nvGrpSpPr>
              <p:cNvPr id="30" name="Group 30"/>
              <p:cNvGrpSpPr/>
              <p:nvPr/>
            </p:nvGrpSpPr>
            <p:grpSpPr>
              <a:xfrm>
                <a:off x="614362" y="4486275"/>
                <a:ext cx="257175" cy="228600"/>
                <a:chOff x="614362" y="4486275"/>
                <a:chExt cx="257175" cy="228600"/>
              </a:xfrm>
            </p:grpSpPr>
            <p:sp>
              <p:nvSpPr>
                <p:cNvPr id="27" name="Freeform 27"/>
                <p:cNvSpPr/>
                <p:nvPr/>
              </p:nvSpPr>
              <p:spPr>
                <a:xfrm>
                  <a:off x="685800" y="4557712"/>
                  <a:ext cx="42862" cy="85725"/>
                </a:xfrm>
                <a:custGeom>
                  <a:avLst/>
                  <a:gdLst/>
                  <a:ahLst/>
                  <a:cxnLst/>
                  <a:rect l="l" t="t" r="r" b="b"/>
                  <a:pathLst>
                    <a:path w="42862" h="85725">
                      <a:moveTo>
                        <a:pt x="0" y="0"/>
                      </a:moveTo>
                      <a:lnTo>
                        <a:pt x="42862" y="42862"/>
                      </a:lnTo>
                      <a:lnTo>
                        <a:pt x="0" y="85725"/>
                      </a:lnTo>
                    </a:path>
                  </a:pathLst>
                </a:custGeom>
                <a:noFill/>
                <a:ln w="19050">
                  <a:solidFill>
                    <a:srgbClr val="009CDE"/>
                  </a:solidFill>
                </a:ln>
              </p:spPr>
              <p:txBody>
                <a:bodyPr/>
                <a:lstStyle/>
                <a:p>
                  <a:endParaRPr lang="en-US"/>
                </a:p>
              </p:txBody>
            </p:sp>
            <p:sp>
              <p:nvSpPr>
                <p:cNvPr id="28" name="Freeform 28"/>
                <p:cNvSpPr/>
                <p:nvPr/>
              </p:nvSpPr>
              <p:spPr>
                <a:xfrm>
                  <a:off x="757238" y="4643438"/>
                  <a:ext cx="42862" cy="9525"/>
                </a:xfrm>
                <a:custGeom>
                  <a:avLst/>
                  <a:gdLst/>
                  <a:ahLst/>
                  <a:cxnLst/>
                  <a:rect l="l" t="t" r="r" b="b"/>
                  <a:pathLst>
                    <a:path w="42862" h="9525">
                      <a:moveTo>
                        <a:pt x="0" y="0"/>
                      </a:moveTo>
                      <a:lnTo>
                        <a:pt x="42862" y="0"/>
                      </a:lnTo>
                    </a:path>
                  </a:pathLst>
                </a:custGeom>
                <a:noFill/>
                <a:ln w="19050">
                  <a:solidFill>
                    <a:srgbClr val="009CDE"/>
                  </a:solidFill>
                </a:ln>
              </p:spPr>
              <p:txBody>
                <a:bodyPr/>
                <a:lstStyle/>
                <a:p>
                  <a:endParaRPr lang="en-US"/>
                </a:p>
              </p:txBody>
            </p:sp>
            <p:sp>
              <p:nvSpPr>
                <p:cNvPr id="29" name="Freeform 29"/>
                <p:cNvSpPr/>
                <p:nvPr/>
              </p:nvSpPr>
              <p:spPr>
                <a:xfrm>
                  <a:off x="614362" y="4486275"/>
                  <a:ext cx="257175" cy="228600"/>
                </a:xfrm>
                <a:custGeom>
                  <a:avLst/>
                  <a:gdLst/>
                  <a:ahLst/>
                  <a:cxnLst/>
                  <a:rect l="l" t="t" r="r" b="b"/>
                  <a:pathLst>
                    <a:path w="257175" h="228600">
                      <a:moveTo>
                        <a:pt x="0" y="28575"/>
                      </a:moveTo>
                      <a:cubicBezTo>
                        <a:pt x="0" y="12793"/>
                        <a:pt x="12793" y="0"/>
                        <a:pt x="28575" y="0"/>
                      </a:cubicBezTo>
                      <a:lnTo>
                        <a:pt x="228600" y="0"/>
                      </a:lnTo>
                      <a:cubicBezTo>
                        <a:pt x="244382" y="0"/>
                        <a:pt x="257175" y="12793"/>
                        <a:pt x="257175" y="28575"/>
                      </a:cubicBezTo>
                      <a:lnTo>
                        <a:pt x="257175" y="200025"/>
                      </a:lnTo>
                      <a:cubicBezTo>
                        <a:pt x="257175" y="215807"/>
                        <a:pt x="244382" y="228600"/>
                        <a:pt x="228600" y="228600"/>
                      </a:cubicBezTo>
                      <a:lnTo>
                        <a:pt x="28575" y="228600"/>
                      </a:lnTo>
                      <a:cubicBezTo>
                        <a:pt x="12793" y="228600"/>
                        <a:pt x="0" y="215807"/>
                        <a:pt x="0" y="200025"/>
                      </a:cubicBezTo>
                      <a:lnTo>
                        <a:pt x="0" y="28575"/>
                      </a:lnTo>
                    </a:path>
                  </a:pathLst>
                </a:custGeom>
                <a:noFill/>
                <a:ln w="19050">
                  <a:solidFill>
                    <a:srgbClr val="009CDE"/>
                  </a:solidFill>
                </a:ln>
              </p:spPr>
              <p:txBody>
                <a:bodyPr/>
                <a:lstStyle/>
                <a:p>
                  <a:endParaRPr lang="en-US"/>
                </a:p>
              </p:txBody>
            </p:sp>
          </p:grpSp>
          <p:sp>
            <p:nvSpPr>
              <p:cNvPr id="31" name="TextBox 31"/>
              <p:cNvSpPr txBox="1"/>
              <p:nvPr/>
            </p:nvSpPr>
            <p:spPr>
              <a:xfrm>
                <a:off x="997268" y="4476274"/>
                <a:ext cx="465845"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LOCAL</a:t>
                </a:r>
              </a:p>
            </p:txBody>
          </p:sp>
          <p:sp>
            <p:nvSpPr>
              <p:cNvPr id="32" name="TextBox 32"/>
              <p:cNvSpPr txBox="1"/>
              <p:nvPr/>
            </p:nvSpPr>
            <p:spPr>
              <a:xfrm>
                <a:off x="997268" y="4666774"/>
                <a:ext cx="1994136" cy="150041"/>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Runs in the analyst</a:t>
                </a:r>
                <a:r>
                  <a:rPr lang="en-US" altLang="zh-CN" sz="975" dirty="0">
                    <a:solidFill>
                      <a:srgbClr val="5B6470"/>
                    </a:solidFill>
                    <a:latin typeface="Arial"/>
                    <a:ea typeface="Microsoft YaHei"/>
                    <a:cs typeface="Arial"/>
                  </a:rPr>
                  <a:t>’s local computer</a:t>
                </a:r>
                <a:endParaRPr lang="zh-CN" sz="975" dirty="0">
                  <a:solidFill>
                    <a:srgbClr val="5B6470"/>
                  </a:solidFill>
                  <a:latin typeface="Arial"/>
                  <a:ea typeface="Microsoft YaHei"/>
                  <a:cs typeface="Arial"/>
                </a:endParaRPr>
              </a:p>
            </p:txBody>
          </p:sp>
        </p:grpSp>
        <p:grpSp>
          <p:nvGrpSpPr>
            <p:cNvPr id="42" name="Group 42"/>
            <p:cNvGrpSpPr/>
            <p:nvPr/>
          </p:nvGrpSpPr>
          <p:grpSpPr>
            <a:xfrm>
              <a:off x="614362" y="5047774"/>
              <a:ext cx="1941025" cy="340541"/>
              <a:chOff x="614362" y="5047774"/>
              <a:chExt cx="1941025" cy="340541"/>
            </a:xfrm>
          </p:grpSpPr>
          <p:grpSp>
            <p:nvGrpSpPr>
              <p:cNvPr id="39" name="Group 39"/>
              <p:cNvGrpSpPr/>
              <p:nvPr/>
            </p:nvGrpSpPr>
            <p:grpSpPr>
              <a:xfrm>
                <a:off x="614362" y="5072062"/>
                <a:ext cx="257175" cy="200025"/>
                <a:chOff x="614362" y="5072062"/>
                <a:chExt cx="257175" cy="200025"/>
              </a:xfrm>
            </p:grpSpPr>
            <p:sp>
              <p:nvSpPr>
                <p:cNvPr id="34" name="Freeform 34"/>
                <p:cNvSpPr/>
                <p:nvPr/>
              </p:nvSpPr>
              <p:spPr>
                <a:xfrm>
                  <a:off x="785812" y="5172075"/>
                  <a:ext cx="9525" cy="9525"/>
                </a:xfrm>
                <a:custGeom>
                  <a:avLst/>
                  <a:gdLst/>
                  <a:ahLst/>
                  <a:cxnLst/>
                  <a:rect l="l" t="t" r="r" b="b"/>
                  <a:pathLst>
                    <a:path w="9525" h="9525">
                      <a:moveTo>
                        <a:pt x="0" y="0"/>
                      </a:moveTo>
                      <a:lnTo>
                        <a:pt x="143" y="0"/>
                      </a:lnTo>
                    </a:path>
                  </a:pathLst>
                </a:custGeom>
                <a:noFill/>
                <a:ln w="19050">
                  <a:solidFill>
                    <a:srgbClr val="009CDE"/>
                  </a:solidFill>
                </a:ln>
              </p:spPr>
              <p:txBody>
                <a:bodyPr/>
                <a:lstStyle/>
                <a:p>
                  <a:endParaRPr lang="en-US"/>
                </a:p>
              </p:txBody>
            </p:sp>
            <p:sp>
              <p:nvSpPr>
                <p:cNvPr id="35" name="Freeform 35"/>
                <p:cNvSpPr/>
                <p:nvPr/>
              </p:nvSpPr>
              <p:spPr>
                <a:xfrm>
                  <a:off x="742950" y="5172075"/>
                  <a:ext cx="9525" cy="9525"/>
                </a:xfrm>
                <a:custGeom>
                  <a:avLst/>
                  <a:gdLst/>
                  <a:ahLst/>
                  <a:cxnLst/>
                  <a:rect l="l" t="t" r="r" b="b"/>
                  <a:pathLst>
                    <a:path w="9525" h="9525">
                      <a:moveTo>
                        <a:pt x="0" y="0"/>
                      </a:moveTo>
                      <a:lnTo>
                        <a:pt x="143" y="0"/>
                      </a:lnTo>
                    </a:path>
                  </a:pathLst>
                </a:custGeom>
                <a:noFill/>
                <a:ln w="19050">
                  <a:solidFill>
                    <a:srgbClr val="009CDE"/>
                  </a:solidFill>
                </a:ln>
              </p:spPr>
              <p:txBody>
                <a:bodyPr/>
                <a:lstStyle/>
                <a:p>
                  <a:endParaRPr lang="en-US"/>
                </a:p>
              </p:txBody>
            </p:sp>
            <p:sp>
              <p:nvSpPr>
                <p:cNvPr id="36" name="Freeform 36"/>
                <p:cNvSpPr/>
                <p:nvPr/>
              </p:nvSpPr>
              <p:spPr>
                <a:xfrm>
                  <a:off x="700088" y="5172075"/>
                  <a:ext cx="9525" cy="9525"/>
                </a:xfrm>
                <a:custGeom>
                  <a:avLst/>
                  <a:gdLst/>
                  <a:ahLst/>
                  <a:cxnLst/>
                  <a:rect l="l" t="t" r="r" b="b"/>
                  <a:pathLst>
                    <a:path w="9525" h="9525">
                      <a:moveTo>
                        <a:pt x="0" y="0"/>
                      </a:moveTo>
                      <a:lnTo>
                        <a:pt x="143" y="0"/>
                      </a:lnTo>
                    </a:path>
                  </a:pathLst>
                </a:custGeom>
                <a:noFill/>
                <a:ln w="19050">
                  <a:solidFill>
                    <a:srgbClr val="009CDE"/>
                  </a:solidFill>
                </a:ln>
              </p:spPr>
              <p:txBody>
                <a:bodyPr/>
                <a:lstStyle/>
                <a:p>
                  <a:endParaRPr lang="en-US"/>
                </a:p>
              </p:txBody>
            </p:sp>
            <p:sp>
              <p:nvSpPr>
                <p:cNvPr id="37" name="Freeform 37"/>
                <p:cNvSpPr/>
                <p:nvPr/>
              </p:nvSpPr>
              <p:spPr>
                <a:xfrm>
                  <a:off x="614362" y="5072062"/>
                  <a:ext cx="42862" cy="200025"/>
                </a:xfrm>
                <a:custGeom>
                  <a:avLst/>
                  <a:gdLst/>
                  <a:ahLst/>
                  <a:cxnLst/>
                  <a:rect l="l" t="t" r="r" b="b"/>
                  <a:pathLst>
                    <a:path w="42862" h="200025">
                      <a:moveTo>
                        <a:pt x="42862" y="200025"/>
                      </a:moveTo>
                      <a:cubicBezTo>
                        <a:pt x="27081" y="200025"/>
                        <a:pt x="14288" y="187232"/>
                        <a:pt x="14288" y="171450"/>
                      </a:cubicBezTo>
                      <a:lnTo>
                        <a:pt x="14288" y="114300"/>
                      </a:lnTo>
                      <a:lnTo>
                        <a:pt x="0" y="100012"/>
                      </a:lnTo>
                      <a:lnTo>
                        <a:pt x="14288" y="85725"/>
                      </a:lnTo>
                      <a:lnTo>
                        <a:pt x="14288" y="28575"/>
                      </a:lnTo>
                      <a:cubicBezTo>
                        <a:pt x="14288" y="12793"/>
                        <a:pt x="27081" y="0"/>
                        <a:pt x="42862" y="0"/>
                      </a:cubicBezTo>
                    </a:path>
                  </a:pathLst>
                </a:custGeom>
                <a:noFill/>
                <a:ln w="19050">
                  <a:solidFill>
                    <a:srgbClr val="009CDE"/>
                  </a:solidFill>
                </a:ln>
              </p:spPr>
              <p:txBody>
                <a:bodyPr/>
                <a:lstStyle/>
                <a:p>
                  <a:endParaRPr lang="en-US"/>
                </a:p>
              </p:txBody>
            </p:sp>
            <p:sp>
              <p:nvSpPr>
                <p:cNvPr id="38" name="Freeform 38"/>
                <p:cNvSpPr/>
                <p:nvPr/>
              </p:nvSpPr>
              <p:spPr>
                <a:xfrm>
                  <a:off x="828675" y="5072062"/>
                  <a:ext cx="42862" cy="200025"/>
                </a:xfrm>
                <a:custGeom>
                  <a:avLst/>
                  <a:gdLst/>
                  <a:ahLst/>
                  <a:cxnLst/>
                  <a:rect l="l" t="t" r="r" b="b"/>
                  <a:pathLst>
                    <a:path w="42862" h="200025">
                      <a:moveTo>
                        <a:pt x="0" y="200025"/>
                      </a:moveTo>
                      <a:cubicBezTo>
                        <a:pt x="15782" y="200025"/>
                        <a:pt x="28575" y="187232"/>
                        <a:pt x="28575" y="171450"/>
                      </a:cubicBezTo>
                      <a:lnTo>
                        <a:pt x="28575" y="114300"/>
                      </a:lnTo>
                      <a:lnTo>
                        <a:pt x="42862" y="100012"/>
                      </a:lnTo>
                      <a:lnTo>
                        <a:pt x="28575" y="85725"/>
                      </a:lnTo>
                      <a:lnTo>
                        <a:pt x="28575" y="28575"/>
                      </a:lnTo>
                      <a:cubicBezTo>
                        <a:pt x="28575" y="12793"/>
                        <a:pt x="15782" y="0"/>
                        <a:pt x="0" y="0"/>
                      </a:cubicBezTo>
                    </a:path>
                  </a:pathLst>
                </a:custGeom>
                <a:noFill/>
                <a:ln w="19050">
                  <a:solidFill>
                    <a:srgbClr val="009CDE"/>
                  </a:solidFill>
                </a:ln>
              </p:spPr>
              <p:txBody>
                <a:bodyPr/>
                <a:lstStyle/>
                <a:p>
                  <a:endParaRPr lang="en-US"/>
                </a:p>
              </p:txBody>
            </p:sp>
          </p:grpSp>
          <p:sp>
            <p:nvSpPr>
              <p:cNvPr id="40" name="TextBox 40"/>
              <p:cNvSpPr txBox="1"/>
              <p:nvPr/>
            </p:nvSpPr>
            <p:spPr>
              <a:xfrm>
                <a:off x="997268" y="5047774"/>
                <a:ext cx="480797"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NATIVE</a:t>
                </a:r>
              </a:p>
            </p:txBody>
          </p:sp>
          <p:sp>
            <p:nvSpPr>
              <p:cNvPr id="41" name="TextBox 41"/>
              <p:cNvSpPr txBox="1"/>
              <p:nvPr/>
            </p:nvSpPr>
            <p:spPr>
              <a:xfrm>
                <a:off x="997268" y="5238274"/>
                <a:ext cx="1558119" cy="150041"/>
              </a:xfrm>
              <a:prstGeom prst="rect">
                <a:avLst/>
              </a:prstGeom>
              <a:noFill/>
              <a:ln>
                <a:noFill/>
              </a:ln>
            </p:spPr>
            <p:txBody>
              <a:bodyPr wrap="none" lIns="0" tIns="0" rIns="0" bIns="0" anchor="t" anchorCtr="0">
                <a:spAutoFit/>
              </a:bodyPr>
              <a:lstStyle/>
              <a:p>
                <a:pPr algn="l"/>
                <a:r>
                  <a:rPr lang="en-US" altLang="zh-CN" sz="975" dirty="0">
                    <a:solidFill>
                      <a:srgbClr val="5B6470"/>
                    </a:solidFill>
                    <a:latin typeface="Arial"/>
                    <a:ea typeface="Microsoft YaHei"/>
                    <a:cs typeface="Arial"/>
                  </a:rPr>
                  <a:t>Direct </a:t>
                </a:r>
                <a:r>
                  <a:rPr lang="en-US" altLang="zh-CN" sz="975" dirty="0" err="1">
                    <a:solidFill>
                      <a:srgbClr val="5B6470"/>
                    </a:solidFill>
                    <a:latin typeface="Arial"/>
                    <a:ea typeface="Microsoft YaHei"/>
                    <a:cs typeface="Arial"/>
                  </a:rPr>
                  <a:t>iData</a:t>
                </a:r>
                <a:r>
                  <a:rPr lang="en-US" altLang="zh-CN" sz="975" dirty="0">
                    <a:solidFill>
                      <a:srgbClr val="5B6470"/>
                    </a:solidFill>
                    <a:latin typeface="Arial"/>
                    <a:ea typeface="Microsoft YaHei"/>
                    <a:cs typeface="Arial"/>
                  </a:rPr>
                  <a:t> SDK integration</a:t>
                </a:r>
                <a:endParaRPr lang="zh-CN" sz="975" dirty="0">
                  <a:solidFill>
                    <a:srgbClr val="5B6470"/>
                  </a:solidFill>
                  <a:latin typeface="Arial"/>
                  <a:ea typeface="Microsoft YaHei"/>
                  <a:cs typeface="Arial"/>
                </a:endParaRPr>
              </a:p>
            </p:txBody>
          </p:sp>
        </p:grpSp>
        <p:grpSp>
          <p:nvGrpSpPr>
            <p:cNvPr id="51" name="Group 51"/>
            <p:cNvGrpSpPr/>
            <p:nvPr/>
          </p:nvGrpSpPr>
          <p:grpSpPr>
            <a:xfrm>
              <a:off x="614362" y="5619274"/>
              <a:ext cx="3345255" cy="340541"/>
              <a:chOff x="614362" y="5619274"/>
              <a:chExt cx="3345255" cy="340541"/>
            </a:xfrm>
          </p:grpSpPr>
          <p:grpSp>
            <p:nvGrpSpPr>
              <p:cNvPr id="48" name="Group 48"/>
              <p:cNvGrpSpPr/>
              <p:nvPr/>
            </p:nvGrpSpPr>
            <p:grpSpPr>
              <a:xfrm>
                <a:off x="614362" y="5634880"/>
                <a:ext cx="266701" cy="208708"/>
                <a:chOff x="614362" y="5634880"/>
                <a:chExt cx="266701" cy="208708"/>
              </a:xfrm>
            </p:grpSpPr>
            <p:sp>
              <p:nvSpPr>
                <p:cNvPr id="43" name="Freeform 43"/>
                <p:cNvSpPr/>
                <p:nvPr/>
              </p:nvSpPr>
              <p:spPr>
                <a:xfrm>
                  <a:off x="614362" y="5820618"/>
                  <a:ext cx="257175" cy="22970"/>
                </a:xfrm>
                <a:custGeom>
                  <a:avLst/>
                  <a:gdLst/>
                  <a:ahLst/>
                  <a:cxnLst/>
                  <a:rect l="l" t="t" r="r" b="b"/>
                  <a:pathLst>
                    <a:path w="257175" h="22970">
                      <a:moveTo>
                        <a:pt x="0" y="22970"/>
                      </a:moveTo>
                      <a:cubicBezTo>
                        <a:pt x="39785" y="0"/>
                        <a:pt x="88802" y="0"/>
                        <a:pt x="128588" y="22970"/>
                      </a:cubicBezTo>
                      <a:cubicBezTo>
                        <a:pt x="168373" y="0"/>
                        <a:pt x="217390" y="0"/>
                        <a:pt x="257175" y="22970"/>
                      </a:cubicBezTo>
                    </a:path>
                  </a:pathLst>
                </a:custGeom>
                <a:noFill/>
                <a:ln w="19050">
                  <a:solidFill>
                    <a:srgbClr val="009CDE"/>
                  </a:solidFill>
                </a:ln>
              </p:spPr>
              <p:txBody>
                <a:bodyPr/>
                <a:lstStyle/>
                <a:p>
                  <a:endParaRPr lang="en-US"/>
                </a:p>
              </p:txBody>
            </p:sp>
            <p:sp>
              <p:nvSpPr>
                <p:cNvPr id="44" name="Freeform 44"/>
                <p:cNvSpPr/>
                <p:nvPr/>
              </p:nvSpPr>
              <p:spPr>
                <a:xfrm>
                  <a:off x="614362" y="5634880"/>
                  <a:ext cx="257175" cy="22970"/>
                </a:xfrm>
                <a:custGeom>
                  <a:avLst/>
                  <a:gdLst/>
                  <a:ahLst/>
                  <a:cxnLst/>
                  <a:rect l="l" t="t" r="r" b="b"/>
                  <a:pathLst>
                    <a:path w="257175" h="22970">
                      <a:moveTo>
                        <a:pt x="0" y="22970"/>
                      </a:moveTo>
                      <a:cubicBezTo>
                        <a:pt x="39785" y="0"/>
                        <a:pt x="88802" y="0"/>
                        <a:pt x="128588" y="22970"/>
                      </a:cubicBezTo>
                      <a:cubicBezTo>
                        <a:pt x="168373" y="0"/>
                        <a:pt x="217390" y="0"/>
                        <a:pt x="257175" y="22970"/>
                      </a:cubicBezTo>
                    </a:path>
                  </a:pathLst>
                </a:custGeom>
                <a:noFill/>
                <a:ln w="19050">
                  <a:solidFill>
                    <a:srgbClr val="009CDE"/>
                  </a:solidFill>
                </a:ln>
              </p:spPr>
              <p:txBody>
                <a:bodyPr/>
                <a:lstStyle/>
                <a:p>
                  <a:endParaRPr lang="en-US"/>
                </a:p>
              </p:txBody>
            </p:sp>
            <p:sp>
              <p:nvSpPr>
                <p:cNvPr id="45" name="Freeform 45"/>
                <p:cNvSpPr/>
                <p:nvPr/>
              </p:nvSpPr>
              <p:spPr>
                <a:xfrm>
                  <a:off x="614362" y="5657850"/>
                  <a:ext cx="9525" cy="185738"/>
                </a:xfrm>
                <a:custGeom>
                  <a:avLst/>
                  <a:gdLst/>
                  <a:ahLst/>
                  <a:cxnLst/>
                  <a:rect l="l" t="t" r="r" b="b"/>
                  <a:pathLst>
                    <a:path w="9525" h="185738">
                      <a:moveTo>
                        <a:pt x="0" y="0"/>
                      </a:moveTo>
                      <a:lnTo>
                        <a:pt x="0" y="185738"/>
                      </a:lnTo>
                    </a:path>
                  </a:pathLst>
                </a:custGeom>
                <a:noFill/>
                <a:ln w="19050">
                  <a:solidFill>
                    <a:srgbClr val="009CDE"/>
                  </a:solidFill>
                </a:ln>
              </p:spPr>
              <p:txBody>
                <a:bodyPr/>
                <a:lstStyle/>
                <a:p>
                  <a:endParaRPr lang="en-US"/>
                </a:p>
              </p:txBody>
            </p:sp>
            <p:sp>
              <p:nvSpPr>
                <p:cNvPr id="46" name="Freeform 46"/>
                <p:cNvSpPr/>
                <p:nvPr/>
              </p:nvSpPr>
              <p:spPr>
                <a:xfrm>
                  <a:off x="742950" y="5657850"/>
                  <a:ext cx="9525" cy="185738"/>
                </a:xfrm>
                <a:custGeom>
                  <a:avLst/>
                  <a:gdLst/>
                  <a:ahLst/>
                  <a:cxnLst/>
                  <a:rect l="l" t="t" r="r" b="b"/>
                  <a:pathLst>
                    <a:path w="9525" h="185738">
                      <a:moveTo>
                        <a:pt x="0" y="0"/>
                      </a:moveTo>
                      <a:lnTo>
                        <a:pt x="0" y="185738"/>
                      </a:lnTo>
                    </a:path>
                  </a:pathLst>
                </a:custGeom>
                <a:noFill/>
                <a:ln w="19050">
                  <a:solidFill>
                    <a:srgbClr val="009CDE"/>
                  </a:solidFill>
                </a:ln>
              </p:spPr>
              <p:txBody>
                <a:bodyPr/>
                <a:lstStyle/>
                <a:p>
                  <a:endParaRPr lang="en-US"/>
                </a:p>
              </p:txBody>
            </p:sp>
            <p:sp>
              <p:nvSpPr>
                <p:cNvPr id="47" name="Freeform 47"/>
                <p:cNvSpPr/>
                <p:nvPr/>
              </p:nvSpPr>
              <p:spPr>
                <a:xfrm>
                  <a:off x="871538" y="5657850"/>
                  <a:ext cx="9525" cy="185738"/>
                </a:xfrm>
                <a:custGeom>
                  <a:avLst/>
                  <a:gdLst/>
                  <a:ahLst/>
                  <a:cxnLst/>
                  <a:rect l="l" t="t" r="r" b="b"/>
                  <a:pathLst>
                    <a:path w="9525" h="185738">
                      <a:moveTo>
                        <a:pt x="0" y="0"/>
                      </a:moveTo>
                      <a:lnTo>
                        <a:pt x="0" y="185738"/>
                      </a:lnTo>
                    </a:path>
                  </a:pathLst>
                </a:custGeom>
                <a:noFill/>
                <a:ln w="19050">
                  <a:solidFill>
                    <a:srgbClr val="009CDE"/>
                  </a:solidFill>
                </a:ln>
              </p:spPr>
              <p:txBody>
                <a:bodyPr/>
                <a:lstStyle/>
                <a:p>
                  <a:endParaRPr lang="en-US"/>
                </a:p>
              </p:txBody>
            </p:sp>
          </p:grpSp>
          <p:sp>
            <p:nvSpPr>
              <p:cNvPr id="49" name="TextBox 49"/>
              <p:cNvSpPr txBox="1"/>
              <p:nvPr/>
            </p:nvSpPr>
            <p:spPr>
              <a:xfrm>
                <a:off x="997268" y="5619274"/>
                <a:ext cx="1011588"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INSTITUTIONAL</a:t>
                </a:r>
              </a:p>
            </p:txBody>
          </p:sp>
          <p:sp>
            <p:nvSpPr>
              <p:cNvPr id="50" name="TextBox 50"/>
              <p:cNvSpPr txBox="1"/>
              <p:nvPr/>
            </p:nvSpPr>
            <p:spPr>
              <a:xfrm>
                <a:off x="997268" y="5809774"/>
                <a:ext cx="2962349" cy="150041"/>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Encodes </a:t>
                </a:r>
                <a:r>
                  <a:rPr lang="en-US" altLang="zh-CN" sz="975" dirty="0">
                    <a:solidFill>
                      <a:srgbClr val="5B6470"/>
                    </a:solidFill>
                    <a:latin typeface="Arial"/>
                    <a:ea typeface="Microsoft YaHei"/>
                    <a:cs typeface="Arial"/>
                  </a:rPr>
                  <a:t>general RA knowledge and </a:t>
                </a:r>
                <a:r>
                  <a:rPr lang="zh-CN" sz="975" dirty="0">
                    <a:solidFill>
                      <a:srgbClr val="5B6470"/>
                    </a:solidFill>
                    <a:latin typeface="Arial"/>
                    <a:ea typeface="Microsoft YaHei"/>
                    <a:cs typeface="Arial"/>
                  </a:rPr>
                  <a:t>IMF conventions</a:t>
                </a:r>
              </a:p>
            </p:txBody>
          </p:sp>
        </p:grpSp>
      </p:grpSp>
      <p:sp>
        <p:nvSpPr>
          <p:cNvPr id="53" name="TextBox 53"/>
          <p:cNvSpPr txBox="1"/>
          <p:nvPr/>
        </p:nvSpPr>
        <p:spPr>
          <a:xfrm>
            <a:off x="561022" y="6483191"/>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56" name="Text Placeholder 3">
            <a:extLst>
              <a:ext uri="{FF2B5EF4-FFF2-40B4-BE49-F238E27FC236}">
                <a16:creationId xmlns:a16="http://schemas.microsoft.com/office/drawing/2014/main" id="{B604A8FF-4FDA-7B04-DBF8-DBCFBB6CCDE1}"/>
              </a:ext>
            </a:extLst>
          </p:cNvPr>
          <p:cNvSpPr txBox="1">
            <a:spLocks/>
          </p:cNvSpPr>
          <p:nvPr/>
        </p:nvSpPr>
        <p:spPr>
          <a:xfrm>
            <a:off x="524277" y="5078766"/>
            <a:ext cx="5515284" cy="1213338"/>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Chengyu Huang / Bella Hao / Jamie Yang </a:t>
            </a:r>
          </a:p>
          <a:p>
            <a:r>
              <a:rPr lang="en-US" dirty="0"/>
              <a:t>SPR AI</a:t>
            </a:r>
          </a:p>
          <a:p>
            <a:r>
              <a:rPr lang="en-US" dirty="0"/>
              <a:t>Jun 2026</a:t>
            </a:r>
          </a:p>
        </p:txBody>
      </p:sp>
      <p:pic>
        <p:nvPicPr>
          <p:cNvPr id="60" name="Picture 59" descr="A diagram of data search&#10;&#10;AI-generated content may be incorrect.">
            <a:extLst>
              <a:ext uri="{FF2B5EF4-FFF2-40B4-BE49-F238E27FC236}">
                <a16:creationId xmlns:a16="http://schemas.microsoft.com/office/drawing/2014/main" id="{66231191-B2E3-404B-93B6-B2413CD6B925}"/>
              </a:ext>
            </a:extLst>
          </p:cNvPr>
          <p:cNvPicPr>
            <a:picLocks noChangeAspect="1"/>
          </p:cNvPicPr>
          <p:nvPr/>
        </p:nvPicPr>
        <p:blipFill>
          <a:blip r:embed="rId3"/>
          <a:stretch>
            <a:fillRect/>
          </a:stretch>
        </p:blipFill>
        <p:spPr>
          <a:xfrm>
            <a:off x="6481991" y="0"/>
            <a:ext cx="5710009"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400"/>
                                        <p:tgtEl>
                                          <p:spTgt spid="20"/>
                                        </p:tgtEl>
                                      </p:cBhvr>
                                    </p:animEffect>
                                  </p:childTnLst>
                                </p:cTn>
                              </p:par>
                            </p:childTnLst>
                          </p:cTn>
                        </p:par>
                        <p:par>
                          <p:cTn id="8" fill="hold">
                            <p:stCondLst>
                              <p:cond delay="400"/>
                            </p:stCondLst>
                            <p:childTnLst>
                              <p:par>
                                <p:cTn id="9" presetID="2" presetClass="entr" presetSubtype="4"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slide(fromBottom)">
                                      <p:cBhvr>
                                        <p:cTn id="11" dur="400"/>
                                        <p:tgtEl>
                                          <p:spTgt spid="24"/>
                                        </p:tgtEl>
                                      </p:cBhvr>
                                    </p:animEffect>
                                  </p:childTnLst>
                                </p:cTn>
                              </p:par>
                            </p:childTnLst>
                          </p:cTn>
                        </p:par>
                        <p:par>
                          <p:cTn id="12" fill="hold">
                            <p:stCondLst>
                              <p:cond delay="800"/>
                            </p:stCondLst>
                            <p:childTnLst>
                              <p:par>
                                <p:cTn id="13" presetID="4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slide(fromLeft)">
                                      <p:cBhvr>
                                        <p:cTn id="15" dur="400"/>
                                        <p:tgtEl>
                                          <p:spTgt spid="26"/>
                                        </p:tgtEl>
                                      </p:cBhvr>
                                    </p:animEffect>
                                  </p:childTnLst>
                                </p:cTn>
                              </p:par>
                            </p:childTnLst>
                          </p:cTn>
                        </p:par>
                        <p:par>
                          <p:cTn id="16" fill="hold">
                            <p:stCondLst>
                              <p:cond delay="1200"/>
                            </p:stCondLst>
                            <p:childTnLst>
                              <p:par>
                                <p:cTn id="17" presetID="14" presetClass="entr" presetSubtype="10"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randombar(horizontal)">
                                      <p:cBhvr>
                                        <p:cTn id="1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4" grpId="0"/>
      <p:bldP spid="26" grpId="0"/>
      <p:bldP spid="5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grpSp>
        <p:nvGrpSpPr>
          <p:cNvPr id="6" name="Group 6"/>
          <p:cNvGrpSpPr/>
          <p:nvPr/>
        </p:nvGrpSpPr>
        <p:grpSpPr>
          <a:xfrm>
            <a:off x="541020" y="569595"/>
            <a:ext cx="5471236" cy="897255"/>
            <a:chOff x="541020" y="569595"/>
            <a:chExt cx="5471236" cy="897255"/>
          </a:xfrm>
        </p:grpSpPr>
        <p:sp>
          <p:nvSpPr>
            <p:cNvPr id="3" name="TextBox 3"/>
            <p:cNvSpPr txBox="1"/>
            <p:nvPr/>
          </p:nvSpPr>
          <p:spPr>
            <a:xfrm>
              <a:off x="560070" y="569595"/>
              <a:ext cx="1154601" cy="182880"/>
            </a:xfrm>
            <a:prstGeom prst="rect">
              <a:avLst/>
            </a:prstGeom>
            <a:noFill/>
            <a:ln>
              <a:noFill/>
            </a:ln>
          </p:spPr>
          <p:txBody>
            <a:bodyPr wrap="none" lIns="0" tIns="0" rIns="0" bIns="0" anchor="t" anchorCtr="0">
              <a:spAutoFit/>
            </a:bodyPr>
            <a:lstStyle/>
            <a:p>
              <a:pPr algn="l"/>
              <a:r>
                <a:rPr lang="zh-CN" sz="900" b="1" dirty="0">
                  <a:solidFill>
                    <a:srgbClr val="707372"/>
                  </a:solidFill>
                  <a:latin typeface="Arial"/>
                  <a:ea typeface="Microsoft YaHei"/>
                  <a:cs typeface="Arial"/>
                </a:rPr>
                <a:t>01 · THE PROBLEM</a:t>
              </a:r>
            </a:p>
          </p:txBody>
        </p:sp>
        <p:sp>
          <p:nvSpPr>
            <p:cNvPr id="4" name="TextBox 4"/>
            <p:cNvSpPr txBox="1"/>
            <p:nvPr/>
          </p:nvSpPr>
          <p:spPr>
            <a:xfrm>
              <a:off x="541020" y="788670"/>
              <a:ext cx="5471236" cy="487680"/>
            </a:xfrm>
            <a:prstGeom prst="rect">
              <a:avLst/>
            </a:prstGeom>
            <a:noFill/>
            <a:ln>
              <a:noFill/>
            </a:ln>
          </p:spPr>
          <p:txBody>
            <a:bodyPr wrap="none" lIns="0" tIns="0" rIns="0" bIns="0" anchor="t" anchorCtr="0">
              <a:spAutoFit/>
            </a:bodyPr>
            <a:lstStyle/>
            <a:p>
              <a:pPr algn="l"/>
              <a:r>
                <a:rPr lang="zh-CN" sz="2400" b="1" dirty="0">
                  <a:solidFill>
                    <a:srgbClr val="004C97"/>
                  </a:solidFill>
                  <a:latin typeface="Arial Black"/>
                  <a:ea typeface="Microsoft YaHei"/>
                  <a:cs typeface="Arial Black"/>
                </a:rPr>
                <a:t>AI today lives in a chat window</a:t>
              </a:r>
            </a:p>
          </p:txBody>
        </p:sp>
        <p:sp>
          <p:nvSpPr>
            <p:cNvPr id="5" name="TextBox 5"/>
            <p:cNvSpPr txBox="1"/>
            <p:nvPr/>
          </p:nvSpPr>
          <p:spPr>
            <a:xfrm>
              <a:off x="556260" y="1223010"/>
              <a:ext cx="5270754" cy="243840"/>
            </a:xfrm>
            <a:prstGeom prst="rect">
              <a:avLst/>
            </a:prstGeom>
            <a:noFill/>
            <a:ln>
              <a:noFill/>
            </a:ln>
          </p:spPr>
          <p:txBody>
            <a:bodyPr wrap="none" lIns="0" tIns="0" rIns="0" bIns="0" anchor="t" anchorCtr="0">
              <a:spAutoFit/>
            </a:bodyPr>
            <a:lstStyle/>
            <a:p>
              <a:pPr algn="l"/>
              <a:r>
                <a:rPr lang="zh-CN" sz="1200" i="1" dirty="0">
                  <a:solidFill>
                    <a:srgbClr val="5B6470"/>
                  </a:solidFill>
                  <a:latin typeface="Arial"/>
                  <a:ea typeface="Microsoft YaHei"/>
                  <a:cs typeface="Arial"/>
                </a:rPr>
                <a:t>— and the rest of the workflow is stitched together by hand.</a:t>
              </a:r>
            </a:p>
          </p:txBody>
        </p:sp>
      </p:grpSp>
      <p:grpSp>
        <p:nvGrpSpPr>
          <p:cNvPr id="19" name="Group 19"/>
          <p:cNvGrpSpPr/>
          <p:nvPr/>
        </p:nvGrpSpPr>
        <p:grpSpPr>
          <a:xfrm>
            <a:off x="571500" y="1809750"/>
            <a:ext cx="5143500" cy="3048000"/>
            <a:chOff x="571500" y="1809750"/>
            <a:chExt cx="5143500" cy="3048000"/>
          </a:xfrm>
        </p:grpSpPr>
        <p:sp>
          <p:nvSpPr>
            <p:cNvPr id="7" name="Rectangle 7"/>
            <p:cNvSpPr/>
            <p:nvPr/>
          </p:nvSpPr>
          <p:spPr>
            <a:xfrm>
              <a:off x="571500" y="1809750"/>
              <a:ext cx="5143500" cy="3048000"/>
            </a:xfrm>
            <a:prstGeom prst="roundRect">
              <a:avLst>
                <a:gd name="adj" fmla="val 3125"/>
              </a:avLst>
            </a:prstGeom>
            <a:solidFill>
              <a:srgbClr val="EAF6FD"/>
            </a:solidFill>
            <a:ln w="9525">
              <a:solidFill>
                <a:srgbClr val="CDD7E2"/>
              </a:solidFill>
            </a:ln>
          </p:spPr>
          <p:txBody>
            <a:bodyPr/>
            <a:lstStyle/>
            <a:p>
              <a:endParaRPr lang="en-US"/>
            </a:p>
          </p:txBody>
        </p:sp>
        <p:sp>
          <p:nvSpPr>
            <p:cNvPr id="8" name="TextBox 8"/>
            <p:cNvSpPr txBox="1"/>
            <p:nvPr/>
          </p:nvSpPr>
          <p:spPr>
            <a:xfrm>
              <a:off x="807720" y="2055495"/>
              <a:ext cx="595632" cy="182880"/>
            </a:xfrm>
            <a:prstGeom prst="rect">
              <a:avLst/>
            </a:prstGeom>
            <a:noFill/>
            <a:ln>
              <a:noFill/>
            </a:ln>
          </p:spPr>
          <p:txBody>
            <a:bodyPr wrap="none" lIns="0" tIns="0" rIns="0" bIns="0" anchor="t" anchorCtr="0">
              <a:spAutoFit/>
            </a:bodyPr>
            <a:lstStyle/>
            <a:p>
              <a:pPr algn="l"/>
              <a:r>
                <a:rPr lang="zh-CN" sz="900" b="1" dirty="0">
                  <a:solidFill>
                    <a:srgbClr val="5B6470"/>
                  </a:solidFill>
                  <a:latin typeface="Arial"/>
                  <a:ea typeface="Microsoft YaHei"/>
                  <a:cs typeface="Arial"/>
                </a:rPr>
                <a:t>CHAT TAB</a:t>
              </a:r>
            </a:p>
          </p:txBody>
        </p:sp>
        <p:grpSp>
          <p:nvGrpSpPr>
            <p:cNvPr id="11" name="Group 11"/>
            <p:cNvGrpSpPr/>
            <p:nvPr/>
          </p:nvGrpSpPr>
          <p:grpSpPr>
            <a:xfrm>
              <a:off x="866775" y="2447925"/>
              <a:ext cx="285750" cy="285750"/>
              <a:chOff x="866775" y="2447925"/>
              <a:chExt cx="285750" cy="285750"/>
            </a:xfrm>
          </p:grpSpPr>
          <p:sp>
            <p:nvSpPr>
              <p:cNvPr id="9" name="Freeform 9"/>
              <p:cNvSpPr/>
              <p:nvPr/>
            </p:nvSpPr>
            <p:spPr>
              <a:xfrm>
                <a:off x="977900" y="2447925"/>
                <a:ext cx="174625" cy="174625"/>
              </a:xfrm>
              <a:custGeom>
                <a:avLst/>
                <a:gdLst/>
                <a:ahLst/>
                <a:cxnLst/>
                <a:rect l="l" t="t" r="r" b="b"/>
                <a:pathLst>
                  <a:path w="174625" h="174625">
                    <a:moveTo>
                      <a:pt x="174625" y="174625"/>
                    </a:moveTo>
                    <a:lnTo>
                      <a:pt x="127000" y="127000"/>
                    </a:lnTo>
                    <a:lnTo>
                      <a:pt x="15875" y="127000"/>
                    </a:lnTo>
                    <a:cubicBezTo>
                      <a:pt x="7107" y="127000"/>
                      <a:pt x="0" y="119893"/>
                      <a:pt x="0" y="111125"/>
                    </a:cubicBezTo>
                    <a:lnTo>
                      <a:pt x="0" y="15875"/>
                    </a:lnTo>
                    <a:cubicBezTo>
                      <a:pt x="0" y="7107"/>
                      <a:pt x="7107" y="0"/>
                      <a:pt x="15875" y="0"/>
                    </a:cubicBezTo>
                    <a:lnTo>
                      <a:pt x="158750" y="0"/>
                    </a:lnTo>
                    <a:cubicBezTo>
                      <a:pt x="167518" y="0"/>
                      <a:pt x="174625" y="7107"/>
                      <a:pt x="174625" y="15875"/>
                    </a:cubicBezTo>
                    <a:lnTo>
                      <a:pt x="174625" y="174625"/>
                    </a:lnTo>
                  </a:path>
                </a:pathLst>
              </a:custGeom>
              <a:noFill/>
              <a:ln w="19050">
                <a:solidFill>
                  <a:srgbClr val="009CDE"/>
                </a:solidFill>
              </a:ln>
            </p:spPr>
            <p:txBody>
              <a:bodyPr/>
              <a:lstStyle/>
              <a:p>
                <a:endParaRPr lang="en-US"/>
              </a:p>
            </p:txBody>
          </p:sp>
          <p:sp>
            <p:nvSpPr>
              <p:cNvPr id="10" name="Freeform 10"/>
              <p:cNvSpPr/>
              <p:nvPr/>
            </p:nvSpPr>
            <p:spPr>
              <a:xfrm>
                <a:off x="866775" y="2559050"/>
                <a:ext cx="174625" cy="174625"/>
              </a:xfrm>
              <a:custGeom>
                <a:avLst/>
                <a:gdLst/>
                <a:ahLst/>
                <a:cxnLst/>
                <a:rect l="l" t="t" r="r" b="b"/>
                <a:pathLst>
                  <a:path w="174625" h="174625">
                    <a:moveTo>
                      <a:pt x="174625" y="79375"/>
                    </a:moveTo>
                    <a:lnTo>
                      <a:pt x="174625" y="111125"/>
                    </a:lnTo>
                    <a:cubicBezTo>
                      <a:pt x="174625" y="119893"/>
                      <a:pt x="167518" y="127000"/>
                      <a:pt x="158750" y="127000"/>
                    </a:cubicBezTo>
                    <a:lnTo>
                      <a:pt x="47625" y="127000"/>
                    </a:lnTo>
                    <a:lnTo>
                      <a:pt x="0" y="174625"/>
                    </a:lnTo>
                    <a:lnTo>
                      <a:pt x="0" y="15875"/>
                    </a:lnTo>
                    <a:cubicBezTo>
                      <a:pt x="0" y="7107"/>
                      <a:pt x="7107" y="0"/>
                      <a:pt x="15875" y="0"/>
                    </a:cubicBezTo>
                    <a:lnTo>
                      <a:pt x="47625" y="0"/>
                    </a:lnTo>
                  </a:path>
                </a:pathLst>
              </a:custGeom>
              <a:noFill/>
              <a:ln w="19050">
                <a:solidFill>
                  <a:srgbClr val="009CDE"/>
                </a:solidFill>
              </a:ln>
            </p:spPr>
            <p:txBody>
              <a:bodyPr/>
              <a:lstStyle/>
              <a:p>
                <a:endParaRPr lang="en-US"/>
              </a:p>
            </p:txBody>
          </p:sp>
        </p:grpSp>
        <p:sp>
          <p:nvSpPr>
            <p:cNvPr id="12" name="TextBox 12"/>
            <p:cNvSpPr txBox="1"/>
            <p:nvPr/>
          </p:nvSpPr>
          <p:spPr>
            <a:xfrm>
              <a:off x="1274445" y="2507932"/>
              <a:ext cx="2572226" cy="335280"/>
            </a:xfrm>
            <a:prstGeom prst="rect">
              <a:avLst/>
            </a:prstGeom>
            <a:noFill/>
            <a:ln>
              <a:noFill/>
            </a:ln>
          </p:spPr>
          <p:txBody>
            <a:bodyPr wrap="none" lIns="0" tIns="0" rIns="0" bIns="0" anchor="t" anchorCtr="0">
              <a:spAutoFit/>
            </a:bodyPr>
            <a:lstStyle/>
            <a:p>
              <a:pPr algn="l"/>
              <a:r>
                <a:rPr lang="zh-CN" sz="1650" b="1" dirty="0">
                  <a:solidFill>
                    <a:srgbClr val="004C97"/>
                  </a:solidFill>
                  <a:latin typeface="Arial Black"/>
                  <a:ea typeface="Microsoft YaHei"/>
                  <a:cs typeface="Arial Black"/>
                </a:rPr>
                <a:t>Ask Claude / ChatGPT</a:t>
              </a:r>
            </a:p>
          </p:txBody>
        </p:sp>
        <p:sp>
          <p:nvSpPr>
            <p:cNvPr id="13" name="Rectangle 13"/>
            <p:cNvSpPr/>
            <p:nvPr/>
          </p:nvSpPr>
          <p:spPr>
            <a:xfrm>
              <a:off x="819150" y="3048000"/>
              <a:ext cx="4648200" cy="419100"/>
            </a:xfrm>
            <a:prstGeom prst="roundRect">
              <a:avLst>
                <a:gd name="adj" fmla="val 13636"/>
              </a:avLst>
            </a:prstGeom>
            <a:solidFill>
              <a:srgbClr val="FFFFFF"/>
            </a:solidFill>
            <a:ln w="9525">
              <a:solidFill>
                <a:srgbClr val="CDD7E2"/>
              </a:solidFill>
            </a:ln>
          </p:spPr>
          <p:txBody>
            <a:bodyPr/>
            <a:lstStyle/>
            <a:p>
              <a:endParaRPr lang="en-US"/>
            </a:p>
          </p:txBody>
        </p:sp>
        <p:sp>
          <p:nvSpPr>
            <p:cNvPr id="14" name="TextBox 14"/>
            <p:cNvSpPr txBox="1"/>
            <p:nvPr/>
          </p:nvSpPr>
          <p:spPr>
            <a:xfrm>
              <a:off x="959168" y="3209449"/>
              <a:ext cx="3500958" cy="150041"/>
            </a:xfrm>
            <a:prstGeom prst="rect">
              <a:avLst/>
            </a:prstGeom>
            <a:noFill/>
            <a:ln>
              <a:noFill/>
            </a:ln>
          </p:spPr>
          <p:txBody>
            <a:bodyPr wrap="none" lIns="0" tIns="0" rIns="0" bIns="0" anchor="t" anchorCtr="0">
              <a:spAutoFit/>
            </a:bodyPr>
            <a:lstStyle/>
            <a:p>
              <a:pPr algn="l"/>
              <a:r>
                <a:rPr lang="zh-CN" sz="975" i="1" dirty="0">
                  <a:solidFill>
                    <a:srgbClr val="1F2937"/>
                  </a:solidFill>
                  <a:latin typeface="Arial"/>
                  <a:ea typeface="Microsoft YaHei"/>
                  <a:cs typeface="Arial"/>
                </a:rPr>
                <a:t>"What's the indicator code for </a:t>
              </a:r>
              <a:r>
                <a:rPr lang="en-US" altLang="zh-CN" sz="975" i="1" dirty="0">
                  <a:solidFill>
                    <a:srgbClr val="1F2937"/>
                  </a:solidFill>
                  <a:latin typeface="Arial"/>
                  <a:ea typeface="Microsoft YaHei"/>
                  <a:cs typeface="Arial"/>
                </a:rPr>
                <a:t> </a:t>
              </a:r>
              <a:r>
                <a:rPr lang="zh-CN" sz="975" i="1" dirty="0">
                  <a:solidFill>
                    <a:srgbClr val="1F2937"/>
                  </a:solidFill>
                  <a:latin typeface="Arial"/>
                  <a:ea typeface="Microsoft YaHei"/>
                  <a:cs typeface="Arial"/>
                </a:rPr>
                <a:t>real GDP growth</a:t>
              </a:r>
              <a:r>
                <a:rPr lang="en-US" altLang="zh-CN" sz="975" i="1" dirty="0">
                  <a:solidFill>
                    <a:srgbClr val="1F2937"/>
                  </a:solidFill>
                  <a:latin typeface="Arial"/>
                  <a:ea typeface="Microsoft YaHei"/>
                  <a:cs typeface="Arial"/>
                </a:rPr>
                <a:t> in WEO LIVE</a:t>
              </a:r>
              <a:r>
                <a:rPr lang="zh-CN" sz="975" i="1" dirty="0">
                  <a:solidFill>
                    <a:srgbClr val="1F2937"/>
                  </a:solidFill>
                  <a:latin typeface="Arial"/>
                  <a:ea typeface="Microsoft YaHei"/>
                  <a:cs typeface="Arial"/>
                </a:rPr>
                <a:t>?"</a:t>
              </a:r>
            </a:p>
          </p:txBody>
        </p:sp>
        <p:sp>
          <p:nvSpPr>
            <p:cNvPr id="15" name="Rectangle 15"/>
            <p:cNvSpPr/>
            <p:nvPr/>
          </p:nvSpPr>
          <p:spPr>
            <a:xfrm>
              <a:off x="819150" y="3600450"/>
              <a:ext cx="4648200" cy="419100"/>
            </a:xfrm>
            <a:prstGeom prst="roundRect">
              <a:avLst>
                <a:gd name="adj" fmla="val 13636"/>
              </a:avLst>
            </a:prstGeom>
            <a:solidFill>
              <a:srgbClr val="FFFFFF"/>
            </a:solidFill>
            <a:ln w="9525">
              <a:solidFill>
                <a:srgbClr val="CDD7E2"/>
              </a:solidFill>
            </a:ln>
          </p:spPr>
          <p:txBody>
            <a:bodyPr/>
            <a:lstStyle/>
            <a:p>
              <a:endParaRPr lang="en-US"/>
            </a:p>
          </p:txBody>
        </p:sp>
        <p:sp>
          <p:nvSpPr>
            <p:cNvPr id="16" name="TextBox 16"/>
            <p:cNvSpPr txBox="1"/>
            <p:nvPr/>
          </p:nvSpPr>
          <p:spPr>
            <a:xfrm>
              <a:off x="959168" y="3761899"/>
              <a:ext cx="2352985" cy="198120"/>
            </a:xfrm>
            <a:prstGeom prst="rect">
              <a:avLst/>
            </a:prstGeom>
            <a:noFill/>
            <a:ln>
              <a:noFill/>
            </a:ln>
          </p:spPr>
          <p:txBody>
            <a:bodyPr wrap="none" lIns="0" tIns="0" rIns="0" bIns="0" anchor="t" anchorCtr="0">
              <a:spAutoFit/>
            </a:bodyPr>
            <a:lstStyle/>
            <a:p>
              <a:pPr algn="l"/>
              <a:r>
                <a:rPr lang="zh-CN" sz="975" i="1" dirty="0">
                  <a:solidFill>
                    <a:srgbClr val="1F2937"/>
                  </a:solidFill>
                  <a:latin typeface="Arial"/>
                  <a:ea typeface="Microsoft YaHei"/>
                  <a:cs typeface="Arial"/>
                </a:rPr>
                <a:t>"Which countries are in the G20?"</a:t>
              </a:r>
            </a:p>
          </p:txBody>
        </p:sp>
        <p:sp>
          <p:nvSpPr>
            <p:cNvPr id="17" name="Rectangle 17"/>
            <p:cNvSpPr/>
            <p:nvPr/>
          </p:nvSpPr>
          <p:spPr>
            <a:xfrm>
              <a:off x="819150" y="4152900"/>
              <a:ext cx="4648200" cy="419100"/>
            </a:xfrm>
            <a:prstGeom prst="roundRect">
              <a:avLst>
                <a:gd name="adj" fmla="val 13636"/>
              </a:avLst>
            </a:prstGeom>
            <a:solidFill>
              <a:srgbClr val="FFFFFF"/>
            </a:solidFill>
            <a:ln w="9525">
              <a:solidFill>
                <a:srgbClr val="CDD7E2"/>
              </a:solidFill>
            </a:ln>
          </p:spPr>
          <p:txBody>
            <a:bodyPr/>
            <a:lstStyle/>
            <a:p>
              <a:endParaRPr lang="en-US"/>
            </a:p>
          </p:txBody>
        </p:sp>
        <p:sp>
          <p:nvSpPr>
            <p:cNvPr id="18" name="TextBox 18"/>
            <p:cNvSpPr txBox="1"/>
            <p:nvPr/>
          </p:nvSpPr>
          <p:spPr>
            <a:xfrm>
              <a:off x="959168" y="4314349"/>
              <a:ext cx="2730341" cy="198120"/>
            </a:xfrm>
            <a:prstGeom prst="rect">
              <a:avLst/>
            </a:prstGeom>
            <a:noFill/>
            <a:ln>
              <a:noFill/>
            </a:ln>
          </p:spPr>
          <p:txBody>
            <a:bodyPr wrap="none" lIns="0" tIns="0" rIns="0" bIns="0" anchor="t" anchorCtr="0">
              <a:spAutoFit/>
            </a:bodyPr>
            <a:lstStyle/>
            <a:p>
              <a:pPr algn="l"/>
              <a:r>
                <a:rPr lang="zh-CN" sz="975" i="1" dirty="0">
                  <a:solidFill>
                    <a:srgbClr val="1F2937"/>
                  </a:solidFill>
                  <a:latin typeface="Arial"/>
                  <a:ea typeface="Microsoft YaHei"/>
                  <a:cs typeface="Arial"/>
                </a:rPr>
                <a:t>"Show me sample Python to call iData…"</a:t>
              </a:r>
            </a:p>
          </p:txBody>
        </p:sp>
      </p:grpSp>
      <p:grpSp>
        <p:nvGrpSpPr>
          <p:cNvPr id="27" name="Group 27"/>
          <p:cNvGrpSpPr/>
          <p:nvPr/>
        </p:nvGrpSpPr>
        <p:grpSpPr>
          <a:xfrm>
            <a:off x="5810250" y="2819400"/>
            <a:ext cx="571500" cy="1088231"/>
            <a:chOff x="5810250" y="2819400"/>
            <a:chExt cx="571500" cy="1088231"/>
          </a:xfrm>
        </p:grpSpPr>
        <p:sp>
          <p:nvSpPr>
            <p:cNvPr id="20" name="Line 20"/>
            <p:cNvSpPr/>
            <p:nvPr/>
          </p:nvSpPr>
          <p:spPr>
            <a:xfrm>
              <a:off x="5810250" y="3333750"/>
              <a:ext cx="571500" cy="9525"/>
            </a:xfrm>
            <a:custGeom>
              <a:avLst/>
              <a:gdLst/>
              <a:ahLst/>
              <a:cxnLst/>
              <a:rect l="l" t="t" r="r" b="b"/>
              <a:pathLst>
                <a:path w="571500" h="9525">
                  <a:moveTo>
                    <a:pt x="0" y="0"/>
                  </a:moveTo>
                  <a:lnTo>
                    <a:pt x="571500" y="0"/>
                  </a:lnTo>
                </a:path>
              </a:pathLst>
            </a:custGeom>
            <a:noFill/>
            <a:ln w="19050">
              <a:solidFill>
                <a:srgbClr val="707372"/>
              </a:solidFill>
              <a:custDash>
                <a:ds d="300000" sp="200000"/>
              </a:custDash>
            </a:ln>
          </p:spPr>
          <p:txBody>
            <a:bodyPr/>
            <a:lstStyle/>
            <a:p>
              <a:endParaRPr lang="en-US"/>
            </a:p>
          </p:txBody>
        </p:sp>
        <p:grpSp>
          <p:nvGrpSpPr>
            <p:cNvPr id="23" name="Group 23"/>
            <p:cNvGrpSpPr/>
            <p:nvPr/>
          </p:nvGrpSpPr>
          <p:grpSpPr>
            <a:xfrm>
              <a:off x="5924550" y="2819400"/>
              <a:ext cx="342900" cy="342900"/>
              <a:chOff x="5924550" y="2819400"/>
              <a:chExt cx="342900" cy="342900"/>
            </a:xfrm>
          </p:grpSpPr>
          <p:sp>
            <p:nvSpPr>
              <p:cNvPr id="21" name="Freeform 21"/>
              <p:cNvSpPr/>
              <p:nvPr/>
            </p:nvSpPr>
            <p:spPr>
              <a:xfrm>
                <a:off x="6000750" y="2895600"/>
                <a:ext cx="266700" cy="266700"/>
              </a:xfrm>
              <a:custGeom>
                <a:avLst/>
                <a:gdLst/>
                <a:ahLst/>
                <a:cxnLst/>
                <a:rect l="l" t="t" r="r" b="b"/>
                <a:pathLst>
                  <a:path w="266700" h="266700">
                    <a:moveTo>
                      <a:pt x="0" y="50806"/>
                    </a:moveTo>
                    <a:cubicBezTo>
                      <a:pt x="0" y="22747"/>
                      <a:pt x="22747" y="0"/>
                      <a:pt x="50806" y="0"/>
                    </a:cubicBezTo>
                    <a:lnTo>
                      <a:pt x="215894" y="0"/>
                    </a:lnTo>
                    <a:cubicBezTo>
                      <a:pt x="229368" y="0"/>
                      <a:pt x="242291" y="5353"/>
                      <a:pt x="251819" y="14881"/>
                    </a:cubicBezTo>
                    <a:cubicBezTo>
                      <a:pt x="261347" y="24409"/>
                      <a:pt x="266700" y="37332"/>
                      <a:pt x="266700" y="50806"/>
                    </a:cubicBezTo>
                    <a:lnTo>
                      <a:pt x="266700" y="215894"/>
                    </a:lnTo>
                    <a:cubicBezTo>
                      <a:pt x="266700" y="229368"/>
                      <a:pt x="261347" y="242291"/>
                      <a:pt x="251819" y="251819"/>
                    </a:cubicBezTo>
                    <a:cubicBezTo>
                      <a:pt x="242291" y="261347"/>
                      <a:pt x="229368" y="266700"/>
                      <a:pt x="215894" y="266700"/>
                    </a:cubicBezTo>
                    <a:lnTo>
                      <a:pt x="50806" y="266700"/>
                    </a:lnTo>
                    <a:cubicBezTo>
                      <a:pt x="37332" y="266700"/>
                      <a:pt x="24409" y="261347"/>
                      <a:pt x="14881" y="251819"/>
                    </a:cubicBezTo>
                    <a:cubicBezTo>
                      <a:pt x="5353" y="242291"/>
                      <a:pt x="0" y="229368"/>
                      <a:pt x="0" y="215894"/>
                    </a:cubicBezTo>
                    <a:lnTo>
                      <a:pt x="0" y="50806"/>
                    </a:lnTo>
                  </a:path>
                </a:pathLst>
              </a:custGeom>
              <a:noFill/>
              <a:ln w="19050">
                <a:solidFill>
                  <a:srgbClr val="707372"/>
                </a:solidFill>
              </a:ln>
            </p:spPr>
            <p:txBody>
              <a:bodyPr/>
              <a:lstStyle/>
              <a:p>
                <a:endParaRPr lang="en-US"/>
              </a:p>
            </p:txBody>
          </p:sp>
          <p:sp>
            <p:nvSpPr>
              <p:cNvPr id="22" name="Freeform 22"/>
              <p:cNvSpPr/>
              <p:nvPr/>
            </p:nvSpPr>
            <p:spPr>
              <a:xfrm>
                <a:off x="5924550" y="2819400"/>
                <a:ext cx="257175" cy="261690"/>
              </a:xfrm>
              <a:custGeom>
                <a:avLst/>
                <a:gdLst/>
                <a:ahLst/>
                <a:cxnLst/>
                <a:rect l="l" t="t" r="r" b="b"/>
                <a:pathLst>
                  <a:path w="257175" h="261690">
                    <a:moveTo>
                      <a:pt x="19279" y="261690"/>
                    </a:moveTo>
                    <a:cubicBezTo>
                      <a:pt x="7388" y="254911"/>
                      <a:pt x="33" y="242288"/>
                      <a:pt x="0" y="228600"/>
                    </a:cubicBezTo>
                    <a:lnTo>
                      <a:pt x="0" y="38100"/>
                    </a:lnTo>
                    <a:cubicBezTo>
                      <a:pt x="0" y="17145"/>
                      <a:pt x="17145" y="0"/>
                      <a:pt x="38100" y="0"/>
                    </a:cubicBezTo>
                    <a:lnTo>
                      <a:pt x="228600" y="0"/>
                    </a:lnTo>
                    <a:cubicBezTo>
                      <a:pt x="242888" y="0"/>
                      <a:pt x="250660" y="7334"/>
                      <a:pt x="257175" y="19050"/>
                    </a:cubicBezTo>
                  </a:path>
                </a:pathLst>
              </a:custGeom>
              <a:noFill/>
              <a:ln w="19050">
                <a:solidFill>
                  <a:srgbClr val="707372"/>
                </a:solidFill>
              </a:ln>
            </p:spPr>
            <p:txBody>
              <a:bodyPr/>
              <a:lstStyle/>
              <a:p>
                <a:endParaRPr lang="en-US"/>
              </a:p>
            </p:txBody>
          </p:sp>
        </p:grpSp>
        <p:sp>
          <p:nvSpPr>
            <p:cNvPr id="24" name="TextBox 24"/>
            <p:cNvSpPr txBox="1"/>
            <p:nvPr/>
          </p:nvSpPr>
          <p:spPr>
            <a:xfrm>
              <a:off x="5879934" y="3435191"/>
              <a:ext cx="432131" cy="167640"/>
            </a:xfrm>
            <a:prstGeom prst="rect">
              <a:avLst/>
            </a:prstGeom>
            <a:noFill/>
            <a:ln>
              <a:noFill/>
            </a:ln>
          </p:spPr>
          <p:txBody>
            <a:bodyPr wrap="none" lIns="0" tIns="0" rIns="0" bIns="0" anchor="t" anchorCtr="0">
              <a:spAutoFit/>
            </a:bodyPr>
            <a:lstStyle/>
            <a:p>
              <a:pPr algn="ctr"/>
              <a:r>
                <a:rPr lang="zh-CN" sz="825" b="1" dirty="0">
                  <a:solidFill>
                    <a:srgbClr val="707372"/>
                  </a:solidFill>
                  <a:latin typeface="Arial"/>
                  <a:ea typeface="Microsoft YaHei"/>
                  <a:cs typeface="Arial"/>
                </a:rPr>
                <a:t>COPY ·</a:t>
              </a:r>
            </a:p>
          </p:txBody>
        </p:sp>
        <p:sp>
          <p:nvSpPr>
            <p:cNvPr id="25" name="TextBox 25"/>
            <p:cNvSpPr txBox="1"/>
            <p:nvPr/>
          </p:nvSpPr>
          <p:spPr>
            <a:xfrm>
              <a:off x="5857794" y="3587591"/>
              <a:ext cx="476412" cy="167640"/>
            </a:xfrm>
            <a:prstGeom prst="rect">
              <a:avLst/>
            </a:prstGeom>
            <a:noFill/>
            <a:ln>
              <a:noFill/>
            </a:ln>
          </p:spPr>
          <p:txBody>
            <a:bodyPr wrap="none" lIns="0" tIns="0" rIns="0" bIns="0" anchor="t" anchorCtr="0">
              <a:spAutoFit/>
            </a:bodyPr>
            <a:lstStyle/>
            <a:p>
              <a:pPr algn="ctr"/>
              <a:r>
                <a:rPr lang="zh-CN" sz="825" b="1" dirty="0">
                  <a:solidFill>
                    <a:srgbClr val="707372"/>
                  </a:solidFill>
                  <a:latin typeface="Arial"/>
                  <a:ea typeface="Microsoft YaHei"/>
                  <a:cs typeface="Arial"/>
                </a:rPr>
                <a:t>PASTE ·</a:t>
              </a:r>
            </a:p>
          </p:txBody>
        </p:sp>
        <p:sp>
          <p:nvSpPr>
            <p:cNvPr id="26" name="TextBox 26"/>
            <p:cNvSpPr txBox="1"/>
            <p:nvPr/>
          </p:nvSpPr>
          <p:spPr>
            <a:xfrm>
              <a:off x="5876771" y="3739991"/>
              <a:ext cx="438457" cy="167640"/>
            </a:xfrm>
            <a:prstGeom prst="rect">
              <a:avLst/>
            </a:prstGeom>
            <a:noFill/>
            <a:ln>
              <a:noFill/>
            </a:ln>
          </p:spPr>
          <p:txBody>
            <a:bodyPr wrap="none" lIns="0" tIns="0" rIns="0" bIns="0" anchor="t" anchorCtr="0">
              <a:spAutoFit/>
            </a:bodyPr>
            <a:lstStyle/>
            <a:p>
              <a:pPr algn="ctr"/>
              <a:r>
                <a:rPr lang="zh-CN" sz="825" b="1" dirty="0">
                  <a:solidFill>
                    <a:srgbClr val="707372"/>
                  </a:solidFill>
                  <a:latin typeface="Arial"/>
                  <a:ea typeface="Microsoft YaHei"/>
                  <a:cs typeface="Arial"/>
                </a:rPr>
                <a:t>RETYPE</a:t>
              </a:r>
            </a:p>
          </p:txBody>
        </p:sp>
      </p:grpSp>
      <p:grpSp>
        <p:nvGrpSpPr>
          <p:cNvPr id="47" name="Group 47"/>
          <p:cNvGrpSpPr/>
          <p:nvPr/>
        </p:nvGrpSpPr>
        <p:grpSpPr>
          <a:xfrm>
            <a:off x="6477000" y="1809750"/>
            <a:ext cx="5143500" cy="3048000"/>
            <a:chOff x="6477000" y="1809750"/>
            <a:chExt cx="5143500" cy="3048000"/>
          </a:xfrm>
        </p:grpSpPr>
        <p:sp>
          <p:nvSpPr>
            <p:cNvPr id="28" name="Rectangle 28"/>
            <p:cNvSpPr/>
            <p:nvPr/>
          </p:nvSpPr>
          <p:spPr>
            <a:xfrm>
              <a:off x="6477000" y="1809750"/>
              <a:ext cx="5143500" cy="3048000"/>
            </a:xfrm>
            <a:prstGeom prst="roundRect">
              <a:avLst>
                <a:gd name="adj" fmla="val 3125"/>
              </a:avLst>
            </a:prstGeom>
            <a:solidFill>
              <a:srgbClr val="004C97"/>
            </a:solidFill>
            <a:ln>
              <a:noFill/>
            </a:ln>
          </p:spPr>
          <p:txBody>
            <a:bodyPr/>
            <a:lstStyle/>
            <a:p>
              <a:endParaRPr lang="en-US"/>
            </a:p>
          </p:txBody>
        </p:sp>
        <p:sp>
          <p:nvSpPr>
            <p:cNvPr id="29" name="TextBox 29"/>
            <p:cNvSpPr txBox="1"/>
            <p:nvPr/>
          </p:nvSpPr>
          <p:spPr>
            <a:xfrm>
              <a:off x="6713220" y="2055495"/>
              <a:ext cx="1085593" cy="182880"/>
            </a:xfrm>
            <a:prstGeom prst="rect">
              <a:avLst/>
            </a:prstGeom>
            <a:noFill/>
            <a:ln>
              <a:noFill/>
            </a:ln>
          </p:spPr>
          <p:txBody>
            <a:bodyPr wrap="none" lIns="0" tIns="0" rIns="0" bIns="0" anchor="t" anchorCtr="0">
              <a:spAutoFit/>
            </a:bodyPr>
            <a:lstStyle/>
            <a:p>
              <a:pPr algn="l"/>
              <a:r>
                <a:rPr lang="zh-CN" sz="900" b="1" dirty="0">
                  <a:solidFill>
                    <a:srgbClr val="FFFFFF"/>
                  </a:solidFill>
                  <a:latin typeface="Arial"/>
                  <a:ea typeface="Microsoft YaHei"/>
                  <a:cs typeface="Arial"/>
                </a:rPr>
                <a:t>REAL WORKFLOW</a:t>
              </a:r>
            </a:p>
          </p:txBody>
        </p:sp>
        <p:grpSp>
          <p:nvGrpSpPr>
            <p:cNvPr id="33" name="Group 33"/>
            <p:cNvGrpSpPr/>
            <p:nvPr/>
          </p:nvGrpSpPr>
          <p:grpSpPr>
            <a:xfrm>
              <a:off x="6788150" y="2447925"/>
              <a:ext cx="254000" cy="285750"/>
              <a:chOff x="6788150" y="2447925"/>
              <a:chExt cx="254000" cy="285750"/>
            </a:xfrm>
          </p:grpSpPr>
          <p:sp>
            <p:nvSpPr>
              <p:cNvPr id="30" name="Freeform 30"/>
              <p:cNvSpPr/>
              <p:nvPr/>
            </p:nvSpPr>
            <p:spPr>
              <a:xfrm>
                <a:off x="6788150" y="2447925"/>
                <a:ext cx="254000" cy="95250"/>
              </a:xfrm>
              <a:custGeom>
                <a:avLst/>
                <a:gdLst/>
                <a:ahLst/>
                <a:cxnLst/>
                <a:rect l="l" t="t" r="r" b="b"/>
                <a:pathLst>
                  <a:path w="254000" h="95250">
                    <a:moveTo>
                      <a:pt x="0" y="47625"/>
                    </a:moveTo>
                    <a:cubicBezTo>
                      <a:pt x="0" y="73928"/>
                      <a:pt x="56860" y="95250"/>
                      <a:pt x="127000" y="95250"/>
                    </a:cubicBezTo>
                    <a:cubicBezTo>
                      <a:pt x="197140" y="95250"/>
                      <a:pt x="254000" y="73928"/>
                      <a:pt x="254000" y="47625"/>
                    </a:cubicBezTo>
                    <a:cubicBezTo>
                      <a:pt x="254000" y="21322"/>
                      <a:pt x="197140" y="0"/>
                      <a:pt x="127000" y="0"/>
                    </a:cubicBezTo>
                    <a:cubicBezTo>
                      <a:pt x="56860" y="0"/>
                      <a:pt x="0" y="21322"/>
                      <a:pt x="0" y="47625"/>
                    </a:cubicBezTo>
                  </a:path>
                </a:pathLst>
              </a:custGeom>
              <a:noFill/>
              <a:ln w="19050">
                <a:solidFill>
                  <a:srgbClr val="FFFFFF"/>
                </a:solidFill>
              </a:ln>
            </p:spPr>
            <p:txBody>
              <a:bodyPr/>
              <a:lstStyle/>
              <a:p>
                <a:endParaRPr lang="en-US"/>
              </a:p>
            </p:txBody>
          </p:sp>
          <p:sp>
            <p:nvSpPr>
              <p:cNvPr id="31" name="Freeform 31"/>
              <p:cNvSpPr/>
              <p:nvPr/>
            </p:nvSpPr>
            <p:spPr>
              <a:xfrm>
                <a:off x="6788150" y="249555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FFFFFF"/>
                </a:solidFill>
              </a:ln>
            </p:spPr>
            <p:txBody>
              <a:bodyPr/>
              <a:lstStyle/>
              <a:p>
                <a:endParaRPr lang="en-US"/>
              </a:p>
            </p:txBody>
          </p:sp>
          <p:sp>
            <p:nvSpPr>
              <p:cNvPr id="32" name="Freeform 32"/>
              <p:cNvSpPr/>
              <p:nvPr/>
            </p:nvSpPr>
            <p:spPr>
              <a:xfrm>
                <a:off x="6788150" y="2590800"/>
                <a:ext cx="254000" cy="142875"/>
              </a:xfrm>
              <a:custGeom>
                <a:avLst/>
                <a:gdLst/>
                <a:ahLst/>
                <a:cxnLst/>
                <a:rect l="l" t="t" r="r" b="b"/>
                <a:pathLst>
                  <a:path w="254000" h="142875">
                    <a:moveTo>
                      <a:pt x="0" y="0"/>
                    </a:moveTo>
                    <a:lnTo>
                      <a:pt x="0" y="95250"/>
                    </a:lnTo>
                    <a:cubicBezTo>
                      <a:pt x="0" y="121553"/>
                      <a:pt x="56860" y="142875"/>
                      <a:pt x="127000" y="142875"/>
                    </a:cubicBezTo>
                    <a:cubicBezTo>
                      <a:pt x="197140" y="142875"/>
                      <a:pt x="254000" y="121553"/>
                      <a:pt x="254000" y="95250"/>
                    </a:cubicBezTo>
                    <a:lnTo>
                      <a:pt x="254000" y="0"/>
                    </a:lnTo>
                  </a:path>
                </a:pathLst>
              </a:custGeom>
              <a:noFill/>
              <a:ln w="19050">
                <a:solidFill>
                  <a:srgbClr val="FFFFFF"/>
                </a:solidFill>
              </a:ln>
            </p:spPr>
            <p:txBody>
              <a:bodyPr/>
              <a:lstStyle/>
              <a:p>
                <a:endParaRPr lang="en-US"/>
              </a:p>
            </p:txBody>
          </p:sp>
        </p:grpSp>
        <p:sp>
          <p:nvSpPr>
            <p:cNvPr id="34" name="TextBox 34"/>
            <p:cNvSpPr txBox="1"/>
            <p:nvPr/>
          </p:nvSpPr>
          <p:spPr>
            <a:xfrm>
              <a:off x="7179945" y="2507932"/>
              <a:ext cx="3015032"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Black"/>
                  <a:ea typeface="Microsoft YaHei"/>
                  <a:cs typeface="Arial Black"/>
                </a:rPr>
                <a:t>Where the work happens</a:t>
              </a:r>
            </a:p>
          </p:txBody>
        </p:sp>
        <p:grpSp>
          <p:nvGrpSpPr>
            <p:cNvPr id="43" name="Group 43"/>
            <p:cNvGrpSpPr/>
            <p:nvPr/>
          </p:nvGrpSpPr>
          <p:grpSpPr>
            <a:xfrm>
              <a:off x="6724650" y="3086100"/>
              <a:ext cx="4648200" cy="419100"/>
              <a:chOff x="6724650" y="3086100"/>
              <a:chExt cx="4648200" cy="419100"/>
            </a:xfrm>
          </p:grpSpPr>
          <p:sp>
            <p:nvSpPr>
              <p:cNvPr id="35" name="Rectangle 35"/>
              <p:cNvSpPr/>
              <p:nvPr/>
            </p:nvSpPr>
            <p:spPr>
              <a:xfrm>
                <a:off x="6724650" y="3086100"/>
                <a:ext cx="1104900" cy="419100"/>
              </a:xfrm>
              <a:prstGeom prst="roundRect">
                <a:avLst>
                  <a:gd name="adj" fmla="val 13636"/>
                </a:avLst>
              </a:prstGeom>
              <a:solidFill>
                <a:srgbClr val="FFFFFF">
                  <a:alpha val="8000"/>
                </a:srgbClr>
              </a:solidFill>
              <a:ln w="9525">
                <a:solidFill>
                  <a:srgbClr val="FFFFFF">
                    <a:alpha val="25000"/>
                  </a:srgbClr>
                </a:solidFill>
              </a:ln>
            </p:spPr>
            <p:txBody>
              <a:bodyPr/>
              <a:lstStyle/>
              <a:p>
                <a:endParaRPr lang="en-US"/>
              </a:p>
            </p:txBody>
          </p:sp>
          <p:sp>
            <p:nvSpPr>
              <p:cNvPr id="36" name="TextBox 36"/>
              <p:cNvSpPr txBox="1"/>
              <p:nvPr/>
            </p:nvSpPr>
            <p:spPr>
              <a:xfrm>
                <a:off x="7092755" y="3239452"/>
                <a:ext cx="368691" cy="161583"/>
              </a:xfrm>
              <a:prstGeom prst="rect">
                <a:avLst/>
              </a:prstGeom>
              <a:noFill/>
              <a:ln>
                <a:noFill/>
              </a:ln>
            </p:spPr>
            <p:txBody>
              <a:bodyPr wrap="none" lIns="0" tIns="0" rIns="0" bIns="0" anchor="t" anchorCtr="0">
                <a:spAutoFit/>
              </a:bodyPr>
              <a:lstStyle/>
              <a:p>
                <a:pPr algn="ctr"/>
                <a:r>
                  <a:rPr lang="en-US" altLang="zh-CN" sz="1050" b="1" dirty="0">
                    <a:solidFill>
                      <a:srgbClr val="FFFFFF"/>
                    </a:solidFill>
                    <a:latin typeface="Consolas"/>
                    <a:ea typeface="Microsoft YaHei"/>
                    <a:cs typeface="Consolas"/>
                  </a:rPr>
                  <a:t>Excel</a:t>
                </a:r>
                <a:endParaRPr lang="zh-CN" sz="1050" b="1" dirty="0">
                  <a:solidFill>
                    <a:srgbClr val="FFFFFF"/>
                  </a:solidFill>
                  <a:latin typeface="Consolas"/>
                  <a:ea typeface="Microsoft YaHei"/>
                  <a:cs typeface="Consolas"/>
                </a:endParaRPr>
              </a:p>
            </p:txBody>
          </p:sp>
          <p:sp>
            <p:nvSpPr>
              <p:cNvPr id="37" name="Rectangle 37"/>
              <p:cNvSpPr/>
              <p:nvPr/>
            </p:nvSpPr>
            <p:spPr>
              <a:xfrm>
                <a:off x="7905750" y="3086100"/>
                <a:ext cx="1104900" cy="419100"/>
              </a:xfrm>
              <a:prstGeom prst="roundRect">
                <a:avLst>
                  <a:gd name="adj" fmla="val 13636"/>
                </a:avLst>
              </a:prstGeom>
              <a:solidFill>
                <a:srgbClr val="FFFFFF">
                  <a:alpha val="8000"/>
                </a:srgbClr>
              </a:solidFill>
              <a:ln w="9525">
                <a:solidFill>
                  <a:srgbClr val="FFFFFF">
                    <a:alpha val="25000"/>
                  </a:srgbClr>
                </a:solidFill>
              </a:ln>
            </p:spPr>
            <p:txBody>
              <a:bodyPr/>
              <a:lstStyle/>
              <a:p>
                <a:endParaRPr lang="en-US"/>
              </a:p>
            </p:txBody>
          </p:sp>
          <p:sp>
            <p:nvSpPr>
              <p:cNvPr id="38" name="TextBox 38"/>
              <p:cNvSpPr txBox="1"/>
              <p:nvPr/>
            </p:nvSpPr>
            <p:spPr>
              <a:xfrm>
                <a:off x="8273855" y="3239452"/>
                <a:ext cx="368691" cy="161583"/>
              </a:xfrm>
              <a:prstGeom prst="rect">
                <a:avLst/>
              </a:prstGeom>
              <a:noFill/>
              <a:ln>
                <a:noFill/>
              </a:ln>
            </p:spPr>
            <p:txBody>
              <a:bodyPr wrap="none" lIns="0" tIns="0" rIns="0" bIns="0" anchor="t" anchorCtr="0">
                <a:spAutoFit/>
              </a:bodyPr>
              <a:lstStyle/>
              <a:p>
                <a:pPr algn="ctr"/>
                <a:r>
                  <a:rPr lang="en-US" altLang="zh-CN" sz="1050" b="1" dirty="0">
                    <a:solidFill>
                      <a:srgbClr val="FFFFFF"/>
                    </a:solidFill>
                    <a:latin typeface="Consolas"/>
                    <a:ea typeface="Microsoft YaHei"/>
                    <a:cs typeface="Consolas"/>
                  </a:rPr>
                  <a:t>Stata</a:t>
                </a:r>
                <a:endParaRPr lang="zh-CN" sz="1050" b="1" dirty="0">
                  <a:solidFill>
                    <a:srgbClr val="FFFFFF"/>
                  </a:solidFill>
                  <a:latin typeface="Consolas"/>
                  <a:ea typeface="Microsoft YaHei"/>
                  <a:cs typeface="Consolas"/>
                </a:endParaRPr>
              </a:p>
            </p:txBody>
          </p:sp>
          <p:sp>
            <p:nvSpPr>
              <p:cNvPr id="39" name="Rectangle 39"/>
              <p:cNvSpPr/>
              <p:nvPr/>
            </p:nvSpPr>
            <p:spPr>
              <a:xfrm>
                <a:off x="9086850" y="3086100"/>
                <a:ext cx="1104900" cy="419100"/>
              </a:xfrm>
              <a:prstGeom prst="roundRect">
                <a:avLst>
                  <a:gd name="adj" fmla="val 13636"/>
                </a:avLst>
              </a:prstGeom>
              <a:solidFill>
                <a:srgbClr val="FFFFFF">
                  <a:alpha val="8000"/>
                </a:srgbClr>
              </a:solidFill>
              <a:ln w="9525">
                <a:solidFill>
                  <a:srgbClr val="FFFFFF">
                    <a:alpha val="25000"/>
                  </a:srgbClr>
                </a:solidFill>
              </a:ln>
            </p:spPr>
            <p:txBody>
              <a:bodyPr/>
              <a:lstStyle/>
              <a:p>
                <a:endParaRPr lang="en-US"/>
              </a:p>
            </p:txBody>
          </p:sp>
          <p:sp>
            <p:nvSpPr>
              <p:cNvPr id="40" name="TextBox 40"/>
              <p:cNvSpPr txBox="1"/>
              <p:nvPr/>
            </p:nvSpPr>
            <p:spPr>
              <a:xfrm>
                <a:off x="9346413" y="3239452"/>
                <a:ext cx="572731" cy="161583"/>
              </a:xfrm>
              <a:prstGeom prst="rect">
                <a:avLst/>
              </a:prstGeom>
              <a:noFill/>
              <a:ln>
                <a:noFill/>
              </a:ln>
            </p:spPr>
            <p:txBody>
              <a:bodyPr wrap="square" lIns="0" tIns="0" rIns="0" bIns="0" anchor="t" anchorCtr="0">
                <a:spAutoFit/>
              </a:bodyPr>
              <a:lstStyle/>
              <a:p>
                <a:pPr algn="ctr"/>
                <a:r>
                  <a:rPr lang="en-US" altLang="zh-CN" sz="1050" b="1" dirty="0">
                    <a:solidFill>
                      <a:srgbClr val="FFFFFF"/>
                    </a:solidFill>
                    <a:latin typeface="Consolas"/>
                    <a:ea typeface="Microsoft YaHei"/>
                    <a:cs typeface="Consolas"/>
                  </a:rPr>
                  <a:t>Python</a:t>
                </a:r>
                <a:endParaRPr lang="zh-CN" sz="1050" b="1" dirty="0">
                  <a:solidFill>
                    <a:srgbClr val="FFFFFF"/>
                  </a:solidFill>
                  <a:latin typeface="Consolas"/>
                  <a:ea typeface="Microsoft YaHei"/>
                  <a:cs typeface="Consolas"/>
                </a:endParaRPr>
              </a:p>
            </p:txBody>
          </p:sp>
          <p:sp>
            <p:nvSpPr>
              <p:cNvPr id="41" name="Rectangle 41"/>
              <p:cNvSpPr/>
              <p:nvPr/>
            </p:nvSpPr>
            <p:spPr>
              <a:xfrm>
                <a:off x="10267950" y="3086100"/>
                <a:ext cx="1104900" cy="419100"/>
              </a:xfrm>
              <a:prstGeom prst="roundRect">
                <a:avLst>
                  <a:gd name="adj" fmla="val 13636"/>
                </a:avLst>
              </a:prstGeom>
              <a:solidFill>
                <a:srgbClr val="FFFFFF">
                  <a:alpha val="8000"/>
                </a:srgbClr>
              </a:solidFill>
              <a:ln w="9525">
                <a:solidFill>
                  <a:srgbClr val="FFFFFF">
                    <a:alpha val="25000"/>
                  </a:srgbClr>
                </a:solidFill>
              </a:ln>
            </p:spPr>
            <p:txBody>
              <a:bodyPr/>
              <a:lstStyle/>
              <a:p>
                <a:endParaRPr lang="en-US"/>
              </a:p>
            </p:txBody>
          </p:sp>
          <p:sp>
            <p:nvSpPr>
              <p:cNvPr id="42" name="TextBox 42"/>
              <p:cNvSpPr txBox="1"/>
              <p:nvPr/>
            </p:nvSpPr>
            <p:spPr>
              <a:xfrm>
                <a:off x="10783530" y="3239452"/>
                <a:ext cx="73739" cy="161583"/>
              </a:xfrm>
              <a:prstGeom prst="rect">
                <a:avLst/>
              </a:prstGeom>
              <a:noFill/>
              <a:ln>
                <a:noFill/>
              </a:ln>
            </p:spPr>
            <p:txBody>
              <a:bodyPr wrap="none" lIns="0" tIns="0" rIns="0" bIns="0" anchor="t" anchorCtr="0">
                <a:spAutoFit/>
              </a:bodyPr>
              <a:lstStyle/>
              <a:p>
                <a:pPr algn="ctr"/>
                <a:r>
                  <a:rPr lang="en-US" altLang="zh-CN" sz="1050" b="1" dirty="0">
                    <a:solidFill>
                      <a:srgbClr val="FFFFFF"/>
                    </a:solidFill>
                    <a:latin typeface="Consolas"/>
                    <a:ea typeface="Microsoft YaHei"/>
                    <a:cs typeface="Consolas"/>
                  </a:rPr>
                  <a:t>R</a:t>
                </a:r>
                <a:endParaRPr lang="zh-CN" sz="1050" b="1" dirty="0">
                  <a:solidFill>
                    <a:srgbClr val="FFFFFF"/>
                  </a:solidFill>
                  <a:latin typeface="Consolas"/>
                  <a:ea typeface="Microsoft YaHei"/>
                  <a:cs typeface="Consolas"/>
                </a:endParaRPr>
              </a:p>
            </p:txBody>
          </p:sp>
        </p:grpSp>
        <p:sp>
          <p:nvSpPr>
            <p:cNvPr id="44" name="TextBox 44"/>
            <p:cNvSpPr txBox="1"/>
            <p:nvPr/>
          </p:nvSpPr>
          <p:spPr>
            <a:xfrm>
              <a:off x="6712268" y="3780949"/>
              <a:ext cx="2125147" cy="198120"/>
            </a:xfrm>
            <a:prstGeom prst="rect">
              <a:avLst/>
            </a:prstGeom>
            <a:noFill/>
            <a:ln>
              <a:noFill/>
            </a:ln>
          </p:spPr>
          <p:txBody>
            <a:bodyPr wrap="none" lIns="0" tIns="0" rIns="0" bIns="0" anchor="t" anchorCtr="0">
              <a:spAutoFit/>
            </a:bodyPr>
            <a:lstStyle/>
            <a:p>
              <a:pPr algn="l"/>
              <a:r>
                <a:rPr lang="zh-CN" sz="975" dirty="0">
                  <a:solidFill>
                    <a:srgbClr val="FFFFFF">
                      <a:alpha val="75000"/>
                    </a:srgbClr>
                  </a:solidFill>
                  <a:latin typeface="Arial"/>
                  <a:ea typeface="Microsoft YaHei"/>
                  <a:cs typeface="Arial"/>
                </a:rPr>
                <a:t>No SDK access. No file access.</a:t>
              </a:r>
            </a:p>
          </p:txBody>
        </p:sp>
        <p:sp>
          <p:nvSpPr>
            <p:cNvPr id="45" name="TextBox 45"/>
            <p:cNvSpPr txBox="1"/>
            <p:nvPr/>
          </p:nvSpPr>
          <p:spPr>
            <a:xfrm>
              <a:off x="6712268" y="3990499"/>
              <a:ext cx="2701862" cy="198120"/>
            </a:xfrm>
            <a:prstGeom prst="rect">
              <a:avLst/>
            </a:prstGeom>
            <a:noFill/>
            <a:ln>
              <a:noFill/>
            </a:ln>
          </p:spPr>
          <p:txBody>
            <a:bodyPr wrap="none" lIns="0" tIns="0" rIns="0" bIns="0" anchor="t" anchorCtr="0">
              <a:spAutoFit/>
            </a:bodyPr>
            <a:lstStyle/>
            <a:p>
              <a:pPr algn="l"/>
              <a:r>
                <a:rPr lang="zh-CN" sz="975" dirty="0">
                  <a:solidFill>
                    <a:srgbClr val="FFFFFF">
                      <a:alpha val="75000"/>
                    </a:srgbClr>
                  </a:solidFill>
                  <a:latin typeface="Arial"/>
                  <a:ea typeface="Microsoft YaHei"/>
                  <a:cs typeface="Arial"/>
                </a:rPr>
                <a:t>No memory of what worked yesterday.</a:t>
              </a:r>
            </a:p>
          </p:txBody>
        </p:sp>
        <p:sp>
          <p:nvSpPr>
            <p:cNvPr id="46" name="TextBox 46"/>
            <p:cNvSpPr txBox="1"/>
            <p:nvPr/>
          </p:nvSpPr>
          <p:spPr>
            <a:xfrm>
              <a:off x="6712268" y="4200049"/>
              <a:ext cx="2046827" cy="198120"/>
            </a:xfrm>
            <a:prstGeom prst="rect">
              <a:avLst/>
            </a:prstGeom>
            <a:noFill/>
            <a:ln>
              <a:noFill/>
            </a:ln>
          </p:spPr>
          <p:txBody>
            <a:bodyPr wrap="none" lIns="0" tIns="0" rIns="0" bIns="0" anchor="t" anchorCtr="0">
              <a:spAutoFit/>
            </a:bodyPr>
            <a:lstStyle/>
            <a:p>
              <a:pPr algn="l"/>
              <a:r>
                <a:rPr lang="zh-CN" sz="975" dirty="0">
                  <a:solidFill>
                    <a:srgbClr val="FFFFFF">
                      <a:alpha val="75000"/>
                    </a:srgbClr>
                  </a:solidFill>
                  <a:latin typeface="Arial"/>
                  <a:ea typeface="Microsoft YaHei"/>
                  <a:cs typeface="Arial"/>
                </a:rPr>
                <a:t>No institutional conventions.</a:t>
              </a:r>
            </a:p>
          </p:txBody>
        </p:sp>
      </p:grpSp>
      <p:grpSp>
        <p:nvGrpSpPr>
          <p:cNvPr id="62" name="Group 62"/>
          <p:cNvGrpSpPr/>
          <p:nvPr/>
        </p:nvGrpSpPr>
        <p:grpSpPr>
          <a:xfrm>
            <a:off x="571500" y="5286375"/>
            <a:ext cx="11049000" cy="1047750"/>
            <a:chOff x="571500" y="5286375"/>
            <a:chExt cx="11049000" cy="1047750"/>
          </a:xfrm>
        </p:grpSpPr>
        <p:sp>
          <p:nvSpPr>
            <p:cNvPr id="48" name="Rectangle 48"/>
            <p:cNvSpPr/>
            <p:nvPr/>
          </p:nvSpPr>
          <p:spPr>
            <a:xfrm>
              <a:off x="571500" y="5286375"/>
              <a:ext cx="11049000" cy="1047750"/>
            </a:xfrm>
            <a:prstGeom prst="roundRect">
              <a:avLst>
                <a:gd name="adj" fmla="val 9091"/>
              </a:avLst>
            </a:prstGeom>
            <a:solidFill>
              <a:srgbClr val="EAF6FD"/>
            </a:solidFill>
            <a:ln>
              <a:noFill/>
            </a:ln>
          </p:spPr>
          <p:txBody>
            <a:bodyPr/>
            <a:lstStyle/>
            <a:p>
              <a:endParaRPr lang="en-US"/>
            </a:p>
          </p:txBody>
        </p:sp>
        <p:sp>
          <p:nvSpPr>
            <p:cNvPr id="49" name="TextBox 49"/>
            <p:cNvSpPr txBox="1"/>
            <p:nvPr/>
          </p:nvSpPr>
          <p:spPr>
            <a:xfrm>
              <a:off x="807720" y="5541645"/>
              <a:ext cx="1409933" cy="182880"/>
            </a:xfrm>
            <a:prstGeom prst="rect">
              <a:avLst/>
            </a:prstGeom>
            <a:noFill/>
            <a:ln>
              <a:noFill/>
            </a:ln>
          </p:spPr>
          <p:txBody>
            <a:bodyPr wrap="none" lIns="0" tIns="0" rIns="0" bIns="0" anchor="t" anchorCtr="0">
              <a:spAutoFit/>
            </a:bodyPr>
            <a:lstStyle/>
            <a:p>
              <a:pPr algn="l"/>
              <a:r>
                <a:rPr lang="zh-CN" sz="900" b="1" dirty="0">
                  <a:solidFill>
                    <a:srgbClr val="004C97"/>
                  </a:solidFill>
                  <a:latin typeface="Arial"/>
                  <a:ea typeface="Microsoft YaHei"/>
                  <a:cs typeface="Arial"/>
                </a:rPr>
                <a:t>THREE CONSEQUENCES</a:t>
              </a:r>
            </a:p>
          </p:txBody>
        </p:sp>
        <p:grpSp>
          <p:nvGrpSpPr>
            <p:cNvPr id="53" name="Group 53"/>
            <p:cNvGrpSpPr/>
            <p:nvPr/>
          </p:nvGrpSpPr>
          <p:grpSpPr>
            <a:xfrm>
              <a:off x="819150" y="5791200"/>
              <a:ext cx="2993899" cy="435769"/>
              <a:chOff x="819150" y="5791200"/>
              <a:chExt cx="2993899" cy="435769"/>
            </a:xfrm>
          </p:grpSpPr>
          <p:sp>
            <p:nvSpPr>
              <p:cNvPr id="50" name="Rectangle 50"/>
              <p:cNvSpPr/>
              <p:nvPr/>
            </p:nvSpPr>
            <p:spPr>
              <a:xfrm>
                <a:off x="819150" y="5791200"/>
                <a:ext cx="38100" cy="342900"/>
              </a:xfrm>
              <a:prstGeom prst="rect">
                <a:avLst/>
              </a:prstGeom>
              <a:solidFill>
                <a:srgbClr val="707372"/>
              </a:solidFill>
              <a:ln>
                <a:noFill/>
              </a:ln>
            </p:spPr>
            <p:txBody>
              <a:bodyPr/>
              <a:lstStyle/>
              <a:p>
                <a:endParaRPr lang="en-US"/>
              </a:p>
            </p:txBody>
          </p:sp>
          <p:sp>
            <p:nvSpPr>
              <p:cNvPr id="51" name="TextBox 51"/>
              <p:cNvSpPr txBox="1"/>
              <p:nvPr/>
            </p:nvSpPr>
            <p:spPr>
              <a:xfrm>
                <a:off x="995362" y="5822156"/>
                <a:ext cx="1848677" cy="228600"/>
              </a:xfrm>
              <a:prstGeom prst="rect">
                <a:avLst/>
              </a:prstGeom>
              <a:noFill/>
              <a:ln>
                <a:noFill/>
              </a:ln>
            </p:spPr>
            <p:txBody>
              <a:bodyPr wrap="none" lIns="0" tIns="0" rIns="0" bIns="0" anchor="t" anchorCtr="0">
                <a:spAutoFit/>
              </a:bodyPr>
              <a:lstStyle/>
              <a:p>
                <a:pPr algn="l"/>
                <a:r>
                  <a:rPr lang="zh-CN" sz="1125" b="1" dirty="0">
                    <a:solidFill>
                      <a:srgbClr val="004C97"/>
                    </a:solidFill>
                    <a:latin typeface="Arial"/>
                    <a:ea typeface="Microsoft YaHei"/>
                    <a:cs typeface="Arial"/>
                  </a:rPr>
                  <a:t>Fragmented workflow</a:t>
                </a:r>
              </a:p>
            </p:txBody>
          </p:sp>
          <p:sp>
            <p:nvSpPr>
              <p:cNvPr id="52" name="TextBox 52"/>
              <p:cNvSpPr txBox="1"/>
              <p:nvPr/>
            </p:nvSpPr>
            <p:spPr>
              <a:xfrm>
                <a:off x="997268" y="6028849"/>
                <a:ext cx="2815781"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Every query becomes a copy-paste loop.</a:t>
                </a:r>
              </a:p>
            </p:txBody>
          </p:sp>
        </p:grpSp>
        <p:grpSp>
          <p:nvGrpSpPr>
            <p:cNvPr id="57" name="Group 57"/>
            <p:cNvGrpSpPr/>
            <p:nvPr/>
          </p:nvGrpSpPr>
          <p:grpSpPr>
            <a:xfrm>
              <a:off x="4438650" y="5791200"/>
              <a:ext cx="3492294" cy="435769"/>
              <a:chOff x="4438650" y="5791200"/>
              <a:chExt cx="3492294" cy="435769"/>
            </a:xfrm>
          </p:grpSpPr>
          <p:sp>
            <p:nvSpPr>
              <p:cNvPr id="54" name="Rectangle 54"/>
              <p:cNvSpPr/>
              <p:nvPr/>
            </p:nvSpPr>
            <p:spPr>
              <a:xfrm>
                <a:off x="4438650" y="5791200"/>
                <a:ext cx="38100" cy="342900"/>
              </a:xfrm>
              <a:prstGeom prst="rect">
                <a:avLst/>
              </a:prstGeom>
              <a:solidFill>
                <a:srgbClr val="707372"/>
              </a:solidFill>
              <a:ln>
                <a:noFill/>
              </a:ln>
            </p:spPr>
            <p:txBody>
              <a:bodyPr/>
              <a:lstStyle/>
              <a:p>
                <a:endParaRPr lang="en-US"/>
              </a:p>
            </p:txBody>
          </p:sp>
          <p:sp>
            <p:nvSpPr>
              <p:cNvPr id="55" name="TextBox 55"/>
              <p:cNvSpPr txBox="1"/>
              <p:nvPr/>
            </p:nvSpPr>
            <p:spPr>
              <a:xfrm>
                <a:off x="4614862" y="5822156"/>
                <a:ext cx="1175843" cy="228600"/>
              </a:xfrm>
              <a:prstGeom prst="rect">
                <a:avLst/>
              </a:prstGeom>
              <a:noFill/>
              <a:ln>
                <a:noFill/>
              </a:ln>
            </p:spPr>
            <p:txBody>
              <a:bodyPr wrap="none" lIns="0" tIns="0" rIns="0" bIns="0" anchor="t" anchorCtr="0">
                <a:spAutoFit/>
              </a:bodyPr>
              <a:lstStyle/>
              <a:p>
                <a:pPr algn="l"/>
                <a:r>
                  <a:rPr lang="zh-CN" sz="1125" b="1" dirty="0">
                    <a:solidFill>
                      <a:srgbClr val="004C97"/>
                    </a:solidFill>
                    <a:latin typeface="Arial"/>
                    <a:ea typeface="Microsoft YaHei"/>
                    <a:cs typeface="Arial"/>
                  </a:rPr>
                  <a:t>No SDK access</a:t>
                </a:r>
              </a:p>
            </p:txBody>
          </p:sp>
          <p:sp>
            <p:nvSpPr>
              <p:cNvPr id="56" name="TextBox 56"/>
              <p:cNvSpPr txBox="1"/>
              <p:nvPr/>
            </p:nvSpPr>
            <p:spPr>
              <a:xfrm>
                <a:off x="4616768" y="6028849"/>
                <a:ext cx="3314176"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Chatbot can't see your data or call your tools.</a:t>
                </a:r>
              </a:p>
            </p:txBody>
          </p:sp>
        </p:grpSp>
        <p:grpSp>
          <p:nvGrpSpPr>
            <p:cNvPr id="61" name="Group 61"/>
            <p:cNvGrpSpPr/>
            <p:nvPr/>
          </p:nvGrpSpPr>
          <p:grpSpPr>
            <a:xfrm>
              <a:off x="8058150" y="5791200"/>
              <a:ext cx="2929819" cy="435769"/>
              <a:chOff x="8058150" y="5791200"/>
              <a:chExt cx="2929819" cy="435769"/>
            </a:xfrm>
          </p:grpSpPr>
          <p:sp>
            <p:nvSpPr>
              <p:cNvPr id="58" name="Rectangle 58"/>
              <p:cNvSpPr/>
              <p:nvPr/>
            </p:nvSpPr>
            <p:spPr>
              <a:xfrm>
                <a:off x="8058150" y="5791200"/>
                <a:ext cx="38100" cy="342900"/>
              </a:xfrm>
              <a:prstGeom prst="rect">
                <a:avLst/>
              </a:prstGeom>
              <a:solidFill>
                <a:srgbClr val="707372"/>
              </a:solidFill>
              <a:ln>
                <a:noFill/>
              </a:ln>
            </p:spPr>
            <p:txBody>
              <a:bodyPr/>
              <a:lstStyle/>
              <a:p>
                <a:endParaRPr lang="en-US"/>
              </a:p>
            </p:txBody>
          </p:sp>
          <p:sp>
            <p:nvSpPr>
              <p:cNvPr id="59" name="TextBox 59"/>
              <p:cNvSpPr txBox="1"/>
              <p:nvPr/>
            </p:nvSpPr>
            <p:spPr>
              <a:xfrm>
                <a:off x="8234362" y="5822156"/>
                <a:ext cx="1684782" cy="228600"/>
              </a:xfrm>
              <a:prstGeom prst="rect">
                <a:avLst/>
              </a:prstGeom>
              <a:noFill/>
              <a:ln>
                <a:noFill/>
              </a:ln>
            </p:spPr>
            <p:txBody>
              <a:bodyPr wrap="none" lIns="0" tIns="0" rIns="0" bIns="0" anchor="t" anchorCtr="0">
                <a:spAutoFit/>
              </a:bodyPr>
              <a:lstStyle/>
              <a:p>
                <a:pPr algn="l"/>
                <a:r>
                  <a:rPr lang="zh-CN" sz="1125" b="1" dirty="0">
                    <a:solidFill>
                      <a:srgbClr val="004C97"/>
                    </a:solidFill>
                    <a:latin typeface="Arial"/>
                    <a:ea typeface="Microsoft YaHei"/>
                    <a:cs typeface="Arial"/>
                  </a:rPr>
                  <a:t>Knowledge stranded</a:t>
                </a:r>
              </a:p>
            </p:txBody>
          </p:sp>
          <p:sp>
            <p:nvSpPr>
              <p:cNvPr id="60" name="TextBox 60"/>
              <p:cNvSpPr txBox="1"/>
              <p:nvPr/>
            </p:nvSpPr>
            <p:spPr>
              <a:xfrm>
                <a:off x="8236268" y="6028849"/>
                <a:ext cx="2751701"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IMF conventions live in heads and email.</a:t>
                </a:r>
              </a:p>
            </p:txBody>
          </p:sp>
        </p:grpSp>
      </p:grpSp>
      <p:grpSp>
        <p:nvGrpSpPr>
          <p:cNvPr id="65" name="Group 65"/>
          <p:cNvGrpSpPr/>
          <p:nvPr/>
        </p:nvGrpSpPr>
        <p:grpSpPr>
          <a:xfrm>
            <a:off x="561022" y="6530816"/>
            <a:ext cx="11069956" cy="167640"/>
            <a:chOff x="561022" y="6530816"/>
            <a:chExt cx="11069956" cy="167640"/>
          </a:xfrm>
        </p:grpSpPr>
        <p:sp>
          <p:nvSpPr>
            <p:cNvPr id="63" name="TextBox 63"/>
            <p:cNvSpPr txBox="1"/>
            <p:nvPr/>
          </p:nvSpPr>
          <p:spPr>
            <a:xfrm>
              <a:off x="561022" y="6530816"/>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64" name="TextBox 64"/>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AA3AE"/>
                  </a:solidFill>
                  <a:latin typeface="Arial"/>
                  <a:ea typeface="Microsoft YaHei"/>
                  <a:cs typeface="Arial"/>
                </a:rPr>
                <a:t>02 / 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900"/>
                            </p:stCondLst>
                            <p:childTnLst>
                              <p:par>
                                <p:cTn id="9" presetID="4"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ox(in)">
                                      <p:cBhvr>
                                        <p:cTn id="11" dur="400"/>
                                        <p:tgtEl>
                                          <p:spTgt spid="27"/>
                                        </p:tgtEl>
                                      </p:cBhvr>
                                    </p:animEffect>
                                  </p:childTnLst>
                                </p:cTn>
                              </p:par>
                            </p:childTnLst>
                          </p:cTn>
                        </p:par>
                        <p:par>
                          <p:cTn id="12" fill="hold">
                            <p:stCondLst>
                              <p:cond delay="1800"/>
                            </p:stCondLst>
                            <p:childTnLst>
                              <p:par>
                                <p:cTn id="13" presetID="16" presetClass="entr" presetSubtype="21" fill="hold" nodeType="after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barn(inVertical)">
                                      <p:cBhvr>
                                        <p:cTn id="15" dur="400"/>
                                        <p:tgtEl>
                                          <p:spTgt spid="47"/>
                                        </p:tgtEl>
                                      </p:cBhvr>
                                    </p:animEffect>
                                  </p:childTnLst>
                                </p:cTn>
                              </p:par>
                            </p:childTnLst>
                          </p:cTn>
                        </p:par>
                        <p:par>
                          <p:cTn id="16" fill="hold">
                            <p:stCondLst>
                              <p:cond delay="2700"/>
                            </p:stCondLst>
                            <p:childTnLst>
                              <p:par>
                                <p:cTn id="17" presetID="18" presetClass="entr" presetSubtype="12" fill="hold" nodeType="after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strips(downRight)">
                                      <p:cBhvr>
                                        <p:cTn id="19"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7" grpId="0"/>
      <p:bldP spid="47" grpId="0"/>
      <p:bldP spid="6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grpSp>
        <p:nvGrpSpPr>
          <p:cNvPr id="6" name="Group 6"/>
          <p:cNvGrpSpPr/>
          <p:nvPr/>
        </p:nvGrpSpPr>
        <p:grpSpPr>
          <a:xfrm>
            <a:off x="541020" y="569595"/>
            <a:ext cx="4735144" cy="997372"/>
            <a:chOff x="541020" y="569595"/>
            <a:chExt cx="4735144" cy="997372"/>
          </a:xfrm>
        </p:grpSpPr>
        <p:sp>
          <p:nvSpPr>
            <p:cNvPr id="3" name="TextBox 3"/>
            <p:cNvSpPr txBox="1"/>
            <p:nvPr/>
          </p:nvSpPr>
          <p:spPr>
            <a:xfrm>
              <a:off x="560070" y="569595"/>
              <a:ext cx="1016584" cy="182880"/>
            </a:xfrm>
            <a:prstGeom prst="rect">
              <a:avLst/>
            </a:prstGeom>
            <a:noFill/>
            <a:ln>
              <a:noFill/>
            </a:ln>
          </p:spPr>
          <p:txBody>
            <a:bodyPr wrap="none" lIns="0" tIns="0" rIns="0" bIns="0" anchor="t" anchorCtr="0">
              <a:spAutoFit/>
            </a:bodyPr>
            <a:lstStyle/>
            <a:p>
              <a:pPr algn="l"/>
              <a:r>
                <a:rPr lang="zh-CN" sz="900" b="1" dirty="0">
                  <a:solidFill>
                    <a:srgbClr val="707372"/>
                  </a:solidFill>
                  <a:latin typeface="Arial"/>
                  <a:ea typeface="Microsoft YaHei"/>
                  <a:cs typeface="Arial"/>
                </a:rPr>
                <a:t>02 · THE VISION</a:t>
              </a:r>
            </a:p>
          </p:txBody>
        </p:sp>
        <p:sp>
          <p:nvSpPr>
            <p:cNvPr id="4" name="TextBox 4"/>
            <p:cNvSpPr txBox="1"/>
            <p:nvPr/>
          </p:nvSpPr>
          <p:spPr>
            <a:xfrm>
              <a:off x="541020" y="883920"/>
              <a:ext cx="4735144" cy="487680"/>
            </a:xfrm>
            <a:prstGeom prst="rect">
              <a:avLst/>
            </a:prstGeom>
            <a:noFill/>
            <a:ln>
              <a:noFill/>
            </a:ln>
          </p:spPr>
          <p:txBody>
            <a:bodyPr wrap="none" lIns="0" tIns="0" rIns="0" bIns="0" anchor="t" anchorCtr="0">
              <a:spAutoFit/>
            </a:bodyPr>
            <a:lstStyle/>
            <a:p>
              <a:pPr algn="l"/>
              <a:r>
                <a:rPr lang="zh-CN" sz="2400" b="1" dirty="0">
                  <a:solidFill>
                    <a:srgbClr val="004C97"/>
                  </a:solidFill>
                  <a:latin typeface="Arial Black"/>
                  <a:ea typeface="Microsoft YaHei"/>
                  <a:cs typeface="Arial Black"/>
                </a:rPr>
                <a:t>From chatbot to colleague</a:t>
              </a:r>
            </a:p>
          </p:txBody>
        </p:sp>
        <p:sp>
          <p:nvSpPr>
            <p:cNvPr id="5" name="TextBox 5"/>
            <p:cNvSpPr txBox="1"/>
            <p:nvPr/>
          </p:nvSpPr>
          <p:spPr>
            <a:xfrm>
              <a:off x="554355" y="1359218"/>
              <a:ext cx="4292842" cy="207749"/>
            </a:xfrm>
            <a:prstGeom prst="rect">
              <a:avLst/>
            </a:prstGeom>
            <a:noFill/>
            <a:ln>
              <a:noFill/>
            </a:ln>
          </p:spPr>
          <p:txBody>
            <a:bodyPr wrap="none" lIns="0" tIns="0" rIns="0" bIns="0" anchor="t" anchorCtr="0">
              <a:spAutoFit/>
            </a:bodyPr>
            <a:lstStyle/>
            <a:p>
              <a:pPr algn="l"/>
              <a:r>
                <a:rPr lang="zh-CN" sz="1350" dirty="0">
                  <a:solidFill>
                    <a:srgbClr val="5B6470"/>
                  </a:solidFill>
                  <a:latin typeface="Arial"/>
                  <a:ea typeface="Microsoft YaHei"/>
                  <a:cs typeface="Arial"/>
                </a:rPr>
                <a:t>Move from </a:t>
              </a:r>
              <a:r>
                <a:rPr lang="zh-CN" sz="1350" i="1" dirty="0">
                  <a:solidFill>
                    <a:srgbClr val="5B6470"/>
                  </a:solidFill>
                  <a:latin typeface="Arial"/>
                  <a:ea typeface="Microsoft YaHei"/>
                  <a:cs typeface="Arial"/>
                </a:rPr>
                <a:t>AI you talk to</a:t>
              </a:r>
              <a:r>
                <a:rPr lang="zh-CN" sz="1350" dirty="0">
                  <a:solidFill>
                    <a:srgbClr val="5B6470"/>
                  </a:solidFill>
                  <a:latin typeface="Arial"/>
                  <a:ea typeface="Microsoft YaHei"/>
                  <a:cs typeface="Arial"/>
                </a:rPr>
                <a:t> </a:t>
              </a:r>
              <a:r>
                <a:rPr lang="zh-CN" sz="1350" b="1" dirty="0">
                  <a:solidFill>
                    <a:srgbClr val="004C97"/>
                  </a:solidFill>
                  <a:latin typeface="Arial"/>
                  <a:ea typeface="Microsoft YaHei"/>
                  <a:cs typeface="Arial"/>
                </a:rPr>
                <a:t>→</a:t>
              </a:r>
              <a:r>
                <a:rPr lang="zh-CN" sz="1350" dirty="0">
                  <a:solidFill>
                    <a:srgbClr val="5B6470"/>
                  </a:solidFill>
                  <a:latin typeface="Arial"/>
                  <a:ea typeface="Microsoft YaHei"/>
                  <a:cs typeface="Arial"/>
                </a:rPr>
                <a:t> </a:t>
              </a:r>
              <a:r>
                <a:rPr lang="zh-CN" sz="1350" b="1" dirty="0">
                  <a:solidFill>
                    <a:srgbClr val="004C97"/>
                  </a:solidFill>
                  <a:latin typeface="Arial"/>
                  <a:ea typeface="Microsoft YaHei"/>
                  <a:cs typeface="Arial"/>
                </a:rPr>
                <a:t>A</a:t>
              </a:r>
              <a:r>
                <a:rPr lang="en-US" altLang="zh-CN" sz="1350" b="1" dirty="0">
                  <a:solidFill>
                    <a:srgbClr val="004C97"/>
                  </a:solidFill>
                  <a:latin typeface="Arial"/>
                  <a:ea typeface="Microsoft YaHei"/>
                  <a:cs typeface="Arial"/>
                </a:rPr>
                <a:t>gent</a:t>
              </a:r>
              <a:r>
                <a:rPr lang="zh-CN" sz="1350" b="1" dirty="0">
                  <a:solidFill>
                    <a:srgbClr val="004C97"/>
                  </a:solidFill>
                  <a:latin typeface="Arial"/>
                  <a:ea typeface="Microsoft YaHei"/>
                  <a:cs typeface="Arial"/>
                </a:rPr>
                <a:t> that does the work</a:t>
              </a:r>
              <a:r>
                <a:rPr lang="zh-CN" sz="1350" dirty="0">
                  <a:solidFill>
                    <a:srgbClr val="5B6470"/>
                  </a:solidFill>
                  <a:latin typeface="Arial"/>
                  <a:ea typeface="Microsoft YaHei"/>
                  <a:cs typeface="Arial"/>
                </a:rPr>
                <a:t>.</a:t>
              </a:r>
            </a:p>
          </p:txBody>
        </p:sp>
      </p:grpSp>
      <p:grpSp>
        <p:nvGrpSpPr>
          <p:cNvPr id="8" name="Group 8"/>
          <p:cNvGrpSpPr/>
          <p:nvPr/>
        </p:nvGrpSpPr>
        <p:grpSpPr>
          <a:xfrm>
            <a:off x="571500" y="2000250"/>
            <a:ext cx="1143000" cy="9525"/>
            <a:chOff x="571500" y="2000250"/>
            <a:chExt cx="1143000" cy="9525"/>
          </a:xfrm>
        </p:grpSpPr>
        <p:sp>
          <p:nvSpPr>
            <p:cNvPr id="7" name="Line 7"/>
            <p:cNvSpPr/>
            <p:nvPr/>
          </p:nvSpPr>
          <p:spPr>
            <a:xfrm>
              <a:off x="571500" y="2000250"/>
              <a:ext cx="1143000" cy="9525"/>
            </a:xfrm>
            <a:custGeom>
              <a:avLst/>
              <a:gdLst/>
              <a:ahLst/>
              <a:cxnLst/>
              <a:rect l="l" t="t" r="r" b="b"/>
              <a:pathLst>
                <a:path w="1143000" h="9525">
                  <a:moveTo>
                    <a:pt x="0" y="0"/>
                  </a:moveTo>
                  <a:lnTo>
                    <a:pt x="1143000" y="0"/>
                  </a:lnTo>
                </a:path>
              </a:pathLst>
            </a:custGeom>
            <a:noFill/>
            <a:ln w="19050">
              <a:solidFill>
                <a:srgbClr val="707372"/>
              </a:solidFill>
            </a:ln>
          </p:spPr>
          <p:txBody>
            <a:bodyPr/>
            <a:lstStyle/>
            <a:p>
              <a:endParaRPr lang="en-US"/>
            </a:p>
          </p:txBody>
        </p:sp>
      </p:grpSp>
      <p:grpSp>
        <p:nvGrpSpPr>
          <p:cNvPr id="21" name="Group 21"/>
          <p:cNvGrpSpPr/>
          <p:nvPr/>
        </p:nvGrpSpPr>
        <p:grpSpPr>
          <a:xfrm>
            <a:off x="1118235" y="2673350"/>
            <a:ext cx="2224325" cy="2867819"/>
            <a:chOff x="1118235" y="2673350"/>
            <a:chExt cx="2224325" cy="2867819"/>
          </a:xfrm>
        </p:grpSpPr>
        <p:grpSp>
          <p:nvGrpSpPr>
            <p:cNvPr id="12" name="Group 12"/>
            <p:cNvGrpSpPr/>
            <p:nvPr/>
          </p:nvGrpSpPr>
          <p:grpSpPr>
            <a:xfrm>
              <a:off x="1219200" y="2673350"/>
              <a:ext cx="457200" cy="406400"/>
              <a:chOff x="1219200" y="2673350"/>
              <a:chExt cx="457200" cy="406400"/>
            </a:xfrm>
          </p:grpSpPr>
          <p:sp>
            <p:nvSpPr>
              <p:cNvPr id="9" name="Freeform 9"/>
              <p:cNvSpPr/>
              <p:nvPr/>
            </p:nvSpPr>
            <p:spPr>
              <a:xfrm>
                <a:off x="1346200" y="2800350"/>
                <a:ext cx="76200" cy="152400"/>
              </a:xfrm>
              <a:custGeom>
                <a:avLst/>
                <a:gdLst/>
                <a:ahLst/>
                <a:cxnLst/>
                <a:rect l="l" t="t" r="r" b="b"/>
                <a:pathLst>
                  <a:path w="76200" h="152400">
                    <a:moveTo>
                      <a:pt x="0" y="0"/>
                    </a:moveTo>
                    <a:lnTo>
                      <a:pt x="76200" y="76200"/>
                    </a:lnTo>
                    <a:lnTo>
                      <a:pt x="0" y="152400"/>
                    </a:lnTo>
                  </a:path>
                </a:pathLst>
              </a:custGeom>
              <a:noFill/>
              <a:ln w="19050">
                <a:solidFill>
                  <a:srgbClr val="004C97"/>
                </a:solidFill>
              </a:ln>
            </p:spPr>
            <p:txBody>
              <a:bodyPr/>
              <a:lstStyle/>
              <a:p>
                <a:endParaRPr lang="en-US"/>
              </a:p>
            </p:txBody>
          </p:sp>
          <p:sp>
            <p:nvSpPr>
              <p:cNvPr id="10" name="Freeform 10"/>
              <p:cNvSpPr/>
              <p:nvPr/>
            </p:nvSpPr>
            <p:spPr>
              <a:xfrm>
                <a:off x="1473200" y="2952750"/>
                <a:ext cx="76200" cy="9525"/>
              </a:xfrm>
              <a:custGeom>
                <a:avLst/>
                <a:gdLst/>
                <a:ahLst/>
                <a:cxnLst/>
                <a:rect l="l" t="t" r="r" b="b"/>
                <a:pathLst>
                  <a:path w="76200" h="9525">
                    <a:moveTo>
                      <a:pt x="0" y="0"/>
                    </a:moveTo>
                    <a:lnTo>
                      <a:pt x="76200" y="0"/>
                    </a:lnTo>
                  </a:path>
                </a:pathLst>
              </a:custGeom>
              <a:noFill/>
              <a:ln w="19050">
                <a:solidFill>
                  <a:srgbClr val="004C97"/>
                </a:solidFill>
              </a:ln>
            </p:spPr>
            <p:txBody>
              <a:bodyPr/>
              <a:lstStyle/>
              <a:p>
                <a:endParaRPr lang="en-US"/>
              </a:p>
            </p:txBody>
          </p:sp>
          <p:sp>
            <p:nvSpPr>
              <p:cNvPr id="11" name="Freeform 11"/>
              <p:cNvSpPr/>
              <p:nvPr/>
            </p:nvSpPr>
            <p:spPr>
              <a:xfrm>
                <a:off x="1219200" y="2673350"/>
                <a:ext cx="457200" cy="406400"/>
              </a:xfrm>
              <a:custGeom>
                <a:avLst/>
                <a:gdLst/>
                <a:ahLst/>
                <a:cxnLst/>
                <a:rect l="l" t="t" r="r" b="b"/>
                <a:pathLst>
                  <a:path w="457200" h="406400">
                    <a:moveTo>
                      <a:pt x="0" y="50800"/>
                    </a:moveTo>
                    <a:cubicBezTo>
                      <a:pt x="0" y="22744"/>
                      <a:pt x="22744" y="0"/>
                      <a:pt x="50800" y="0"/>
                    </a:cubicBezTo>
                    <a:lnTo>
                      <a:pt x="406400" y="0"/>
                    </a:lnTo>
                    <a:cubicBezTo>
                      <a:pt x="434456" y="0"/>
                      <a:pt x="457200" y="22744"/>
                      <a:pt x="457200" y="50800"/>
                    </a:cubicBezTo>
                    <a:lnTo>
                      <a:pt x="457200" y="355600"/>
                    </a:lnTo>
                    <a:cubicBezTo>
                      <a:pt x="457200" y="383656"/>
                      <a:pt x="434456" y="406400"/>
                      <a:pt x="406400" y="406400"/>
                    </a:cubicBezTo>
                    <a:lnTo>
                      <a:pt x="50800" y="406400"/>
                    </a:lnTo>
                    <a:cubicBezTo>
                      <a:pt x="22744" y="406400"/>
                      <a:pt x="0" y="383656"/>
                      <a:pt x="0" y="355600"/>
                    </a:cubicBezTo>
                    <a:lnTo>
                      <a:pt x="0" y="50800"/>
                    </a:lnTo>
                  </a:path>
                </a:pathLst>
              </a:custGeom>
              <a:noFill/>
              <a:ln w="19050">
                <a:solidFill>
                  <a:srgbClr val="004C97"/>
                </a:solidFill>
              </a:ln>
            </p:spPr>
            <p:txBody>
              <a:bodyPr/>
              <a:lstStyle/>
              <a:p>
                <a:endParaRPr lang="en-US"/>
              </a:p>
            </p:txBody>
          </p:sp>
        </p:grpSp>
        <p:sp>
          <p:nvSpPr>
            <p:cNvPr id="13" name="TextBox 13"/>
            <p:cNvSpPr txBox="1"/>
            <p:nvPr/>
          </p:nvSpPr>
          <p:spPr>
            <a:xfrm>
              <a:off x="1132522" y="3530441"/>
              <a:ext cx="482738"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PILLAR 1</a:t>
              </a:r>
            </a:p>
          </p:txBody>
        </p:sp>
        <p:sp>
          <p:nvSpPr>
            <p:cNvPr id="14" name="TextBox 14"/>
            <p:cNvSpPr txBox="1"/>
            <p:nvPr/>
          </p:nvSpPr>
          <p:spPr>
            <a:xfrm>
              <a:off x="1118235" y="3713798"/>
              <a:ext cx="797123" cy="396240"/>
            </a:xfrm>
            <a:prstGeom prst="rect">
              <a:avLst/>
            </a:prstGeom>
            <a:noFill/>
            <a:ln>
              <a:noFill/>
            </a:ln>
          </p:spPr>
          <p:txBody>
            <a:bodyPr wrap="none" lIns="0" tIns="0" rIns="0" bIns="0" anchor="t" anchorCtr="0">
              <a:spAutoFit/>
            </a:bodyPr>
            <a:lstStyle/>
            <a:p>
              <a:pPr algn="l"/>
              <a:r>
                <a:rPr lang="zh-CN" sz="1950" b="1" dirty="0">
                  <a:solidFill>
                    <a:srgbClr val="004C97"/>
                  </a:solidFill>
                  <a:latin typeface="Arial Black"/>
                  <a:ea typeface="Microsoft YaHei"/>
                  <a:cs typeface="Arial Black"/>
                </a:rPr>
                <a:t>Local</a:t>
              </a:r>
            </a:p>
          </p:txBody>
        </p:sp>
        <p:sp>
          <p:nvSpPr>
            <p:cNvPr id="15" name="Line 15"/>
            <p:cNvSpPr/>
            <p:nvPr/>
          </p:nvSpPr>
          <p:spPr>
            <a:xfrm>
              <a:off x="1143000" y="4114800"/>
              <a:ext cx="381000" cy="9525"/>
            </a:xfrm>
            <a:custGeom>
              <a:avLst/>
              <a:gdLst/>
              <a:ahLst/>
              <a:cxnLst/>
              <a:rect l="l" t="t" r="r" b="b"/>
              <a:pathLst>
                <a:path w="381000" h="9525">
                  <a:moveTo>
                    <a:pt x="0" y="0"/>
                  </a:moveTo>
                  <a:lnTo>
                    <a:pt x="381000" y="0"/>
                  </a:lnTo>
                </a:path>
              </a:pathLst>
            </a:custGeom>
            <a:noFill/>
            <a:ln w="19050">
              <a:solidFill>
                <a:srgbClr val="004C97"/>
              </a:solidFill>
            </a:ln>
          </p:spPr>
          <p:txBody>
            <a:bodyPr/>
            <a:lstStyle/>
            <a:p>
              <a:endParaRPr lang="en-US"/>
            </a:p>
          </p:txBody>
        </p:sp>
        <p:sp>
          <p:nvSpPr>
            <p:cNvPr id="16" name="TextBox 16"/>
            <p:cNvSpPr txBox="1"/>
            <p:nvPr/>
          </p:nvSpPr>
          <p:spPr>
            <a:xfrm>
              <a:off x="1128712" y="4336256"/>
              <a:ext cx="2041327"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Runs inside the analyst's</a:t>
              </a:r>
            </a:p>
          </p:txBody>
        </p:sp>
        <p:sp>
          <p:nvSpPr>
            <p:cNvPr id="17" name="TextBox 17"/>
            <p:cNvSpPr txBox="1"/>
            <p:nvPr/>
          </p:nvSpPr>
          <p:spPr>
            <a:xfrm>
              <a:off x="1128712" y="4526756"/>
              <a:ext cx="2041327"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repo — alongside the SDK,</a:t>
              </a:r>
            </a:p>
          </p:txBody>
        </p:sp>
        <p:sp>
          <p:nvSpPr>
            <p:cNvPr id="18" name="TextBox 18"/>
            <p:cNvSpPr txBox="1"/>
            <p:nvPr/>
          </p:nvSpPr>
          <p:spPr>
            <a:xfrm>
              <a:off x="1128712" y="4717256"/>
              <a:ext cx="2213848"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catalogs, and conventions.</a:t>
              </a:r>
            </a:p>
          </p:txBody>
        </p:sp>
        <p:sp>
          <p:nvSpPr>
            <p:cNvPr id="19" name="TextBox 19"/>
            <p:cNvSpPr txBox="1"/>
            <p:nvPr/>
          </p:nvSpPr>
          <p:spPr>
            <a:xfrm>
              <a:off x="1130618" y="5152549"/>
              <a:ext cx="1448753" cy="198120"/>
            </a:xfrm>
            <a:prstGeom prst="rect">
              <a:avLst/>
            </a:prstGeom>
            <a:noFill/>
            <a:ln>
              <a:noFill/>
            </a:ln>
          </p:spPr>
          <p:txBody>
            <a:bodyPr wrap="none" lIns="0" tIns="0" rIns="0" bIns="0" anchor="t" anchorCtr="0">
              <a:spAutoFit/>
            </a:bodyPr>
            <a:lstStyle/>
            <a:p>
              <a:pPr algn="l"/>
              <a:r>
                <a:rPr lang="zh-CN" sz="975" i="1" dirty="0">
                  <a:solidFill>
                    <a:srgbClr val="5B6470"/>
                  </a:solidFill>
                  <a:latin typeface="Arial"/>
                  <a:ea typeface="Microsoft YaHei"/>
                  <a:cs typeface="Arial"/>
                </a:rPr>
                <a:t>No cloud round-trip.</a:t>
              </a:r>
            </a:p>
          </p:txBody>
        </p:sp>
        <p:sp>
          <p:nvSpPr>
            <p:cNvPr id="20" name="TextBox 20"/>
            <p:cNvSpPr txBox="1"/>
            <p:nvPr/>
          </p:nvSpPr>
          <p:spPr>
            <a:xfrm>
              <a:off x="1130618" y="5343049"/>
              <a:ext cx="1847469" cy="198120"/>
            </a:xfrm>
            <a:prstGeom prst="rect">
              <a:avLst/>
            </a:prstGeom>
            <a:noFill/>
            <a:ln>
              <a:noFill/>
            </a:ln>
          </p:spPr>
          <p:txBody>
            <a:bodyPr wrap="none" lIns="0" tIns="0" rIns="0" bIns="0" anchor="t" anchorCtr="0">
              <a:spAutoFit/>
            </a:bodyPr>
            <a:lstStyle/>
            <a:p>
              <a:pPr algn="l"/>
              <a:r>
                <a:rPr lang="zh-CN" sz="975" i="1" dirty="0">
                  <a:solidFill>
                    <a:srgbClr val="5B6470"/>
                  </a:solidFill>
                  <a:latin typeface="Arial"/>
                  <a:ea typeface="Microsoft YaHei"/>
                  <a:cs typeface="Arial"/>
                </a:rPr>
                <a:t>No data leaves the laptop.</a:t>
              </a:r>
            </a:p>
          </p:txBody>
        </p:sp>
      </p:grpSp>
      <p:grpSp>
        <p:nvGrpSpPr>
          <p:cNvPr id="36" name="Group 36"/>
          <p:cNvGrpSpPr/>
          <p:nvPr/>
        </p:nvGrpSpPr>
        <p:grpSpPr>
          <a:xfrm>
            <a:off x="5118735" y="2698750"/>
            <a:ext cx="2080570" cy="2842419"/>
            <a:chOff x="5118735" y="2698750"/>
            <a:chExt cx="2080570" cy="2842419"/>
          </a:xfrm>
        </p:grpSpPr>
        <p:grpSp>
          <p:nvGrpSpPr>
            <p:cNvPr id="27" name="Group 27"/>
            <p:cNvGrpSpPr/>
            <p:nvPr/>
          </p:nvGrpSpPr>
          <p:grpSpPr>
            <a:xfrm>
              <a:off x="5219700" y="2698750"/>
              <a:ext cx="457200" cy="355600"/>
              <a:chOff x="5219700" y="2698750"/>
              <a:chExt cx="457200" cy="355600"/>
            </a:xfrm>
          </p:grpSpPr>
          <p:sp>
            <p:nvSpPr>
              <p:cNvPr id="22" name="Freeform 22"/>
              <p:cNvSpPr/>
              <p:nvPr/>
            </p:nvSpPr>
            <p:spPr>
              <a:xfrm>
                <a:off x="5524500" y="2876550"/>
                <a:ext cx="9525" cy="9525"/>
              </a:xfrm>
              <a:custGeom>
                <a:avLst/>
                <a:gdLst/>
                <a:ahLst/>
                <a:cxnLst/>
                <a:rect l="l" t="t" r="r" b="b"/>
                <a:pathLst>
                  <a:path w="9525" h="9525">
                    <a:moveTo>
                      <a:pt x="0" y="0"/>
                    </a:moveTo>
                    <a:lnTo>
                      <a:pt x="254" y="0"/>
                    </a:lnTo>
                  </a:path>
                </a:pathLst>
              </a:custGeom>
              <a:noFill/>
              <a:ln w="19050">
                <a:solidFill>
                  <a:srgbClr val="004C97"/>
                </a:solidFill>
              </a:ln>
            </p:spPr>
            <p:txBody>
              <a:bodyPr/>
              <a:lstStyle/>
              <a:p>
                <a:endParaRPr lang="en-US"/>
              </a:p>
            </p:txBody>
          </p:sp>
          <p:sp>
            <p:nvSpPr>
              <p:cNvPr id="23" name="Freeform 23"/>
              <p:cNvSpPr/>
              <p:nvPr/>
            </p:nvSpPr>
            <p:spPr>
              <a:xfrm>
                <a:off x="5448300" y="2876550"/>
                <a:ext cx="9525" cy="9525"/>
              </a:xfrm>
              <a:custGeom>
                <a:avLst/>
                <a:gdLst/>
                <a:ahLst/>
                <a:cxnLst/>
                <a:rect l="l" t="t" r="r" b="b"/>
                <a:pathLst>
                  <a:path w="9525" h="9525">
                    <a:moveTo>
                      <a:pt x="0" y="0"/>
                    </a:moveTo>
                    <a:lnTo>
                      <a:pt x="254" y="0"/>
                    </a:lnTo>
                  </a:path>
                </a:pathLst>
              </a:custGeom>
              <a:noFill/>
              <a:ln w="19050">
                <a:solidFill>
                  <a:srgbClr val="004C97"/>
                </a:solidFill>
              </a:ln>
            </p:spPr>
            <p:txBody>
              <a:bodyPr/>
              <a:lstStyle/>
              <a:p>
                <a:endParaRPr lang="en-US"/>
              </a:p>
            </p:txBody>
          </p:sp>
          <p:sp>
            <p:nvSpPr>
              <p:cNvPr id="24" name="Freeform 24"/>
              <p:cNvSpPr/>
              <p:nvPr/>
            </p:nvSpPr>
            <p:spPr>
              <a:xfrm>
                <a:off x="5372100" y="2876550"/>
                <a:ext cx="9525" cy="9525"/>
              </a:xfrm>
              <a:custGeom>
                <a:avLst/>
                <a:gdLst/>
                <a:ahLst/>
                <a:cxnLst/>
                <a:rect l="l" t="t" r="r" b="b"/>
                <a:pathLst>
                  <a:path w="9525" h="9525">
                    <a:moveTo>
                      <a:pt x="0" y="0"/>
                    </a:moveTo>
                    <a:lnTo>
                      <a:pt x="254" y="0"/>
                    </a:lnTo>
                  </a:path>
                </a:pathLst>
              </a:custGeom>
              <a:noFill/>
              <a:ln w="19050">
                <a:solidFill>
                  <a:srgbClr val="004C97"/>
                </a:solidFill>
              </a:ln>
            </p:spPr>
            <p:txBody>
              <a:bodyPr/>
              <a:lstStyle/>
              <a:p>
                <a:endParaRPr lang="en-US"/>
              </a:p>
            </p:txBody>
          </p:sp>
          <p:sp>
            <p:nvSpPr>
              <p:cNvPr id="25" name="Freeform 25"/>
              <p:cNvSpPr/>
              <p:nvPr/>
            </p:nvSpPr>
            <p:spPr>
              <a:xfrm>
                <a:off x="5219700" y="2698750"/>
                <a:ext cx="76200" cy="355600"/>
              </a:xfrm>
              <a:custGeom>
                <a:avLst/>
                <a:gdLst/>
                <a:ahLst/>
                <a:cxnLst/>
                <a:rect l="l" t="t" r="r" b="b"/>
                <a:pathLst>
                  <a:path w="76200" h="355600">
                    <a:moveTo>
                      <a:pt x="76200" y="355600"/>
                    </a:moveTo>
                    <a:cubicBezTo>
                      <a:pt x="48144" y="355600"/>
                      <a:pt x="25400" y="332856"/>
                      <a:pt x="25400" y="304800"/>
                    </a:cubicBezTo>
                    <a:lnTo>
                      <a:pt x="25400" y="203200"/>
                    </a:lnTo>
                    <a:lnTo>
                      <a:pt x="0" y="177800"/>
                    </a:lnTo>
                    <a:lnTo>
                      <a:pt x="25400" y="152400"/>
                    </a:lnTo>
                    <a:lnTo>
                      <a:pt x="25400" y="50800"/>
                    </a:lnTo>
                    <a:cubicBezTo>
                      <a:pt x="25400" y="22744"/>
                      <a:pt x="48144" y="0"/>
                      <a:pt x="76200" y="0"/>
                    </a:cubicBezTo>
                  </a:path>
                </a:pathLst>
              </a:custGeom>
              <a:noFill/>
              <a:ln w="19050">
                <a:solidFill>
                  <a:srgbClr val="004C97"/>
                </a:solidFill>
              </a:ln>
            </p:spPr>
            <p:txBody>
              <a:bodyPr/>
              <a:lstStyle/>
              <a:p>
                <a:endParaRPr lang="en-US"/>
              </a:p>
            </p:txBody>
          </p:sp>
          <p:sp>
            <p:nvSpPr>
              <p:cNvPr id="26" name="Freeform 26"/>
              <p:cNvSpPr/>
              <p:nvPr/>
            </p:nvSpPr>
            <p:spPr>
              <a:xfrm>
                <a:off x="5600700" y="2698750"/>
                <a:ext cx="76200" cy="355600"/>
              </a:xfrm>
              <a:custGeom>
                <a:avLst/>
                <a:gdLst/>
                <a:ahLst/>
                <a:cxnLst/>
                <a:rect l="l" t="t" r="r" b="b"/>
                <a:pathLst>
                  <a:path w="76200" h="355600">
                    <a:moveTo>
                      <a:pt x="0" y="355600"/>
                    </a:moveTo>
                    <a:cubicBezTo>
                      <a:pt x="28056" y="355600"/>
                      <a:pt x="50800" y="332856"/>
                      <a:pt x="50800" y="304800"/>
                    </a:cubicBezTo>
                    <a:lnTo>
                      <a:pt x="50800" y="203200"/>
                    </a:lnTo>
                    <a:lnTo>
                      <a:pt x="76200" y="177800"/>
                    </a:lnTo>
                    <a:lnTo>
                      <a:pt x="50800" y="152400"/>
                    </a:lnTo>
                    <a:lnTo>
                      <a:pt x="50800" y="50800"/>
                    </a:lnTo>
                    <a:cubicBezTo>
                      <a:pt x="50800" y="22744"/>
                      <a:pt x="28056" y="0"/>
                      <a:pt x="0" y="0"/>
                    </a:cubicBezTo>
                  </a:path>
                </a:pathLst>
              </a:custGeom>
              <a:noFill/>
              <a:ln w="19050">
                <a:solidFill>
                  <a:srgbClr val="004C97"/>
                </a:solidFill>
              </a:ln>
            </p:spPr>
            <p:txBody>
              <a:bodyPr/>
              <a:lstStyle/>
              <a:p>
                <a:endParaRPr lang="en-US"/>
              </a:p>
            </p:txBody>
          </p:sp>
        </p:grpSp>
        <p:sp>
          <p:nvSpPr>
            <p:cNvPr id="28" name="TextBox 28"/>
            <p:cNvSpPr txBox="1"/>
            <p:nvPr/>
          </p:nvSpPr>
          <p:spPr>
            <a:xfrm>
              <a:off x="5133022" y="3530441"/>
              <a:ext cx="514367"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PILLAR 2</a:t>
              </a:r>
            </a:p>
          </p:txBody>
        </p:sp>
        <p:sp>
          <p:nvSpPr>
            <p:cNvPr id="29" name="TextBox 29"/>
            <p:cNvSpPr txBox="1"/>
            <p:nvPr/>
          </p:nvSpPr>
          <p:spPr>
            <a:xfrm>
              <a:off x="5118735" y="3713798"/>
              <a:ext cx="961594" cy="396240"/>
            </a:xfrm>
            <a:prstGeom prst="rect">
              <a:avLst/>
            </a:prstGeom>
            <a:noFill/>
            <a:ln>
              <a:noFill/>
            </a:ln>
          </p:spPr>
          <p:txBody>
            <a:bodyPr wrap="none" lIns="0" tIns="0" rIns="0" bIns="0" anchor="t" anchorCtr="0">
              <a:spAutoFit/>
            </a:bodyPr>
            <a:lstStyle/>
            <a:p>
              <a:pPr algn="l"/>
              <a:r>
                <a:rPr lang="zh-CN" sz="1950" b="1" dirty="0">
                  <a:solidFill>
                    <a:srgbClr val="004C97"/>
                  </a:solidFill>
                  <a:latin typeface="Arial Black"/>
                  <a:ea typeface="Microsoft YaHei"/>
                  <a:cs typeface="Arial Black"/>
                </a:rPr>
                <a:t>Native</a:t>
              </a:r>
            </a:p>
          </p:txBody>
        </p:sp>
        <p:sp>
          <p:nvSpPr>
            <p:cNvPr id="30" name="Line 30"/>
            <p:cNvSpPr/>
            <p:nvPr/>
          </p:nvSpPr>
          <p:spPr>
            <a:xfrm>
              <a:off x="5143500" y="4114800"/>
              <a:ext cx="381000" cy="9525"/>
            </a:xfrm>
            <a:custGeom>
              <a:avLst/>
              <a:gdLst/>
              <a:ahLst/>
              <a:cxnLst/>
              <a:rect l="l" t="t" r="r" b="b"/>
              <a:pathLst>
                <a:path w="381000" h="9525">
                  <a:moveTo>
                    <a:pt x="0" y="0"/>
                  </a:moveTo>
                  <a:lnTo>
                    <a:pt x="381000" y="0"/>
                  </a:lnTo>
                </a:path>
              </a:pathLst>
            </a:custGeom>
            <a:noFill/>
            <a:ln w="19050">
              <a:solidFill>
                <a:srgbClr val="004C97"/>
              </a:solidFill>
            </a:ln>
          </p:spPr>
          <p:txBody>
            <a:bodyPr/>
            <a:lstStyle/>
            <a:p>
              <a:endParaRPr lang="en-US"/>
            </a:p>
          </p:txBody>
        </p:sp>
        <p:sp>
          <p:nvSpPr>
            <p:cNvPr id="31" name="TextBox 31"/>
            <p:cNvSpPr txBox="1"/>
            <p:nvPr/>
          </p:nvSpPr>
          <p:spPr>
            <a:xfrm>
              <a:off x="5129212" y="4311260"/>
              <a:ext cx="1247734" cy="173124"/>
            </a:xfrm>
            <a:prstGeom prst="rect">
              <a:avLst/>
            </a:prstGeom>
            <a:noFill/>
            <a:ln>
              <a:noFill/>
            </a:ln>
          </p:spPr>
          <p:txBody>
            <a:bodyPr wrap="square" lIns="0" tIns="0" rIns="0" bIns="0" anchor="t" anchorCtr="0">
              <a:spAutoFit/>
            </a:bodyPr>
            <a:lstStyle/>
            <a:p>
              <a:pPr algn="l"/>
              <a:r>
                <a:rPr lang="en-US" altLang="zh-CN" sz="1125" dirty="0">
                  <a:solidFill>
                    <a:srgbClr val="1F2937"/>
                  </a:solidFill>
                  <a:latin typeface="Arial"/>
                  <a:ea typeface="Microsoft YaHei"/>
                  <a:cs typeface="Arial"/>
                </a:rPr>
                <a:t>Call </a:t>
              </a:r>
              <a:r>
                <a:rPr lang="zh-CN" sz="1125" dirty="0">
                  <a:solidFill>
                    <a:srgbClr val="1F2937"/>
                  </a:solidFill>
                  <a:latin typeface="Arial"/>
                  <a:ea typeface="Microsoft YaHei"/>
                  <a:cs typeface="Arial"/>
                </a:rPr>
                <a:t>iData SDK</a:t>
              </a:r>
            </a:p>
          </p:txBody>
        </p:sp>
        <p:sp>
          <p:nvSpPr>
            <p:cNvPr id="32" name="TextBox 32"/>
            <p:cNvSpPr txBox="1"/>
            <p:nvPr/>
          </p:nvSpPr>
          <p:spPr>
            <a:xfrm>
              <a:off x="5129212" y="4526756"/>
              <a:ext cx="1992035"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directly — no copy-paste</a:t>
              </a:r>
            </a:p>
          </p:txBody>
        </p:sp>
        <p:sp>
          <p:nvSpPr>
            <p:cNvPr id="33" name="TextBox 33"/>
            <p:cNvSpPr txBox="1"/>
            <p:nvPr/>
          </p:nvSpPr>
          <p:spPr>
            <a:xfrm>
              <a:off x="5129212" y="4717256"/>
              <a:ext cx="1811298"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code, no API guessing.</a:t>
              </a:r>
            </a:p>
          </p:txBody>
        </p:sp>
        <p:sp>
          <p:nvSpPr>
            <p:cNvPr id="34" name="TextBox 34"/>
            <p:cNvSpPr txBox="1"/>
            <p:nvPr/>
          </p:nvSpPr>
          <p:spPr>
            <a:xfrm>
              <a:off x="5131118" y="5152549"/>
              <a:ext cx="1954268" cy="198120"/>
            </a:xfrm>
            <a:prstGeom prst="rect">
              <a:avLst/>
            </a:prstGeom>
            <a:noFill/>
            <a:ln>
              <a:noFill/>
            </a:ln>
          </p:spPr>
          <p:txBody>
            <a:bodyPr wrap="none" lIns="0" tIns="0" rIns="0" bIns="0" anchor="t" anchorCtr="0">
              <a:spAutoFit/>
            </a:bodyPr>
            <a:lstStyle/>
            <a:p>
              <a:pPr algn="l"/>
              <a:r>
                <a:rPr lang="zh-CN" sz="975" i="1" dirty="0">
                  <a:solidFill>
                    <a:srgbClr val="5B6470"/>
                  </a:solidFill>
                  <a:latin typeface="Arial"/>
                  <a:ea typeface="Microsoft YaHei"/>
                  <a:cs typeface="Arial"/>
                </a:rPr>
                <a:t>Same tools you already use.</a:t>
              </a:r>
            </a:p>
          </p:txBody>
        </p:sp>
        <p:sp>
          <p:nvSpPr>
            <p:cNvPr id="35" name="TextBox 35"/>
            <p:cNvSpPr txBox="1"/>
            <p:nvPr/>
          </p:nvSpPr>
          <p:spPr>
            <a:xfrm>
              <a:off x="5131118" y="5343049"/>
              <a:ext cx="2068187" cy="198120"/>
            </a:xfrm>
            <a:prstGeom prst="rect">
              <a:avLst/>
            </a:prstGeom>
            <a:noFill/>
            <a:ln>
              <a:noFill/>
            </a:ln>
          </p:spPr>
          <p:txBody>
            <a:bodyPr wrap="none" lIns="0" tIns="0" rIns="0" bIns="0" anchor="t" anchorCtr="0">
              <a:spAutoFit/>
            </a:bodyPr>
            <a:lstStyle/>
            <a:p>
              <a:pPr algn="l"/>
              <a:r>
                <a:rPr lang="zh-CN" sz="975" i="1" dirty="0">
                  <a:solidFill>
                    <a:srgbClr val="5B6470"/>
                  </a:solidFill>
                  <a:latin typeface="Arial"/>
                  <a:ea typeface="Microsoft YaHei"/>
                  <a:cs typeface="Arial"/>
                </a:rPr>
                <a:t>Output drops into your repo.</a:t>
              </a:r>
            </a:p>
          </p:txBody>
        </p:sp>
      </p:grpSp>
      <p:grpSp>
        <p:nvGrpSpPr>
          <p:cNvPr id="51" name="Group 51"/>
          <p:cNvGrpSpPr/>
          <p:nvPr/>
        </p:nvGrpSpPr>
        <p:grpSpPr>
          <a:xfrm>
            <a:off x="9119235" y="2683315"/>
            <a:ext cx="2856904" cy="2857854"/>
            <a:chOff x="9119235" y="2683315"/>
            <a:chExt cx="2856904" cy="2857854"/>
          </a:xfrm>
        </p:grpSpPr>
        <p:grpSp>
          <p:nvGrpSpPr>
            <p:cNvPr id="42" name="Group 42"/>
            <p:cNvGrpSpPr/>
            <p:nvPr/>
          </p:nvGrpSpPr>
          <p:grpSpPr>
            <a:xfrm>
              <a:off x="9220200" y="2683315"/>
              <a:ext cx="466725" cy="371035"/>
              <a:chOff x="9220200" y="2683315"/>
              <a:chExt cx="466725" cy="371035"/>
            </a:xfrm>
          </p:grpSpPr>
          <p:sp>
            <p:nvSpPr>
              <p:cNvPr id="37" name="Freeform 37"/>
              <p:cNvSpPr/>
              <p:nvPr/>
            </p:nvSpPr>
            <p:spPr>
              <a:xfrm>
                <a:off x="9220200" y="3013515"/>
                <a:ext cx="457200" cy="40835"/>
              </a:xfrm>
              <a:custGeom>
                <a:avLst/>
                <a:gdLst/>
                <a:ahLst/>
                <a:cxnLst/>
                <a:rect l="l" t="t" r="r" b="b"/>
                <a:pathLst>
                  <a:path w="457200" h="40835">
                    <a:moveTo>
                      <a:pt x="0" y="40835"/>
                    </a:moveTo>
                    <a:cubicBezTo>
                      <a:pt x="70729" y="0"/>
                      <a:pt x="157871" y="0"/>
                      <a:pt x="228600" y="40835"/>
                    </a:cubicBezTo>
                    <a:cubicBezTo>
                      <a:pt x="299329" y="0"/>
                      <a:pt x="386471" y="0"/>
                      <a:pt x="457200" y="40835"/>
                    </a:cubicBezTo>
                  </a:path>
                </a:pathLst>
              </a:custGeom>
              <a:noFill/>
              <a:ln w="19050">
                <a:solidFill>
                  <a:srgbClr val="004C97"/>
                </a:solidFill>
              </a:ln>
            </p:spPr>
            <p:txBody>
              <a:bodyPr/>
              <a:lstStyle/>
              <a:p>
                <a:endParaRPr lang="en-US"/>
              </a:p>
            </p:txBody>
          </p:sp>
          <p:sp>
            <p:nvSpPr>
              <p:cNvPr id="38" name="Freeform 38"/>
              <p:cNvSpPr/>
              <p:nvPr/>
            </p:nvSpPr>
            <p:spPr>
              <a:xfrm>
                <a:off x="9220200" y="2683315"/>
                <a:ext cx="457200" cy="40835"/>
              </a:xfrm>
              <a:custGeom>
                <a:avLst/>
                <a:gdLst/>
                <a:ahLst/>
                <a:cxnLst/>
                <a:rect l="l" t="t" r="r" b="b"/>
                <a:pathLst>
                  <a:path w="457200" h="40835">
                    <a:moveTo>
                      <a:pt x="0" y="40835"/>
                    </a:moveTo>
                    <a:cubicBezTo>
                      <a:pt x="70729" y="0"/>
                      <a:pt x="157871" y="0"/>
                      <a:pt x="228600" y="40835"/>
                    </a:cubicBezTo>
                    <a:cubicBezTo>
                      <a:pt x="299329" y="0"/>
                      <a:pt x="386471" y="0"/>
                      <a:pt x="457200" y="40835"/>
                    </a:cubicBezTo>
                  </a:path>
                </a:pathLst>
              </a:custGeom>
              <a:noFill/>
              <a:ln w="19050">
                <a:solidFill>
                  <a:srgbClr val="004C97"/>
                </a:solidFill>
              </a:ln>
            </p:spPr>
            <p:txBody>
              <a:bodyPr/>
              <a:lstStyle/>
              <a:p>
                <a:endParaRPr lang="en-US"/>
              </a:p>
            </p:txBody>
          </p:sp>
          <p:sp>
            <p:nvSpPr>
              <p:cNvPr id="39" name="Freeform 39"/>
              <p:cNvSpPr/>
              <p:nvPr/>
            </p:nvSpPr>
            <p:spPr>
              <a:xfrm>
                <a:off x="9220200" y="2724150"/>
                <a:ext cx="9525" cy="330200"/>
              </a:xfrm>
              <a:custGeom>
                <a:avLst/>
                <a:gdLst/>
                <a:ahLst/>
                <a:cxnLst/>
                <a:rect l="l" t="t" r="r" b="b"/>
                <a:pathLst>
                  <a:path w="9525" h="330200">
                    <a:moveTo>
                      <a:pt x="0" y="0"/>
                    </a:moveTo>
                    <a:lnTo>
                      <a:pt x="0" y="330200"/>
                    </a:lnTo>
                  </a:path>
                </a:pathLst>
              </a:custGeom>
              <a:noFill/>
              <a:ln w="19050">
                <a:solidFill>
                  <a:srgbClr val="004C97"/>
                </a:solidFill>
              </a:ln>
            </p:spPr>
            <p:txBody>
              <a:bodyPr/>
              <a:lstStyle/>
              <a:p>
                <a:endParaRPr lang="en-US"/>
              </a:p>
            </p:txBody>
          </p:sp>
          <p:sp>
            <p:nvSpPr>
              <p:cNvPr id="40" name="Freeform 40"/>
              <p:cNvSpPr/>
              <p:nvPr/>
            </p:nvSpPr>
            <p:spPr>
              <a:xfrm>
                <a:off x="9448800" y="2724150"/>
                <a:ext cx="9525" cy="330200"/>
              </a:xfrm>
              <a:custGeom>
                <a:avLst/>
                <a:gdLst/>
                <a:ahLst/>
                <a:cxnLst/>
                <a:rect l="l" t="t" r="r" b="b"/>
                <a:pathLst>
                  <a:path w="9525" h="330200">
                    <a:moveTo>
                      <a:pt x="0" y="0"/>
                    </a:moveTo>
                    <a:lnTo>
                      <a:pt x="0" y="330200"/>
                    </a:lnTo>
                  </a:path>
                </a:pathLst>
              </a:custGeom>
              <a:noFill/>
              <a:ln w="19050">
                <a:solidFill>
                  <a:srgbClr val="004C97"/>
                </a:solidFill>
              </a:ln>
            </p:spPr>
            <p:txBody>
              <a:bodyPr/>
              <a:lstStyle/>
              <a:p>
                <a:endParaRPr lang="en-US"/>
              </a:p>
            </p:txBody>
          </p:sp>
          <p:sp>
            <p:nvSpPr>
              <p:cNvPr id="41" name="Freeform 41"/>
              <p:cNvSpPr/>
              <p:nvPr/>
            </p:nvSpPr>
            <p:spPr>
              <a:xfrm>
                <a:off x="9677400" y="2724150"/>
                <a:ext cx="9525" cy="330200"/>
              </a:xfrm>
              <a:custGeom>
                <a:avLst/>
                <a:gdLst/>
                <a:ahLst/>
                <a:cxnLst/>
                <a:rect l="l" t="t" r="r" b="b"/>
                <a:pathLst>
                  <a:path w="9525" h="330200">
                    <a:moveTo>
                      <a:pt x="0" y="0"/>
                    </a:moveTo>
                    <a:lnTo>
                      <a:pt x="0" y="330200"/>
                    </a:lnTo>
                  </a:path>
                </a:pathLst>
              </a:custGeom>
              <a:noFill/>
              <a:ln w="19050">
                <a:solidFill>
                  <a:srgbClr val="004C97"/>
                </a:solidFill>
              </a:ln>
            </p:spPr>
            <p:txBody>
              <a:bodyPr/>
              <a:lstStyle/>
              <a:p>
                <a:endParaRPr lang="en-US"/>
              </a:p>
            </p:txBody>
          </p:sp>
        </p:grpSp>
        <p:sp>
          <p:nvSpPr>
            <p:cNvPr id="43" name="TextBox 43"/>
            <p:cNvSpPr txBox="1"/>
            <p:nvPr/>
          </p:nvSpPr>
          <p:spPr>
            <a:xfrm>
              <a:off x="9133522" y="3530441"/>
              <a:ext cx="514367"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PILLAR 3</a:t>
              </a:r>
            </a:p>
          </p:txBody>
        </p:sp>
        <p:sp>
          <p:nvSpPr>
            <p:cNvPr id="44" name="TextBox 44"/>
            <p:cNvSpPr txBox="1"/>
            <p:nvPr/>
          </p:nvSpPr>
          <p:spPr>
            <a:xfrm>
              <a:off x="9119235" y="3713798"/>
              <a:ext cx="1888610" cy="396240"/>
            </a:xfrm>
            <a:prstGeom prst="rect">
              <a:avLst/>
            </a:prstGeom>
            <a:noFill/>
            <a:ln>
              <a:noFill/>
            </a:ln>
          </p:spPr>
          <p:txBody>
            <a:bodyPr wrap="none" lIns="0" tIns="0" rIns="0" bIns="0" anchor="t" anchorCtr="0">
              <a:spAutoFit/>
            </a:bodyPr>
            <a:lstStyle/>
            <a:p>
              <a:pPr algn="l"/>
              <a:r>
                <a:rPr lang="zh-CN" sz="1950" b="1" dirty="0">
                  <a:solidFill>
                    <a:srgbClr val="004C97"/>
                  </a:solidFill>
                  <a:latin typeface="Arial Black"/>
                  <a:ea typeface="Microsoft YaHei"/>
                  <a:cs typeface="Arial Black"/>
                </a:rPr>
                <a:t>Institutional</a:t>
              </a:r>
            </a:p>
          </p:txBody>
        </p:sp>
        <p:sp>
          <p:nvSpPr>
            <p:cNvPr id="45" name="Line 45"/>
            <p:cNvSpPr/>
            <p:nvPr/>
          </p:nvSpPr>
          <p:spPr>
            <a:xfrm>
              <a:off x="9144000" y="4114800"/>
              <a:ext cx="381000" cy="9525"/>
            </a:xfrm>
            <a:custGeom>
              <a:avLst/>
              <a:gdLst/>
              <a:ahLst/>
              <a:cxnLst/>
              <a:rect l="l" t="t" r="r" b="b"/>
              <a:pathLst>
                <a:path w="381000" h="9525">
                  <a:moveTo>
                    <a:pt x="0" y="0"/>
                  </a:moveTo>
                  <a:lnTo>
                    <a:pt x="381000" y="0"/>
                  </a:lnTo>
                </a:path>
              </a:pathLst>
            </a:custGeom>
            <a:noFill/>
            <a:ln w="19050">
              <a:solidFill>
                <a:srgbClr val="004C97"/>
              </a:solidFill>
            </a:ln>
          </p:spPr>
          <p:txBody>
            <a:bodyPr/>
            <a:lstStyle/>
            <a:p>
              <a:endParaRPr lang="en-US"/>
            </a:p>
          </p:txBody>
        </p:sp>
        <p:sp>
          <p:nvSpPr>
            <p:cNvPr id="46" name="TextBox 46"/>
            <p:cNvSpPr txBox="1"/>
            <p:nvPr/>
          </p:nvSpPr>
          <p:spPr>
            <a:xfrm>
              <a:off x="9129712" y="4336256"/>
              <a:ext cx="2098834"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Encodes WEO group rules,</a:t>
              </a:r>
            </a:p>
          </p:txBody>
        </p:sp>
        <p:sp>
          <p:nvSpPr>
            <p:cNvPr id="47" name="TextBox 47"/>
            <p:cNvSpPr txBox="1"/>
            <p:nvPr/>
          </p:nvSpPr>
          <p:spPr>
            <a:xfrm>
              <a:off x="9129712" y="4526756"/>
              <a:ext cx="2452092"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LIVE-vs-vintage logic, retired</a:t>
              </a:r>
            </a:p>
          </p:txBody>
        </p:sp>
        <p:sp>
          <p:nvSpPr>
            <p:cNvPr id="48" name="TextBox 48"/>
            <p:cNvSpPr txBox="1"/>
            <p:nvPr/>
          </p:nvSpPr>
          <p:spPr>
            <a:xfrm>
              <a:off x="9129712" y="4717256"/>
              <a:ext cx="2846427"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endpoints, frequency conventions.</a:t>
              </a:r>
            </a:p>
          </p:txBody>
        </p:sp>
        <p:sp>
          <p:nvSpPr>
            <p:cNvPr id="49" name="TextBox 49"/>
            <p:cNvSpPr txBox="1"/>
            <p:nvPr/>
          </p:nvSpPr>
          <p:spPr>
            <a:xfrm>
              <a:off x="9131618" y="5152549"/>
              <a:ext cx="1826109" cy="198120"/>
            </a:xfrm>
            <a:prstGeom prst="rect">
              <a:avLst/>
            </a:prstGeom>
            <a:noFill/>
            <a:ln>
              <a:noFill/>
            </a:ln>
          </p:spPr>
          <p:txBody>
            <a:bodyPr wrap="none" lIns="0" tIns="0" rIns="0" bIns="0" anchor="t" anchorCtr="0">
              <a:spAutoFit/>
            </a:bodyPr>
            <a:lstStyle/>
            <a:p>
              <a:pPr algn="l"/>
              <a:r>
                <a:rPr lang="zh-CN" sz="975" i="1" dirty="0">
                  <a:solidFill>
                    <a:srgbClr val="5B6470"/>
                  </a:solidFill>
                  <a:latin typeface="Arial"/>
                  <a:ea typeface="Microsoft YaHei"/>
                  <a:cs typeface="Arial"/>
                </a:rPr>
                <a:t>Knowledge captured once.</a:t>
              </a:r>
            </a:p>
          </p:txBody>
        </p:sp>
        <p:sp>
          <p:nvSpPr>
            <p:cNvPr id="50" name="TextBox 50"/>
            <p:cNvSpPr txBox="1"/>
            <p:nvPr/>
          </p:nvSpPr>
          <p:spPr>
            <a:xfrm>
              <a:off x="9131618" y="5343049"/>
              <a:ext cx="1705070" cy="198120"/>
            </a:xfrm>
            <a:prstGeom prst="rect">
              <a:avLst/>
            </a:prstGeom>
            <a:noFill/>
            <a:ln>
              <a:noFill/>
            </a:ln>
          </p:spPr>
          <p:txBody>
            <a:bodyPr wrap="none" lIns="0" tIns="0" rIns="0" bIns="0" anchor="t" anchorCtr="0">
              <a:spAutoFit/>
            </a:bodyPr>
            <a:lstStyle/>
            <a:p>
              <a:pPr algn="l"/>
              <a:r>
                <a:rPr lang="zh-CN" sz="975" i="1" dirty="0">
                  <a:solidFill>
                    <a:srgbClr val="5B6470"/>
                  </a:solidFill>
                  <a:latin typeface="Arial"/>
                  <a:ea typeface="Microsoft YaHei"/>
                  <a:cs typeface="Arial"/>
                </a:rPr>
                <a:t>Never re-asked Monday.</a:t>
              </a:r>
            </a:p>
          </p:txBody>
        </p:sp>
      </p:grpSp>
      <p:grpSp>
        <p:nvGrpSpPr>
          <p:cNvPr id="54" name="Group 54"/>
          <p:cNvGrpSpPr/>
          <p:nvPr/>
        </p:nvGrpSpPr>
        <p:grpSpPr>
          <a:xfrm>
            <a:off x="571500" y="6048375"/>
            <a:ext cx="11049000" cy="552450"/>
            <a:chOff x="571500" y="6048375"/>
            <a:chExt cx="11049000" cy="552450"/>
          </a:xfrm>
        </p:grpSpPr>
        <p:sp>
          <p:nvSpPr>
            <p:cNvPr id="52" name="Line 52"/>
            <p:cNvSpPr/>
            <p:nvPr/>
          </p:nvSpPr>
          <p:spPr>
            <a:xfrm>
              <a:off x="571500" y="6048375"/>
              <a:ext cx="11049000" cy="9525"/>
            </a:xfrm>
            <a:custGeom>
              <a:avLst/>
              <a:gdLst/>
              <a:ahLst/>
              <a:cxnLst/>
              <a:rect l="l" t="t" r="r" b="b"/>
              <a:pathLst>
                <a:path w="11049000" h="9525">
                  <a:moveTo>
                    <a:pt x="0" y="0"/>
                  </a:moveTo>
                  <a:lnTo>
                    <a:pt x="11049000" y="0"/>
                  </a:lnTo>
                </a:path>
              </a:pathLst>
            </a:custGeom>
            <a:noFill/>
            <a:ln w="9525">
              <a:solidFill>
                <a:srgbClr val="CDD7E2"/>
              </a:solidFill>
            </a:ln>
          </p:spPr>
          <p:txBody>
            <a:bodyPr/>
            <a:lstStyle/>
            <a:p>
              <a:endParaRPr lang="en-US"/>
            </a:p>
          </p:txBody>
        </p:sp>
        <p:sp>
          <p:nvSpPr>
            <p:cNvPr id="53" name="TextBox 53"/>
            <p:cNvSpPr txBox="1"/>
            <p:nvPr/>
          </p:nvSpPr>
          <p:spPr>
            <a:xfrm>
              <a:off x="3059192" y="6296025"/>
              <a:ext cx="6073616" cy="304800"/>
            </a:xfrm>
            <a:prstGeom prst="rect">
              <a:avLst/>
            </a:prstGeom>
            <a:noFill/>
            <a:ln>
              <a:noFill/>
            </a:ln>
          </p:spPr>
          <p:txBody>
            <a:bodyPr wrap="none" lIns="0" tIns="0" rIns="0" bIns="0" anchor="t" anchorCtr="0">
              <a:spAutoFit/>
            </a:bodyPr>
            <a:lstStyle/>
            <a:p>
              <a:pPr algn="ctr"/>
              <a:r>
                <a:rPr lang="zh-CN" sz="1500" i="1" dirty="0">
                  <a:solidFill>
                    <a:srgbClr val="004C97"/>
                  </a:solidFill>
                  <a:latin typeface="Arial Black"/>
                  <a:ea typeface="Microsoft YaHei"/>
                  <a:cs typeface="Arial Black"/>
                </a:rPr>
                <a:t>Discovery </a:t>
              </a:r>
              <a:r>
                <a:rPr lang="zh-CN" sz="1500" b="1" i="1" dirty="0">
                  <a:solidFill>
                    <a:srgbClr val="707372"/>
                  </a:solidFill>
                  <a:latin typeface="Arial Black"/>
                  <a:ea typeface="Microsoft YaHei"/>
                  <a:cs typeface="Arial Black"/>
                </a:rPr>
                <a:t>→</a:t>
              </a:r>
              <a:r>
                <a:rPr lang="zh-CN" sz="1500" i="1" dirty="0">
                  <a:solidFill>
                    <a:srgbClr val="004C97"/>
                  </a:solidFill>
                  <a:latin typeface="Arial Black"/>
                  <a:ea typeface="Microsoft YaHei"/>
                  <a:cs typeface="Arial Black"/>
                </a:rPr>
                <a:t> fetch </a:t>
              </a:r>
              <a:r>
                <a:rPr lang="zh-CN" sz="1500" b="1" i="1" dirty="0">
                  <a:solidFill>
                    <a:srgbClr val="707372"/>
                  </a:solidFill>
                  <a:latin typeface="Arial Black"/>
                  <a:ea typeface="Microsoft YaHei"/>
                  <a:cs typeface="Arial Black"/>
                </a:rPr>
                <a:t>→</a:t>
              </a:r>
              <a:r>
                <a:rPr lang="zh-CN" sz="1500" i="1" dirty="0">
                  <a:solidFill>
                    <a:srgbClr val="004C97"/>
                  </a:solidFill>
                  <a:latin typeface="Arial Black"/>
                  <a:ea typeface="Microsoft YaHei"/>
                  <a:cs typeface="Arial Black"/>
                </a:rPr>
                <a:t> tidy </a:t>
              </a:r>
              <a:r>
                <a:rPr lang="zh-CN" sz="1500" b="1" i="1" dirty="0">
                  <a:solidFill>
                    <a:srgbClr val="707372"/>
                  </a:solidFill>
                  <a:latin typeface="Arial Black"/>
                  <a:ea typeface="Microsoft YaHei"/>
                  <a:cs typeface="Arial Black"/>
                </a:rPr>
                <a:t>→</a:t>
              </a:r>
              <a:r>
                <a:rPr lang="zh-CN" sz="1500" i="1" dirty="0">
                  <a:solidFill>
                    <a:srgbClr val="004C97"/>
                  </a:solidFill>
                  <a:latin typeface="Arial Black"/>
                  <a:ea typeface="Microsoft YaHei"/>
                  <a:cs typeface="Arial Black"/>
                </a:rPr>
                <a:t> chart. Chained, not stitched.</a:t>
              </a:r>
            </a:p>
          </p:txBody>
        </p:sp>
      </p:grpSp>
      <p:grpSp>
        <p:nvGrpSpPr>
          <p:cNvPr id="57" name="Group 57"/>
          <p:cNvGrpSpPr/>
          <p:nvPr/>
        </p:nvGrpSpPr>
        <p:grpSpPr>
          <a:xfrm>
            <a:off x="561022" y="6654641"/>
            <a:ext cx="11069956" cy="167640"/>
            <a:chOff x="561022" y="6654641"/>
            <a:chExt cx="11069956" cy="167640"/>
          </a:xfrm>
        </p:grpSpPr>
        <p:sp>
          <p:nvSpPr>
            <p:cNvPr id="55" name="TextBox 55"/>
            <p:cNvSpPr txBox="1"/>
            <p:nvPr/>
          </p:nvSpPr>
          <p:spPr>
            <a:xfrm>
              <a:off x="561022" y="6654641"/>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56" name="TextBox 56"/>
            <p:cNvSpPr txBox="1"/>
            <p:nvPr/>
          </p:nvSpPr>
          <p:spPr>
            <a:xfrm>
              <a:off x="11236500" y="6654641"/>
              <a:ext cx="394478" cy="167640"/>
            </a:xfrm>
            <a:prstGeom prst="rect">
              <a:avLst/>
            </a:prstGeom>
            <a:noFill/>
            <a:ln>
              <a:noFill/>
            </a:ln>
          </p:spPr>
          <p:txBody>
            <a:bodyPr wrap="none" lIns="0" tIns="0" rIns="0" bIns="0" anchor="t" anchorCtr="0">
              <a:spAutoFit/>
            </a:bodyPr>
            <a:lstStyle/>
            <a:p>
              <a:pPr algn="r"/>
              <a:r>
                <a:rPr lang="zh-CN" sz="825" dirty="0">
                  <a:solidFill>
                    <a:srgbClr val="9AA3AE"/>
                  </a:solidFill>
                  <a:latin typeface="Arial"/>
                  <a:ea typeface="Microsoft YaHei"/>
                  <a:cs typeface="Arial"/>
                </a:rPr>
                <a:t>03 / 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edge">
                                      <p:cBhvr>
                                        <p:cTn id="11" dur="400"/>
                                        <p:tgtEl>
                                          <p:spTgt spid="21"/>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heel(4)">
                                      <p:cBhvr>
                                        <p:cTn id="15" dur="400"/>
                                        <p:tgtEl>
                                          <p:spTgt spid="36"/>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wipe(left)">
                                      <p:cBhvr>
                                        <p:cTn id="19" dur="400"/>
                                        <p:tgtEl>
                                          <p:spTgt spid="51"/>
                                        </p:tgtEl>
                                      </p:cBhvr>
                                    </p:animEffect>
                                  </p:childTnLst>
                                </p:cTn>
                              </p:par>
                            </p:childTnLst>
                          </p:cTn>
                        </p:par>
                        <p:par>
                          <p:cTn id="20" fill="hold">
                            <p:stCondLst>
                              <p:cond delay="3600"/>
                            </p:stCondLst>
                            <p:childTnLst>
                              <p:par>
                                <p:cTn id="21" presetID="50" presetClass="entr" presetSubtype="0" fill="hold" nodeType="afterEffect">
                                  <p:stCondLst>
                                    <p:cond delay="0"/>
                                  </p:stCondLst>
                                  <p:childTnLst>
                                    <p:set>
                                      <p:cBhvr>
                                        <p:cTn id="22" dur="1" fill="hold">
                                          <p:stCondLst>
                                            <p:cond delay="0"/>
                                          </p:stCondLst>
                                        </p:cTn>
                                        <p:tgtEl>
                                          <p:spTgt spid="54"/>
                                        </p:tgtEl>
                                        <p:attrNameLst>
                                          <p:attrName>style.visibility</p:attrName>
                                        </p:attrNameLst>
                                      </p:cBhvr>
                                      <p:to>
                                        <p:strVal val="visible"/>
                                      </p:to>
                                    </p:set>
                                    <p:animEffect transition="in" filter="stretch(across)">
                                      <p:cBhvr>
                                        <p:cTn id="23"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p:bldP spid="36" grpId="0"/>
      <p:bldP spid="51" grpId="0"/>
      <p:bldP spid="5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grpSp>
        <p:nvGrpSpPr>
          <p:cNvPr id="6" name="Group 6"/>
          <p:cNvGrpSpPr/>
          <p:nvPr/>
        </p:nvGrpSpPr>
        <p:grpSpPr>
          <a:xfrm>
            <a:off x="541020" y="569595"/>
            <a:ext cx="3667811" cy="954405"/>
            <a:chOff x="541020" y="569595"/>
            <a:chExt cx="3667811" cy="954405"/>
          </a:xfrm>
        </p:grpSpPr>
        <p:sp>
          <p:nvSpPr>
            <p:cNvPr id="3" name="TextBox 3"/>
            <p:cNvSpPr txBox="1"/>
            <p:nvPr/>
          </p:nvSpPr>
          <p:spPr>
            <a:xfrm>
              <a:off x="560070" y="569595"/>
              <a:ext cx="1161502" cy="182880"/>
            </a:xfrm>
            <a:prstGeom prst="rect">
              <a:avLst/>
            </a:prstGeom>
            <a:noFill/>
            <a:ln>
              <a:noFill/>
            </a:ln>
          </p:spPr>
          <p:txBody>
            <a:bodyPr wrap="none" lIns="0" tIns="0" rIns="0" bIns="0" anchor="t" anchorCtr="0">
              <a:spAutoFit/>
            </a:bodyPr>
            <a:lstStyle/>
            <a:p>
              <a:pPr algn="l"/>
              <a:r>
                <a:rPr lang="zh-CN" sz="900" b="1" dirty="0">
                  <a:solidFill>
                    <a:srgbClr val="707372"/>
                  </a:solidFill>
                  <a:latin typeface="Arial"/>
                  <a:ea typeface="Microsoft YaHei"/>
                  <a:cs typeface="Arial"/>
                </a:rPr>
                <a:t>03 · THE PROJECT</a:t>
              </a:r>
            </a:p>
          </p:txBody>
        </p:sp>
        <p:sp>
          <p:nvSpPr>
            <p:cNvPr id="4" name="TextBox 4"/>
            <p:cNvSpPr txBox="1"/>
            <p:nvPr/>
          </p:nvSpPr>
          <p:spPr>
            <a:xfrm>
              <a:off x="541020" y="836295"/>
              <a:ext cx="3667811" cy="487680"/>
            </a:xfrm>
            <a:prstGeom prst="rect">
              <a:avLst/>
            </a:prstGeom>
            <a:noFill/>
            <a:ln>
              <a:noFill/>
            </a:ln>
          </p:spPr>
          <p:txBody>
            <a:bodyPr wrap="none" lIns="0" tIns="0" rIns="0" bIns="0" anchor="t" anchorCtr="0">
              <a:spAutoFit/>
            </a:bodyPr>
            <a:lstStyle/>
            <a:p>
              <a:pPr algn="l"/>
              <a:r>
                <a:rPr lang="zh-CN" sz="2400" b="1" dirty="0">
                  <a:solidFill>
                    <a:srgbClr val="004C97"/>
                  </a:solidFill>
                  <a:latin typeface="Arial Black"/>
                  <a:ea typeface="Microsoft YaHei"/>
                  <a:cs typeface="Arial Black"/>
                </a:rPr>
                <a:t>Introducing RA Skills</a:t>
              </a:r>
            </a:p>
          </p:txBody>
        </p:sp>
        <p:sp>
          <p:nvSpPr>
            <p:cNvPr id="5" name="TextBox 5"/>
            <p:cNvSpPr txBox="1"/>
            <p:nvPr/>
          </p:nvSpPr>
          <p:spPr>
            <a:xfrm>
              <a:off x="556260" y="1280160"/>
              <a:ext cx="2685669" cy="243840"/>
            </a:xfrm>
            <a:prstGeom prst="rect">
              <a:avLst/>
            </a:prstGeom>
            <a:noFill/>
            <a:ln>
              <a:noFill/>
            </a:ln>
          </p:spPr>
          <p:txBody>
            <a:bodyPr wrap="none" lIns="0" tIns="0" rIns="0" bIns="0" anchor="t" anchorCtr="0">
              <a:spAutoFit/>
            </a:bodyPr>
            <a:lstStyle/>
            <a:p>
              <a:pPr algn="l"/>
              <a:r>
                <a:rPr lang="zh-CN" sz="1200" i="1" dirty="0">
                  <a:solidFill>
                    <a:srgbClr val="5B6470"/>
                  </a:solidFill>
                  <a:latin typeface="Arial"/>
                  <a:ea typeface="Microsoft YaHei"/>
                  <a:cs typeface="Arial"/>
                </a:rPr>
                <a:t>Plain English in. Real iData out.</a:t>
              </a:r>
            </a:p>
          </p:txBody>
        </p:sp>
      </p:grpSp>
      <p:grpSp>
        <p:nvGrpSpPr>
          <p:cNvPr id="22" name="Group 22"/>
          <p:cNvGrpSpPr/>
          <p:nvPr/>
        </p:nvGrpSpPr>
        <p:grpSpPr>
          <a:xfrm>
            <a:off x="571500" y="1857375"/>
            <a:ext cx="4286250" cy="4095750"/>
            <a:chOff x="571500" y="1857375"/>
            <a:chExt cx="4286250" cy="4095750"/>
          </a:xfrm>
        </p:grpSpPr>
        <p:sp>
          <p:nvSpPr>
            <p:cNvPr id="7" name="Rectangle 7"/>
            <p:cNvSpPr/>
            <p:nvPr/>
          </p:nvSpPr>
          <p:spPr>
            <a:xfrm>
              <a:off x="571500" y="1857375"/>
              <a:ext cx="4286250" cy="4095750"/>
            </a:xfrm>
            <a:prstGeom prst="roundRect">
              <a:avLst>
                <a:gd name="adj" fmla="val 2326"/>
              </a:avLst>
            </a:prstGeom>
            <a:solidFill>
              <a:srgbClr val="EAF6FD"/>
            </a:solidFill>
            <a:ln>
              <a:noFill/>
            </a:ln>
          </p:spPr>
          <p:txBody>
            <a:bodyPr/>
            <a:lstStyle/>
            <a:p>
              <a:endParaRPr lang="en-US"/>
            </a:p>
          </p:txBody>
        </p:sp>
        <p:sp>
          <p:nvSpPr>
            <p:cNvPr id="8" name="TextBox 8"/>
            <p:cNvSpPr txBox="1"/>
            <p:nvPr/>
          </p:nvSpPr>
          <p:spPr>
            <a:xfrm>
              <a:off x="808672" y="2139791"/>
              <a:ext cx="615579"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WHAT IT IS</a:t>
              </a:r>
            </a:p>
          </p:txBody>
        </p:sp>
        <p:sp>
          <p:nvSpPr>
            <p:cNvPr id="9" name="TextBox 9"/>
            <p:cNvSpPr txBox="1"/>
            <p:nvPr/>
          </p:nvSpPr>
          <p:spPr>
            <a:xfrm>
              <a:off x="804862" y="2450306"/>
              <a:ext cx="2953226"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A family of project-local Claude Code</a:t>
              </a:r>
            </a:p>
          </p:txBody>
        </p:sp>
        <p:sp>
          <p:nvSpPr>
            <p:cNvPr id="10" name="TextBox 10"/>
            <p:cNvSpPr txBox="1"/>
            <p:nvPr/>
          </p:nvSpPr>
          <p:spPr>
            <a:xfrm>
              <a:off x="804862" y="2659856"/>
              <a:ext cx="2854642" cy="228600"/>
            </a:xfrm>
            <a:prstGeom prst="rect">
              <a:avLst/>
            </a:prstGeom>
            <a:noFill/>
            <a:ln>
              <a:noFill/>
            </a:ln>
          </p:spPr>
          <p:txBody>
            <a:bodyPr wrap="none" lIns="0" tIns="0" rIns="0" bIns="0" anchor="t" anchorCtr="0">
              <a:spAutoFit/>
            </a:bodyPr>
            <a:lstStyle/>
            <a:p>
              <a:pPr algn="l"/>
              <a:r>
                <a:rPr lang="zh-CN" sz="1125" dirty="0">
                  <a:solidFill>
                    <a:srgbClr val="1F2937"/>
                  </a:solidFill>
                  <a:latin typeface="Arial"/>
                  <a:ea typeface="Microsoft YaHei"/>
                  <a:cs typeface="Arial"/>
                </a:rPr>
                <a:t>skills for IMF Research Assistants.</a:t>
              </a:r>
            </a:p>
          </p:txBody>
        </p:sp>
        <p:sp>
          <p:nvSpPr>
            <p:cNvPr id="11" name="Line 11"/>
            <p:cNvSpPr/>
            <p:nvPr/>
          </p:nvSpPr>
          <p:spPr>
            <a:xfrm>
              <a:off x="819150" y="3124200"/>
              <a:ext cx="381000" cy="9525"/>
            </a:xfrm>
            <a:custGeom>
              <a:avLst/>
              <a:gdLst/>
              <a:ahLst/>
              <a:cxnLst/>
              <a:rect l="l" t="t" r="r" b="b"/>
              <a:pathLst>
                <a:path w="381000" h="9525">
                  <a:moveTo>
                    <a:pt x="0" y="0"/>
                  </a:moveTo>
                  <a:lnTo>
                    <a:pt x="381000" y="0"/>
                  </a:lnTo>
                </a:path>
              </a:pathLst>
            </a:custGeom>
            <a:noFill/>
            <a:ln w="19050">
              <a:solidFill>
                <a:srgbClr val="004C97"/>
              </a:solidFill>
            </a:ln>
          </p:spPr>
          <p:txBody>
            <a:bodyPr/>
            <a:lstStyle/>
            <a:p>
              <a:endParaRPr lang="en-US"/>
            </a:p>
          </p:txBody>
        </p:sp>
        <p:sp>
          <p:nvSpPr>
            <p:cNvPr id="12" name="TextBox 12"/>
            <p:cNvSpPr txBox="1"/>
            <p:nvPr/>
          </p:nvSpPr>
          <p:spPr>
            <a:xfrm>
              <a:off x="806768" y="3323749"/>
              <a:ext cx="1019064"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Where it lives</a:t>
              </a:r>
            </a:p>
          </p:txBody>
        </p:sp>
        <p:sp>
          <p:nvSpPr>
            <p:cNvPr id="13" name="TextBox 13"/>
            <p:cNvSpPr txBox="1"/>
            <p:nvPr/>
          </p:nvSpPr>
          <p:spPr>
            <a:xfrm>
              <a:off x="806768" y="3533299"/>
              <a:ext cx="1057156" cy="198120"/>
            </a:xfrm>
            <a:prstGeom prst="rect">
              <a:avLst/>
            </a:prstGeom>
            <a:noFill/>
            <a:ln>
              <a:noFill/>
            </a:ln>
          </p:spPr>
          <p:txBody>
            <a:bodyPr wrap="none" lIns="0" tIns="0" rIns="0" bIns="0" anchor="t" anchorCtr="0">
              <a:spAutoFit/>
            </a:bodyPr>
            <a:lstStyle/>
            <a:p>
              <a:pPr algn="l"/>
              <a:r>
                <a:rPr lang="zh-CN" sz="975" dirty="0">
                  <a:solidFill>
                    <a:srgbClr val="009CDE"/>
                  </a:solidFill>
                  <a:latin typeface="Consolas"/>
                  <a:ea typeface="Microsoft YaHei"/>
                  <a:cs typeface="Consolas"/>
                </a:rPr>
                <a:t>.claude/skills/</a:t>
              </a:r>
            </a:p>
          </p:txBody>
        </p:sp>
        <p:sp>
          <p:nvSpPr>
            <p:cNvPr id="14" name="TextBox 14"/>
            <p:cNvSpPr txBox="1"/>
            <p:nvPr/>
          </p:nvSpPr>
          <p:spPr>
            <a:xfrm>
              <a:off x="806768" y="3723799"/>
              <a:ext cx="2516743"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in the analyst's repo. Auto-loaded.</a:t>
              </a:r>
            </a:p>
          </p:txBody>
        </p:sp>
        <p:sp>
          <p:nvSpPr>
            <p:cNvPr id="15" name="TextBox 15"/>
            <p:cNvSpPr txBox="1"/>
            <p:nvPr/>
          </p:nvSpPr>
          <p:spPr>
            <a:xfrm>
              <a:off x="806768" y="4142899"/>
              <a:ext cx="398562"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Input</a:t>
              </a:r>
            </a:p>
          </p:txBody>
        </p:sp>
        <p:sp>
          <p:nvSpPr>
            <p:cNvPr id="16" name="TextBox 16"/>
            <p:cNvSpPr txBox="1"/>
            <p:nvPr/>
          </p:nvSpPr>
          <p:spPr>
            <a:xfrm>
              <a:off x="806768" y="4352449"/>
              <a:ext cx="1249394" cy="198120"/>
            </a:xfrm>
            <a:prstGeom prst="rect">
              <a:avLst/>
            </a:prstGeom>
            <a:noFill/>
            <a:ln>
              <a:noFill/>
            </a:ln>
          </p:spPr>
          <p:txBody>
            <a:bodyPr wrap="none" lIns="0" tIns="0" rIns="0" bIns="0" anchor="t" anchorCtr="0">
              <a:spAutoFit/>
            </a:bodyPr>
            <a:lstStyle/>
            <a:p>
              <a:pPr algn="l"/>
              <a:r>
                <a:rPr lang="zh-CN" sz="975" i="1" dirty="0">
                  <a:solidFill>
                    <a:srgbClr val="5B6470"/>
                  </a:solidFill>
                  <a:latin typeface="Arial"/>
                  <a:ea typeface="Microsoft YaHei"/>
                  <a:cs typeface="Arial"/>
                </a:rPr>
                <a:t>Natural language.</a:t>
              </a:r>
            </a:p>
          </p:txBody>
        </p:sp>
        <p:sp>
          <p:nvSpPr>
            <p:cNvPr id="17" name="TextBox 17"/>
            <p:cNvSpPr txBox="1"/>
            <p:nvPr/>
          </p:nvSpPr>
          <p:spPr>
            <a:xfrm>
              <a:off x="806768" y="4752499"/>
              <a:ext cx="548080"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Output</a:t>
              </a:r>
            </a:p>
          </p:txBody>
        </p:sp>
        <p:sp>
          <p:nvSpPr>
            <p:cNvPr id="18" name="TextBox 18"/>
            <p:cNvSpPr txBox="1"/>
            <p:nvPr/>
          </p:nvSpPr>
          <p:spPr>
            <a:xfrm>
              <a:off x="806768" y="4962049"/>
              <a:ext cx="2118027"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Refreshable Excel · wide CSV ·</a:t>
              </a:r>
            </a:p>
          </p:txBody>
        </p:sp>
        <p:sp>
          <p:nvSpPr>
            <p:cNvPr id="19" name="TextBox 19"/>
            <p:cNvSpPr txBox="1"/>
            <p:nvPr/>
          </p:nvSpPr>
          <p:spPr>
            <a:xfrm>
              <a:off x="806768" y="5152549"/>
              <a:ext cx="1726430"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long CSV · </a:t>
              </a:r>
              <a:r>
                <a:rPr lang="zh-CN" sz="975" b="1" dirty="0">
                  <a:solidFill>
                    <a:srgbClr val="707372"/>
                  </a:solidFill>
                  <a:latin typeface="Arial"/>
                  <a:ea typeface="Microsoft YaHei"/>
                  <a:cs typeface="Arial"/>
                </a:rPr>
                <a:t>(soon) chart</a:t>
              </a:r>
              <a:r>
                <a:rPr lang="zh-CN" sz="975" dirty="0">
                  <a:solidFill>
                    <a:srgbClr val="5B6470"/>
                  </a:solidFill>
                  <a:latin typeface="Arial"/>
                  <a:ea typeface="Microsoft YaHei"/>
                  <a:cs typeface="Arial"/>
                </a:rPr>
                <a:t>.</a:t>
              </a:r>
            </a:p>
          </p:txBody>
        </p:sp>
        <p:sp>
          <p:nvSpPr>
            <p:cNvPr id="20" name="Line 20"/>
            <p:cNvSpPr/>
            <p:nvPr/>
          </p:nvSpPr>
          <p:spPr>
            <a:xfrm>
              <a:off x="819150" y="5572125"/>
              <a:ext cx="3467100" cy="9525"/>
            </a:xfrm>
            <a:custGeom>
              <a:avLst/>
              <a:gdLst/>
              <a:ahLst/>
              <a:cxnLst/>
              <a:rect l="l" t="t" r="r" b="b"/>
              <a:pathLst>
                <a:path w="3467100" h="9525">
                  <a:moveTo>
                    <a:pt x="0" y="0"/>
                  </a:moveTo>
                  <a:lnTo>
                    <a:pt x="3467100" y="0"/>
                  </a:lnTo>
                </a:path>
              </a:pathLst>
            </a:custGeom>
            <a:noFill/>
            <a:ln w="9525">
              <a:solidFill>
                <a:srgbClr val="CDD7E2"/>
              </a:solidFill>
            </a:ln>
          </p:spPr>
          <p:txBody>
            <a:bodyPr/>
            <a:lstStyle/>
            <a:p>
              <a:endParaRPr lang="en-US"/>
            </a:p>
          </p:txBody>
        </p:sp>
        <p:sp>
          <p:nvSpPr>
            <p:cNvPr id="21" name="TextBox 21"/>
            <p:cNvSpPr txBox="1"/>
            <p:nvPr/>
          </p:nvSpPr>
          <p:spPr>
            <a:xfrm>
              <a:off x="807720" y="5713095"/>
              <a:ext cx="2487454" cy="182880"/>
            </a:xfrm>
            <a:prstGeom prst="rect">
              <a:avLst/>
            </a:prstGeom>
            <a:noFill/>
            <a:ln>
              <a:noFill/>
            </a:ln>
          </p:spPr>
          <p:txBody>
            <a:bodyPr wrap="none" lIns="0" tIns="0" rIns="0" bIns="0" anchor="t" anchorCtr="0">
              <a:spAutoFit/>
            </a:bodyPr>
            <a:lstStyle/>
            <a:p>
              <a:pPr algn="l"/>
              <a:r>
                <a:rPr lang="zh-CN" sz="900" i="1" dirty="0">
                  <a:solidFill>
                    <a:srgbClr val="5B6470"/>
                  </a:solidFill>
                  <a:latin typeface="Arial"/>
                  <a:ea typeface="Microsoft YaHei"/>
                  <a:cs typeface="Arial"/>
                </a:rPr>
                <a:t>Built on Anthropic Claude Code + Skills.</a:t>
              </a:r>
            </a:p>
          </p:txBody>
        </p:sp>
      </p:grpSp>
      <p:grpSp>
        <p:nvGrpSpPr>
          <p:cNvPr id="84" name="Group 84"/>
          <p:cNvGrpSpPr/>
          <p:nvPr/>
        </p:nvGrpSpPr>
        <p:grpSpPr>
          <a:xfrm>
            <a:off x="5007595" y="2139791"/>
            <a:ext cx="6422405" cy="3994309"/>
            <a:chOff x="5007595" y="2139791"/>
            <a:chExt cx="6422405" cy="3994309"/>
          </a:xfrm>
        </p:grpSpPr>
        <p:sp>
          <p:nvSpPr>
            <p:cNvPr id="23" name="TextBox 23"/>
            <p:cNvSpPr txBox="1"/>
            <p:nvPr/>
          </p:nvSpPr>
          <p:spPr>
            <a:xfrm>
              <a:off x="6180772" y="2139791"/>
              <a:ext cx="862285"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HOW IT FLOWS</a:t>
              </a:r>
            </a:p>
          </p:txBody>
        </p:sp>
        <p:grpSp>
          <p:nvGrpSpPr>
            <p:cNvPr id="27" name="Group 27"/>
            <p:cNvGrpSpPr/>
            <p:nvPr/>
          </p:nvGrpSpPr>
          <p:grpSpPr>
            <a:xfrm>
              <a:off x="5007595" y="2571750"/>
              <a:ext cx="3826303" cy="762000"/>
              <a:chOff x="5007595" y="2571750"/>
              <a:chExt cx="3826303" cy="762000"/>
            </a:xfrm>
          </p:grpSpPr>
          <p:sp>
            <p:nvSpPr>
              <p:cNvPr id="24" name="Rectangle 24"/>
              <p:cNvSpPr/>
              <p:nvPr/>
            </p:nvSpPr>
            <p:spPr>
              <a:xfrm>
                <a:off x="5334000" y="2571750"/>
                <a:ext cx="3352324" cy="762000"/>
              </a:xfrm>
              <a:prstGeom prst="roundRect">
                <a:avLst>
                  <a:gd name="adj" fmla="val 12500"/>
                </a:avLst>
              </a:prstGeom>
              <a:solidFill>
                <a:srgbClr val="FFFFFF"/>
              </a:solidFill>
              <a:ln w="14288">
                <a:solidFill>
                  <a:srgbClr val="CDD7E2"/>
                </a:solidFill>
              </a:ln>
            </p:spPr>
            <p:txBody>
              <a:bodyPr/>
              <a:lstStyle/>
              <a:p>
                <a:endParaRPr lang="en-US"/>
              </a:p>
            </p:txBody>
          </p:sp>
          <p:sp>
            <p:nvSpPr>
              <p:cNvPr id="25" name="TextBox 25"/>
              <p:cNvSpPr txBox="1"/>
              <p:nvPr/>
            </p:nvSpPr>
            <p:spPr>
              <a:xfrm>
                <a:off x="6205600" y="2741667"/>
                <a:ext cx="1381000" cy="167640"/>
              </a:xfrm>
              <a:prstGeom prst="rect">
                <a:avLst/>
              </a:prstGeom>
              <a:noFill/>
              <a:ln>
                <a:noFill/>
              </a:ln>
            </p:spPr>
            <p:txBody>
              <a:bodyPr wrap="none" lIns="0" tIns="0" rIns="0" bIns="0" anchor="t" anchorCtr="0">
                <a:spAutoFit/>
              </a:bodyPr>
              <a:lstStyle/>
              <a:p>
                <a:pPr algn="ctr"/>
                <a:r>
                  <a:rPr lang="zh-CN" sz="825" b="1" dirty="0">
                    <a:solidFill>
                      <a:srgbClr val="5B6470"/>
                    </a:solidFill>
                    <a:latin typeface="Arial"/>
                    <a:ea typeface="Microsoft YaHei"/>
                    <a:cs typeface="Arial"/>
                  </a:rPr>
                  <a:t>PLAIN ENGLISH REQUEST</a:t>
                </a:r>
              </a:p>
            </p:txBody>
          </p:sp>
          <p:sp>
            <p:nvSpPr>
              <p:cNvPr id="26" name="TextBox 26"/>
              <p:cNvSpPr txBox="1"/>
              <p:nvPr/>
            </p:nvSpPr>
            <p:spPr>
              <a:xfrm>
                <a:off x="5007595" y="3010852"/>
                <a:ext cx="3826303" cy="161583"/>
              </a:xfrm>
              <a:prstGeom prst="rect">
                <a:avLst/>
              </a:prstGeom>
              <a:noFill/>
              <a:ln>
                <a:noFill/>
              </a:ln>
            </p:spPr>
            <p:txBody>
              <a:bodyPr wrap="square" lIns="0" tIns="0" rIns="0" bIns="0" anchor="t" anchorCtr="0">
                <a:spAutoFit/>
              </a:bodyPr>
              <a:lstStyle/>
              <a:p>
                <a:pPr algn="ctr"/>
                <a:r>
                  <a:rPr lang="zh-CN" sz="1050" i="1" dirty="0">
                    <a:solidFill>
                      <a:srgbClr val="004C97"/>
                    </a:solidFill>
                    <a:latin typeface="Arial"/>
                    <a:ea typeface="Microsoft YaHei"/>
                    <a:cs typeface="Arial"/>
                  </a:rPr>
                  <a:t>“</a:t>
                </a:r>
                <a:r>
                  <a:rPr lang="en-US" altLang="zh-CN" sz="1050" i="1" dirty="0">
                    <a:solidFill>
                      <a:srgbClr val="004C97"/>
                    </a:solidFill>
                    <a:latin typeface="Arial"/>
                    <a:ea typeface="Microsoft YaHei"/>
                    <a:cs typeface="Arial"/>
                  </a:rPr>
                  <a:t>Please </a:t>
                </a:r>
                <a:r>
                  <a:rPr lang="zh-CN" sz="1050" i="1" dirty="0">
                    <a:solidFill>
                      <a:srgbClr val="004C97"/>
                    </a:solidFill>
                    <a:latin typeface="Arial"/>
                    <a:ea typeface="Microsoft YaHei"/>
                    <a:cs typeface="Arial"/>
                  </a:rPr>
                  <a:t>Pull real GDP growth</a:t>
                </a:r>
                <a:r>
                  <a:rPr lang="en-US" altLang="zh-CN" sz="1050" i="1" dirty="0">
                    <a:solidFill>
                      <a:srgbClr val="004C97"/>
                    </a:solidFill>
                    <a:latin typeface="Arial"/>
                    <a:ea typeface="Microsoft YaHei"/>
                    <a:cs typeface="Arial"/>
                  </a:rPr>
                  <a:t> data from WEO LIVE</a:t>
                </a:r>
                <a:r>
                  <a:rPr lang="zh-CN" sz="1050" i="1" dirty="0">
                    <a:solidFill>
                      <a:srgbClr val="004C97"/>
                    </a:solidFill>
                    <a:latin typeface="Arial"/>
                    <a:ea typeface="Microsoft YaHei"/>
                    <a:cs typeface="Arial"/>
                  </a:rPr>
                  <a:t>…"</a:t>
                </a:r>
              </a:p>
            </p:txBody>
          </p:sp>
        </p:grpSp>
        <p:sp>
          <p:nvSpPr>
            <p:cNvPr id="28" name="Line 28"/>
            <p:cNvSpPr/>
            <p:nvPr/>
          </p:nvSpPr>
          <p:spPr>
            <a:xfrm>
              <a:off x="6667500" y="3409950"/>
              <a:ext cx="1" cy="352425"/>
            </a:xfrm>
            <a:prstGeom prst="line">
              <a:avLst/>
            </a:prstGeom>
            <a:noFill/>
            <a:ln w="23812">
              <a:solidFill>
                <a:srgbClr val="707372"/>
              </a:solidFill>
              <a:tailEnd type="triangle" w="lg" len="lg"/>
            </a:ln>
          </p:spPr>
          <p:txBody>
            <a:bodyPr/>
            <a:lstStyle/>
            <a:p>
              <a:endParaRPr lang="en-US"/>
            </a:p>
          </p:txBody>
        </p:sp>
        <p:grpSp>
          <p:nvGrpSpPr>
            <p:cNvPr id="55" name="Group 55"/>
            <p:cNvGrpSpPr/>
            <p:nvPr/>
          </p:nvGrpSpPr>
          <p:grpSpPr>
            <a:xfrm>
              <a:off x="5334000" y="3857625"/>
              <a:ext cx="6096000" cy="1143000"/>
              <a:chOff x="5334000" y="3857625"/>
              <a:chExt cx="6096000" cy="1143000"/>
            </a:xfrm>
          </p:grpSpPr>
          <p:sp>
            <p:nvSpPr>
              <p:cNvPr id="29" name="Rectangle 29"/>
              <p:cNvSpPr/>
              <p:nvPr/>
            </p:nvSpPr>
            <p:spPr>
              <a:xfrm>
                <a:off x="5334000" y="3857625"/>
                <a:ext cx="6096000" cy="1143000"/>
              </a:xfrm>
              <a:prstGeom prst="roundRect">
                <a:avLst>
                  <a:gd name="adj" fmla="val 8333"/>
                </a:avLst>
              </a:prstGeom>
              <a:solidFill>
                <a:srgbClr val="004C97"/>
              </a:solidFill>
              <a:ln>
                <a:noFill/>
              </a:ln>
            </p:spPr>
            <p:txBody>
              <a:bodyPr/>
              <a:lstStyle/>
              <a:p>
                <a:endParaRPr lang="en-US" dirty="0"/>
              </a:p>
            </p:txBody>
          </p:sp>
          <p:grpSp>
            <p:nvGrpSpPr>
              <p:cNvPr id="40" name="Group 40"/>
              <p:cNvGrpSpPr/>
              <p:nvPr/>
            </p:nvGrpSpPr>
            <p:grpSpPr>
              <a:xfrm>
                <a:off x="5638800" y="4171950"/>
                <a:ext cx="342900" cy="342900"/>
                <a:chOff x="5638800" y="4171950"/>
                <a:chExt cx="342900" cy="342900"/>
              </a:xfrm>
            </p:grpSpPr>
            <p:sp>
              <p:nvSpPr>
                <p:cNvPr id="30" name="Freeform 30"/>
                <p:cNvSpPr/>
                <p:nvPr/>
              </p:nvSpPr>
              <p:spPr>
                <a:xfrm>
                  <a:off x="5676900" y="4210050"/>
                  <a:ext cx="266700" cy="266700"/>
                </a:xfrm>
                <a:custGeom>
                  <a:avLst/>
                  <a:gdLst/>
                  <a:ahLst/>
                  <a:cxnLst/>
                  <a:rect l="l" t="t" r="r" b="b"/>
                  <a:pathLst>
                    <a:path w="266700" h="266700">
                      <a:moveTo>
                        <a:pt x="0" y="19050"/>
                      </a:moveTo>
                      <a:cubicBezTo>
                        <a:pt x="0" y="8529"/>
                        <a:pt x="8529" y="0"/>
                        <a:pt x="19050" y="0"/>
                      </a:cubicBezTo>
                      <a:lnTo>
                        <a:pt x="247650" y="0"/>
                      </a:lnTo>
                      <a:cubicBezTo>
                        <a:pt x="258171" y="0"/>
                        <a:pt x="266700" y="8529"/>
                        <a:pt x="266700" y="19050"/>
                      </a:cubicBezTo>
                      <a:lnTo>
                        <a:pt x="266700" y="247650"/>
                      </a:lnTo>
                      <a:cubicBezTo>
                        <a:pt x="266700" y="258171"/>
                        <a:pt x="258171" y="266700"/>
                        <a:pt x="247650" y="266700"/>
                      </a:cubicBezTo>
                      <a:lnTo>
                        <a:pt x="19050" y="266700"/>
                      </a:lnTo>
                      <a:cubicBezTo>
                        <a:pt x="8529" y="266700"/>
                        <a:pt x="0" y="258171"/>
                        <a:pt x="0" y="247650"/>
                      </a:cubicBezTo>
                      <a:lnTo>
                        <a:pt x="0" y="19050"/>
                      </a:lnTo>
                    </a:path>
                  </a:pathLst>
                </a:custGeom>
                <a:noFill/>
                <a:ln w="19050">
                  <a:solidFill>
                    <a:srgbClr val="FFFFFF"/>
                  </a:solidFill>
                </a:ln>
              </p:spPr>
              <p:txBody>
                <a:bodyPr/>
                <a:lstStyle/>
                <a:p>
                  <a:endParaRPr lang="en-US"/>
                </a:p>
              </p:txBody>
            </p:sp>
            <p:sp>
              <p:nvSpPr>
                <p:cNvPr id="31" name="Freeform 31"/>
                <p:cNvSpPr/>
                <p:nvPr/>
              </p:nvSpPr>
              <p:spPr>
                <a:xfrm>
                  <a:off x="5753100" y="4286250"/>
                  <a:ext cx="114300" cy="114300"/>
                </a:xfrm>
                <a:custGeom>
                  <a:avLst/>
                  <a:gdLst/>
                  <a:ahLst/>
                  <a:cxnLst/>
                  <a:rect l="l" t="t" r="r" b="b"/>
                  <a:pathLst>
                    <a:path w="114300" h="114300">
                      <a:moveTo>
                        <a:pt x="0" y="0"/>
                      </a:moveTo>
                      <a:lnTo>
                        <a:pt x="114300" y="0"/>
                      </a:lnTo>
                      <a:lnTo>
                        <a:pt x="114300" y="114300"/>
                      </a:lnTo>
                      <a:lnTo>
                        <a:pt x="0" y="114300"/>
                      </a:lnTo>
                      <a:lnTo>
                        <a:pt x="0" y="0"/>
                      </a:lnTo>
                    </a:path>
                  </a:pathLst>
                </a:custGeom>
                <a:noFill/>
                <a:ln w="19050">
                  <a:solidFill>
                    <a:srgbClr val="FFFFFF"/>
                  </a:solidFill>
                </a:ln>
              </p:spPr>
              <p:txBody>
                <a:bodyPr/>
                <a:lstStyle/>
                <a:p>
                  <a:endParaRPr lang="en-US"/>
                </a:p>
              </p:txBody>
            </p:sp>
            <p:sp>
              <p:nvSpPr>
                <p:cNvPr id="32" name="Freeform 32"/>
                <p:cNvSpPr/>
                <p:nvPr/>
              </p:nvSpPr>
              <p:spPr>
                <a:xfrm>
                  <a:off x="5638800" y="4305300"/>
                  <a:ext cx="38100" cy="9525"/>
                </a:xfrm>
                <a:custGeom>
                  <a:avLst/>
                  <a:gdLst/>
                  <a:ahLst/>
                  <a:cxnLst/>
                  <a:rect l="l" t="t" r="r" b="b"/>
                  <a:pathLst>
                    <a:path w="38100" h="9525">
                      <a:moveTo>
                        <a:pt x="0" y="0"/>
                      </a:moveTo>
                      <a:lnTo>
                        <a:pt x="38100" y="0"/>
                      </a:lnTo>
                    </a:path>
                  </a:pathLst>
                </a:custGeom>
                <a:noFill/>
                <a:ln w="19050">
                  <a:solidFill>
                    <a:srgbClr val="FFFFFF"/>
                  </a:solidFill>
                </a:ln>
              </p:spPr>
              <p:txBody>
                <a:bodyPr/>
                <a:lstStyle/>
                <a:p>
                  <a:endParaRPr lang="en-US"/>
                </a:p>
              </p:txBody>
            </p:sp>
            <p:sp>
              <p:nvSpPr>
                <p:cNvPr id="33" name="Freeform 33"/>
                <p:cNvSpPr/>
                <p:nvPr/>
              </p:nvSpPr>
              <p:spPr>
                <a:xfrm>
                  <a:off x="5638800" y="4381500"/>
                  <a:ext cx="38100" cy="9525"/>
                </a:xfrm>
                <a:custGeom>
                  <a:avLst/>
                  <a:gdLst/>
                  <a:ahLst/>
                  <a:cxnLst/>
                  <a:rect l="l" t="t" r="r" b="b"/>
                  <a:pathLst>
                    <a:path w="38100" h="9525">
                      <a:moveTo>
                        <a:pt x="0" y="0"/>
                      </a:moveTo>
                      <a:lnTo>
                        <a:pt x="38100" y="0"/>
                      </a:lnTo>
                    </a:path>
                  </a:pathLst>
                </a:custGeom>
                <a:noFill/>
                <a:ln w="19050">
                  <a:solidFill>
                    <a:srgbClr val="FFFFFF"/>
                  </a:solidFill>
                </a:ln>
              </p:spPr>
              <p:txBody>
                <a:bodyPr/>
                <a:lstStyle/>
                <a:p>
                  <a:endParaRPr lang="en-US"/>
                </a:p>
              </p:txBody>
            </p:sp>
            <p:sp>
              <p:nvSpPr>
                <p:cNvPr id="34" name="Freeform 34"/>
                <p:cNvSpPr/>
                <p:nvPr/>
              </p:nvSpPr>
              <p:spPr>
                <a:xfrm>
                  <a:off x="5772150" y="4171950"/>
                  <a:ext cx="9525" cy="38100"/>
                </a:xfrm>
                <a:custGeom>
                  <a:avLst/>
                  <a:gdLst/>
                  <a:ahLst/>
                  <a:cxnLst/>
                  <a:rect l="l" t="t" r="r" b="b"/>
                  <a:pathLst>
                    <a:path w="9525" h="38100">
                      <a:moveTo>
                        <a:pt x="0" y="0"/>
                      </a:moveTo>
                      <a:lnTo>
                        <a:pt x="0" y="38100"/>
                      </a:lnTo>
                    </a:path>
                  </a:pathLst>
                </a:custGeom>
                <a:noFill/>
                <a:ln w="19050">
                  <a:solidFill>
                    <a:srgbClr val="FFFFFF"/>
                  </a:solidFill>
                </a:ln>
              </p:spPr>
              <p:txBody>
                <a:bodyPr/>
                <a:lstStyle/>
                <a:p>
                  <a:endParaRPr lang="en-US"/>
                </a:p>
              </p:txBody>
            </p:sp>
            <p:sp>
              <p:nvSpPr>
                <p:cNvPr id="35" name="Freeform 35"/>
                <p:cNvSpPr/>
                <p:nvPr/>
              </p:nvSpPr>
              <p:spPr>
                <a:xfrm>
                  <a:off x="5848350" y="4171950"/>
                  <a:ext cx="9525" cy="38100"/>
                </a:xfrm>
                <a:custGeom>
                  <a:avLst/>
                  <a:gdLst/>
                  <a:ahLst/>
                  <a:cxnLst/>
                  <a:rect l="l" t="t" r="r" b="b"/>
                  <a:pathLst>
                    <a:path w="9525" h="38100">
                      <a:moveTo>
                        <a:pt x="0" y="0"/>
                      </a:moveTo>
                      <a:lnTo>
                        <a:pt x="0" y="38100"/>
                      </a:lnTo>
                    </a:path>
                  </a:pathLst>
                </a:custGeom>
                <a:noFill/>
                <a:ln w="19050">
                  <a:solidFill>
                    <a:srgbClr val="FFFFFF"/>
                  </a:solidFill>
                </a:ln>
              </p:spPr>
              <p:txBody>
                <a:bodyPr/>
                <a:lstStyle/>
                <a:p>
                  <a:endParaRPr lang="en-US"/>
                </a:p>
              </p:txBody>
            </p:sp>
            <p:sp>
              <p:nvSpPr>
                <p:cNvPr id="36" name="Freeform 36"/>
                <p:cNvSpPr/>
                <p:nvPr/>
              </p:nvSpPr>
              <p:spPr>
                <a:xfrm>
                  <a:off x="5943600" y="4305300"/>
                  <a:ext cx="38100" cy="9525"/>
                </a:xfrm>
                <a:custGeom>
                  <a:avLst/>
                  <a:gdLst/>
                  <a:ahLst/>
                  <a:cxnLst/>
                  <a:rect l="l" t="t" r="r" b="b"/>
                  <a:pathLst>
                    <a:path w="38100" h="9525">
                      <a:moveTo>
                        <a:pt x="38100" y="0"/>
                      </a:moveTo>
                      <a:lnTo>
                        <a:pt x="0" y="0"/>
                      </a:lnTo>
                    </a:path>
                  </a:pathLst>
                </a:custGeom>
                <a:noFill/>
                <a:ln w="19050">
                  <a:solidFill>
                    <a:srgbClr val="FFFFFF"/>
                  </a:solidFill>
                </a:ln>
              </p:spPr>
              <p:txBody>
                <a:bodyPr/>
                <a:lstStyle/>
                <a:p>
                  <a:endParaRPr lang="en-US"/>
                </a:p>
              </p:txBody>
            </p:sp>
            <p:sp>
              <p:nvSpPr>
                <p:cNvPr id="37" name="Freeform 37"/>
                <p:cNvSpPr/>
                <p:nvPr/>
              </p:nvSpPr>
              <p:spPr>
                <a:xfrm>
                  <a:off x="5943600" y="4381500"/>
                  <a:ext cx="38100" cy="9525"/>
                </a:xfrm>
                <a:custGeom>
                  <a:avLst/>
                  <a:gdLst/>
                  <a:ahLst/>
                  <a:cxnLst/>
                  <a:rect l="l" t="t" r="r" b="b"/>
                  <a:pathLst>
                    <a:path w="38100" h="9525">
                      <a:moveTo>
                        <a:pt x="38100" y="0"/>
                      </a:moveTo>
                      <a:lnTo>
                        <a:pt x="0" y="0"/>
                      </a:lnTo>
                    </a:path>
                  </a:pathLst>
                </a:custGeom>
                <a:noFill/>
                <a:ln w="19050">
                  <a:solidFill>
                    <a:srgbClr val="FFFFFF"/>
                  </a:solidFill>
                </a:ln>
              </p:spPr>
              <p:txBody>
                <a:bodyPr/>
                <a:lstStyle/>
                <a:p>
                  <a:endParaRPr lang="en-US"/>
                </a:p>
              </p:txBody>
            </p:sp>
            <p:sp>
              <p:nvSpPr>
                <p:cNvPr id="38" name="Freeform 38"/>
                <p:cNvSpPr/>
                <p:nvPr/>
              </p:nvSpPr>
              <p:spPr>
                <a:xfrm>
                  <a:off x="5848350" y="4476750"/>
                  <a:ext cx="9525" cy="38100"/>
                </a:xfrm>
                <a:custGeom>
                  <a:avLst/>
                  <a:gdLst/>
                  <a:ahLst/>
                  <a:cxnLst/>
                  <a:rect l="l" t="t" r="r" b="b"/>
                  <a:pathLst>
                    <a:path w="9525" h="38100">
                      <a:moveTo>
                        <a:pt x="0" y="38100"/>
                      </a:moveTo>
                      <a:lnTo>
                        <a:pt x="0" y="0"/>
                      </a:lnTo>
                    </a:path>
                  </a:pathLst>
                </a:custGeom>
                <a:noFill/>
                <a:ln w="19050">
                  <a:solidFill>
                    <a:srgbClr val="FFFFFF"/>
                  </a:solidFill>
                </a:ln>
              </p:spPr>
              <p:txBody>
                <a:bodyPr/>
                <a:lstStyle/>
                <a:p>
                  <a:endParaRPr lang="en-US"/>
                </a:p>
              </p:txBody>
            </p:sp>
            <p:sp>
              <p:nvSpPr>
                <p:cNvPr id="39" name="Freeform 39"/>
                <p:cNvSpPr/>
                <p:nvPr/>
              </p:nvSpPr>
              <p:spPr>
                <a:xfrm>
                  <a:off x="5772150" y="4476750"/>
                  <a:ext cx="9525" cy="38100"/>
                </a:xfrm>
                <a:custGeom>
                  <a:avLst/>
                  <a:gdLst/>
                  <a:ahLst/>
                  <a:cxnLst/>
                  <a:rect l="l" t="t" r="r" b="b"/>
                  <a:pathLst>
                    <a:path w="9525" h="38100">
                      <a:moveTo>
                        <a:pt x="0" y="38100"/>
                      </a:moveTo>
                      <a:lnTo>
                        <a:pt x="0" y="0"/>
                      </a:lnTo>
                    </a:path>
                  </a:pathLst>
                </a:custGeom>
                <a:noFill/>
                <a:ln w="19050">
                  <a:solidFill>
                    <a:srgbClr val="FFFFFF"/>
                  </a:solidFill>
                </a:ln>
              </p:spPr>
              <p:txBody>
                <a:bodyPr/>
                <a:lstStyle/>
                <a:p>
                  <a:endParaRPr lang="en-US"/>
                </a:p>
              </p:txBody>
            </p:sp>
          </p:grpSp>
          <p:sp>
            <p:nvSpPr>
              <p:cNvPr id="41" name="TextBox 41"/>
              <p:cNvSpPr txBox="1"/>
              <p:nvPr/>
            </p:nvSpPr>
            <p:spPr>
              <a:xfrm>
                <a:off x="6180772" y="4197191"/>
                <a:ext cx="969824" cy="167640"/>
              </a:xfrm>
              <a:prstGeom prst="rect">
                <a:avLst/>
              </a:prstGeom>
              <a:noFill/>
              <a:ln>
                <a:noFill/>
              </a:ln>
            </p:spPr>
            <p:txBody>
              <a:bodyPr wrap="none" lIns="0" tIns="0" rIns="0" bIns="0" anchor="t" anchorCtr="0">
                <a:spAutoFit/>
              </a:bodyPr>
              <a:lstStyle/>
              <a:p>
                <a:pPr algn="l"/>
                <a:r>
                  <a:rPr lang="zh-CN" sz="825" b="1" dirty="0">
                    <a:solidFill>
                      <a:srgbClr val="FFFFFF"/>
                    </a:solidFill>
                    <a:latin typeface="Arial"/>
                    <a:ea typeface="Microsoft YaHei"/>
                    <a:cs typeface="Arial"/>
                  </a:rPr>
                  <a:t>RA SKILLS AGENT</a:t>
                </a:r>
              </a:p>
            </p:txBody>
          </p:sp>
          <p:sp>
            <p:nvSpPr>
              <p:cNvPr id="42" name="TextBox 42"/>
              <p:cNvSpPr txBox="1"/>
              <p:nvPr/>
            </p:nvSpPr>
            <p:spPr>
              <a:xfrm>
                <a:off x="6172200" y="4429125"/>
                <a:ext cx="3672554"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Black"/>
                    <a:ea typeface="Microsoft YaHei"/>
                    <a:cs typeface="Arial Black"/>
                  </a:rPr>
                  <a:t>imf-ra · catalog · data · charts</a:t>
                </a:r>
              </a:p>
            </p:txBody>
          </p:sp>
          <p:grpSp>
            <p:nvGrpSpPr>
              <p:cNvPr id="45" name="Group 45"/>
              <p:cNvGrpSpPr/>
              <p:nvPr/>
            </p:nvGrpSpPr>
            <p:grpSpPr>
              <a:xfrm>
                <a:off x="5581650" y="4667250"/>
                <a:ext cx="1314450" cy="230981"/>
                <a:chOff x="5581650" y="4667250"/>
                <a:chExt cx="1314450" cy="230981"/>
              </a:xfrm>
            </p:grpSpPr>
            <p:sp>
              <p:nvSpPr>
                <p:cNvPr id="43" name="Rectangle 43"/>
                <p:cNvSpPr/>
                <p:nvPr/>
              </p:nvSpPr>
              <p:spPr>
                <a:xfrm>
                  <a:off x="5581650" y="4667250"/>
                  <a:ext cx="1314450" cy="209550"/>
                </a:xfrm>
                <a:prstGeom prst="roundRect">
                  <a:avLst>
                    <a:gd name="adj" fmla="val 18182"/>
                  </a:avLst>
                </a:prstGeom>
                <a:solidFill>
                  <a:srgbClr val="FFFFFF">
                    <a:alpha val="10000"/>
                  </a:srgbClr>
                </a:solidFill>
                <a:ln>
                  <a:noFill/>
                </a:ln>
              </p:spPr>
              <p:txBody>
                <a:bodyPr/>
                <a:lstStyle/>
                <a:p>
                  <a:endParaRPr lang="en-US"/>
                </a:p>
              </p:txBody>
            </p:sp>
            <p:sp>
              <p:nvSpPr>
                <p:cNvPr id="44" name="TextBox 44"/>
                <p:cNvSpPr txBox="1"/>
                <p:nvPr/>
              </p:nvSpPr>
              <p:spPr>
                <a:xfrm>
                  <a:off x="6032599" y="4730591"/>
                  <a:ext cx="412552"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Consolas"/>
                      <a:ea typeface="Microsoft YaHei"/>
                      <a:cs typeface="Consolas"/>
                    </a:rPr>
                    <a:t>imf-ra</a:t>
                  </a:r>
                </a:p>
              </p:txBody>
            </p:sp>
          </p:grpSp>
          <p:grpSp>
            <p:nvGrpSpPr>
              <p:cNvPr id="48" name="Group 48"/>
              <p:cNvGrpSpPr/>
              <p:nvPr/>
            </p:nvGrpSpPr>
            <p:grpSpPr>
              <a:xfrm>
                <a:off x="6991350" y="4667250"/>
                <a:ext cx="1314450" cy="230981"/>
                <a:chOff x="6991350" y="4667250"/>
                <a:chExt cx="1314450" cy="230981"/>
              </a:xfrm>
            </p:grpSpPr>
            <p:sp>
              <p:nvSpPr>
                <p:cNvPr id="46" name="Rectangle 46"/>
                <p:cNvSpPr/>
                <p:nvPr/>
              </p:nvSpPr>
              <p:spPr>
                <a:xfrm>
                  <a:off x="6991350" y="4667250"/>
                  <a:ext cx="1314450" cy="209550"/>
                </a:xfrm>
                <a:prstGeom prst="roundRect">
                  <a:avLst>
                    <a:gd name="adj" fmla="val 18182"/>
                  </a:avLst>
                </a:prstGeom>
                <a:solidFill>
                  <a:srgbClr val="FFFFFF">
                    <a:alpha val="10000"/>
                  </a:srgbClr>
                </a:solidFill>
                <a:ln>
                  <a:noFill/>
                </a:ln>
              </p:spPr>
              <p:txBody>
                <a:bodyPr/>
                <a:lstStyle/>
                <a:p>
                  <a:endParaRPr lang="en-US"/>
                </a:p>
              </p:txBody>
            </p:sp>
            <p:sp>
              <p:nvSpPr>
                <p:cNvPr id="47" name="TextBox 47"/>
                <p:cNvSpPr txBox="1"/>
                <p:nvPr/>
              </p:nvSpPr>
              <p:spPr>
                <a:xfrm>
                  <a:off x="7192280" y="4730591"/>
                  <a:ext cx="912590"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Consolas"/>
                      <a:ea typeface="Microsoft YaHei"/>
                      <a:cs typeface="Consolas"/>
                    </a:rPr>
                    <a:t>imf-ra-catalog</a:t>
                  </a:r>
                </a:p>
              </p:txBody>
            </p:sp>
          </p:grpSp>
          <p:grpSp>
            <p:nvGrpSpPr>
              <p:cNvPr id="51" name="Group 51"/>
              <p:cNvGrpSpPr/>
              <p:nvPr/>
            </p:nvGrpSpPr>
            <p:grpSpPr>
              <a:xfrm>
                <a:off x="8401050" y="4667250"/>
                <a:ext cx="1314450" cy="230981"/>
                <a:chOff x="8401050" y="4667250"/>
                <a:chExt cx="1314450" cy="230981"/>
              </a:xfrm>
            </p:grpSpPr>
            <p:sp>
              <p:nvSpPr>
                <p:cNvPr id="49" name="Rectangle 49"/>
                <p:cNvSpPr/>
                <p:nvPr/>
              </p:nvSpPr>
              <p:spPr>
                <a:xfrm>
                  <a:off x="8401050" y="4667250"/>
                  <a:ext cx="1314450" cy="209550"/>
                </a:xfrm>
                <a:prstGeom prst="roundRect">
                  <a:avLst>
                    <a:gd name="adj" fmla="val 18182"/>
                  </a:avLst>
                </a:prstGeom>
                <a:solidFill>
                  <a:srgbClr val="FFFFFF">
                    <a:alpha val="10000"/>
                  </a:srgbClr>
                </a:solidFill>
                <a:ln>
                  <a:noFill/>
                </a:ln>
              </p:spPr>
              <p:txBody>
                <a:bodyPr/>
                <a:lstStyle/>
                <a:p>
                  <a:endParaRPr lang="en-US"/>
                </a:p>
              </p:txBody>
            </p:sp>
            <p:sp>
              <p:nvSpPr>
                <p:cNvPr id="50" name="TextBox 50"/>
                <p:cNvSpPr txBox="1"/>
                <p:nvPr/>
              </p:nvSpPr>
              <p:spPr>
                <a:xfrm>
                  <a:off x="8686324" y="4730591"/>
                  <a:ext cx="743902"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Consolas"/>
                      <a:ea typeface="Microsoft YaHei"/>
                      <a:cs typeface="Consolas"/>
                    </a:rPr>
                    <a:t>imf-ra-data</a:t>
                  </a:r>
                </a:p>
              </p:txBody>
            </p:sp>
          </p:grpSp>
          <p:grpSp>
            <p:nvGrpSpPr>
              <p:cNvPr id="54" name="Group 54"/>
              <p:cNvGrpSpPr/>
              <p:nvPr/>
            </p:nvGrpSpPr>
            <p:grpSpPr>
              <a:xfrm>
                <a:off x="9810750" y="4667250"/>
                <a:ext cx="1314450" cy="230981"/>
                <a:chOff x="9810750" y="4667250"/>
                <a:chExt cx="1314450" cy="230981"/>
              </a:xfrm>
            </p:grpSpPr>
            <p:sp>
              <p:nvSpPr>
                <p:cNvPr id="52" name="Rectangle 52"/>
                <p:cNvSpPr/>
                <p:nvPr/>
              </p:nvSpPr>
              <p:spPr>
                <a:xfrm>
                  <a:off x="9810750" y="4667250"/>
                  <a:ext cx="1314450" cy="209550"/>
                </a:xfrm>
                <a:prstGeom prst="roundRect">
                  <a:avLst>
                    <a:gd name="adj" fmla="val 18182"/>
                  </a:avLst>
                </a:prstGeom>
                <a:solidFill>
                  <a:srgbClr val="FFFFFF">
                    <a:alpha val="10000"/>
                  </a:srgbClr>
                </a:solidFill>
                <a:ln w="9525">
                  <a:solidFill>
                    <a:schemeClr val="bg1"/>
                  </a:solidFill>
                  <a:custDash>
                    <a:ds d="300000" sp="200000"/>
                  </a:custDash>
                </a:ln>
              </p:spPr>
              <p:txBody>
                <a:bodyPr/>
                <a:lstStyle/>
                <a:p>
                  <a:endParaRPr lang="en-US"/>
                </a:p>
              </p:txBody>
            </p:sp>
            <p:sp>
              <p:nvSpPr>
                <p:cNvPr id="53" name="TextBox 53"/>
                <p:cNvSpPr txBox="1"/>
                <p:nvPr/>
              </p:nvSpPr>
              <p:spPr>
                <a:xfrm>
                  <a:off x="10029754" y="4730591"/>
                  <a:ext cx="876443" cy="167640"/>
                </a:xfrm>
                <a:prstGeom prst="rect">
                  <a:avLst/>
                </a:prstGeom>
                <a:noFill/>
                <a:ln>
                  <a:noFill/>
                </a:ln>
              </p:spPr>
              <p:txBody>
                <a:bodyPr wrap="none" lIns="0" tIns="0" rIns="0" bIns="0" anchor="t" anchorCtr="0">
                  <a:spAutoFit/>
                </a:bodyPr>
                <a:lstStyle/>
                <a:p>
                  <a:pPr algn="ctr"/>
                  <a:r>
                    <a:rPr lang="zh-CN" sz="825" dirty="0">
                      <a:solidFill>
                        <a:srgbClr val="FFFFFF"/>
                      </a:solidFill>
                      <a:latin typeface="Consolas"/>
                      <a:ea typeface="Microsoft YaHei"/>
                      <a:cs typeface="Consolas"/>
                    </a:rPr>
                    <a:t>imf-ra-charts</a:t>
                  </a:r>
                </a:p>
              </p:txBody>
            </p:sp>
          </p:grpSp>
        </p:grpSp>
        <p:sp>
          <p:nvSpPr>
            <p:cNvPr id="56" name="Line 56"/>
            <p:cNvSpPr/>
            <p:nvPr/>
          </p:nvSpPr>
          <p:spPr>
            <a:xfrm>
              <a:off x="6667500" y="5095875"/>
              <a:ext cx="1" cy="352425"/>
            </a:xfrm>
            <a:prstGeom prst="line">
              <a:avLst/>
            </a:prstGeom>
            <a:noFill/>
            <a:ln w="23812">
              <a:solidFill>
                <a:srgbClr val="707372"/>
              </a:solidFill>
              <a:tailEnd type="triangle" w="lg" len="lg"/>
            </a:ln>
          </p:spPr>
          <p:txBody>
            <a:bodyPr/>
            <a:lstStyle/>
            <a:p>
              <a:endParaRPr lang="en-US"/>
            </a:p>
          </p:txBody>
        </p:sp>
        <p:grpSp>
          <p:nvGrpSpPr>
            <p:cNvPr id="83" name="Group 83"/>
            <p:cNvGrpSpPr/>
            <p:nvPr/>
          </p:nvGrpSpPr>
          <p:grpSpPr>
            <a:xfrm>
              <a:off x="5334000" y="5543550"/>
              <a:ext cx="6096000" cy="590550"/>
              <a:chOff x="5334000" y="5543550"/>
              <a:chExt cx="6096000" cy="590550"/>
            </a:xfrm>
          </p:grpSpPr>
          <p:sp>
            <p:nvSpPr>
              <p:cNvPr id="57" name="Rectangle 57"/>
              <p:cNvSpPr/>
              <p:nvPr/>
            </p:nvSpPr>
            <p:spPr>
              <a:xfrm>
                <a:off x="5334000" y="5543550"/>
                <a:ext cx="1905000" cy="590550"/>
              </a:xfrm>
              <a:prstGeom prst="roundRect">
                <a:avLst>
                  <a:gd name="adj" fmla="val 12903"/>
                </a:avLst>
              </a:prstGeom>
              <a:solidFill>
                <a:srgbClr val="FFFFFF"/>
              </a:solidFill>
              <a:ln w="14288">
                <a:solidFill>
                  <a:srgbClr val="CDD7E2"/>
                </a:solidFill>
              </a:ln>
            </p:spPr>
            <p:txBody>
              <a:bodyPr/>
              <a:lstStyle/>
              <a:p>
                <a:endParaRPr lang="en-US"/>
              </a:p>
            </p:txBody>
          </p:sp>
          <p:grpSp>
            <p:nvGrpSpPr>
              <p:cNvPr id="63" name="Group 63"/>
              <p:cNvGrpSpPr/>
              <p:nvPr/>
            </p:nvGrpSpPr>
            <p:grpSpPr>
              <a:xfrm>
                <a:off x="5553869" y="5717381"/>
                <a:ext cx="188912" cy="242888"/>
                <a:chOff x="5553869" y="5717381"/>
                <a:chExt cx="188912" cy="242888"/>
              </a:xfrm>
            </p:grpSpPr>
            <p:sp>
              <p:nvSpPr>
                <p:cNvPr id="58" name="Freeform 58"/>
                <p:cNvSpPr/>
                <p:nvPr/>
              </p:nvSpPr>
              <p:spPr>
                <a:xfrm>
                  <a:off x="5675312" y="5717381"/>
                  <a:ext cx="67469" cy="67469"/>
                </a:xfrm>
                <a:custGeom>
                  <a:avLst/>
                  <a:gdLst/>
                  <a:ahLst/>
                  <a:cxnLst/>
                  <a:rect l="l" t="t" r="r" b="b"/>
                  <a:pathLst>
                    <a:path w="67469" h="67469">
                      <a:moveTo>
                        <a:pt x="0" y="0"/>
                      </a:moveTo>
                      <a:lnTo>
                        <a:pt x="0" y="53975"/>
                      </a:lnTo>
                      <a:cubicBezTo>
                        <a:pt x="0" y="61427"/>
                        <a:pt x="6041" y="67469"/>
                        <a:pt x="13494" y="67469"/>
                      </a:cubicBezTo>
                      <a:lnTo>
                        <a:pt x="67469" y="67469"/>
                      </a:lnTo>
                    </a:path>
                  </a:pathLst>
                </a:custGeom>
                <a:noFill/>
                <a:ln w="19050">
                  <a:solidFill>
                    <a:srgbClr val="004C97"/>
                  </a:solidFill>
                </a:ln>
              </p:spPr>
              <p:txBody>
                <a:bodyPr/>
                <a:lstStyle/>
                <a:p>
                  <a:endParaRPr lang="en-US"/>
                </a:p>
              </p:txBody>
            </p:sp>
            <p:sp>
              <p:nvSpPr>
                <p:cNvPr id="59" name="Freeform 59"/>
                <p:cNvSpPr/>
                <p:nvPr/>
              </p:nvSpPr>
              <p:spPr>
                <a:xfrm>
                  <a:off x="5553869" y="5717381"/>
                  <a:ext cx="188912" cy="242888"/>
                </a:xfrm>
                <a:custGeom>
                  <a:avLst/>
                  <a:gdLst/>
                  <a:ahLst/>
                  <a:cxnLst/>
                  <a:rect l="l" t="t" r="r" b="b"/>
                  <a:pathLst>
                    <a:path w="188912" h="242888">
                      <a:moveTo>
                        <a:pt x="161925" y="242888"/>
                      </a:moveTo>
                      <a:lnTo>
                        <a:pt x="26987" y="242888"/>
                      </a:lnTo>
                      <a:cubicBezTo>
                        <a:pt x="12083" y="242888"/>
                        <a:pt x="0" y="230805"/>
                        <a:pt x="0" y="215900"/>
                      </a:cubicBezTo>
                      <a:lnTo>
                        <a:pt x="0" y="26988"/>
                      </a:lnTo>
                      <a:cubicBezTo>
                        <a:pt x="0" y="12083"/>
                        <a:pt x="12083" y="0"/>
                        <a:pt x="26987" y="0"/>
                      </a:cubicBezTo>
                      <a:lnTo>
                        <a:pt x="121444" y="0"/>
                      </a:lnTo>
                      <a:lnTo>
                        <a:pt x="188912" y="67469"/>
                      </a:lnTo>
                      <a:lnTo>
                        <a:pt x="188912" y="215900"/>
                      </a:lnTo>
                      <a:cubicBezTo>
                        <a:pt x="188912" y="230805"/>
                        <a:pt x="176830" y="242888"/>
                        <a:pt x="161925" y="242888"/>
                      </a:cubicBezTo>
                    </a:path>
                  </a:pathLst>
                </a:custGeom>
                <a:noFill/>
                <a:ln w="19050">
                  <a:solidFill>
                    <a:srgbClr val="004C97"/>
                  </a:solidFill>
                </a:ln>
              </p:spPr>
              <p:txBody>
                <a:bodyPr/>
                <a:lstStyle/>
                <a:p>
                  <a:endParaRPr lang="en-US"/>
                </a:p>
              </p:txBody>
            </p:sp>
            <p:sp>
              <p:nvSpPr>
                <p:cNvPr id="60" name="Freeform 60"/>
                <p:cNvSpPr/>
                <p:nvPr/>
              </p:nvSpPr>
              <p:spPr>
                <a:xfrm>
                  <a:off x="5594350" y="5825331"/>
                  <a:ext cx="107950" cy="94456"/>
                </a:xfrm>
                <a:custGeom>
                  <a:avLst/>
                  <a:gdLst/>
                  <a:ahLst/>
                  <a:cxnLst/>
                  <a:rect l="l" t="t" r="r" b="b"/>
                  <a:pathLst>
                    <a:path w="107950" h="94456">
                      <a:moveTo>
                        <a:pt x="0" y="0"/>
                      </a:moveTo>
                      <a:lnTo>
                        <a:pt x="107950" y="0"/>
                      </a:lnTo>
                      <a:lnTo>
                        <a:pt x="107950" y="94456"/>
                      </a:lnTo>
                      <a:lnTo>
                        <a:pt x="0" y="94456"/>
                      </a:lnTo>
                      <a:lnTo>
                        <a:pt x="0" y="0"/>
                      </a:lnTo>
                    </a:path>
                  </a:pathLst>
                </a:custGeom>
                <a:noFill/>
                <a:ln w="19050">
                  <a:solidFill>
                    <a:srgbClr val="004C97"/>
                  </a:solidFill>
                </a:ln>
              </p:spPr>
              <p:txBody>
                <a:bodyPr/>
                <a:lstStyle/>
                <a:p>
                  <a:endParaRPr lang="en-US"/>
                </a:p>
              </p:txBody>
            </p:sp>
            <p:sp>
              <p:nvSpPr>
                <p:cNvPr id="61" name="Freeform 61"/>
                <p:cNvSpPr/>
                <p:nvPr/>
              </p:nvSpPr>
              <p:spPr>
                <a:xfrm>
                  <a:off x="5594350" y="5879306"/>
                  <a:ext cx="107950" cy="9525"/>
                </a:xfrm>
                <a:custGeom>
                  <a:avLst/>
                  <a:gdLst/>
                  <a:ahLst/>
                  <a:cxnLst/>
                  <a:rect l="l" t="t" r="r" b="b"/>
                  <a:pathLst>
                    <a:path w="107950" h="9525">
                      <a:moveTo>
                        <a:pt x="0" y="0"/>
                      </a:moveTo>
                      <a:lnTo>
                        <a:pt x="107950" y="0"/>
                      </a:lnTo>
                    </a:path>
                  </a:pathLst>
                </a:custGeom>
                <a:noFill/>
                <a:ln w="19050">
                  <a:solidFill>
                    <a:srgbClr val="004C97"/>
                  </a:solidFill>
                </a:ln>
              </p:spPr>
              <p:txBody>
                <a:bodyPr/>
                <a:lstStyle/>
                <a:p>
                  <a:endParaRPr lang="en-US"/>
                </a:p>
              </p:txBody>
            </p:sp>
            <p:sp>
              <p:nvSpPr>
                <p:cNvPr id="62" name="Freeform 62"/>
                <p:cNvSpPr/>
                <p:nvPr/>
              </p:nvSpPr>
              <p:spPr>
                <a:xfrm>
                  <a:off x="5634831" y="5825331"/>
                  <a:ext cx="9525" cy="94456"/>
                </a:xfrm>
                <a:custGeom>
                  <a:avLst/>
                  <a:gdLst/>
                  <a:ahLst/>
                  <a:cxnLst/>
                  <a:rect l="l" t="t" r="r" b="b"/>
                  <a:pathLst>
                    <a:path w="9525" h="94456">
                      <a:moveTo>
                        <a:pt x="0" y="0"/>
                      </a:moveTo>
                      <a:lnTo>
                        <a:pt x="0" y="94456"/>
                      </a:lnTo>
                    </a:path>
                  </a:pathLst>
                </a:custGeom>
                <a:noFill/>
                <a:ln w="19050">
                  <a:solidFill>
                    <a:srgbClr val="004C97"/>
                  </a:solidFill>
                </a:ln>
              </p:spPr>
              <p:txBody>
                <a:bodyPr/>
                <a:lstStyle/>
                <a:p>
                  <a:endParaRPr lang="en-US"/>
                </a:p>
              </p:txBody>
            </p:sp>
          </p:grpSp>
          <p:sp>
            <p:nvSpPr>
              <p:cNvPr id="64" name="TextBox 64"/>
              <p:cNvSpPr txBox="1"/>
              <p:nvPr/>
            </p:nvSpPr>
            <p:spPr>
              <a:xfrm>
                <a:off x="5913120" y="5732145"/>
                <a:ext cx="823360" cy="182880"/>
              </a:xfrm>
              <a:prstGeom prst="rect">
                <a:avLst/>
              </a:prstGeom>
              <a:noFill/>
              <a:ln>
                <a:noFill/>
              </a:ln>
            </p:spPr>
            <p:txBody>
              <a:bodyPr wrap="none" lIns="0" tIns="0" rIns="0" bIns="0" anchor="t" anchorCtr="0">
                <a:spAutoFit/>
              </a:bodyPr>
              <a:lstStyle/>
              <a:p>
                <a:pPr algn="l"/>
                <a:r>
                  <a:rPr lang="zh-CN" sz="900" b="1" dirty="0">
                    <a:solidFill>
                      <a:srgbClr val="004C97"/>
                    </a:solidFill>
                    <a:latin typeface="Arial"/>
                    <a:ea typeface="Microsoft YaHei"/>
                    <a:cs typeface="Arial"/>
                  </a:rPr>
                  <a:t>Refreshable</a:t>
                </a:r>
              </a:p>
            </p:txBody>
          </p:sp>
          <p:sp>
            <p:nvSpPr>
              <p:cNvPr id="65" name="TextBox 65"/>
              <p:cNvSpPr txBox="1"/>
              <p:nvPr/>
            </p:nvSpPr>
            <p:spPr>
              <a:xfrm>
                <a:off x="5913120" y="5903595"/>
                <a:ext cx="351472" cy="182880"/>
              </a:xfrm>
              <a:prstGeom prst="rect">
                <a:avLst/>
              </a:prstGeom>
              <a:noFill/>
              <a:ln>
                <a:noFill/>
              </a:ln>
            </p:spPr>
            <p:txBody>
              <a:bodyPr wrap="none" lIns="0" tIns="0" rIns="0" bIns="0" anchor="t" anchorCtr="0">
                <a:spAutoFit/>
              </a:bodyPr>
              <a:lstStyle/>
              <a:p>
                <a:pPr algn="l"/>
                <a:r>
                  <a:rPr lang="zh-CN" sz="900" dirty="0">
                    <a:solidFill>
                      <a:srgbClr val="5B6470"/>
                    </a:solidFill>
                    <a:latin typeface="Arial"/>
                    <a:ea typeface="Microsoft YaHei"/>
                    <a:cs typeface="Arial"/>
                  </a:rPr>
                  <a:t>Excel</a:t>
                </a:r>
              </a:p>
            </p:txBody>
          </p:sp>
          <p:sp>
            <p:nvSpPr>
              <p:cNvPr id="66" name="Rectangle 66"/>
              <p:cNvSpPr/>
              <p:nvPr/>
            </p:nvSpPr>
            <p:spPr>
              <a:xfrm>
                <a:off x="7429500" y="5543550"/>
                <a:ext cx="1905000" cy="590550"/>
              </a:xfrm>
              <a:prstGeom prst="roundRect">
                <a:avLst>
                  <a:gd name="adj" fmla="val 12903"/>
                </a:avLst>
              </a:prstGeom>
              <a:solidFill>
                <a:srgbClr val="FFFFFF"/>
              </a:solidFill>
              <a:ln w="14288">
                <a:solidFill>
                  <a:srgbClr val="CDD7E2"/>
                </a:solidFill>
              </a:ln>
            </p:spPr>
            <p:txBody>
              <a:bodyPr/>
              <a:lstStyle/>
              <a:p>
                <a:endParaRPr lang="en-US"/>
              </a:p>
            </p:txBody>
          </p:sp>
          <p:grpSp>
            <p:nvGrpSpPr>
              <p:cNvPr id="72" name="Group 72"/>
              <p:cNvGrpSpPr/>
              <p:nvPr/>
            </p:nvGrpSpPr>
            <p:grpSpPr>
              <a:xfrm>
                <a:off x="7649369" y="5717381"/>
                <a:ext cx="188912" cy="242888"/>
                <a:chOff x="7649369" y="5717381"/>
                <a:chExt cx="188912" cy="242888"/>
              </a:xfrm>
            </p:grpSpPr>
            <p:sp>
              <p:nvSpPr>
                <p:cNvPr id="67" name="Freeform 67"/>
                <p:cNvSpPr/>
                <p:nvPr/>
              </p:nvSpPr>
              <p:spPr>
                <a:xfrm>
                  <a:off x="7770812" y="5717381"/>
                  <a:ext cx="67469" cy="67469"/>
                </a:xfrm>
                <a:custGeom>
                  <a:avLst/>
                  <a:gdLst/>
                  <a:ahLst/>
                  <a:cxnLst/>
                  <a:rect l="l" t="t" r="r" b="b"/>
                  <a:pathLst>
                    <a:path w="67469" h="67469">
                      <a:moveTo>
                        <a:pt x="0" y="0"/>
                      </a:moveTo>
                      <a:lnTo>
                        <a:pt x="0" y="53975"/>
                      </a:lnTo>
                      <a:cubicBezTo>
                        <a:pt x="0" y="61427"/>
                        <a:pt x="6041" y="67469"/>
                        <a:pt x="13494" y="67469"/>
                      </a:cubicBezTo>
                      <a:lnTo>
                        <a:pt x="67469" y="67469"/>
                      </a:lnTo>
                    </a:path>
                  </a:pathLst>
                </a:custGeom>
                <a:noFill/>
                <a:ln w="19050">
                  <a:solidFill>
                    <a:srgbClr val="004C97"/>
                  </a:solidFill>
                </a:ln>
              </p:spPr>
              <p:txBody>
                <a:bodyPr/>
                <a:lstStyle/>
                <a:p>
                  <a:endParaRPr lang="en-US"/>
                </a:p>
              </p:txBody>
            </p:sp>
            <p:sp>
              <p:nvSpPr>
                <p:cNvPr id="68" name="Freeform 68"/>
                <p:cNvSpPr/>
                <p:nvPr/>
              </p:nvSpPr>
              <p:spPr>
                <a:xfrm>
                  <a:off x="7649369" y="5717381"/>
                  <a:ext cx="188912" cy="242888"/>
                </a:xfrm>
                <a:custGeom>
                  <a:avLst/>
                  <a:gdLst/>
                  <a:ahLst/>
                  <a:cxnLst/>
                  <a:rect l="l" t="t" r="r" b="b"/>
                  <a:pathLst>
                    <a:path w="188912" h="242888">
                      <a:moveTo>
                        <a:pt x="161925" y="242888"/>
                      </a:moveTo>
                      <a:lnTo>
                        <a:pt x="26987" y="242888"/>
                      </a:lnTo>
                      <a:cubicBezTo>
                        <a:pt x="12083" y="242888"/>
                        <a:pt x="0" y="230805"/>
                        <a:pt x="0" y="215900"/>
                      </a:cubicBezTo>
                      <a:lnTo>
                        <a:pt x="0" y="26988"/>
                      </a:lnTo>
                      <a:cubicBezTo>
                        <a:pt x="0" y="12083"/>
                        <a:pt x="12083" y="0"/>
                        <a:pt x="26987" y="0"/>
                      </a:cubicBezTo>
                      <a:lnTo>
                        <a:pt x="121444" y="0"/>
                      </a:lnTo>
                      <a:lnTo>
                        <a:pt x="188912" y="67469"/>
                      </a:lnTo>
                      <a:lnTo>
                        <a:pt x="188912" y="215900"/>
                      </a:lnTo>
                      <a:cubicBezTo>
                        <a:pt x="188912" y="230805"/>
                        <a:pt x="176830" y="242888"/>
                        <a:pt x="161925" y="242888"/>
                      </a:cubicBezTo>
                    </a:path>
                  </a:pathLst>
                </a:custGeom>
                <a:noFill/>
                <a:ln w="19050">
                  <a:solidFill>
                    <a:srgbClr val="004C97"/>
                  </a:solidFill>
                </a:ln>
              </p:spPr>
              <p:txBody>
                <a:bodyPr/>
                <a:lstStyle/>
                <a:p>
                  <a:endParaRPr lang="en-US"/>
                </a:p>
              </p:txBody>
            </p:sp>
            <p:sp>
              <p:nvSpPr>
                <p:cNvPr id="69" name="Freeform 69"/>
                <p:cNvSpPr/>
                <p:nvPr/>
              </p:nvSpPr>
              <p:spPr>
                <a:xfrm>
                  <a:off x="7703344" y="5798344"/>
                  <a:ext cx="13494" cy="9525"/>
                </a:xfrm>
                <a:custGeom>
                  <a:avLst/>
                  <a:gdLst/>
                  <a:ahLst/>
                  <a:cxnLst/>
                  <a:rect l="l" t="t" r="r" b="b"/>
                  <a:pathLst>
                    <a:path w="13494" h="9525">
                      <a:moveTo>
                        <a:pt x="0" y="0"/>
                      </a:moveTo>
                      <a:lnTo>
                        <a:pt x="13494" y="0"/>
                      </a:lnTo>
                    </a:path>
                  </a:pathLst>
                </a:custGeom>
                <a:noFill/>
                <a:ln w="19050">
                  <a:solidFill>
                    <a:srgbClr val="004C97"/>
                  </a:solidFill>
                </a:ln>
              </p:spPr>
              <p:txBody>
                <a:bodyPr/>
                <a:lstStyle/>
                <a:p>
                  <a:endParaRPr lang="en-US"/>
                </a:p>
              </p:txBody>
            </p:sp>
            <p:sp>
              <p:nvSpPr>
                <p:cNvPr id="70" name="Freeform 70"/>
                <p:cNvSpPr/>
                <p:nvPr/>
              </p:nvSpPr>
              <p:spPr>
                <a:xfrm>
                  <a:off x="7703344" y="5852319"/>
                  <a:ext cx="80962" cy="9525"/>
                </a:xfrm>
                <a:custGeom>
                  <a:avLst/>
                  <a:gdLst/>
                  <a:ahLst/>
                  <a:cxnLst/>
                  <a:rect l="l" t="t" r="r" b="b"/>
                  <a:pathLst>
                    <a:path w="80962" h="9525">
                      <a:moveTo>
                        <a:pt x="0" y="0"/>
                      </a:moveTo>
                      <a:lnTo>
                        <a:pt x="80962" y="0"/>
                      </a:lnTo>
                    </a:path>
                  </a:pathLst>
                </a:custGeom>
                <a:noFill/>
                <a:ln w="19050">
                  <a:solidFill>
                    <a:srgbClr val="004C97"/>
                  </a:solidFill>
                </a:ln>
              </p:spPr>
              <p:txBody>
                <a:bodyPr/>
                <a:lstStyle/>
                <a:p>
                  <a:endParaRPr lang="en-US"/>
                </a:p>
              </p:txBody>
            </p:sp>
            <p:sp>
              <p:nvSpPr>
                <p:cNvPr id="71" name="Freeform 71"/>
                <p:cNvSpPr/>
                <p:nvPr/>
              </p:nvSpPr>
              <p:spPr>
                <a:xfrm>
                  <a:off x="7703344" y="5906294"/>
                  <a:ext cx="80962" cy="9525"/>
                </a:xfrm>
                <a:custGeom>
                  <a:avLst/>
                  <a:gdLst/>
                  <a:ahLst/>
                  <a:cxnLst/>
                  <a:rect l="l" t="t" r="r" b="b"/>
                  <a:pathLst>
                    <a:path w="80962" h="9525">
                      <a:moveTo>
                        <a:pt x="0" y="0"/>
                      </a:moveTo>
                      <a:lnTo>
                        <a:pt x="80962" y="0"/>
                      </a:lnTo>
                    </a:path>
                  </a:pathLst>
                </a:custGeom>
                <a:noFill/>
                <a:ln w="19050">
                  <a:solidFill>
                    <a:srgbClr val="004C97"/>
                  </a:solidFill>
                </a:ln>
              </p:spPr>
              <p:txBody>
                <a:bodyPr/>
                <a:lstStyle/>
                <a:p>
                  <a:endParaRPr lang="en-US"/>
                </a:p>
              </p:txBody>
            </p:sp>
          </p:grpSp>
          <p:sp>
            <p:nvSpPr>
              <p:cNvPr id="73" name="TextBox 73"/>
              <p:cNvSpPr txBox="1"/>
              <p:nvPr/>
            </p:nvSpPr>
            <p:spPr>
              <a:xfrm>
                <a:off x="8008620" y="5732145"/>
                <a:ext cx="747451" cy="182880"/>
              </a:xfrm>
              <a:prstGeom prst="rect">
                <a:avLst/>
              </a:prstGeom>
              <a:noFill/>
              <a:ln>
                <a:noFill/>
              </a:ln>
            </p:spPr>
            <p:txBody>
              <a:bodyPr wrap="none" lIns="0" tIns="0" rIns="0" bIns="0" anchor="t" anchorCtr="0">
                <a:spAutoFit/>
              </a:bodyPr>
              <a:lstStyle/>
              <a:p>
                <a:pPr algn="l"/>
                <a:r>
                  <a:rPr lang="zh-CN" sz="900" b="1" dirty="0">
                    <a:solidFill>
                      <a:srgbClr val="004C97"/>
                    </a:solidFill>
                    <a:latin typeface="Arial"/>
                    <a:ea typeface="Microsoft YaHei"/>
                    <a:cs typeface="Arial"/>
                  </a:rPr>
                  <a:t>Wide / long</a:t>
                </a:r>
              </a:p>
            </p:txBody>
          </p:sp>
          <p:sp>
            <p:nvSpPr>
              <p:cNvPr id="74" name="TextBox 74"/>
              <p:cNvSpPr txBox="1"/>
              <p:nvPr/>
            </p:nvSpPr>
            <p:spPr>
              <a:xfrm>
                <a:off x="8008620" y="5903595"/>
                <a:ext cx="239744" cy="182880"/>
              </a:xfrm>
              <a:prstGeom prst="rect">
                <a:avLst/>
              </a:prstGeom>
              <a:noFill/>
              <a:ln>
                <a:noFill/>
              </a:ln>
            </p:spPr>
            <p:txBody>
              <a:bodyPr wrap="none" lIns="0" tIns="0" rIns="0" bIns="0" anchor="t" anchorCtr="0">
                <a:spAutoFit/>
              </a:bodyPr>
              <a:lstStyle/>
              <a:p>
                <a:pPr algn="l"/>
                <a:r>
                  <a:rPr lang="zh-CN" sz="900" dirty="0">
                    <a:solidFill>
                      <a:srgbClr val="5B6470"/>
                    </a:solidFill>
                    <a:latin typeface="Arial"/>
                    <a:ea typeface="Microsoft YaHei"/>
                    <a:cs typeface="Arial"/>
                  </a:rPr>
                  <a:t>CSV</a:t>
                </a:r>
              </a:p>
            </p:txBody>
          </p:sp>
          <p:sp>
            <p:nvSpPr>
              <p:cNvPr id="75" name="Rectangle 75"/>
              <p:cNvSpPr/>
              <p:nvPr/>
            </p:nvSpPr>
            <p:spPr>
              <a:xfrm>
                <a:off x="9525000" y="5543550"/>
                <a:ext cx="1905000" cy="590550"/>
              </a:xfrm>
              <a:prstGeom prst="roundRect">
                <a:avLst>
                  <a:gd name="adj" fmla="val 12903"/>
                </a:avLst>
              </a:prstGeom>
              <a:solidFill>
                <a:srgbClr val="FFFFFF"/>
              </a:solidFill>
              <a:ln w="14288">
                <a:solidFill>
                  <a:schemeClr val="tx2">
                    <a:lumMod val="40000"/>
                    <a:lumOff val="60000"/>
                  </a:schemeClr>
                </a:solidFill>
                <a:prstDash val="dash"/>
              </a:ln>
            </p:spPr>
            <p:txBody>
              <a:bodyPr/>
              <a:lstStyle/>
              <a:p>
                <a:endParaRPr lang="en-US" dirty="0"/>
              </a:p>
            </p:txBody>
          </p:sp>
          <p:grpSp>
            <p:nvGrpSpPr>
              <p:cNvPr id="80" name="Group 80"/>
              <p:cNvGrpSpPr/>
              <p:nvPr/>
            </p:nvGrpSpPr>
            <p:grpSpPr>
              <a:xfrm>
                <a:off x="9717881" y="5730875"/>
                <a:ext cx="242887" cy="225425"/>
                <a:chOff x="9717881" y="5730875"/>
                <a:chExt cx="242887" cy="225425"/>
              </a:xfrm>
            </p:grpSpPr>
            <p:sp>
              <p:nvSpPr>
                <p:cNvPr id="76" name="Freeform 76"/>
                <p:cNvSpPr/>
                <p:nvPr/>
              </p:nvSpPr>
              <p:spPr>
                <a:xfrm>
                  <a:off x="9717881" y="5838825"/>
                  <a:ext cx="80962" cy="107950"/>
                </a:xfrm>
                <a:custGeom>
                  <a:avLst/>
                  <a:gdLst/>
                  <a:ahLst/>
                  <a:cxnLst/>
                  <a:rect l="l" t="t" r="r" b="b"/>
                  <a:pathLst>
                    <a:path w="80962" h="107950">
                      <a:moveTo>
                        <a:pt x="0" y="13494"/>
                      </a:moveTo>
                      <a:cubicBezTo>
                        <a:pt x="0" y="6041"/>
                        <a:pt x="6041" y="0"/>
                        <a:pt x="13494" y="0"/>
                      </a:cubicBezTo>
                      <a:lnTo>
                        <a:pt x="67469" y="0"/>
                      </a:lnTo>
                      <a:cubicBezTo>
                        <a:pt x="74921" y="0"/>
                        <a:pt x="80962" y="6041"/>
                        <a:pt x="80962" y="13494"/>
                      </a:cubicBezTo>
                      <a:lnTo>
                        <a:pt x="80962" y="94456"/>
                      </a:lnTo>
                      <a:cubicBezTo>
                        <a:pt x="80962" y="101909"/>
                        <a:pt x="74921" y="107950"/>
                        <a:pt x="67469" y="107950"/>
                      </a:cubicBezTo>
                      <a:lnTo>
                        <a:pt x="13494" y="107950"/>
                      </a:lnTo>
                      <a:cubicBezTo>
                        <a:pt x="6041" y="107950"/>
                        <a:pt x="0" y="101909"/>
                        <a:pt x="0" y="94456"/>
                      </a:cubicBezTo>
                      <a:lnTo>
                        <a:pt x="0" y="13494"/>
                      </a:lnTo>
                    </a:path>
                  </a:pathLst>
                </a:custGeom>
                <a:noFill/>
                <a:ln w="19050">
                  <a:solidFill>
                    <a:schemeClr val="tx2">
                      <a:lumMod val="40000"/>
                      <a:lumOff val="60000"/>
                    </a:schemeClr>
                  </a:solidFill>
                </a:ln>
              </p:spPr>
              <p:txBody>
                <a:bodyPr/>
                <a:lstStyle/>
                <a:p>
                  <a:endParaRPr lang="en-US"/>
                </a:p>
              </p:txBody>
            </p:sp>
            <p:sp>
              <p:nvSpPr>
                <p:cNvPr id="77" name="Freeform 77"/>
                <p:cNvSpPr/>
                <p:nvPr/>
              </p:nvSpPr>
              <p:spPr>
                <a:xfrm>
                  <a:off x="9879806" y="5784850"/>
                  <a:ext cx="80962" cy="161925"/>
                </a:xfrm>
                <a:custGeom>
                  <a:avLst/>
                  <a:gdLst/>
                  <a:ahLst/>
                  <a:cxnLst/>
                  <a:rect l="l" t="t" r="r" b="b"/>
                  <a:pathLst>
                    <a:path w="80962" h="161925">
                      <a:moveTo>
                        <a:pt x="0" y="13494"/>
                      </a:moveTo>
                      <a:cubicBezTo>
                        <a:pt x="0" y="6041"/>
                        <a:pt x="6041" y="0"/>
                        <a:pt x="13494" y="0"/>
                      </a:cubicBezTo>
                      <a:lnTo>
                        <a:pt x="67469" y="0"/>
                      </a:lnTo>
                      <a:cubicBezTo>
                        <a:pt x="74921" y="0"/>
                        <a:pt x="80962" y="6041"/>
                        <a:pt x="80962" y="13494"/>
                      </a:cubicBezTo>
                      <a:lnTo>
                        <a:pt x="80962" y="148431"/>
                      </a:lnTo>
                      <a:cubicBezTo>
                        <a:pt x="80962" y="155884"/>
                        <a:pt x="74921" y="161925"/>
                        <a:pt x="67469" y="161925"/>
                      </a:cubicBezTo>
                      <a:lnTo>
                        <a:pt x="13494" y="161925"/>
                      </a:lnTo>
                      <a:cubicBezTo>
                        <a:pt x="6041" y="161925"/>
                        <a:pt x="0" y="155884"/>
                        <a:pt x="0" y="148431"/>
                      </a:cubicBezTo>
                      <a:lnTo>
                        <a:pt x="0" y="13494"/>
                      </a:lnTo>
                    </a:path>
                  </a:pathLst>
                </a:custGeom>
                <a:noFill/>
                <a:ln w="19050">
                  <a:solidFill>
                    <a:schemeClr val="tx2">
                      <a:lumMod val="40000"/>
                      <a:lumOff val="60000"/>
                    </a:schemeClr>
                  </a:solidFill>
                </a:ln>
              </p:spPr>
              <p:txBody>
                <a:bodyPr/>
                <a:lstStyle/>
                <a:p>
                  <a:endParaRPr lang="en-US"/>
                </a:p>
              </p:txBody>
            </p:sp>
            <p:sp>
              <p:nvSpPr>
                <p:cNvPr id="78" name="Freeform 78"/>
                <p:cNvSpPr/>
                <p:nvPr/>
              </p:nvSpPr>
              <p:spPr>
                <a:xfrm>
                  <a:off x="9798844" y="5730875"/>
                  <a:ext cx="80962" cy="215900"/>
                </a:xfrm>
                <a:custGeom>
                  <a:avLst/>
                  <a:gdLst/>
                  <a:ahLst/>
                  <a:cxnLst/>
                  <a:rect l="l" t="t" r="r" b="b"/>
                  <a:pathLst>
                    <a:path w="80962" h="215900">
                      <a:moveTo>
                        <a:pt x="0" y="13494"/>
                      </a:moveTo>
                      <a:cubicBezTo>
                        <a:pt x="0" y="6041"/>
                        <a:pt x="6041" y="0"/>
                        <a:pt x="13494" y="0"/>
                      </a:cubicBezTo>
                      <a:lnTo>
                        <a:pt x="67469" y="0"/>
                      </a:lnTo>
                      <a:cubicBezTo>
                        <a:pt x="74921" y="0"/>
                        <a:pt x="80962" y="6041"/>
                        <a:pt x="80962" y="13494"/>
                      </a:cubicBezTo>
                      <a:lnTo>
                        <a:pt x="80962" y="202406"/>
                      </a:lnTo>
                      <a:cubicBezTo>
                        <a:pt x="80962" y="209859"/>
                        <a:pt x="74921" y="215900"/>
                        <a:pt x="67469" y="215900"/>
                      </a:cubicBezTo>
                      <a:lnTo>
                        <a:pt x="13494" y="215900"/>
                      </a:lnTo>
                      <a:cubicBezTo>
                        <a:pt x="6041" y="215900"/>
                        <a:pt x="0" y="209859"/>
                        <a:pt x="0" y="202406"/>
                      </a:cubicBezTo>
                      <a:lnTo>
                        <a:pt x="0" y="13494"/>
                      </a:lnTo>
                    </a:path>
                  </a:pathLst>
                </a:custGeom>
                <a:noFill/>
                <a:ln w="19050">
                  <a:solidFill>
                    <a:schemeClr val="tx2">
                      <a:lumMod val="40000"/>
                      <a:lumOff val="60000"/>
                    </a:schemeClr>
                  </a:solidFill>
                </a:ln>
              </p:spPr>
              <p:txBody>
                <a:bodyPr/>
                <a:lstStyle/>
                <a:p>
                  <a:endParaRPr lang="en-US"/>
                </a:p>
              </p:txBody>
            </p:sp>
            <p:sp>
              <p:nvSpPr>
                <p:cNvPr id="79" name="Freeform 79"/>
                <p:cNvSpPr/>
                <p:nvPr/>
              </p:nvSpPr>
              <p:spPr>
                <a:xfrm>
                  <a:off x="9731375" y="5946775"/>
                  <a:ext cx="188913" cy="9525"/>
                </a:xfrm>
                <a:custGeom>
                  <a:avLst/>
                  <a:gdLst/>
                  <a:ahLst/>
                  <a:cxnLst/>
                  <a:rect l="l" t="t" r="r" b="b"/>
                  <a:pathLst>
                    <a:path w="188913" h="9525">
                      <a:moveTo>
                        <a:pt x="0" y="0"/>
                      </a:moveTo>
                      <a:lnTo>
                        <a:pt x="188913" y="0"/>
                      </a:lnTo>
                    </a:path>
                  </a:pathLst>
                </a:custGeom>
                <a:noFill/>
                <a:ln w="19050">
                  <a:solidFill>
                    <a:schemeClr val="tx2">
                      <a:lumMod val="40000"/>
                      <a:lumOff val="60000"/>
                    </a:schemeClr>
                  </a:solidFill>
                </a:ln>
              </p:spPr>
              <p:txBody>
                <a:bodyPr/>
                <a:lstStyle/>
                <a:p>
                  <a:endParaRPr lang="en-US"/>
                </a:p>
              </p:txBody>
            </p:sp>
          </p:grpSp>
          <p:sp>
            <p:nvSpPr>
              <p:cNvPr id="81" name="TextBox 81"/>
              <p:cNvSpPr txBox="1"/>
              <p:nvPr/>
            </p:nvSpPr>
            <p:spPr>
              <a:xfrm>
                <a:off x="10104120" y="5732145"/>
                <a:ext cx="301365" cy="138499"/>
              </a:xfrm>
              <a:prstGeom prst="rect">
                <a:avLst/>
              </a:prstGeom>
              <a:noFill/>
              <a:ln>
                <a:noFill/>
              </a:ln>
            </p:spPr>
            <p:txBody>
              <a:bodyPr wrap="none" lIns="0" tIns="0" rIns="0" bIns="0" anchor="t" anchorCtr="0">
                <a:spAutoFit/>
              </a:bodyPr>
              <a:lstStyle/>
              <a:p>
                <a:pPr algn="l"/>
                <a:r>
                  <a:rPr lang="zh-CN" sz="900" b="1" dirty="0">
                    <a:solidFill>
                      <a:schemeClr val="tx2">
                        <a:lumMod val="40000"/>
                        <a:lumOff val="60000"/>
                      </a:schemeClr>
                    </a:solidFill>
                    <a:latin typeface="Arial"/>
                    <a:ea typeface="Microsoft YaHei"/>
                    <a:cs typeface="Arial"/>
                  </a:rPr>
                  <a:t>Chart</a:t>
                </a:r>
              </a:p>
            </p:txBody>
          </p:sp>
          <p:sp>
            <p:nvSpPr>
              <p:cNvPr id="82" name="TextBox 82"/>
              <p:cNvSpPr txBox="1"/>
              <p:nvPr/>
            </p:nvSpPr>
            <p:spPr>
              <a:xfrm>
                <a:off x="10104120" y="5903595"/>
                <a:ext cx="679673" cy="138499"/>
              </a:xfrm>
              <a:prstGeom prst="rect">
                <a:avLst/>
              </a:prstGeom>
              <a:noFill/>
              <a:ln>
                <a:noFill/>
              </a:ln>
            </p:spPr>
            <p:txBody>
              <a:bodyPr wrap="none" lIns="0" tIns="0" rIns="0" bIns="0" anchor="t" anchorCtr="0">
                <a:spAutoFit/>
              </a:bodyPr>
              <a:lstStyle/>
              <a:p>
                <a:pPr algn="l"/>
                <a:r>
                  <a:rPr lang="en-US" altLang="zh-CN" sz="900" dirty="0">
                    <a:solidFill>
                      <a:srgbClr val="5B6470"/>
                    </a:solidFill>
                    <a:latin typeface="Arial"/>
                    <a:ea typeface="Microsoft YaHei"/>
                    <a:cs typeface="Arial"/>
                  </a:rPr>
                  <a:t>Coming </a:t>
                </a:r>
                <a:r>
                  <a:rPr lang="zh-CN" sz="900" dirty="0">
                    <a:solidFill>
                      <a:srgbClr val="5B6470"/>
                    </a:solidFill>
                    <a:latin typeface="Arial"/>
                    <a:ea typeface="Microsoft YaHei"/>
                    <a:cs typeface="Arial"/>
                  </a:rPr>
                  <a:t>soon</a:t>
                </a:r>
              </a:p>
            </p:txBody>
          </p:sp>
        </p:grpSp>
      </p:grpSp>
      <p:grpSp>
        <p:nvGrpSpPr>
          <p:cNvPr id="87" name="Group 87"/>
          <p:cNvGrpSpPr/>
          <p:nvPr/>
        </p:nvGrpSpPr>
        <p:grpSpPr>
          <a:xfrm>
            <a:off x="561022" y="6530816"/>
            <a:ext cx="11069956" cy="167640"/>
            <a:chOff x="561022" y="6530816"/>
            <a:chExt cx="11069956" cy="167640"/>
          </a:xfrm>
        </p:grpSpPr>
        <p:sp>
          <p:nvSpPr>
            <p:cNvPr id="85" name="TextBox 85"/>
            <p:cNvSpPr txBox="1"/>
            <p:nvPr/>
          </p:nvSpPr>
          <p:spPr>
            <a:xfrm>
              <a:off x="561022" y="6530816"/>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86" name="TextBox 86"/>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AA3AE"/>
                  </a:solidFill>
                  <a:latin typeface="Arial"/>
                  <a:ea typeface="Microsoft YaHei"/>
                  <a:cs typeface="Arial"/>
                </a:rPr>
                <a:t>04 / 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84"/>
                                        </p:tgtEl>
                                        <p:attrNameLst>
                                          <p:attrName>style.visibility</p:attrName>
                                        </p:attrNameLst>
                                      </p:cBhvr>
                                      <p:to>
                                        <p:strVal val="visible"/>
                                      </p:to>
                                    </p:set>
                                    <p:animEffect transition="in" filter="fade">
                                      <p:cBhvr>
                                        <p:cTn id="11" dur="4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8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grpSp>
        <p:nvGrpSpPr>
          <p:cNvPr id="6" name="Group 6"/>
          <p:cNvGrpSpPr/>
          <p:nvPr/>
        </p:nvGrpSpPr>
        <p:grpSpPr>
          <a:xfrm>
            <a:off x="541020" y="569595"/>
            <a:ext cx="8249984" cy="954405"/>
            <a:chOff x="541020" y="569595"/>
            <a:chExt cx="8249984" cy="954405"/>
          </a:xfrm>
        </p:grpSpPr>
        <p:sp>
          <p:nvSpPr>
            <p:cNvPr id="3" name="TextBox 3"/>
            <p:cNvSpPr txBox="1"/>
            <p:nvPr/>
          </p:nvSpPr>
          <p:spPr>
            <a:xfrm>
              <a:off x="560070" y="569595"/>
              <a:ext cx="1209808" cy="182880"/>
            </a:xfrm>
            <a:prstGeom prst="rect">
              <a:avLst/>
            </a:prstGeom>
            <a:noFill/>
            <a:ln>
              <a:noFill/>
            </a:ln>
          </p:spPr>
          <p:txBody>
            <a:bodyPr wrap="none" lIns="0" tIns="0" rIns="0" bIns="0" anchor="t" anchorCtr="0">
              <a:spAutoFit/>
            </a:bodyPr>
            <a:lstStyle/>
            <a:p>
              <a:pPr algn="l"/>
              <a:r>
                <a:rPr lang="zh-CN" sz="900" b="1" dirty="0">
                  <a:solidFill>
                    <a:srgbClr val="707372"/>
                  </a:solidFill>
                  <a:latin typeface="Arial"/>
                  <a:ea typeface="Microsoft YaHei"/>
                  <a:cs typeface="Arial"/>
                </a:rPr>
                <a:t>04 · ARCHITECTURE</a:t>
              </a:r>
            </a:p>
          </p:txBody>
        </p:sp>
        <p:sp>
          <p:nvSpPr>
            <p:cNvPr id="4" name="TextBox 4"/>
            <p:cNvSpPr txBox="1"/>
            <p:nvPr/>
          </p:nvSpPr>
          <p:spPr>
            <a:xfrm>
              <a:off x="541020" y="836295"/>
              <a:ext cx="8249984" cy="487680"/>
            </a:xfrm>
            <a:prstGeom prst="rect">
              <a:avLst/>
            </a:prstGeom>
            <a:noFill/>
            <a:ln>
              <a:noFill/>
            </a:ln>
          </p:spPr>
          <p:txBody>
            <a:bodyPr wrap="none" lIns="0" tIns="0" rIns="0" bIns="0" anchor="t" anchorCtr="0">
              <a:spAutoFit/>
            </a:bodyPr>
            <a:lstStyle/>
            <a:p>
              <a:pPr algn="l"/>
              <a:r>
                <a:rPr lang="zh-CN" sz="2400" b="1" dirty="0">
                  <a:solidFill>
                    <a:srgbClr val="004C97"/>
                  </a:solidFill>
                  <a:latin typeface="Arial Black"/>
                  <a:ea typeface="Microsoft YaHei"/>
                  <a:cs typeface="Arial Black"/>
                </a:rPr>
                <a:t>Four small skills that chain — not one monolith</a:t>
              </a:r>
            </a:p>
          </p:txBody>
        </p:sp>
        <p:sp>
          <p:nvSpPr>
            <p:cNvPr id="5" name="TextBox 5"/>
            <p:cNvSpPr txBox="1"/>
            <p:nvPr/>
          </p:nvSpPr>
          <p:spPr>
            <a:xfrm>
              <a:off x="556260" y="1280160"/>
              <a:ext cx="6515100" cy="243840"/>
            </a:xfrm>
            <a:prstGeom prst="rect">
              <a:avLst/>
            </a:prstGeom>
            <a:noFill/>
            <a:ln>
              <a:noFill/>
            </a:ln>
          </p:spPr>
          <p:txBody>
            <a:bodyPr wrap="none" lIns="0" tIns="0" rIns="0" bIns="0" anchor="t" anchorCtr="0">
              <a:spAutoFit/>
            </a:bodyPr>
            <a:lstStyle/>
            <a:p>
              <a:pPr algn="l"/>
              <a:r>
                <a:rPr lang="zh-CN" sz="1200" i="1" dirty="0">
                  <a:solidFill>
                    <a:srgbClr val="5B6470"/>
                  </a:solidFill>
                  <a:latin typeface="Arial"/>
                  <a:ea typeface="Microsoft YaHei"/>
                  <a:cs typeface="Arial"/>
                </a:rPr>
                <a:t>Each skill is one folder + one SKILL.md. They reference each other directly.</a:t>
              </a:r>
            </a:p>
          </p:txBody>
        </p:sp>
      </p:grpSp>
      <p:grpSp>
        <p:nvGrpSpPr>
          <p:cNvPr id="61" name="Group 61"/>
          <p:cNvGrpSpPr/>
          <p:nvPr/>
        </p:nvGrpSpPr>
        <p:grpSpPr>
          <a:xfrm>
            <a:off x="571500" y="2190750"/>
            <a:ext cx="11049000" cy="1714500"/>
            <a:chOff x="571500" y="2190750"/>
            <a:chExt cx="11049000" cy="1714500"/>
          </a:xfrm>
        </p:grpSpPr>
        <p:sp>
          <p:nvSpPr>
            <p:cNvPr id="7" name="Line 7"/>
            <p:cNvSpPr/>
            <p:nvPr/>
          </p:nvSpPr>
          <p:spPr>
            <a:xfrm>
              <a:off x="571500" y="3048000"/>
              <a:ext cx="11049000" cy="9525"/>
            </a:xfrm>
            <a:custGeom>
              <a:avLst/>
              <a:gdLst/>
              <a:ahLst/>
              <a:cxnLst/>
              <a:rect l="l" t="t" r="r" b="b"/>
              <a:pathLst>
                <a:path w="11049000" h="9525">
                  <a:moveTo>
                    <a:pt x="0" y="0"/>
                  </a:moveTo>
                  <a:lnTo>
                    <a:pt x="11049000" y="0"/>
                  </a:lnTo>
                </a:path>
              </a:pathLst>
            </a:custGeom>
            <a:noFill/>
            <a:ln w="19050" cap="rnd">
              <a:solidFill>
                <a:srgbClr val="CDD7E2"/>
              </a:solidFill>
            </a:ln>
          </p:spPr>
          <p:txBody>
            <a:bodyPr/>
            <a:lstStyle/>
            <a:p>
              <a:endParaRPr lang="en-US"/>
            </a:p>
          </p:txBody>
        </p:sp>
        <p:grpSp>
          <p:nvGrpSpPr>
            <p:cNvPr id="21" name="Group 21"/>
            <p:cNvGrpSpPr/>
            <p:nvPr/>
          </p:nvGrpSpPr>
          <p:grpSpPr>
            <a:xfrm>
              <a:off x="762000" y="2190750"/>
              <a:ext cx="2286000" cy="1714500"/>
              <a:chOff x="762000" y="2190750"/>
              <a:chExt cx="2286000" cy="1714500"/>
            </a:xfrm>
          </p:grpSpPr>
          <p:sp>
            <p:nvSpPr>
              <p:cNvPr id="8" name="Rectangle 8"/>
              <p:cNvSpPr/>
              <p:nvPr/>
            </p:nvSpPr>
            <p:spPr>
              <a:xfrm>
                <a:off x="762000" y="2190750"/>
                <a:ext cx="2286000" cy="1714500"/>
              </a:xfrm>
              <a:prstGeom prst="roundRect">
                <a:avLst>
                  <a:gd name="adj" fmla="val 5556"/>
                </a:avLst>
              </a:prstGeom>
              <a:solidFill>
                <a:srgbClr val="FFFFFF"/>
              </a:solidFill>
              <a:ln w="19050">
                <a:solidFill>
                  <a:srgbClr val="004C97"/>
                </a:solidFill>
              </a:ln>
            </p:spPr>
            <p:txBody>
              <a:bodyPr/>
              <a:lstStyle/>
              <a:p>
                <a:endParaRPr lang="en-US"/>
              </a:p>
            </p:txBody>
          </p:sp>
          <p:sp>
            <p:nvSpPr>
              <p:cNvPr id="9" name="Rectangle 9"/>
              <p:cNvSpPr/>
              <p:nvPr/>
            </p:nvSpPr>
            <p:spPr>
              <a:xfrm>
                <a:off x="762000" y="2190750"/>
                <a:ext cx="2286000" cy="381000"/>
              </a:xfrm>
              <a:prstGeom prst="roundRect">
                <a:avLst>
                  <a:gd name="adj" fmla="val 25000"/>
                </a:avLst>
              </a:prstGeom>
              <a:solidFill>
                <a:srgbClr val="004C97"/>
              </a:solidFill>
              <a:ln>
                <a:noFill/>
              </a:ln>
            </p:spPr>
            <p:txBody>
              <a:bodyPr/>
              <a:lstStyle/>
              <a:p>
                <a:endParaRPr lang="en-US"/>
              </a:p>
            </p:txBody>
          </p:sp>
          <p:sp>
            <p:nvSpPr>
              <p:cNvPr id="10" name="Rectangle 10"/>
              <p:cNvSpPr/>
              <p:nvPr/>
            </p:nvSpPr>
            <p:spPr>
              <a:xfrm>
                <a:off x="762000" y="2476500"/>
                <a:ext cx="2286000" cy="95250"/>
              </a:xfrm>
              <a:prstGeom prst="rect">
                <a:avLst/>
              </a:prstGeom>
              <a:solidFill>
                <a:srgbClr val="004C97"/>
              </a:solidFill>
              <a:ln>
                <a:noFill/>
              </a:ln>
            </p:spPr>
            <p:txBody>
              <a:bodyPr/>
              <a:lstStyle/>
              <a:p>
                <a:endParaRPr lang="en-US"/>
              </a:p>
            </p:txBody>
          </p:sp>
          <p:sp>
            <p:nvSpPr>
              <p:cNvPr id="11" name="TextBox 11"/>
              <p:cNvSpPr txBox="1"/>
              <p:nvPr/>
            </p:nvSpPr>
            <p:spPr>
              <a:xfrm>
                <a:off x="1682609" y="2349341"/>
                <a:ext cx="444783"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STEP 01</a:t>
                </a:r>
              </a:p>
            </p:txBody>
          </p:sp>
          <p:grpSp>
            <p:nvGrpSpPr>
              <p:cNvPr id="17" name="Group 17"/>
              <p:cNvGrpSpPr/>
              <p:nvPr/>
            </p:nvGrpSpPr>
            <p:grpSpPr>
              <a:xfrm>
                <a:off x="1733550" y="2800350"/>
                <a:ext cx="342900" cy="342900"/>
                <a:chOff x="1733550" y="2800350"/>
                <a:chExt cx="342900" cy="342900"/>
              </a:xfrm>
            </p:grpSpPr>
            <p:sp>
              <p:nvSpPr>
                <p:cNvPr id="12" name="Freeform 12"/>
                <p:cNvSpPr/>
                <p:nvPr/>
              </p:nvSpPr>
              <p:spPr>
                <a:xfrm>
                  <a:off x="1866900" y="2800350"/>
                  <a:ext cx="76200" cy="76200"/>
                </a:xfrm>
                <a:custGeom>
                  <a:avLst/>
                  <a:gdLst/>
                  <a:ahLst/>
                  <a:cxnLst/>
                  <a:rect l="l" t="t" r="r" b="b"/>
                  <a:pathLst>
                    <a:path w="76200" h="76200">
                      <a:moveTo>
                        <a:pt x="0" y="0"/>
                      </a:moveTo>
                      <a:lnTo>
                        <a:pt x="76200" y="0"/>
                      </a:lnTo>
                      <a:lnTo>
                        <a:pt x="76200" y="76200"/>
                      </a:lnTo>
                      <a:lnTo>
                        <a:pt x="0" y="76200"/>
                      </a:lnTo>
                      <a:lnTo>
                        <a:pt x="0" y="0"/>
                      </a:lnTo>
                    </a:path>
                  </a:pathLst>
                </a:custGeom>
                <a:noFill/>
                <a:ln w="19050">
                  <a:solidFill>
                    <a:srgbClr val="004C97"/>
                  </a:solidFill>
                </a:ln>
              </p:spPr>
              <p:txBody>
                <a:bodyPr/>
                <a:lstStyle/>
                <a:p>
                  <a:endParaRPr lang="en-US"/>
                </a:p>
              </p:txBody>
            </p:sp>
            <p:sp>
              <p:nvSpPr>
                <p:cNvPr id="13" name="Freeform 13"/>
                <p:cNvSpPr/>
                <p:nvPr/>
              </p:nvSpPr>
              <p:spPr>
                <a:xfrm>
                  <a:off x="1733550" y="3067050"/>
                  <a:ext cx="76200" cy="76200"/>
                </a:xfrm>
                <a:custGeom>
                  <a:avLst/>
                  <a:gdLst/>
                  <a:ahLst/>
                  <a:cxnLst/>
                  <a:rect l="l" t="t" r="r" b="b"/>
                  <a:pathLst>
                    <a:path w="76200" h="76200">
                      <a:moveTo>
                        <a:pt x="0" y="0"/>
                      </a:moveTo>
                      <a:lnTo>
                        <a:pt x="76200" y="0"/>
                      </a:lnTo>
                      <a:lnTo>
                        <a:pt x="76200" y="76200"/>
                      </a:lnTo>
                      <a:lnTo>
                        <a:pt x="0" y="76200"/>
                      </a:lnTo>
                      <a:lnTo>
                        <a:pt x="0" y="0"/>
                      </a:lnTo>
                    </a:path>
                  </a:pathLst>
                </a:custGeom>
                <a:noFill/>
                <a:ln w="19050">
                  <a:solidFill>
                    <a:srgbClr val="004C97"/>
                  </a:solidFill>
                </a:ln>
              </p:spPr>
              <p:txBody>
                <a:bodyPr/>
                <a:lstStyle/>
                <a:p>
                  <a:endParaRPr lang="en-US"/>
                </a:p>
              </p:txBody>
            </p:sp>
            <p:sp>
              <p:nvSpPr>
                <p:cNvPr id="14" name="Freeform 14"/>
                <p:cNvSpPr/>
                <p:nvPr/>
              </p:nvSpPr>
              <p:spPr>
                <a:xfrm>
                  <a:off x="2000250" y="3067050"/>
                  <a:ext cx="76200" cy="76200"/>
                </a:xfrm>
                <a:custGeom>
                  <a:avLst/>
                  <a:gdLst/>
                  <a:ahLst/>
                  <a:cxnLst/>
                  <a:rect l="l" t="t" r="r" b="b"/>
                  <a:pathLst>
                    <a:path w="76200" h="76200">
                      <a:moveTo>
                        <a:pt x="0" y="0"/>
                      </a:moveTo>
                      <a:lnTo>
                        <a:pt x="76200" y="0"/>
                      </a:lnTo>
                      <a:lnTo>
                        <a:pt x="76200" y="76200"/>
                      </a:lnTo>
                      <a:lnTo>
                        <a:pt x="0" y="76200"/>
                      </a:lnTo>
                      <a:lnTo>
                        <a:pt x="0" y="0"/>
                      </a:lnTo>
                    </a:path>
                  </a:pathLst>
                </a:custGeom>
                <a:noFill/>
                <a:ln w="19050">
                  <a:solidFill>
                    <a:srgbClr val="004C97"/>
                  </a:solidFill>
                </a:ln>
              </p:spPr>
              <p:txBody>
                <a:bodyPr/>
                <a:lstStyle/>
                <a:p>
                  <a:endParaRPr lang="en-US"/>
                </a:p>
              </p:txBody>
            </p:sp>
            <p:sp>
              <p:nvSpPr>
                <p:cNvPr id="15" name="Freeform 15"/>
                <p:cNvSpPr/>
                <p:nvPr/>
              </p:nvSpPr>
              <p:spPr>
                <a:xfrm>
                  <a:off x="1809750" y="2990850"/>
                  <a:ext cx="190500" cy="76200"/>
                </a:xfrm>
                <a:custGeom>
                  <a:avLst/>
                  <a:gdLst/>
                  <a:ahLst/>
                  <a:cxnLst/>
                  <a:rect l="l" t="t" r="r" b="b"/>
                  <a:pathLst>
                    <a:path w="190500" h="76200">
                      <a:moveTo>
                        <a:pt x="0" y="76200"/>
                      </a:moveTo>
                      <a:lnTo>
                        <a:pt x="95250" y="0"/>
                      </a:lnTo>
                      <a:lnTo>
                        <a:pt x="190500" y="76200"/>
                      </a:lnTo>
                    </a:path>
                  </a:pathLst>
                </a:custGeom>
                <a:noFill/>
                <a:ln w="19050">
                  <a:solidFill>
                    <a:srgbClr val="004C97"/>
                  </a:solidFill>
                </a:ln>
              </p:spPr>
              <p:txBody>
                <a:bodyPr/>
                <a:lstStyle/>
                <a:p>
                  <a:endParaRPr lang="en-US"/>
                </a:p>
              </p:txBody>
            </p:sp>
            <p:sp>
              <p:nvSpPr>
                <p:cNvPr id="16" name="Freeform 16"/>
                <p:cNvSpPr/>
                <p:nvPr/>
              </p:nvSpPr>
              <p:spPr>
                <a:xfrm>
                  <a:off x="1905000" y="2876550"/>
                  <a:ext cx="9525" cy="114300"/>
                </a:xfrm>
                <a:custGeom>
                  <a:avLst/>
                  <a:gdLst/>
                  <a:ahLst/>
                  <a:cxnLst/>
                  <a:rect l="l" t="t" r="r" b="b"/>
                  <a:pathLst>
                    <a:path w="9525" h="114300">
                      <a:moveTo>
                        <a:pt x="0" y="0"/>
                      </a:moveTo>
                      <a:lnTo>
                        <a:pt x="0" y="114300"/>
                      </a:lnTo>
                    </a:path>
                  </a:pathLst>
                </a:custGeom>
                <a:noFill/>
                <a:ln w="19050">
                  <a:solidFill>
                    <a:srgbClr val="004C97"/>
                  </a:solidFill>
                </a:ln>
              </p:spPr>
              <p:txBody>
                <a:bodyPr/>
                <a:lstStyle/>
                <a:p>
                  <a:endParaRPr lang="en-US"/>
                </a:p>
              </p:txBody>
            </p:sp>
          </p:grpSp>
          <p:sp>
            <p:nvSpPr>
              <p:cNvPr id="18" name="TextBox 18"/>
              <p:cNvSpPr txBox="1"/>
              <p:nvPr/>
            </p:nvSpPr>
            <p:spPr>
              <a:xfrm>
                <a:off x="1630007" y="3334702"/>
                <a:ext cx="549985" cy="213360"/>
              </a:xfrm>
              <a:prstGeom prst="rect">
                <a:avLst/>
              </a:prstGeom>
              <a:noFill/>
              <a:ln>
                <a:noFill/>
              </a:ln>
            </p:spPr>
            <p:txBody>
              <a:bodyPr wrap="none" lIns="0" tIns="0" rIns="0" bIns="0" anchor="t" anchorCtr="0">
                <a:spAutoFit/>
              </a:bodyPr>
              <a:lstStyle/>
              <a:p>
                <a:pPr algn="ctr"/>
                <a:r>
                  <a:rPr lang="zh-CN" sz="1050" b="1" dirty="0">
                    <a:solidFill>
                      <a:srgbClr val="004C97"/>
                    </a:solidFill>
                    <a:latin typeface="Consolas"/>
                    <a:ea typeface="Microsoft YaHei"/>
                    <a:cs typeface="Consolas"/>
                  </a:rPr>
                  <a:t>imf-ra</a:t>
                </a:r>
              </a:p>
            </p:txBody>
          </p:sp>
          <p:sp>
            <p:nvSpPr>
              <p:cNvPr id="19" name="TextBox 19"/>
              <p:cNvSpPr txBox="1"/>
              <p:nvPr/>
            </p:nvSpPr>
            <p:spPr>
              <a:xfrm>
                <a:off x="1568244" y="3560445"/>
                <a:ext cx="673513" cy="182880"/>
              </a:xfrm>
              <a:prstGeom prst="rect">
                <a:avLst/>
              </a:prstGeom>
              <a:noFill/>
              <a:ln>
                <a:noFill/>
              </a:ln>
            </p:spPr>
            <p:txBody>
              <a:bodyPr wrap="none" lIns="0" tIns="0" rIns="0" bIns="0" anchor="t" anchorCtr="0">
                <a:spAutoFit/>
              </a:bodyPr>
              <a:lstStyle/>
              <a:p>
                <a:pPr algn="ctr"/>
                <a:r>
                  <a:rPr lang="zh-CN" sz="900" dirty="0">
                    <a:solidFill>
                      <a:srgbClr val="5B6470"/>
                    </a:solidFill>
                    <a:latin typeface="Arial"/>
                    <a:ea typeface="Microsoft YaHei"/>
                    <a:cs typeface="Arial"/>
                  </a:rPr>
                  <a:t>Umbrella +</a:t>
                </a:r>
              </a:p>
            </p:txBody>
          </p:sp>
          <p:sp>
            <p:nvSpPr>
              <p:cNvPr id="20" name="TextBox 20"/>
              <p:cNvSpPr txBox="1"/>
              <p:nvPr/>
            </p:nvSpPr>
            <p:spPr>
              <a:xfrm>
                <a:off x="1275779" y="3712845"/>
                <a:ext cx="1258443" cy="182880"/>
              </a:xfrm>
              <a:prstGeom prst="rect">
                <a:avLst/>
              </a:prstGeom>
              <a:noFill/>
              <a:ln>
                <a:noFill/>
              </a:ln>
            </p:spPr>
            <p:txBody>
              <a:bodyPr wrap="none" lIns="0" tIns="0" rIns="0" bIns="0" anchor="t" anchorCtr="0">
                <a:spAutoFit/>
              </a:bodyPr>
              <a:lstStyle/>
              <a:p>
                <a:pPr algn="ctr"/>
                <a:r>
                  <a:rPr lang="zh-CN" sz="900" dirty="0">
                    <a:solidFill>
                      <a:srgbClr val="5B6470"/>
                    </a:solidFill>
                    <a:latin typeface="Arial"/>
                    <a:ea typeface="Microsoft YaHei"/>
                    <a:cs typeface="Arial"/>
                  </a:rPr>
                  <a:t>shared conventions</a:t>
                </a:r>
              </a:p>
            </p:txBody>
          </p:sp>
        </p:grpSp>
        <p:sp>
          <p:nvSpPr>
            <p:cNvPr id="22" name="Line 22"/>
            <p:cNvSpPr/>
            <p:nvPr/>
          </p:nvSpPr>
          <p:spPr>
            <a:xfrm>
              <a:off x="3124200" y="3048000"/>
              <a:ext cx="381000" cy="1"/>
            </a:xfrm>
            <a:prstGeom prst="line">
              <a:avLst/>
            </a:prstGeom>
            <a:noFill/>
            <a:ln w="23812">
              <a:solidFill>
                <a:srgbClr val="707372"/>
              </a:solidFill>
              <a:tailEnd type="triangle" w="lg" len="lg"/>
            </a:ln>
          </p:spPr>
          <p:txBody>
            <a:bodyPr/>
            <a:lstStyle/>
            <a:p>
              <a:endParaRPr lang="en-US"/>
            </a:p>
          </p:txBody>
        </p:sp>
        <p:grpSp>
          <p:nvGrpSpPr>
            <p:cNvPr id="33" name="Group 33"/>
            <p:cNvGrpSpPr/>
            <p:nvPr/>
          </p:nvGrpSpPr>
          <p:grpSpPr>
            <a:xfrm>
              <a:off x="3619500" y="2190750"/>
              <a:ext cx="2286000" cy="1714500"/>
              <a:chOff x="3619500" y="2190750"/>
              <a:chExt cx="2286000" cy="1714500"/>
            </a:xfrm>
          </p:grpSpPr>
          <p:sp>
            <p:nvSpPr>
              <p:cNvPr id="23" name="Rectangle 23"/>
              <p:cNvSpPr/>
              <p:nvPr/>
            </p:nvSpPr>
            <p:spPr>
              <a:xfrm>
                <a:off x="3619500" y="2190750"/>
                <a:ext cx="2286000" cy="1714500"/>
              </a:xfrm>
              <a:prstGeom prst="roundRect">
                <a:avLst>
                  <a:gd name="adj" fmla="val 5556"/>
                </a:avLst>
              </a:prstGeom>
              <a:solidFill>
                <a:srgbClr val="FFFFFF"/>
              </a:solidFill>
              <a:ln w="19050">
                <a:solidFill>
                  <a:srgbClr val="004C97"/>
                </a:solidFill>
              </a:ln>
            </p:spPr>
            <p:txBody>
              <a:bodyPr/>
              <a:lstStyle/>
              <a:p>
                <a:endParaRPr lang="en-US"/>
              </a:p>
            </p:txBody>
          </p:sp>
          <p:sp>
            <p:nvSpPr>
              <p:cNvPr id="24" name="Rectangle 24"/>
              <p:cNvSpPr/>
              <p:nvPr/>
            </p:nvSpPr>
            <p:spPr>
              <a:xfrm>
                <a:off x="3619500" y="2190750"/>
                <a:ext cx="2286000" cy="381000"/>
              </a:xfrm>
              <a:prstGeom prst="roundRect">
                <a:avLst>
                  <a:gd name="adj" fmla="val 25000"/>
                </a:avLst>
              </a:prstGeom>
              <a:solidFill>
                <a:srgbClr val="004C97"/>
              </a:solidFill>
              <a:ln>
                <a:noFill/>
              </a:ln>
            </p:spPr>
            <p:txBody>
              <a:bodyPr/>
              <a:lstStyle/>
              <a:p>
                <a:endParaRPr lang="en-US"/>
              </a:p>
            </p:txBody>
          </p:sp>
          <p:sp>
            <p:nvSpPr>
              <p:cNvPr id="25" name="Rectangle 25"/>
              <p:cNvSpPr/>
              <p:nvPr/>
            </p:nvSpPr>
            <p:spPr>
              <a:xfrm>
                <a:off x="3619500" y="2476500"/>
                <a:ext cx="2286000" cy="95250"/>
              </a:xfrm>
              <a:prstGeom prst="rect">
                <a:avLst/>
              </a:prstGeom>
              <a:solidFill>
                <a:srgbClr val="004C97"/>
              </a:solidFill>
              <a:ln>
                <a:noFill/>
              </a:ln>
            </p:spPr>
            <p:txBody>
              <a:bodyPr/>
              <a:lstStyle/>
              <a:p>
                <a:endParaRPr lang="en-US"/>
              </a:p>
            </p:txBody>
          </p:sp>
          <p:sp>
            <p:nvSpPr>
              <p:cNvPr id="26" name="TextBox 26"/>
              <p:cNvSpPr txBox="1"/>
              <p:nvPr/>
            </p:nvSpPr>
            <p:spPr>
              <a:xfrm>
                <a:off x="4524294" y="2349341"/>
                <a:ext cx="47641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STEP 02</a:t>
                </a:r>
              </a:p>
            </p:txBody>
          </p:sp>
          <p:grpSp>
            <p:nvGrpSpPr>
              <p:cNvPr id="29" name="Group 29"/>
              <p:cNvGrpSpPr/>
              <p:nvPr/>
            </p:nvGrpSpPr>
            <p:grpSpPr>
              <a:xfrm>
                <a:off x="4591050" y="2800350"/>
                <a:ext cx="342900" cy="342900"/>
                <a:chOff x="4591050" y="2800350"/>
                <a:chExt cx="342900" cy="342900"/>
              </a:xfrm>
            </p:grpSpPr>
            <p:sp>
              <p:nvSpPr>
                <p:cNvPr id="27" name="Freeform 27"/>
                <p:cNvSpPr/>
                <p:nvPr/>
              </p:nvSpPr>
              <p:spPr>
                <a:xfrm>
                  <a:off x="4591050" y="2800350"/>
                  <a:ext cx="266700" cy="266700"/>
                </a:xfrm>
                <a:custGeom>
                  <a:avLst/>
                  <a:gdLst/>
                  <a:ahLst/>
                  <a:cxnLst/>
                  <a:rect l="l" t="t" r="r" b="b"/>
                  <a:pathLst>
                    <a:path w="266700" h="266700">
                      <a:moveTo>
                        <a:pt x="0" y="133350"/>
                      </a:moveTo>
                      <a:cubicBezTo>
                        <a:pt x="0" y="206997"/>
                        <a:pt x="59703" y="266700"/>
                        <a:pt x="133350" y="266700"/>
                      </a:cubicBezTo>
                      <a:cubicBezTo>
                        <a:pt x="206997" y="266700"/>
                        <a:pt x="266700" y="206997"/>
                        <a:pt x="266700" y="133350"/>
                      </a:cubicBezTo>
                      <a:cubicBezTo>
                        <a:pt x="266700" y="59703"/>
                        <a:pt x="206997" y="0"/>
                        <a:pt x="133350" y="0"/>
                      </a:cubicBezTo>
                      <a:cubicBezTo>
                        <a:pt x="59703" y="0"/>
                        <a:pt x="0" y="59703"/>
                        <a:pt x="0" y="133350"/>
                      </a:cubicBezTo>
                    </a:path>
                  </a:pathLst>
                </a:custGeom>
                <a:noFill/>
                <a:ln w="19050">
                  <a:solidFill>
                    <a:srgbClr val="004C97"/>
                  </a:solidFill>
                </a:ln>
              </p:spPr>
              <p:txBody>
                <a:bodyPr/>
                <a:lstStyle/>
                <a:p>
                  <a:endParaRPr lang="en-US"/>
                </a:p>
              </p:txBody>
            </p:sp>
            <p:sp>
              <p:nvSpPr>
                <p:cNvPr id="28" name="Freeform 28"/>
                <p:cNvSpPr/>
                <p:nvPr/>
              </p:nvSpPr>
              <p:spPr>
                <a:xfrm>
                  <a:off x="4819650" y="3028950"/>
                  <a:ext cx="114300" cy="114300"/>
                </a:xfrm>
                <a:custGeom>
                  <a:avLst/>
                  <a:gdLst/>
                  <a:ahLst/>
                  <a:cxnLst/>
                  <a:rect l="l" t="t" r="r" b="b"/>
                  <a:pathLst>
                    <a:path w="114300" h="114300">
                      <a:moveTo>
                        <a:pt x="114300" y="114300"/>
                      </a:moveTo>
                      <a:lnTo>
                        <a:pt x="0" y="0"/>
                      </a:lnTo>
                    </a:path>
                  </a:pathLst>
                </a:custGeom>
                <a:noFill/>
                <a:ln w="19050">
                  <a:solidFill>
                    <a:srgbClr val="004C97"/>
                  </a:solidFill>
                </a:ln>
              </p:spPr>
              <p:txBody>
                <a:bodyPr/>
                <a:lstStyle/>
                <a:p>
                  <a:endParaRPr lang="en-US"/>
                </a:p>
              </p:txBody>
            </p:sp>
          </p:grpSp>
          <p:sp>
            <p:nvSpPr>
              <p:cNvPr id="30" name="TextBox 30"/>
              <p:cNvSpPr txBox="1"/>
              <p:nvPr/>
            </p:nvSpPr>
            <p:spPr>
              <a:xfrm>
                <a:off x="4153391" y="3334702"/>
                <a:ext cx="1218219" cy="213360"/>
              </a:xfrm>
              <a:prstGeom prst="rect">
                <a:avLst/>
              </a:prstGeom>
              <a:noFill/>
              <a:ln>
                <a:noFill/>
              </a:ln>
            </p:spPr>
            <p:txBody>
              <a:bodyPr wrap="none" lIns="0" tIns="0" rIns="0" bIns="0" anchor="t" anchorCtr="0">
                <a:spAutoFit/>
              </a:bodyPr>
              <a:lstStyle/>
              <a:p>
                <a:pPr algn="ctr"/>
                <a:r>
                  <a:rPr lang="zh-CN" sz="1050" b="1" dirty="0">
                    <a:solidFill>
                      <a:srgbClr val="004C97"/>
                    </a:solidFill>
                    <a:latin typeface="Consolas"/>
                    <a:ea typeface="Microsoft YaHei"/>
                    <a:cs typeface="Consolas"/>
                  </a:rPr>
                  <a:t>imf-ra-catalog</a:t>
                </a:r>
              </a:p>
            </p:txBody>
          </p:sp>
          <p:sp>
            <p:nvSpPr>
              <p:cNvPr id="31" name="TextBox 31"/>
              <p:cNvSpPr txBox="1"/>
              <p:nvPr/>
            </p:nvSpPr>
            <p:spPr>
              <a:xfrm>
                <a:off x="4166140" y="3560445"/>
                <a:ext cx="1192720" cy="182880"/>
              </a:xfrm>
              <a:prstGeom prst="rect">
                <a:avLst/>
              </a:prstGeom>
              <a:noFill/>
              <a:ln>
                <a:noFill/>
              </a:ln>
            </p:spPr>
            <p:txBody>
              <a:bodyPr wrap="none" lIns="0" tIns="0" rIns="0" bIns="0" anchor="t" anchorCtr="0">
                <a:spAutoFit/>
              </a:bodyPr>
              <a:lstStyle/>
              <a:p>
                <a:pPr algn="ctr"/>
                <a:r>
                  <a:rPr lang="zh-CN" sz="900" dirty="0">
                    <a:solidFill>
                      <a:srgbClr val="5B6470"/>
                    </a:solidFill>
                    <a:latin typeface="Arial"/>
                    <a:ea typeface="Microsoft YaHei"/>
                    <a:cs typeface="Arial"/>
                  </a:rPr>
                  <a:t>Natural language →</a:t>
                </a:r>
              </a:p>
            </p:txBody>
          </p:sp>
          <p:sp>
            <p:nvSpPr>
              <p:cNvPr id="32" name="TextBox 32"/>
              <p:cNvSpPr txBox="1"/>
              <p:nvPr/>
            </p:nvSpPr>
            <p:spPr>
              <a:xfrm>
                <a:off x="4310454" y="3712845"/>
                <a:ext cx="904095" cy="138499"/>
              </a:xfrm>
              <a:prstGeom prst="rect">
                <a:avLst/>
              </a:prstGeom>
              <a:noFill/>
              <a:ln>
                <a:noFill/>
              </a:ln>
            </p:spPr>
            <p:txBody>
              <a:bodyPr wrap="none" lIns="0" tIns="0" rIns="0" bIns="0" anchor="t" anchorCtr="0">
                <a:spAutoFit/>
              </a:bodyPr>
              <a:lstStyle/>
              <a:p>
                <a:pPr algn="ctr"/>
                <a:r>
                  <a:rPr lang="en-US" altLang="zh-CN" sz="900" dirty="0">
                    <a:solidFill>
                      <a:srgbClr val="5B6470"/>
                    </a:solidFill>
                    <a:latin typeface="Arial"/>
                    <a:ea typeface="Microsoft YaHei"/>
                    <a:cs typeface="Arial"/>
                  </a:rPr>
                  <a:t>Indicator </a:t>
                </a:r>
                <a:r>
                  <a:rPr lang="zh-CN" sz="900" dirty="0">
                    <a:solidFill>
                      <a:srgbClr val="5B6470"/>
                    </a:solidFill>
                    <a:latin typeface="Arial"/>
                    <a:ea typeface="Microsoft YaHei"/>
                    <a:cs typeface="Arial"/>
                  </a:rPr>
                  <a:t>identifier</a:t>
                </a:r>
              </a:p>
            </p:txBody>
          </p:sp>
        </p:grpSp>
        <p:sp>
          <p:nvSpPr>
            <p:cNvPr id="34" name="Line 34"/>
            <p:cNvSpPr/>
            <p:nvPr/>
          </p:nvSpPr>
          <p:spPr>
            <a:xfrm>
              <a:off x="5981700" y="3048000"/>
              <a:ext cx="381000" cy="1"/>
            </a:xfrm>
            <a:prstGeom prst="line">
              <a:avLst/>
            </a:prstGeom>
            <a:noFill/>
            <a:ln w="23812">
              <a:solidFill>
                <a:srgbClr val="707372"/>
              </a:solidFill>
              <a:tailEnd type="triangle" w="lg" len="lg"/>
            </a:ln>
          </p:spPr>
          <p:txBody>
            <a:bodyPr/>
            <a:lstStyle/>
            <a:p>
              <a:endParaRPr lang="en-US"/>
            </a:p>
          </p:txBody>
        </p:sp>
        <p:grpSp>
          <p:nvGrpSpPr>
            <p:cNvPr id="46" name="Group 46"/>
            <p:cNvGrpSpPr/>
            <p:nvPr/>
          </p:nvGrpSpPr>
          <p:grpSpPr>
            <a:xfrm>
              <a:off x="6477000" y="2190750"/>
              <a:ext cx="2286000" cy="1714500"/>
              <a:chOff x="6477000" y="2190750"/>
              <a:chExt cx="2286000" cy="1714500"/>
            </a:xfrm>
          </p:grpSpPr>
          <p:sp>
            <p:nvSpPr>
              <p:cNvPr id="35" name="Rectangle 35"/>
              <p:cNvSpPr/>
              <p:nvPr/>
            </p:nvSpPr>
            <p:spPr>
              <a:xfrm>
                <a:off x="6477000" y="2190750"/>
                <a:ext cx="2286000" cy="1714500"/>
              </a:xfrm>
              <a:prstGeom prst="roundRect">
                <a:avLst>
                  <a:gd name="adj" fmla="val 5556"/>
                </a:avLst>
              </a:prstGeom>
              <a:solidFill>
                <a:srgbClr val="FFFFFF"/>
              </a:solidFill>
              <a:ln w="19050">
                <a:solidFill>
                  <a:srgbClr val="004C97"/>
                </a:solidFill>
              </a:ln>
            </p:spPr>
            <p:txBody>
              <a:bodyPr/>
              <a:lstStyle/>
              <a:p>
                <a:endParaRPr lang="en-US"/>
              </a:p>
            </p:txBody>
          </p:sp>
          <p:sp>
            <p:nvSpPr>
              <p:cNvPr id="36" name="Rectangle 36"/>
              <p:cNvSpPr/>
              <p:nvPr/>
            </p:nvSpPr>
            <p:spPr>
              <a:xfrm>
                <a:off x="6477000" y="2190750"/>
                <a:ext cx="2286000" cy="381000"/>
              </a:xfrm>
              <a:prstGeom prst="roundRect">
                <a:avLst>
                  <a:gd name="adj" fmla="val 25000"/>
                </a:avLst>
              </a:prstGeom>
              <a:solidFill>
                <a:srgbClr val="004C97"/>
              </a:solidFill>
              <a:ln>
                <a:noFill/>
              </a:ln>
            </p:spPr>
            <p:txBody>
              <a:bodyPr/>
              <a:lstStyle/>
              <a:p>
                <a:endParaRPr lang="en-US"/>
              </a:p>
            </p:txBody>
          </p:sp>
          <p:sp>
            <p:nvSpPr>
              <p:cNvPr id="37" name="Rectangle 37"/>
              <p:cNvSpPr/>
              <p:nvPr/>
            </p:nvSpPr>
            <p:spPr>
              <a:xfrm>
                <a:off x="6477000" y="2476500"/>
                <a:ext cx="2286000" cy="95250"/>
              </a:xfrm>
              <a:prstGeom prst="rect">
                <a:avLst/>
              </a:prstGeom>
              <a:solidFill>
                <a:srgbClr val="004C97"/>
              </a:solidFill>
              <a:ln>
                <a:noFill/>
              </a:ln>
            </p:spPr>
            <p:txBody>
              <a:bodyPr/>
              <a:lstStyle/>
              <a:p>
                <a:endParaRPr lang="en-US"/>
              </a:p>
            </p:txBody>
          </p:sp>
          <p:sp>
            <p:nvSpPr>
              <p:cNvPr id="38" name="TextBox 38"/>
              <p:cNvSpPr txBox="1"/>
              <p:nvPr/>
            </p:nvSpPr>
            <p:spPr>
              <a:xfrm>
                <a:off x="7381794" y="2349341"/>
                <a:ext cx="476412"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STEP 03</a:t>
                </a:r>
              </a:p>
            </p:txBody>
          </p:sp>
          <p:grpSp>
            <p:nvGrpSpPr>
              <p:cNvPr id="42" name="Group 42"/>
              <p:cNvGrpSpPr/>
              <p:nvPr/>
            </p:nvGrpSpPr>
            <p:grpSpPr>
              <a:xfrm>
                <a:off x="7467600" y="2800350"/>
                <a:ext cx="304800" cy="342900"/>
                <a:chOff x="7467600" y="2800350"/>
                <a:chExt cx="304800" cy="342900"/>
              </a:xfrm>
            </p:grpSpPr>
            <p:sp>
              <p:nvSpPr>
                <p:cNvPr id="39" name="Freeform 39"/>
                <p:cNvSpPr/>
                <p:nvPr/>
              </p:nvSpPr>
              <p:spPr>
                <a:xfrm>
                  <a:off x="7467600" y="2800350"/>
                  <a:ext cx="304800" cy="114300"/>
                </a:xfrm>
                <a:custGeom>
                  <a:avLst/>
                  <a:gdLst/>
                  <a:ahLst/>
                  <a:cxnLst/>
                  <a:rect l="l" t="t" r="r" b="b"/>
                  <a:pathLst>
                    <a:path w="304800" h="114300">
                      <a:moveTo>
                        <a:pt x="0" y="57150"/>
                      </a:moveTo>
                      <a:cubicBezTo>
                        <a:pt x="0" y="88713"/>
                        <a:pt x="68232" y="114300"/>
                        <a:pt x="152400" y="114300"/>
                      </a:cubicBezTo>
                      <a:cubicBezTo>
                        <a:pt x="236568" y="114300"/>
                        <a:pt x="304800" y="88713"/>
                        <a:pt x="304800" y="57150"/>
                      </a:cubicBezTo>
                      <a:cubicBezTo>
                        <a:pt x="304800" y="25587"/>
                        <a:pt x="236568" y="0"/>
                        <a:pt x="152400" y="0"/>
                      </a:cubicBezTo>
                      <a:cubicBezTo>
                        <a:pt x="68232" y="0"/>
                        <a:pt x="0" y="25587"/>
                        <a:pt x="0" y="57150"/>
                      </a:cubicBezTo>
                    </a:path>
                  </a:pathLst>
                </a:custGeom>
                <a:noFill/>
                <a:ln w="19050">
                  <a:solidFill>
                    <a:srgbClr val="004C97"/>
                  </a:solidFill>
                </a:ln>
              </p:spPr>
              <p:txBody>
                <a:bodyPr/>
                <a:lstStyle/>
                <a:p>
                  <a:endParaRPr lang="en-US"/>
                </a:p>
              </p:txBody>
            </p:sp>
            <p:sp>
              <p:nvSpPr>
                <p:cNvPr id="40" name="Freeform 40"/>
                <p:cNvSpPr/>
                <p:nvPr/>
              </p:nvSpPr>
              <p:spPr>
                <a:xfrm>
                  <a:off x="7467600" y="2857500"/>
                  <a:ext cx="304800" cy="171450"/>
                </a:xfrm>
                <a:custGeom>
                  <a:avLst/>
                  <a:gdLst/>
                  <a:ahLst/>
                  <a:cxnLst/>
                  <a:rect l="l" t="t" r="r" b="b"/>
                  <a:pathLst>
                    <a:path w="304800" h="171450">
                      <a:moveTo>
                        <a:pt x="0" y="0"/>
                      </a:moveTo>
                      <a:lnTo>
                        <a:pt x="0" y="114300"/>
                      </a:lnTo>
                      <a:cubicBezTo>
                        <a:pt x="0" y="145863"/>
                        <a:pt x="68232" y="171450"/>
                        <a:pt x="152400" y="171450"/>
                      </a:cubicBezTo>
                      <a:cubicBezTo>
                        <a:pt x="236568" y="171450"/>
                        <a:pt x="304800" y="145863"/>
                        <a:pt x="304800" y="114300"/>
                      </a:cubicBezTo>
                      <a:lnTo>
                        <a:pt x="304800" y="0"/>
                      </a:lnTo>
                    </a:path>
                  </a:pathLst>
                </a:custGeom>
                <a:noFill/>
                <a:ln w="19050">
                  <a:solidFill>
                    <a:srgbClr val="004C97"/>
                  </a:solidFill>
                </a:ln>
              </p:spPr>
              <p:txBody>
                <a:bodyPr/>
                <a:lstStyle/>
                <a:p>
                  <a:endParaRPr lang="en-US"/>
                </a:p>
              </p:txBody>
            </p:sp>
            <p:sp>
              <p:nvSpPr>
                <p:cNvPr id="41" name="Freeform 41"/>
                <p:cNvSpPr/>
                <p:nvPr/>
              </p:nvSpPr>
              <p:spPr>
                <a:xfrm>
                  <a:off x="7467600" y="2971800"/>
                  <a:ext cx="304800" cy="171450"/>
                </a:xfrm>
                <a:custGeom>
                  <a:avLst/>
                  <a:gdLst/>
                  <a:ahLst/>
                  <a:cxnLst/>
                  <a:rect l="l" t="t" r="r" b="b"/>
                  <a:pathLst>
                    <a:path w="304800" h="171450">
                      <a:moveTo>
                        <a:pt x="0" y="0"/>
                      </a:moveTo>
                      <a:lnTo>
                        <a:pt x="0" y="114300"/>
                      </a:lnTo>
                      <a:cubicBezTo>
                        <a:pt x="0" y="145863"/>
                        <a:pt x="68232" y="171450"/>
                        <a:pt x="152400" y="171450"/>
                      </a:cubicBezTo>
                      <a:cubicBezTo>
                        <a:pt x="236568" y="171450"/>
                        <a:pt x="304800" y="145863"/>
                        <a:pt x="304800" y="114300"/>
                      </a:cubicBezTo>
                      <a:lnTo>
                        <a:pt x="304800" y="0"/>
                      </a:lnTo>
                    </a:path>
                  </a:pathLst>
                </a:custGeom>
                <a:noFill/>
                <a:ln w="19050">
                  <a:solidFill>
                    <a:srgbClr val="004C97"/>
                  </a:solidFill>
                </a:ln>
              </p:spPr>
              <p:txBody>
                <a:bodyPr/>
                <a:lstStyle/>
                <a:p>
                  <a:endParaRPr lang="en-US"/>
                </a:p>
              </p:txBody>
            </p:sp>
          </p:grpSp>
          <p:sp>
            <p:nvSpPr>
              <p:cNvPr id="43" name="TextBox 43"/>
              <p:cNvSpPr txBox="1"/>
              <p:nvPr/>
            </p:nvSpPr>
            <p:spPr>
              <a:xfrm>
                <a:off x="7123605" y="3334702"/>
                <a:ext cx="992791" cy="213360"/>
              </a:xfrm>
              <a:prstGeom prst="rect">
                <a:avLst/>
              </a:prstGeom>
              <a:noFill/>
              <a:ln>
                <a:noFill/>
              </a:ln>
            </p:spPr>
            <p:txBody>
              <a:bodyPr wrap="none" lIns="0" tIns="0" rIns="0" bIns="0" anchor="t" anchorCtr="0">
                <a:spAutoFit/>
              </a:bodyPr>
              <a:lstStyle/>
              <a:p>
                <a:pPr algn="ctr"/>
                <a:r>
                  <a:rPr lang="zh-CN" sz="1050" b="1" dirty="0">
                    <a:solidFill>
                      <a:srgbClr val="004C97"/>
                    </a:solidFill>
                    <a:latin typeface="Consolas"/>
                    <a:ea typeface="Microsoft YaHei"/>
                    <a:cs typeface="Consolas"/>
                  </a:rPr>
                  <a:t>imf-ra-data</a:t>
                </a:r>
              </a:p>
            </p:txBody>
          </p:sp>
          <p:sp>
            <p:nvSpPr>
              <p:cNvPr id="44" name="TextBox 44"/>
              <p:cNvSpPr txBox="1"/>
              <p:nvPr/>
            </p:nvSpPr>
            <p:spPr>
              <a:xfrm>
                <a:off x="7003923" y="3560445"/>
                <a:ext cx="1232154" cy="182880"/>
              </a:xfrm>
              <a:prstGeom prst="rect">
                <a:avLst/>
              </a:prstGeom>
              <a:noFill/>
              <a:ln>
                <a:noFill/>
              </a:ln>
            </p:spPr>
            <p:txBody>
              <a:bodyPr wrap="none" lIns="0" tIns="0" rIns="0" bIns="0" anchor="t" anchorCtr="0">
                <a:spAutoFit/>
              </a:bodyPr>
              <a:lstStyle/>
              <a:p>
                <a:pPr algn="ctr"/>
                <a:r>
                  <a:rPr lang="zh-CN" sz="900" dirty="0">
                    <a:solidFill>
                      <a:srgbClr val="5B6470"/>
                    </a:solidFill>
                    <a:latin typeface="Arial"/>
                    <a:ea typeface="Microsoft YaHei"/>
                    <a:cs typeface="Arial"/>
                  </a:rPr>
                  <a:t>SDK fetch · LIVE vs</a:t>
                </a:r>
              </a:p>
            </p:txBody>
          </p:sp>
          <p:sp>
            <p:nvSpPr>
              <p:cNvPr id="45" name="TextBox 45"/>
              <p:cNvSpPr txBox="1"/>
              <p:nvPr/>
            </p:nvSpPr>
            <p:spPr>
              <a:xfrm>
                <a:off x="7095934" y="3712845"/>
                <a:ext cx="1048131" cy="182880"/>
              </a:xfrm>
              <a:prstGeom prst="rect">
                <a:avLst/>
              </a:prstGeom>
              <a:noFill/>
              <a:ln>
                <a:noFill/>
              </a:ln>
            </p:spPr>
            <p:txBody>
              <a:bodyPr wrap="none" lIns="0" tIns="0" rIns="0" bIns="0" anchor="t" anchorCtr="0">
                <a:spAutoFit/>
              </a:bodyPr>
              <a:lstStyle/>
              <a:p>
                <a:pPr algn="ctr"/>
                <a:r>
                  <a:rPr lang="zh-CN" sz="900" dirty="0">
                    <a:solidFill>
                      <a:srgbClr val="5B6470"/>
                    </a:solidFill>
                    <a:latin typeface="Arial"/>
                    <a:ea typeface="Microsoft YaHei"/>
                    <a:cs typeface="Arial"/>
                  </a:rPr>
                  <a:t>vintage handling</a:t>
                </a:r>
              </a:p>
            </p:txBody>
          </p:sp>
        </p:grpSp>
        <p:sp>
          <p:nvSpPr>
            <p:cNvPr id="47" name="Line 47"/>
            <p:cNvSpPr/>
            <p:nvPr/>
          </p:nvSpPr>
          <p:spPr>
            <a:xfrm>
              <a:off x="8839200" y="3048000"/>
              <a:ext cx="381000" cy="1"/>
            </a:xfrm>
            <a:prstGeom prst="line">
              <a:avLst/>
            </a:prstGeom>
            <a:noFill/>
            <a:ln w="23812">
              <a:solidFill>
                <a:srgbClr val="707372"/>
              </a:solidFill>
              <a:prstDash val="dash"/>
              <a:tailEnd type="triangle" w="lg" len="lg"/>
            </a:ln>
          </p:spPr>
          <p:txBody>
            <a:bodyPr/>
            <a:lstStyle/>
            <a:p>
              <a:endParaRPr lang="en-US"/>
            </a:p>
          </p:txBody>
        </p:sp>
        <p:grpSp>
          <p:nvGrpSpPr>
            <p:cNvPr id="60" name="Group 60"/>
            <p:cNvGrpSpPr/>
            <p:nvPr/>
          </p:nvGrpSpPr>
          <p:grpSpPr>
            <a:xfrm>
              <a:off x="9334500" y="2190750"/>
              <a:ext cx="2286000" cy="1714500"/>
              <a:chOff x="9334500" y="2190750"/>
              <a:chExt cx="2286000" cy="1714500"/>
            </a:xfrm>
          </p:grpSpPr>
          <p:sp>
            <p:nvSpPr>
              <p:cNvPr id="48" name="Rectangle 48"/>
              <p:cNvSpPr/>
              <p:nvPr/>
            </p:nvSpPr>
            <p:spPr>
              <a:xfrm>
                <a:off x="9334500" y="2190750"/>
                <a:ext cx="2286000" cy="1714500"/>
              </a:xfrm>
              <a:prstGeom prst="roundRect">
                <a:avLst>
                  <a:gd name="adj" fmla="val 5556"/>
                </a:avLst>
              </a:prstGeom>
              <a:solidFill>
                <a:srgbClr val="FFFFFF"/>
              </a:solidFill>
              <a:ln w="19050">
                <a:solidFill>
                  <a:schemeClr val="accent1">
                    <a:lumMod val="40000"/>
                    <a:lumOff val="60000"/>
                  </a:schemeClr>
                </a:solidFill>
                <a:prstDash val="lgDash"/>
              </a:ln>
            </p:spPr>
            <p:txBody>
              <a:bodyPr/>
              <a:lstStyle/>
              <a:p>
                <a:endParaRPr lang="en-US"/>
              </a:p>
            </p:txBody>
          </p:sp>
          <p:sp>
            <p:nvSpPr>
              <p:cNvPr id="49" name="Rectangle 49"/>
              <p:cNvSpPr/>
              <p:nvPr/>
            </p:nvSpPr>
            <p:spPr>
              <a:xfrm>
                <a:off x="9334500" y="2190750"/>
                <a:ext cx="2286000" cy="381000"/>
              </a:xfrm>
              <a:prstGeom prst="roundRect">
                <a:avLst>
                  <a:gd name="adj" fmla="val 25000"/>
                </a:avLst>
              </a:prstGeom>
              <a:solidFill>
                <a:schemeClr val="tx2">
                  <a:lumMod val="40000"/>
                  <a:lumOff val="60000"/>
                </a:schemeClr>
              </a:solidFill>
              <a:ln>
                <a:noFill/>
              </a:ln>
            </p:spPr>
            <p:txBody>
              <a:bodyPr/>
              <a:lstStyle/>
              <a:p>
                <a:endParaRPr lang="en-US"/>
              </a:p>
            </p:txBody>
          </p:sp>
          <p:sp>
            <p:nvSpPr>
              <p:cNvPr id="50" name="Rectangle 50"/>
              <p:cNvSpPr/>
              <p:nvPr/>
            </p:nvSpPr>
            <p:spPr>
              <a:xfrm>
                <a:off x="9334500" y="2476500"/>
                <a:ext cx="2286000" cy="95250"/>
              </a:xfrm>
              <a:prstGeom prst="rect">
                <a:avLst/>
              </a:prstGeom>
              <a:solidFill>
                <a:schemeClr val="tx2">
                  <a:lumMod val="40000"/>
                  <a:lumOff val="60000"/>
                </a:schemeClr>
              </a:solidFill>
              <a:ln>
                <a:noFill/>
              </a:ln>
            </p:spPr>
            <p:txBody>
              <a:bodyPr/>
              <a:lstStyle/>
              <a:p>
                <a:endParaRPr lang="en-US"/>
              </a:p>
            </p:txBody>
          </p:sp>
          <p:sp>
            <p:nvSpPr>
              <p:cNvPr id="51" name="TextBox 51"/>
              <p:cNvSpPr txBox="1"/>
              <p:nvPr/>
            </p:nvSpPr>
            <p:spPr>
              <a:xfrm>
                <a:off x="10065335" y="2349341"/>
                <a:ext cx="824330"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STEP 04 · WIP</a:t>
                </a:r>
              </a:p>
            </p:txBody>
          </p:sp>
          <p:grpSp>
            <p:nvGrpSpPr>
              <p:cNvPr id="56" name="Group 56"/>
              <p:cNvGrpSpPr/>
              <p:nvPr/>
            </p:nvGrpSpPr>
            <p:grpSpPr>
              <a:xfrm>
                <a:off x="10306050" y="2819400"/>
                <a:ext cx="342900" cy="314325"/>
                <a:chOff x="10306050" y="2819400"/>
                <a:chExt cx="342900" cy="314325"/>
              </a:xfrm>
            </p:grpSpPr>
            <p:sp>
              <p:nvSpPr>
                <p:cNvPr id="52" name="Freeform 52"/>
                <p:cNvSpPr/>
                <p:nvPr/>
              </p:nvSpPr>
              <p:spPr>
                <a:xfrm>
                  <a:off x="10306050" y="2971800"/>
                  <a:ext cx="114300" cy="152400"/>
                </a:xfrm>
                <a:custGeom>
                  <a:avLst/>
                  <a:gdLst/>
                  <a:ahLst/>
                  <a:cxnLst/>
                  <a:rect l="l" t="t" r="r" b="b"/>
                  <a:pathLst>
                    <a:path w="114300" h="152400">
                      <a:moveTo>
                        <a:pt x="0" y="19050"/>
                      </a:moveTo>
                      <a:cubicBezTo>
                        <a:pt x="0" y="8529"/>
                        <a:pt x="8529" y="0"/>
                        <a:pt x="19050" y="0"/>
                      </a:cubicBezTo>
                      <a:lnTo>
                        <a:pt x="95250" y="0"/>
                      </a:lnTo>
                      <a:cubicBezTo>
                        <a:pt x="105771" y="0"/>
                        <a:pt x="114300" y="8529"/>
                        <a:pt x="114300" y="19050"/>
                      </a:cubicBezTo>
                      <a:lnTo>
                        <a:pt x="114300" y="133350"/>
                      </a:lnTo>
                      <a:cubicBezTo>
                        <a:pt x="114300" y="143871"/>
                        <a:pt x="105771" y="152400"/>
                        <a:pt x="95250" y="152400"/>
                      </a:cubicBezTo>
                      <a:lnTo>
                        <a:pt x="19050" y="152400"/>
                      </a:lnTo>
                      <a:cubicBezTo>
                        <a:pt x="8529" y="152400"/>
                        <a:pt x="0" y="143871"/>
                        <a:pt x="0" y="133350"/>
                      </a:cubicBezTo>
                      <a:lnTo>
                        <a:pt x="0" y="19050"/>
                      </a:lnTo>
                    </a:path>
                  </a:pathLst>
                </a:custGeom>
                <a:noFill/>
                <a:ln w="19050">
                  <a:solidFill>
                    <a:schemeClr val="tx2">
                      <a:lumMod val="40000"/>
                      <a:lumOff val="60000"/>
                    </a:schemeClr>
                  </a:solidFill>
                </a:ln>
              </p:spPr>
              <p:txBody>
                <a:bodyPr/>
                <a:lstStyle/>
                <a:p>
                  <a:endParaRPr lang="en-US"/>
                </a:p>
              </p:txBody>
            </p:sp>
            <p:sp>
              <p:nvSpPr>
                <p:cNvPr id="53" name="Freeform 53"/>
                <p:cNvSpPr/>
                <p:nvPr/>
              </p:nvSpPr>
              <p:spPr>
                <a:xfrm>
                  <a:off x="10534650" y="2895600"/>
                  <a:ext cx="114300" cy="228600"/>
                </a:xfrm>
                <a:custGeom>
                  <a:avLst/>
                  <a:gdLst/>
                  <a:ahLst/>
                  <a:cxnLst/>
                  <a:rect l="l" t="t" r="r" b="b"/>
                  <a:pathLst>
                    <a:path w="114300" h="228600">
                      <a:moveTo>
                        <a:pt x="0" y="19050"/>
                      </a:moveTo>
                      <a:cubicBezTo>
                        <a:pt x="0" y="8529"/>
                        <a:pt x="8529" y="0"/>
                        <a:pt x="19050" y="0"/>
                      </a:cubicBezTo>
                      <a:lnTo>
                        <a:pt x="95250" y="0"/>
                      </a:lnTo>
                      <a:cubicBezTo>
                        <a:pt x="105771" y="0"/>
                        <a:pt x="114300" y="8529"/>
                        <a:pt x="114300" y="19050"/>
                      </a:cubicBezTo>
                      <a:lnTo>
                        <a:pt x="114300" y="209550"/>
                      </a:lnTo>
                      <a:cubicBezTo>
                        <a:pt x="114300" y="220071"/>
                        <a:pt x="105771" y="228600"/>
                        <a:pt x="95250" y="228600"/>
                      </a:cubicBezTo>
                      <a:lnTo>
                        <a:pt x="19050" y="228600"/>
                      </a:lnTo>
                      <a:cubicBezTo>
                        <a:pt x="8529" y="228600"/>
                        <a:pt x="0" y="220071"/>
                        <a:pt x="0" y="209550"/>
                      </a:cubicBezTo>
                      <a:lnTo>
                        <a:pt x="0" y="19050"/>
                      </a:lnTo>
                    </a:path>
                  </a:pathLst>
                </a:custGeom>
                <a:noFill/>
                <a:ln w="19050">
                  <a:solidFill>
                    <a:schemeClr val="tx2">
                      <a:lumMod val="40000"/>
                      <a:lumOff val="60000"/>
                    </a:schemeClr>
                  </a:solidFill>
                </a:ln>
              </p:spPr>
              <p:txBody>
                <a:bodyPr/>
                <a:lstStyle/>
                <a:p>
                  <a:endParaRPr lang="en-US"/>
                </a:p>
              </p:txBody>
            </p:sp>
            <p:sp>
              <p:nvSpPr>
                <p:cNvPr id="54" name="Freeform 54"/>
                <p:cNvSpPr/>
                <p:nvPr/>
              </p:nvSpPr>
              <p:spPr>
                <a:xfrm>
                  <a:off x="10420350" y="2819400"/>
                  <a:ext cx="114300" cy="304800"/>
                </a:xfrm>
                <a:custGeom>
                  <a:avLst/>
                  <a:gdLst/>
                  <a:ahLst/>
                  <a:cxnLst/>
                  <a:rect l="l" t="t" r="r" b="b"/>
                  <a:pathLst>
                    <a:path w="114300" h="304800">
                      <a:moveTo>
                        <a:pt x="0" y="19050"/>
                      </a:moveTo>
                      <a:cubicBezTo>
                        <a:pt x="0" y="8529"/>
                        <a:pt x="8529" y="0"/>
                        <a:pt x="19050" y="0"/>
                      </a:cubicBezTo>
                      <a:lnTo>
                        <a:pt x="95250" y="0"/>
                      </a:lnTo>
                      <a:cubicBezTo>
                        <a:pt x="105771" y="0"/>
                        <a:pt x="114300" y="8529"/>
                        <a:pt x="114300" y="19050"/>
                      </a:cubicBezTo>
                      <a:lnTo>
                        <a:pt x="114300" y="285750"/>
                      </a:lnTo>
                      <a:cubicBezTo>
                        <a:pt x="114300" y="296271"/>
                        <a:pt x="105771" y="304800"/>
                        <a:pt x="95250" y="304800"/>
                      </a:cubicBezTo>
                      <a:lnTo>
                        <a:pt x="19050" y="304800"/>
                      </a:lnTo>
                      <a:cubicBezTo>
                        <a:pt x="8529" y="304800"/>
                        <a:pt x="0" y="296271"/>
                        <a:pt x="0" y="285750"/>
                      </a:cubicBezTo>
                      <a:lnTo>
                        <a:pt x="0" y="19050"/>
                      </a:lnTo>
                    </a:path>
                  </a:pathLst>
                </a:custGeom>
                <a:noFill/>
                <a:ln w="19050">
                  <a:solidFill>
                    <a:schemeClr val="tx2">
                      <a:lumMod val="40000"/>
                      <a:lumOff val="60000"/>
                    </a:schemeClr>
                  </a:solidFill>
                </a:ln>
              </p:spPr>
              <p:txBody>
                <a:bodyPr/>
                <a:lstStyle/>
                <a:p>
                  <a:endParaRPr lang="en-US"/>
                </a:p>
              </p:txBody>
            </p:sp>
            <p:sp>
              <p:nvSpPr>
                <p:cNvPr id="55" name="Freeform 55"/>
                <p:cNvSpPr/>
                <p:nvPr/>
              </p:nvSpPr>
              <p:spPr>
                <a:xfrm>
                  <a:off x="10325100" y="3124200"/>
                  <a:ext cx="266700" cy="9525"/>
                </a:xfrm>
                <a:custGeom>
                  <a:avLst/>
                  <a:gdLst/>
                  <a:ahLst/>
                  <a:cxnLst/>
                  <a:rect l="l" t="t" r="r" b="b"/>
                  <a:pathLst>
                    <a:path w="266700" h="9525">
                      <a:moveTo>
                        <a:pt x="0" y="0"/>
                      </a:moveTo>
                      <a:lnTo>
                        <a:pt x="266700" y="0"/>
                      </a:lnTo>
                    </a:path>
                  </a:pathLst>
                </a:custGeom>
                <a:noFill/>
                <a:ln w="19050">
                  <a:solidFill>
                    <a:schemeClr val="tx2">
                      <a:lumMod val="40000"/>
                      <a:lumOff val="60000"/>
                    </a:schemeClr>
                  </a:solidFill>
                </a:ln>
              </p:spPr>
              <p:txBody>
                <a:bodyPr/>
                <a:lstStyle/>
                <a:p>
                  <a:endParaRPr lang="en-US"/>
                </a:p>
              </p:txBody>
            </p:sp>
          </p:grpSp>
          <p:sp>
            <p:nvSpPr>
              <p:cNvPr id="57" name="TextBox 57"/>
              <p:cNvSpPr txBox="1"/>
              <p:nvPr/>
            </p:nvSpPr>
            <p:spPr>
              <a:xfrm>
                <a:off x="9998202" y="3334702"/>
                <a:ext cx="958596" cy="161583"/>
              </a:xfrm>
              <a:prstGeom prst="rect">
                <a:avLst/>
              </a:prstGeom>
              <a:noFill/>
              <a:ln>
                <a:solidFill>
                  <a:schemeClr val="tx2">
                    <a:lumMod val="40000"/>
                    <a:lumOff val="60000"/>
                  </a:schemeClr>
                </a:solidFill>
              </a:ln>
            </p:spPr>
            <p:txBody>
              <a:bodyPr wrap="none" lIns="0" tIns="0" rIns="0" bIns="0" anchor="t" anchorCtr="0">
                <a:spAutoFit/>
              </a:bodyPr>
              <a:lstStyle/>
              <a:p>
                <a:pPr algn="ctr"/>
                <a:r>
                  <a:rPr lang="zh-CN" sz="1050" b="1" dirty="0">
                    <a:solidFill>
                      <a:schemeClr val="tx2">
                        <a:lumMod val="40000"/>
                        <a:lumOff val="60000"/>
                      </a:schemeClr>
                    </a:solidFill>
                    <a:latin typeface="Consolas"/>
                    <a:ea typeface="Microsoft YaHei"/>
                    <a:cs typeface="Consolas"/>
                  </a:rPr>
                  <a:t>imf-ra-charts</a:t>
                </a:r>
              </a:p>
            </p:txBody>
          </p:sp>
          <p:sp>
            <p:nvSpPr>
              <p:cNvPr id="58" name="TextBox 58"/>
              <p:cNvSpPr txBox="1"/>
              <p:nvPr/>
            </p:nvSpPr>
            <p:spPr>
              <a:xfrm>
                <a:off x="9956721" y="3560445"/>
                <a:ext cx="1041559" cy="182880"/>
              </a:xfrm>
              <a:prstGeom prst="rect">
                <a:avLst/>
              </a:prstGeom>
              <a:noFill/>
              <a:ln>
                <a:noFill/>
              </a:ln>
            </p:spPr>
            <p:txBody>
              <a:bodyPr wrap="none" lIns="0" tIns="0" rIns="0" bIns="0" anchor="t" anchorCtr="0">
                <a:spAutoFit/>
              </a:bodyPr>
              <a:lstStyle/>
              <a:p>
                <a:pPr algn="ctr"/>
                <a:r>
                  <a:rPr lang="zh-CN" sz="900" dirty="0">
                    <a:solidFill>
                      <a:srgbClr val="5B6470"/>
                    </a:solidFill>
                    <a:latin typeface="Arial"/>
                    <a:ea typeface="Microsoft YaHei"/>
                    <a:cs typeface="Arial"/>
                  </a:rPr>
                  <a:t>Chart handoff —</a:t>
                </a:r>
              </a:p>
            </p:txBody>
          </p:sp>
          <p:sp>
            <p:nvSpPr>
              <p:cNvPr id="59" name="TextBox 59"/>
              <p:cNvSpPr txBox="1"/>
              <p:nvPr/>
            </p:nvSpPr>
            <p:spPr>
              <a:xfrm>
                <a:off x="9759553" y="3712845"/>
                <a:ext cx="1435894" cy="182880"/>
              </a:xfrm>
              <a:prstGeom prst="rect">
                <a:avLst/>
              </a:prstGeom>
              <a:noFill/>
              <a:ln>
                <a:noFill/>
              </a:ln>
            </p:spPr>
            <p:txBody>
              <a:bodyPr wrap="none" lIns="0" tIns="0" rIns="0" bIns="0" anchor="t" anchorCtr="0">
                <a:spAutoFit/>
              </a:bodyPr>
              <a:lstStyle/>
              <a:p>
                <a:pPr algn="ctr"/>
                <a:r>
                  <a:rPr lang="zh-CN" sz="900" dirty="0">
                    <a:solidFill>
                      <a:srgbClr val="5B6470"/>
                    </a:solidFill>
                    <a:latin typeface="Arial"/>
                    <a:ea typeface="Microsoft YaHei"/>
                    <a:cs typeface="Arial"/>
                  </a:rPr>
                  <a:t>scaffolded, not wired</a:t>
                </a:r>
              </a:p>
            </p:txBody>
          </p:sp>
        </p:grpSp>
      </p:grpSp>
      <p:grpSp>
        <p:nvGrpSpPr>
          <p:cNvPr id="77" name="Group 77"/>
          <p:cNvGrpSpPr/>
          <p:nvPr/>
        </p:nvGrpSpPr>
        <p:grpSpPr>
          <a:xfrm>
            <a:off x="571500" y="4429125"/>
            <a:ext cx="11049000" cy="1714500"/>
            <a:chOff x="571500" y="4429125"/>
            <a:chExt cx="11049000" cy="1714500"/>
          </a:xfrm>
        </p:grpSpPr>
        <p:sp>
          <p:nvSpPr>
            <p:cNvPr id="62" name="Rectangle 62"/>
            <p:cNvSpPr/>
            <p:nvPr/>
          </p:nvSpPr>
          <p:spPr>
            <a:xfrm>
              <a:off x="571500" y="4429125"/>
              <a:ext cx="11049000" cy="1714500"/>
            </a:xfrm>
            <a:prstGeom prst="roundRect">
              <a:avLst>
                <a:gd name="adj" fmla="val 5556"/>
              </a:avLst>
            </a:prstGeom>
            <a:solidFill>
              <a:srgbClr val="EAF6FD"/>
            </a:solidFill>
            <a:ln>
              <a:noFill/>
            </a:ln>
          </p:spPr>
          <p:txBody>
            <a:bodyPr/>
            <a:lstStyle/>
            <a:p>
              <a:endParaRPr lang="en-US"/>
            </a:p>
          </p:txBody>
        </p:sp>
        <p:sp>
          <p:nvSpPr>
            <p:cNvPr id="63" name="TextBox 63"/>
            <p:cNvSpPr txBox="1"/>
            <p:nvPr/>
          </p:nvSpPr>
          <p:spPr>
            <a:xfrm>
              <a:off x="808672" y="4673441"/>
              <a:ext cx="1007778"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DESIGN PRINCIPLE</a:t>
              </a:r>
            </a:p>
          </p:txBody>
        </p:sp>
        <p:sp>
          <p:nvSpPr>
            <p:cNvPr id="64" name="TextBox 64"/>
            <p:cNvSpPr txBox="1"/>
            <p:nvPr/>
          </p:nvSpPr>
          <p:spPr>
            <a:xfrm>
              <a:off x="798195" y="4908232"/>
              <a:ext cx="8657034" cy="335280"/>
            </a:xfrm>
            <a:prstGeom prst="rect">
              <a:avLst/>
            </a:prstGeom>
            <a:noFill/>
            <a:ln>
              <a:noFill/>
            </a:ln>
          </p:spPr>
          <p:txBody>
            <a:bodyPr wrap="none" lIns="0" tIns="0" rIns="0" bIns="0" anchor="t" anchorCtr="0">
              <a:spAutoFit/>
            </a:bodyPr>
            <a:lstStyle/>
            <a:p>
              <a:pPr algn="l"/>
              <a:r>
                <a:rPr lang="zh-CN" sz="1650" i="1" dirty="0">
                  <a:solidFill>
                    <a:srgbClr val="004C97"/>
                  </a:solidFill>
                  <a:latin typeface="Arial Black"/>
                  <a:ea typeface="Microsoft YaHei"/>
                  <a:cs typeface="Arial Black"/>
                </a:rPr>
                <a:t>Siblings, not nested. DRY through cross-references, not orchestration.</a:t>
              </a:r>
            </a:p>
          </p:txBody>
        </p:sp>
        <p:grpSp>
          <p:nvGrpSpPr>
            <p:cNvPr id="68" name="Group 68"/>
            <p:cNvGrpSpPr/>
            <p:nvPr/>
          </p:nvGrpSpPr>
          <p:grpSpPr>
            <a:xfrm>
              <a:off x="819150" y="5410200"/>
              <a:ext cx="2858620" cy="533400"/>
              <a:chOff x="819150" y="5410200"/>
              <a:chExt cx="2858620" cy="533400"/>
            </a:xfrm>
          </p:grpSpPr>
          <p:sp>
            <p:nvSpPr>
              <p:cNvPr id="65" name="Rectangle 65"/>
              <p:cNvSpPr/>
              <p:nvPr/>
            </p:nvSpPr>
            <p:spPr>
              <a:xfrm>
                <a:off x="819150" y="5410200"/>
                <a:ext cx="38100" cy="533400"/>
              </a:xfrm>
              <a:prstGeom prst="rect">
                <a:avLst/>
              </a:prstGeom>
              <a:solidFill>
                <a:srgbClr val="707372"/>
              </a:solidFill>
              <a:ln>
                <a:noFill/>
              </a:ln>
            </p:spPr>
            <p:txBody>
              <a:bodyPr/>
              <a:lstStyle/>
              <a:p>
                <a:endParaRPr lang="en-US"/>
              </a:p>
            </p:txBody>
          </p:sp>
          <p:sp>
            <p:nvSpPr>
              <p:cNvPr id="66" name="TextBox 66"/>
              <p:cNvSpPr txBox="1"/>
              <p:nvPr/>
            </p:nvSpPr>
            <p:spPr>
              <a:xfrm>
                <a:off x="996315" y="5487352"/>
                <a:ext cx="2063575" cy="213360"/>
              </a:xfrm>
              <a:prstGeom prst="rect">
                <a:avLst/>
              </a:prstGeom>
              <a:noFill/>
              <a:ln>
                <a:noFill/>
              </a:ln>
            </p:spPr>
            <p:txBody>
              <a:bodyPr wrap="none" lIns="0" tIns="0" rIns="0" bIns="0" anchor="t" anchorCtr="0">
                <a:spAutoFit/>
              </a:bodyPr>
              <a:lstStyle/>
              <a:p>
                <a:pPr algn="l"/>
                <a:r>
                  <a:rPr lang="zh-CN" sz="1050" b="1" dirty="0">
                    <a:solidFill>
                      <a:srgbClr val="004C97"/>
                    </a:solidFill>
                    <a:latin typeface="Arial"/>
                    <a:ea typeface="Microsoft YaHei"/>
                    <a:cs typeface="Arial"/>
                  </a:rPr>
                  <a:t>One folder + one SKILL.md</a:t>
                </a:r>
              </a:p>
            </p:txBody>
          </p:sp>
          <p:sp>
            <p:nvSpPr>
              <p:cNvPr id="67" name="TextBox 67"/>
              <p:cNvSpPr txBox="1"/>
              <p:nvPr/>
            </p:nvSpPr>
            <p:spPr>
              <a:xfrm>
                <a:off x="997268" y="5704999"/>
                <a:ext cx="2680502"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Each skill stays small and inspectable.</a:t>
                </a:r>
              </a:p>
            </p:txBody>
          </p:sp>
        </p:grpSp>
        <p:grpSp>
          <p:nvGrpSpPr>
            <p:cNvPr id="72" name="Group 72"/>
            <p:cNvGrpSpPr/>
            <p:nvPr/>
          </p:nvGrpSpPr>
          <p:grpSpPr>
            <a:xfrm>
              <a:off x="4438650" y="5410200"/>
              <a:ext cx="2972539" cy="533400"/>
              <a:chOff x="4438650" y="5410200"/>
              <a:chExt cx="2972539" cy="533400"/>
            </a:xfrm>
          </p:grpSpPr>
          <p:sp>
            <p:nvSpPr>
              <p:cNvPr id="69" name="Rectangle 69"/>
              <p:cNvSpPr/>
              <p:nvPr/>
            </p:nvSpPr>
            <p:spPr>
              <a:xfrm>
                <a:off x="4438650" y="5410200"/>
                <a:ext cx="38100" cy="533400"/>
              </a:xfrm>
              <a:prstGeom prst="rect">
                <a:avLst/>
              </a:prstGeom>
              <a:solidFill>
                <a:srgbClr val="707372"/>
              </a:solidFill>
              <a:ln>
                <a:noFill/>
              </a:ln>
            </p:spPr>
            <p:txBody>
              <a:bodyPr/>
              <a:lstStyle/>
              <a:p>
                <a:endParaRPr lang="en-US"/>
              </a:p>
            </p:txBody>
          </p:sp>
          <p:sp>
            <p:nvSpPr>
              <p:cNvPr id="70" name="TextBox 70"/>
              <p:cNvSpPr txBox="1"/>
              <p:nvPr/>
            </p:nvSpPr>
            <p:spPr>
              <a:xfrm>
                <a:off x="4615815" y="5487352"/>
                <a:ext cx="2417819" cy="213360"/>
              </a:xfrm>
              <a:prstGeom prst="rect">
                <a:avLst/>
              </a:prstGeom>
              <a:noFill/>
              <a:ln>
                <a:noFill/>
              </a:ln>
            </p:spPr>
            <p:txBody>
              <a:bodyPr wrap="none" lIns="0" tIns="0" rIns="0" bIns="0" anchor="t" anchorCtr="0">
                <a:spAutoFit/>
              </a:bodyPr>
              <a:lstStyle/>
              <a:p>
                <a:pPr algn="l"/>
                <a:r>
                  <a:rPr lang="zh-CN" sz="1050" b="1" dirty="0">
                    <a:solidFill>
                      <a:srgbClr val="004C97"/>
                    </a:solidFill>
                    <a:latin typeface="Arial"/>
                    <a:ea typeface="Microsoft YaHei"/>
                    <a:cs typeface="Arial"/>
                  </a:rPr>
                  <a:t>Workers reference each other</a:t>
                </a:r>
              </a:p>
            </p:txBody>
          </p:sp>
          <p:sp>
            <p:nvSpPr>
              <p:cNvPr id="71" name="TextBox 71"/>
              <p:cNvSpPr txBox="1"/>
              <p:nvPr/>
            </p:nvSpPr>
            <p:spPr>
              <a:xfrm>
                <a:off x="4616768" y="5704999"/>
                <a:ext cx="2794421"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No central orchestrator. No glue layer.</a:t>
                </a:r>
              </a:p>
            </p:txBody>
          </p:sp>
        </p:grpSp>
        <p:grpSp>
          <p:nvGrpSpPr>
            <p:cNvPr id="76" name="Group 76"/>
            <p:cNvGrpSpPr/>
            <p:nvPr/>
          </p:nvGrpSpPr>
          <p:grpSpPr>
            <a:xfrm>
              <a:off x="8058150" y="5410200"/>
              <a:ext cx="2595182" cy="533400"/>
              <a:chOff x="8058150" y="5410200"/>
              <a:chExt cx="2595182" cy="533400"/>
            </a:xfrm>
          </p:grpSpPr>
          <p:sp>
            <p:nvSpPr>
              <p:cNvPr id="73" name="Rectangle 73"/>
              <p:cNvSpPr/>
              <p:nvPr/>
            </p:nvSpPr>
            <p:spPr>
              <a:xfrm>
                <a:off x="8058150" y="5410200"/>
                <a:ext cx="38100" cy="533400"/>
              </a:xfrm>
              <a:prstGeom prst="rect">
                <a:avLst/>
              </a:prstGeom>
              <a:solidFill>
                <a:srgbClr val="707372"/>
              </a:solidFill>
              <a:ln>
                <a:noFill/>
              </a:ln>
            </p:spPr>
            <p:txBody>
              <a:bodyPr/>
              <a:lstStyle/>
              <a:p>
                <a:endParaRPr lang="en-US"/>
              </a:p>
            </p:txBody>
          </p:sp>
          <p:sp>
            <p:nvSpPr>
              <p:cNvPr id="74" name="TextBox 74"/>
              <p:cNvSpPr txBox="1"/>
              <p:nvPr/>
            </p:nvSpPr>
            <p:spPr>
              <a:xfrm>
                <a:off x="8235315" y="5487352"/>
                <a:ext cx="2119932" cy="213360"/>
              </a:xfrm>
              <a:prstGeom prst="rect">
                <a:avLst/>
              </a:prstGeom>
              <a:noFill/>
              <a:ln>
                <a:noFill/>
              </a:ln>
            </p:spPr>
            <p:txBody>
              <a:bodyPr wrap="none" lIns="0" tIns="0" rIns="0" bIns="0" anchor="t" anchorCtr="0">
                <a:spAutoFit/>
              </a:bodyPr>
              <a:lstStyle/>
              <a:p>
                <a:pPr algn="l"/>
                <a:r>
                  <a:rPr lang="zh-CN" sz="1050" b="1" dirty="0">
                    <a:solidFill>
                      <a:srgbClr val="004C97"/>
                    </a:solidFill>
                    <a:latin typeface="Arial"/>
                    <a:ea typeface="Microsoft YaHei"/>
                    <a:cs typeface="Arial"/>
                  </a:rPr>
                  <a:t>Umbrella loads conventions</a:t>
                </a:r>
              </a:p>
            </p:txBody>
          </p:sp>
          <p:sp>
            <p:nvSpPr>
              <p:cNvPr id="75" name="TextBox 75"/>
              <p:cNvSpPr txBox="1"/>
              <p:nvPr/>
            </p:nvSpPr>
            <p:spPr>
              <a:xfrm>
                <a:off x="8236268" y="5704999"/>
                <a:ext cx="2417064"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No pillar-specific logic at the top.</a:t>
                </a:r>
              </a:p>
            </p:txBody>
          </p:sp>
        </p:grpSp>
      </p:grpSp>
      <p:grpSp>
        <p:nvGrpSpPr>
          <p:cNvPr id="80" name="Group 80"/>
          <p:cNvGrpSpPr/>
          <p:nvPr/>
        </p:nvGrpSpPr>
        <p:grpSpPr>
          <a:xfrm>
            <a:off x="561022" y="6530816"/>
            <a:ext cx="11069956" cy="167640"/>
            <a:chOff x="561022" y="6530816"/>
            <a:chExt cx="11069956" cy="167640"/>
          </a:xfrm>
        </p:grpSpPr>
        <p:sp>
          <p:nvSpPr>
            <p:cNvPr id="78" name="TextBox 78"/>
            <p:cNvSpPr txBox="1"/>
            <p:nvPr/>
          </p:nvSpPr>
          <p:spPr>
            <a:xfrm>
              <a:off x="561022" y="6530816"/>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79" name="TextBox 79"/>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AA3AE"/>
                  </a:solidFill>
                  <a:latin typeface="Arial"/>
                  <a:ea typeface="Microsoft YaHei"/>
                  <a:cs typeface="Arial"/>
                </a:rPr>
                <a:t>05 / 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400"/>
                                        <p:tgtEl>
                                          <p:spTgt spid="61"/>
                                        </p:tgtEl>
                                      </p:cBhvr>
                                    </p:animEffect>
                                  </p:childTnLst>
                                </p:cTn>
                              </p:par>
                            </p:childTnLst>
                          </p:cTn>
                        </p:par>
                        <p:par>
                          <p:cTn id="8" fill="hold">
                            <p:stCondLst>
                              <p:cond delay="900"/>
                            </p:stCondLst>
                            <p:childTnLst>
                              <p:par>
                                <p:cTn id="9" presetID="19" presetClass="entr" presetSubtype="0" fill="hold" nodeType="afterEffect">
                                  <p:stCondLst>
                                    <p:cond delay="0"/>
                                  </p:stCondLst>
                                  <p:childTnLst>
                                    <p:set>
                                      <p:cBhvr>
                                        <p:cTn id="10" dur="1" fill="hold">
                                          <p:stCondLst>
                                            <p:cond delay="0"/>
                                          </p:stCondLst>
                                        </p:cTn>
                                        <p:tgtEl>
                                          <p:spTgt spid="77"/>
                                        </p:tgtEl>
                                        <p:attrNameLst>
                                          <p:attrName>style.visibility</p:attrName>
                                        </p:attrNameLst>
                                      </p:cBhvr>
                                      <p:to>
                                        <p:strVal val="visible"/>
                                      </p:to>
                                    </p:set>
                                    <p:animEffect transition="in" filter="wheel(1)">
                                      <p:cBhvr>
                                        <p:cTn id="11"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7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Eyebrow"/>
          <p:cNvSpPr txBox="1"/>
          <p:nvPr/>
        </p:nvSpPr>
        <p:spPr>
          <a:xfrm>
            <a:off x="560070" y="569595"/>
            <a:ext cx="2353208" cy="138499"/>
          </a:xfrm>
          <a:prstGeom prst="rect">
            <a:avLst/>
          </a:prstGeom>
          <a:noFill/>
          <a:ln>
            <a:noFill/>
          </a:ln>
        </p:spPr>
        <p:txBody>
          <a:bodyPr wrap="none" lIns="0" tIns="0" rIns="0" bIns="0" anchor="t">
            <a:spAutoFit/>
          </a:bodyPr>
          <a:lstStyle/>
          <a:p>
            <a:pPr algn="l"/>
            <a:r>
              <a:rPr lang="en-US" sz="900" b="1" dirty="0">
                <a:solidFill>
                  <a:srgbClr val="707372"/>
                </a:solidFill>
                <a:latin typeface="Arial"/>
                <a:cs typeface="Arial"/>
              </a:rPr>
              <a:t>05 · DATABASE &amp; INDICATOR COVERAGE</a:t>
            </a:r>
          </a:p>
        </p:txBody>
      </p:sp>
      <p:sp>
        <p:nvSpPr>
          <p:cNvPr id="102" name="Subtitle"/>
          <p:cNvSpPr txBox="1"/>
          <p:nvPr/>
        </p:nvSpPr>
        <p:spPr>
          <a:xfrm>
            <a:off x="556260" y="1280160"/>
            <a:ext cx="4220707" cy="184666"/>
          </a:xfrm>
          <a:prstGeom prst="rect">
            <a:avLst/>
          </a:prstGeom>
          <a:noFill/>
          <a:ln>
            <a:noFill/>
          </a:ln>
        </p:spPr>
        <p:txBody>
          <a:bodyPr wrap="none" lIns="0" tIns="0" rIns="0" bIns="0" anchor="t">
            <a:spAutoFit/>
          </a:bodyPr>
          <a:lstStyle/>
          <a:p>
            <a:pPr algn="l"/>
            <a:r>
              <a:rPr lang="en-US" altLang="zh-CN" sz="1200" i="1" dirty="0">
                <a:solidFill>
                  <a:srgbClr val="5B6470"/>
                </a:solidFill>
                <a:latin typeface="Arial"/>
                <a:cs typeface="Arial"/>
              </a:rPr>
              <a:t>Broad coverage across </a:t>
            </a:r>
            <a:r>
              <a:rPr lang="en-US" altLang="zh-CN" sz="1200" i="1" dirty="0" err="1">
                <a:solidFill>
                  <a:srgbClr val="5B6470"/>
                </a:solidFill>
                <a:latin typeface="Arial"/>
                <a:cs typeface="Arial"/>
              </a:rPr>
              <a:t>iData</a:t>
            </a:r>
            <a:r>
              <a:rPr lang="en-US" altLang="zh-CN" sz="1200" i="1" dirty="0">
                <a:solidFill>
                  <a:srgbClr val="5B6470"/>
                </a:solidFill>
                <a:latin typeface="Arial"/>
                <a:cs typeface="Arial"/>
              </a:rPr>
              <a:t> catalogs and adjacent sources.</a:t>
            </a:r>
            <a:endParaRPr lang="en-US" sz="1200" i="1" dirty="0">
              <a:solidFill>
                <a:srgbClr val="5B6470"/>
              </a:solidFill>
              <a:latin typeface="Arial"/>
              <a:cs typeface="Arial"/>
            </a:endParaRPr>
          </a:p>
        </p:txBody>
      </p:sp>
      <p:sp>
        <p:nvSpPr>
          <p:cNvPr id="900" name="FooterLine"/>
          <p:cNvSpPr/>
          <p:nvPr/>
        </p:nvSpPr>
        <p:spPr>
          <a:xfrm>
            <a:off x="571500" y="5857875"/>
            <a:ext cx="11049000" cy="9525"/>
          </a:xfrm>
          <a:custGeom>
            <a:avLst/>
            <a:gdLst/>
            <a:ahLst/>
            <a:cxnLst/>
            <a:rect l="l" t="t" r="r" b="b"/>
            <a:pathLst>
              <a:path w="11049000" h="9525">
                <a:moveTo>
                  <a:pt x="0" y="0"/>
                </a:moveTo>
                <a:lnTo>
                  <a:pt x="11049000" y="0"/>
                </a:lnTo>
              </a:path>
            </a:pathLst>
          </a:custGeom>
          <a:noFill/>
          <a:ln w="9525">
            <a:solidFill>
              <a:srgbClr val="CDD7E2"/>
            </a:solidFill>
          </a:ln>
        </p:spPr>
        <p:txBody>
          <a:bodyPr/>
          <a:lstStyle/>
          <a:p>
            <a:endParaRPr lang="en-US"/>
          </a:p>
        </p:txBody>
      </p:sp>
      <p:sp>
        <p:nvSpPr>
          <p:cNvPr id="901" name="Takeaway"/>
          <p:cNvSpPr txBox="1"/>
          <p:nvPr/>
        </p:nvSpPr>
        <p:spPr>
          <a:xfrm>
            <a:off x="550545" y="6000000"/>
            <a:ext cx="11080433" cy="455598"/>
          </a:xfrm>
          <a:prstGeom prst="rect">
            <a:avLst/>
          </a:prstGeom>
          <a:noFill/>
          <a:ln>
            <a:noFill/>
          </a:ln>
        </p:spPr>
        <p:txBody>
          <a:bodyPr wrap="square" lIns="0" tIns="0" rIns="0" bIns="0" anchor="t"/>
          <a:lstStyle/>
          <a:p>
            <a:pPr algn="l"/>
            <a:r>
              <a:rPr lang="en-US" sz="1200" b="1" i="1" dirty="0">
                <a:solidFill>
                  <a:srgbClr val="004C97"/>
                </a:solidFill>
                <a:latin typeface="Arial Black"/>
                <a:cs typeface="Arial Black"/>
              </a:rPr>
              <a:t>One workflow, many sources. </a:t>
            </a:r>
            <a:r>
              <a:rPr lang="en-US" sz="1200" i="1" dirty="0">
                <a:solidFill>
                  <a:srgbClr val="5B6470"/>
                </a:solidFill>
                <a:latin typeface="Arial"/>
                <a:cs typeface="Arial"/>
              </a:rPr>
              <a:t>RA-Skills separates source routing, identifier discovery, country/group resolution, and data fetching — from plain-English question to confirmed data pull.</a:t>
            </a:r>
          </a:p>
        </p:txBody>
      </p:sp>
      <p:sp>
        <p:nvSpPr>
          <p:cNvPr id="903" name="FooterBrand"/>
          <p:cNvSpPr txBox="1"/>
          <p:nvPr/>
        </p:nvSpPr>
        <p:spPr>
          <a:xfrm>
            <a:off x="561022" y="6673691"/>
            <a:ext cx="2099429" cy="167640"/>
          </a:xfrm>
          <a:prstGeom prst="rect">
            <a:avLst/>
          </a:prstGeom>
          <a:noFill/>
          <a:ln>
            <a:noFill/>
          </a:ln>
        </p:spPr>
        <p:txBody>
          <a:bodyPr wrap="none" lIns="0" tIns="0" rIns="0" bIns="0" anchor="t">
            <a:spAutoFit/>
          </a:bodyPr>
          <a:lstStyle/>
          <a:p>
            <a:pPr algn="l"/>
            <a:r>
              <a:rPr lang="en-US" sz="825">
                <a:solidFill>
                  <a:srgbClr val="9AA3AE"/>
                </a:solidFill>
                <a:latin typeface="Arial"/>
                <a:cs typeface="Arial"/>
              </a:rPr>
              <a:t>RA Skills · Internal showcase · 2026</a:t>
            </a:r>
          </a:p>
        </p:txBody>
      </p:sp>
      <p:sp>
        <p:nvSpPr>
          <p:cNvPr id="904" name="FooterPage"/>
          <p:cNvSpPr txBox="1"/>
          <p:nvPr/>
        </p:nvSpPr>
        <p:spPr>
          <a:xfrm>
            <a:off x="11336025" y="6673691"/>
            <a:ext cx="294953" cy="126958"/>
          </a:xfrm>
          <a:prstGeom prst="rect">
            <a:avLst/>
          </a:prstGeom>
          <a:noFill/>
          <a:ln>
            <a:noFill/>
          </a:ln>
        </p:spPr>
        <p:txBody>
          <a:bodyPr wrap="none" lIns="0" tIns="0" rIns="0" bIns="0" anchor="t">
            <a:spAutoFit/>
          </a:bodyPr>
          <a:lstStyle/>
          <a:p>
            <a:pPr algn="r"/>
            <a:r>
              <a:rPr lang="en-US" sz="825" dirty="0">
                <a:solidFill>
                  <a:srgbClr val="9AA3AE"/>
                </a:solidFill>
                <a:latin typeface="Arial"/>
                <a:cs typeface="Arial"/>
              </a:rPr>
              <a:t>06 /10</a:t>
            </a:r>
          </a:p>
        </p:txBody>
      </p:sp>
      <p:graphicFrame>
        <p:nvGraphicFramePr>
          <p:cNvPr id="3" name="Diagram 2">
            <a:extLst>
              <a:ext uri="{FF2B5EF4-FFF2-40B4-BE49-F238E27FC236}">
                <a16:creationId xmlns:a16="http://schemas.microsoft.com/office/drawing/2014/main" id="{41821CC1-6C15-79A1-C70F-794756A5805A}"/>
              </a:ext>
            </a:extLst>
          </p:cNvPr>
          <p:cNvGraphicFramePr/>
          <p:nvPr>
            <p:extLst>
              <p:ext uri="{D42A27DB-BD31-4B8C-83A1-F6EECF244321}">
                <p14:modId xmlns:p14="http://schemas.microsoft.com/office/powerpoint/2010/main" val="1561570434"/>
              </p:ext>
            </p:extLst>
          </p:nvPr>
        </p:nvGraphicFramePr>
        <p:xfrm>
          <a:off x="541020" y="1546603"/>
          <a:ext cx="11280866" cy="41027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103D2922-A916-C3C1-4CBA-F6A562431F6B}"/>
              </a:ext>
            </a:extLst>
          </p:cNvPr>
          <p:cNvSpPr txBox="1"/>
          <p:nvPr/>
        </p:nvSpPr>
        <p:spPr>
          <a:xfrm>
            <a:off x="3537856" y="2758774"/>
            <a:ext cx="6096000" cy="365760"/>
          </a:xfrm>
          <a:prstGeom prst="rect">
            <a:avLst/>
          </a:prstGeom>
          <a:noFill/>
        </p:spPr>
        <p:txBody>
          <a:bodyPr wrap="square">
            <a:spAutoFit/>
          </a:bodyPr>
          <a:lstStyle/>
          <a:p>
            <a:r>
              <a:rPr lang="en-US" sz="1800" dirty="0">
                <a:solidFill>
                  <a:srgbClr val="2B3540"/>
                </a:solidFill>
                <a:latin typeface="Arial"/>
                <a:cs typeface="Arial"/>
              </a:rPr>
              <a:t>WEO Live, WEO vintages, GAS, GEE, etc.</a:t>
            </a:r>
          </a:p>
        </p:txBody>
      </p:sp>
      <p:sp>
        <p:nvSpPr>
          <p:cNvPr id="7" name="TextBox 6">
            <a:extLst>
              <a:ext uri="{FF2B5EF4-FFF2-40B4-BE49-F238E27FC236}">
                <a16:creationId xmlns:a16="http://schemas.microsoft.com/office/drawing/2014/main" id="{08DE4FBA-A9F2-0570-F64E-75D671C54D47}"/>
              </a:ext>
            </a:extLst>
          </p:cNvPr>
          <p:cNvSpPr txBox="1"/>
          <p:nvPr/>
        </p:nvSpPr>
        <p:spPr>
          <a:xfrm>
            <a:off x="3537856" y="3587066"/>
            <a:ext cx="7837714" cy="365760"/>
          </a:xfrm>
          <a:prstGeom prst="rect">
            <a:avLst/>
          </a:prstGeom>
          <a:noFill/>
        </p:spPr>
        <p:txBody>
          <a:bodyPr wrap="square">
            <a:spAutoFit/>
          </a:bodyPr>
          <a:lstStyle/>
          <a:p>
            <a:r>
              <a:rPr lang="en-US" sz="1800" dirty="0">
                <a:solidFill>
                  <a:srgbClr val="2B3540"/>
                </a:solidFill>
                <a:latin typeface="Arial"/>
                <a:cs typeface="Arial"/>
              </a:rPr>
              <a:t>BOP, CPI, GFS, MFS, EER, ER, IIP, FSI</a:t>
            </a:r>
            <a:r>
              <a:rPr lang="en-US" dirty="0">
                <a:solidFill>
                  <a:srgbClr val="2B3540"/>
                </a:solidFill>
                <a:latin typeface="Arial"/>
                <a:cs typeface="Arial"/>
              </a:rPr>
              <a:t>, etc.</a:t>
            </a:r>
            <a:endParaRPr lang="en-US" sz="1800" dirty="0">
              <a:solidFill>
                <a:srgbClr val="2B3540"/>
              </a:solidFill>
              <a:latin typeface="Arial"/>
              <a:cs typeface="Arial"/>
            </a:endParaRPr>
          </a:p>
        </p:txBody>
      </p:sp>
      <p:sp>
        <p:nvSpPr>
          <p:cNvPr id="101" name="Title"/>
          <p:cNvSpPr txBox="1"/>
          <p:nvPr/>
        </p:nvSpPr>
        <p:spPr>
          <a:xfrm>
            <a:off x="3657599" y="4429315"/>
            <a:ext cx="7553350" cy="276999"/>
          </a:xfrm>
          <a:prstGeom prst="rect">
            <a:avLst/>
          </a:prstGeom>
          <a:noFill/>
          <a:ln>
            <a:noFill/>
          </a:ln>
        </p:spPr>
        <p:txBody>
          <a:bodyPr wrap="square" lIns="0" tIns="0" rIns="0" bIns="0" anchor="t">
            <a:spAutoFit/>
          </a:bodyPr>
          <a:lstStyle/>
          <a:p>
            <a:r>
              <a:rPr lang="en-US" dirty="0">
                <a:solidFill>
                  <a:srgbClr val="2B3540"/>
                </a:solidFill>
                <a:latin typeface="Arial"/>
                <a:cs typeface="Arial"/>
              </a:rPr>
              <a:t>Bloomberg </a:t>
            </a:r>
            <a:r>
              <a:rPr lang="en-US" dirty="0" err="1">
                <a:solidFill>
                  <a:srgbClr val="2B3540"/>
                </a:solidFill>
                <a:latin typeface="Arial"/>
                <a:cs typeface="Arial"/>
              </a:rPr>
              <a:t>iData</a:t>
            </a:r>
            <a:r>
              <a:rPr lang="en-US" dirty="0">
                <a:solidFill>
                  <a:srgbClr val="2B3540"/>
                </a:solidFill>
                <a:latin typeface="Arial"/>
                <a:cs typeface="Arial"/>
              </a:rPr>
              <a:t> Selected, Haver daily / weekly / monthly databases, etc.</a:t>
            </a:r>
          </a:p>
        </p:txBody>
      </p:sp>
      <p:sp>
        <p:nvSpPr>
          <p:cNvPr id="9" name="TextBox 8">
            <a:extLst>
              <a:ext uri="{FF2B5EF4-FFF2-40B4-BE49-F238E27FC236}">
                <a16:creationId xmlns:a16="http://schemas.microsoft.com/office/drawing/2014/main" id="{F9E6CFF1-376A-4AC0-D2D6-3460BEEF6EA2}"/>
              </a:ext>
            </a:extLst>
          </p:cNvPr>
          <p:cNvSpPr txBox="1"/>
          <p:nvPr/>
        </p:nvSpPr>
        <p:spPr>
          <a:xfrm>
            <a:off x="3537856" y="1930482"/>
            <a:ext cx="8425543" cy="369332"/>
          </a:xfrm>
          <a:prstGeom prst="rect">
            <a:avLst/>
          </a:prstGeom>
          <a:noFill/>
        </p:spPr>
        <p:txBody>
          <a:bodyPr wrap="square">
            <a:spAutoFit/>
          </a:bodyPr>
          <a:lstStyle/>
          <a:p>
            <a:r>
              <a:rPr lang="en-US" sz="1800" dirty="0">
                <a:solidFill>
                  <a:srgbClr val="2B3540"/>
                </a:solidFill>
                <a:latin typeface="Arial"/>
                <a:cs typeface="Arial"/>
              </a:rPr>
              <a:t>WEO </a:t>
            </a:r>
            <a:r>
              <a:rPr lang="en-US" dirty="0">
                <a:solidFill>
                  <a:srgbClr val="2B3540"/>
                </a:solidFill>
                <a:latin typeface="Arial"/>
                <a:cs typeface="Arial"/>
              </a:rPr>
              <a:t>based research c</a:t>
            </a:r>
            <a:r>
              <a:rPr lang="en-US" sz="1800" dirty="0">
                <a:solidFill>
                  <a:srgbClr val="2B3540"/>
                </a:solidFill>
                <a:latin typeface="Arial"/>
                <a:cs typeface="Arial"/>
              </a:rPr>
              <a:t>ountry-group matrix, IMF member scopes, PRGT groups</a:t>
            </a:r>
          </a:p>
        </p:txBody>
      </p:sp>
      <p:sp>
        <p:nvSpPr>
          <p:cNvPr id="10" name="CardSrc3">
            <a:extLst>
              <a:ext uri="{FF2B5EF4-FFF2-40B4-BE49-F238E27FC236}">
                <a16:creationId xmlns:a16="http://schemas.microsoft.com/office/drawing/2014/main" id="{41F95750-256F-6B9B-B2B7-501CCE0EBD16}"/>
              </a:ext>
            </a:extLst>
          </p:cNvPr>
          <p:cNvSpPr txBox="1"/>
          <p:nvPr/>
        </p:nvSpPr>
        <p:spPr>
          <a:xfrm>
            <a:off x="3657599" y="5243651"/>
            <a:ext cx="4350980" cy="365760"/>
          </a:xfrm>
          <a:prstGeom prst="rect">
            <a:avLst/>
          </a:prstGeom>
          <a:noFill/>
          <a:ln>
            <a:noFill/>
          </a:ln>
        </p:spPr>
        <p:txBody>
          <a:bodyPr wrap="square" lIns="0" tIns="0" rIns="0" bIns="0" anchor="t"/>
          <a:lstStyle/>
          <a:p>
            <a:r>
              <a:rPr lang="en-US" dirty="0">
                <a:solidFill>
                  <a:srgbClr val="2B3540"/>
                </a:solidFill>
                <a:latin typeface="Arial"/>
                <a:cs typeface="Arial"/>
              </a:rPr>
              <a:t>World Bank WDI, WTO-IMF Tariff Tracker</a:t>
            </a:r>
          </a:p>
        </p:txBody>
      </p:sp>
      <p:sp>
        <p:nvSpPr>
          <p:cNvPr id="11" name="Title">
            <a:extLst>
              <a:ext uri="{FF2B5EF4-FFF2-40B4-BE49-F238E27FC236}">
                <a16:creationId xmlns:a16="http://schemas.microsoft.com/office/drawing/2014/main" id="{40BF673D-2B50-4036-4BE6-821227DF3376}"/>
              </a:ext>
            </a:extLst>
          </p:cNvPr>
          <p:cNvSpPr txBox="1"/>
          <p:nvPr/>
        </p:nvSpPr>
        <p:spPr>
          <a:xfrm>
            <a:off x="541020" y="836295"/>
            <a:ext cx="9500000" cy="400000"/>
          </a:xfrm>
          <a:prstGeom prst="rect">
            <a:avLst/>
          </a:prstGeom>
          <a:noFill/>
          <a:ln>
            <a:noFill/>
          </a:ln>
        </p:spPr>
        <p:txBody>
          <a:bodyPr wrap="none" lIns="0" tIns="0" rIns="0" bIns="0" anchor="t">
            <a:spAutoFit/>
          </a:bodyPr>
          <a:lstStyle/>
          <a:p>
            <a:pPr algn="l"/>
            <a:r>
              <a:rPr lang="en-US" sz="2400" b="1" dirty="0">
                <a:solidFill>
                  <a:srgbClr val="004C97"/>
                </a:solidFill>
                <a:latin typeface="Arial Black"/>
                <a:cs typeface="Arial Black"/>
              </a:rPr>
              <a:t>What RA-Skills Covers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24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grpSp>
        <p:nvGrpSpPr>
          <p:cNvPr id="6" name="Group 6"/>
          <p:cNvGrpSpPr/>
          <p:nvPr/>
        </p:nvGrpSpPr>
        <p:grpSpPr>
          <a:xfrm>
            <a:off x="541020" y="569595"/>
            <a:ext cx="8599627" cy="954405"/>
            <a:chOff x="541020" y="569595"/>
            <a:chExt cx="8599627" cy="954405"/>
          </a:xfrm>
        </p:grpSpPr>
        <p:sp>
          <p:nvSpPr>
            <p:cNvPr id="3" name="TextBox 3"/>
            <p:cNvSpPr txBox="1"/>
            <p:nvPr/>
          </p:nvSpPr>
          <p:spPr>
            <a:xfrm>
              <a:off x="560070" y="569595"/>
              <a:ext cx="1865390" cy="182880"/>
            </a:xfrm>
            <a:prstGeom prst="rect">
              <a:avLst/>
            </a:prstGeom>
            <a:noFill/>
            <a:ln>
              <a:noFill/>
            </a:ln>
          </p:spPr>
          <p:txBody>
            <a:bodyPr wrap="none" lIns="0" tIns="0" rIns="0" bIns="0" anchor="t" anchorCtr="0">
              <a:spAutoFit/>
            </a:bodyPr>
            <a:lstStyle/>
            <a:p>
              <a:pPr algn="l"/>
              <a:r>
                <a:rPr lang="zh-CN" sz="900" b="1" dirty="0">
                  <a:solidFill>
                    <a:srgbClr val="707372"/>
                  </a:solidFill>
                  <a:latin typeface="Arial"/>
                  <a:ea typeface="Microsoft YaHei"/>
                  <a:cs typeface="Arial"/>
                </a:rPr>
                <a:t>06 · CAPABILITY 1 — DISCOVER</a:t>
              </a:r>
            </a:p>
          </p:txBody>
        </p:sp>
        <p:sp>
          <p:nvSpPr>
            <p:cNvPr id="4" name="TextBox 4"/>
            <p:cNvSpPr txBox="1"/>
            <p:nvPr/>
          </p:nvSpPr>
          <p:spPr>
            <a:xfrm>
              <a:off x="541020" y="836295"/>
              <a:ext cx="8599627" cy="487680"/>
            </a:xfrm>
            <a:prstGeom prst="rect">
              <a:avLst/>
            </a:prstGeom>
            <a:noFill/>
            <a:ln>
              <a:noFill/>
            </a:ln>
          </p:spPr>
          <p:txBody>
            <a:bodyPr wrap="none" lIns="0" tIns="0" rIns="0" bIns="0" anchor="t" anchorCtr="0">
              <a:spAutoFit/>
            </a:bodyPr>
            <a:lstStyle/>
            <a:p>
              <a:pPr algn="l"/>
              <a:r>
                <a:rPr lang="zh-CN" sz="2400" b="1" dirty="0">
                  <a:solidFill>
                    <a:srgbClr val="004C97"/>
                  </a:solidFill>
                  <a:latin typeface="Arial Black"/>
                  <a:ea typeface="Microsoft YaHei"/>
                  <a:cs typeface="Arial Black"/>
                </a:rPr>
                <a:t>Plain English → the four things you actually need</a:t>
              </a:r>
            </a:p>
          </p:txBody>
        </p:sp>
        <p:sp>
          <p:nvSpPr>
            <p:cNvPr id="5" name="TextBox 5"/>
            <p:cNvSpPr txBox="1"/>
            <p:nvPr/>
          </p:nvSpPr>
          <p:spPr>
            <a:xfrm>
              <a:off x="556260" y="1280160"/>
              <a:ext cx="5130546" cy="243840"/>
            </a:xfrm>
            <a:prstGeom prst="rect">
              <a:avLst/>
            </a:prstGeom>
            <a:noFill/>
            <a:ln>
              <a:noFill/>
            </a:ln>
          </p:spPr>
          <p:txBody>
            <a:bodyPr wrap="none" lIns="0" tIns="0" rIns="0" bIns="0" anchor="t" anchorCtr="0">
              <a:spAutoFit/>
            </a:bodyPr>
            <a:lstStyle/>
            <a:p>
              <a:pPr algn="l"/>
              <a:r>
                <a:rPr lang="zh-CN" sz="1200" i="1" dirty="0">
                  <a:solidFill>
                    <a:srgbClr val="5B6470"/>
                  </a:solidFill>
                  <a:latin typeface="Arial"/>
                  <a:ea typeface="Microsoft YaHei"/>
                  <a:cs typeface="Arial"/>
                </a:rPr>
                <a:t>The catalog skill turns a sentence into a callable identifier.</a:t>
              </a:r>
            </a:p>
          </p:txBody>
        </p:sp>
      </p:grpSp>
      <p:grpSp>
        <p:nvGrpSpPr>
          <p:cNvPr id="17" name="Group 17"/>
          <p:cNvGrpSpPr/>
          <p:nvPr/>
        </p:nvGrpSpPr>
        <p:grpSpPr>
          <a:xfrm>
            <a:off x="571500" y="1905000"/>
            <a:ext cx="4762500" cy="2190750"/>
            <a:chOff x="571500" y="1905000"/>
            <a:chExt cx="4762500" cy="2190750"/>
          </a:xfrm>
        </p:grpSpPr>
        <p:sp>
          <p:nvSpPr>
            <p:cNvPr id="7" name="Rectangle 7"/>
            <p:cNvSpPr/>
            <p:nvPr/>
          </p:nvSpPr>
          <p:spPr>
            <a:xfrm>
              <a:off x="571500" y="1905000"/>
              <a:ext cx="4762500" cy="2190750"/>
            </a:xfrm>
            <a:prstGeom prst="roundRect">
              <a:avLst>
                <a:gd name="adj" fmla="val 4348"/>
              </a:avLst>
            </a:prstGeom>
            <a:solidFill>
              <a:srgbClr val="EAF6FD"/>
            </a:solidFill>
            <a:ln>
              <a:noFill/>
            </a:ln>
          </p:spPr>
          <p:txBody>
            <a:bodyPr/>
            <a:lstStyle/>
            <a:p>
              <a:endParaRPr lang="en-US"/>
            </a:p>
          </p:txBody>
        </p:sp>
        <p:sp>
          <p:nvSpPr>
            <p:cNvPr id="8" name="TextBox 8"/>
            <p:cNvSpPr txBox="1"/>
            <p:nvPr/>
          </p:nvSpPr>
          <p:spPr>
            <a:xfrm>
              <a:off x="808672" y="2139791"/>
              <a:ext cx="545996" cy="167640"/>
            </a:xfrm>
            <a:prstGeom prst="rect">
              <a:avLst/>
            </a:prstGeom>
            <a:noFill/>
            <a:ln>
              <a:noFill/>
            </a:ln>
          </p:spPr>
          <p:txBody>
            <a:bodyPr wrap="none" lIns="0" tIns="0" rIns="0" bIns="0" anchor="t" anchorCtr="0">
              <a:spAutoFit/>
            </a:bodyPr>
            <a:lstStyle/>
            <a:p>
              <a:pPr algn="l"/>
              <a:r>
                <a:rPr lang="zh-CN" sz="825" b="1" dirty="0">
                  <a:solidFill>
                    <a:srgbClr val="5B6470"/>
                  </a:solidFill>
                  <a:latin typeface="Arial"/>
                  <a:ea typeface="Microsoft YaHei"/>
                  <a:cs typeface="Arial"/>
                </a:rPr>
                <a:t>RA TYPES</a:t>
              </a:r>
            </a:p>
          </p:txBody>
        </p:sp>
        <p:grpSp>
          <p:nvGrpSpPr>
            <p:cNvPr id="11" name="Group 11"/>
            <p:cNvGrpSpPr/>
            <p:nvPr/>
          </p:nvGrpSpPr>
          <p:grpSpPr>
            <a:xfrm>
              <a:off x="862012" y="2462212"/>
              <a:ext cx="257175" cy="257175"/>
              <a:chOff x="862012" y="2462212"/>
              <a:chExt cx="257175" cy="257175"/>
            </a:xfrm>
          </p:grpSpPr>
          <p:sp>
            <p:nvSpPr>
              <p:cNvPr id="9" name="Freeform 9"/>
              <p:cNvSpPr/>
              <p:nvPr/>
            </p:nvSpPr>
            <p:spPr>
              <a:xfrm>
                <a:off x="962025" y="2462212"/>
                <a:ext cx="157162" cy="157162"/>
              </a:xfrm>
              <a:custGeom>
                <a:avLst/>
                <a:gdLst/>
                <a:ahLst/>
                <a:cxnLst/>
                <a:rect l="l" t="t" r="r" b="b"/>
                <a:pathLst>
                  <a:path w="157162" h="157162">
                    <a:moveTo>
                      <a:pt x="157162" y="157162"/>
                    </a:moveTo>
                    <a:lnTo>
                      <a:pt x="114300" y="114300"/>
                    </a:lnTo>
                    <a:lnTo>
                      <a:pt x="14288" y="114300"/>
                    </a:lnTo>
                    <a:cubicBezTo>
                      <a:pt x="6397" y="114300"/>
                      <a:pt x="0" y="107903"/>
                      <a:pt x="0" y="100012"/>
                    </a:cubicBezTo>
                    <a:lnTo>
                      <a:pt x="0" y="14288"/>
                    </a:lnTo>
                    <a:cubicBezTo>
                      <a:pt x="0" y="6397"/>
                      <a:pt x="6397" y="0"/>
                      <a:pt x="14288" y="0"/>
                    </a:cubicBezTo>
                    <a:lnTo>
                      <a:pt x="142875" y="0"/>
                    </a:lnTo>
                    <a:cubicBezTo>
                      <a:pt x="150766" y="0"/>
                      <a:pt x="157162" y="6397"/>
                      <a:pt x="157162" y="14288"/>
                    </a:cubicBezTo>
                    <a:lnTo>
                      <a:pt x="157162" y="157162"/>
                    </a:lnTo>
                  </a:path>
                </a:pathLst>
              </a:custGeom>
              <a:noFill/>
              <a:ln w="19050">
                <a:solidFill>
                  <a:srgbClr val="009CDE"/>
                </a:solidFill>
              </a:ln>
            </p:spPr>
            <p:txBody>
              <a:bodyPr/>
              <a:lstStyle/>
              <a:p>
                <a:endParaRPr lang="en-US"/>
              </a:p>
            </p:txBody>
          </p:sp>
          <p:sp>
            <p:nvSpPr>
              <p:cNvPr id="10" name="Freeform 10"/>
              <p:cNvSpPr/>
              <p:nvPr/>
            </p:nvSpPr>
            <p:spPr>
              <a:xfrm>
                <a:off x="862012" y="2562225"/>
                <a:ext cx="157162" cy="157162"/>
              </a:xfrm>
              <a:custGeom>
                <a:avLst/>
                <a:gdLst/>
                <a:ahLst/>
                <a:cxnLst/>
                <a:rect l="l" t="t" r="r" b="b"/>
                <a:pathLst>
                  <a:path w="157162" h="157162">
                    <a:moveTo>
                      <a:pt x="157162" y="71438"/>
                    </a:moveTo>
                    <a:lnTo>
                      <a:pt x="157162" y="100012"/>
                    </a:lnTo>
                    <a:cubicBezTo>
                      <a:pt x="157162" y="107903"/>
                      <a:pt x="150766" y="114300"/>
                      <a:pt x="142875" y="114300"/>
                    </a:cubicBezTo>
                    <a:lnTo>
                      <a:pt x="42862" y="114300"/>
                    </a:lnTo>
                    <a:lnTo>
                      <a:pt x="0" y="157162"/>
                    </a:lnTo>
                    <a:lnTo>
                      <a:pt x="0" y="14288"/>
                    </a:lnTo>
                    <a:cubicBezTo>
                      <a:pt x="0" y="6397"/>
                      <a:pt x="6397" y="0"/>
                      <a:pt x="14288" y="0"/>
                    </a:cubicBezTo>
                    <a:lnTo>
                      <a:pt x="42862" y="0"/>
                    </a:lnTo>
                  </a:path>
                </a:pathLst>
              </a:custGeom>
              <a:noFill/>
              <a:ln w="19050">
                <a:solidFill>
                  <a:srgbClr val="009CDE"/>
                </a:solidFill>
              </a:ln>
            </p:spPr>
            <p:txBody>
              <a:bodyPr/>
              <a:lstStyle/>
              <a:p>
                <a:endParaRPr lang="en-US"/>
              </a:p>
            </p:txBody>
          </p:sp>
        </p:grpSp>
        <p:sp>
          <p:nvSpPr>
            <p:cNvPr id="12" name="TextBox 12"/>
            <p:cNvSpPr txBox="1"/>
            <p:nvPr/>
          </p:nvSpPr>
          <p:spPr>
            <a:xfrm>
              <a:off x="1244918" y="2561749"/>
              <a:ext cx="465845" cy="198120"/>
            </a:xfrm>
            <a:prstGeom prst="rect">
              <a:avLst/>
            </a:prstGeom>
            <a:noFill/>
            <a:ln>
              <a:noFill/>
            </a:ln>
          </p:spPr>
          <p:txBody>
            <a:bodyPr wrap="none" lIns="0" tIns="0" rIns="0" bIns="0" anchor="t" anchorCtr="0">
              <a:spAutoFit/>
            </a:bodyPr>
            <a:lstStyle/>
            <a:p>
              <a:pPr algn="l"/>
              <a:r>
                <a:rPr lang="zh-CN" sz="975" b="1" dirty="0">
                  <a:solidFill>
                    <a:srgbClr val="009CDE"/>
                  </a:solidFill>
                  <a:latin typeface="Arial"/>
                  <a:ea typeface="Microsoft YaHei"/>
                  <a:cs typeface="Arial"/>
                </a:rPr>
                <a:t>QUERY</a:t>
              </a:r>
            </a:p>
          </p:txBody>
        </p:sp>
        <p:sp>
          <p:nvSpPr>
            <p:cNvPr id="13" name="Rectangle 13"/>
            <p:cNvSpPr/>
            <p:nvPr/>
          </p:nvSpPr>
          <p:spPr>
            <a:xfrm>
              <a:off x="819150" y="2905125"/>
              <a:ext cx="4267200" cy="952500"/>
            </a:xfrm>
            <a:prstGeom prst="roundRect">
              <a:avLst>
                <a:gd name="adj" fmla="val 8000"/>
              </a:avLst>
            </a:prstGeom>
            <a:solidFill>
              <a:srgbClr val="FFFFFF"/>
            </a:solidFill>
            <a:ln w="9525">
              <a:solidFill>
                <a:srgbClr val="CDD7E2"/>
              </a:solidFill>
            </a:ln>
          </p:spPr>
          <p:txBody>
            <a:bodyPr/>
            <a:lstStyle/>
            <a:p>
              <a:endParaRPr lang="en-US"/>
            </a:p>
          </p:txBody>
        </p:sp>
        <p:sp>
          <p:nvSpPr>
            <p:cNvPr id="14" name="TextBox 14"/>
            <p:cNvSpPr txBox="1"/>
            <p:nvPr/>
          </p:nvSpPr>
          <p:spPr>
            <a:xfrm>
              <a:off x="993458" y="3043714"/>
              <a:ext cx="4092892" cy="196208"/>
            </a:xfrm>
            <a:prstGeom prst="rect">
              <a:avLst/>
            </a:prstGeom>
            <a:noFill/>
            <a:ln>
              <a:noFill/>
            </a:ln>
          </p:spPr>
          <p:txBody>
            <a:bodyPr wrap="square" lIns="0" tIns="0" rIns="0" bIns="0" anchor="t" anchorCtr="0">
              <a:spAutoFit/>
            </a:bodyPr>
            <a:lstStyle/>
            <a:p>
              <a:pPr algn="l"/>
              <a:r>
                <a:rPr lang="zh-CN" sz="1275" i="1" dirty="0">
                  <a:solidFill>
                    <a:srgbClr val="1F2937"/>
                  </a:solidFill>
                  <a:latin typeface="Arial Black"/>
                  <a:ea typeface="Microsoft YaHei"/>
                  <a:cs typeface="Arial Black"/>
                </a:rPr>
                <a:t>"Pull real GDP growth</a:t>
              </a:r>
              <a:r>
                <a:rPr lang="en-US" altLang="zh-CN" sz="1275" i="1" dirty="0">
                  <a:solidFill>
                    <a:srgbClr val="1F2937"/>
                  </a:solidFill>
                  <a:latin typeface="Arial Black"/>
                  <a:ea typeface="Microsoft YaHei"/>
                  <a:cs typeface="Arial Black"/>
                </a:rPr>
                <a:t> from WEO LIVE</a:t>
              </a:r>
              <a:endParaRPr lang="zh-CN" sz="1275" i="1" dirty="0">
                <a:solidFill>
                  <a:srgbClr val="1F2937"/>
                </a:solidFill>
                <a:latin typeface="Arial Black"/>
                <a:ea typeface="Microsoft YaHei"/>
                <a:cs typeface="Arial Black"/>
              </a:endParaRPr>
            </a:p>
          </p:txBody>
        </p:sp>
        <p:sp>
          <p:nvSpPr>
            <p:cNvPr id="15" name="TextBox 15"/>
            <p:cNvSpPr txBox="1"/>
            <p:nvPr/>
          </p:nvSpPr>
          <p:spPr>
            <a:xfrm>
              <a:off x="1019174" y="3384464"/>
              <a:ext cx="1736241" cy="259080"/>
            </a:xfrm>
            <a:prstGeom prst="rect">
              <a:avLst/>
            </a:prstGeom>
            <a:noFill/>
            <a:ln>
              <a:noFill/>
            </a:ln>
          </p:spPr>
          <p:txBody>
            <a:bodyPr wrap="none" lIns="0" tIns="0" rIns="0" bIns="0" anchor="t" anchorCtr="0">
              <a:spAutoFit/>
            </a:bodyPr>
            <a:lstStyle/>
            <a:p>
              <a:pPr algn="l"/>
              <a:r>
                <a:rPr lang="zh-CN" sz="1275" i="1" dirty="0">
                  <a:solidFill>
                    <a:srgbClr val="1F2937"/>
                  </a:solidFill>
                  <a:latin typeface="Arial Black"/>
                  <a:ea typeface="Microsoft YaHei"/>
                  <a:cs typeface="Arial Black"/>
                </a:rPr>
                <a:t>for G20 countries,</a:t>
              </a:r>
            </a:p>
          </p:txBody>
        </p:sp>
        <p:sp>
          <p:nvSpPr>
            <p:cNvPr id="16" name="TextBox 16"/>
            <p:cNvSpPr txBox="1"/>
            <p:nvPr/>
          </p:nvSpPr>
          <p:spPr>
            <a:xfrm>
              <a:off x="2728485" y="3385178"/>
              <a:ext cx="1633823" cy="259080"/>
            </a:xfrm>
            <a:prstGeom prst="rect">
              <a:avLst/>
            </a:prstGeom>
            <a:noFill/>
            <a:ln>
              <a:noFill/>
            </a:ln>
          </p:spPr>
          <p:txBody>
            <a:bodyPr wrap="none" lIns="0" tIns="0" rIns="0" bIns="0" anchor="t" anchorCtr="0">
              <a:spAutoFit/>
            </a:bodyPr>
            <a:lstStyle/>
            <a:p>
              <a:pPr algn="l"/>
              <a:r>
                <a:rPr lang="zh-CN" sz="1275" i="1" dirty="0">
                  <a:solidFill>
                    <a:srgbClr val="1F2937"/>
                  </a:solidFill>
                  <a:latin typeface="Arial Black"/>
                  <a:ea typeface="Microsoft YaHei"/>
                  <a:cs typeface="Arial Black"/>
                </a:rPr>
                <a:t>2010 to present."</a:t>
              </a:r>
            </a:p>
          </p:txBody>
        </p:sp>
      </p:grpSp>
      <p:grpSp>
        <p:nvGrpSpPr>
          <p:cNvPr id="23" name="Group 23"/>
          <p:cNvGrpSpPr/>
          <p:nvPr/>
        </p:nvGrpSpPr>
        <p:grpSpPr>
          <a:xfrm>
            <a:off x="5405896" y="2376488"/>
            <a:ext cx="484858" cy="623888"/>
            <a:chOff x="5405896" y="2376488"/>
            <a:chExt cx="484858" cy="623888"/>
          </a:xfrm>
        </p:grpSpPr>
        <p:sp>
          <p:nvSpPr>
            <p:cNvPr id="18" name="Line 18"/>
            <p:cNvSpPr/>
            <p:nvPr/>
          </p:nvSpPr>
          <p:spPr>
            <a:xfrm>
              <a:off x="5429250" y="3000375"/>
              <a:ext cx="428625" cy="1"/>
            </a:xfrm>
            <a:prstGeom prst="line">
              <a:avLst/>
            </a:prstGeom>
            <a:noFill/>
            <a:ln w="23812">
              <a:solidFill>
                <a:srgbClr val="707372"/>
              </a:solidFill>
              <a:tailEnd type="triangle" w="lg" len="lg"/>
            </a:ln>
          </p:spPr>
          <p:txBody>
            <a:bodyPr/>
            <a:lstStyle/>
            <a:p>
              <a:endParaRPr lang="en-US"/>
            </a:p>
          </p:txBody>
        </p:sp>
        <p:grpSp>
          <p:nvGrpSpPr>
            <p:cNvPr id="21" name="Group 21"/>
            <p:cNvGrpSpPr/>
            <p:nvPr/>
          </p:nvGrpSpPr>
          <p:grpSpPr>
            <a:xfrm>
              <a:off x="5519738" y="2376488"/>
              <a:ext cx="257175" cy="257175"/>
              <a:chOff x="5519738" y="2376488"/>
              <a:chExt cx="257175" cy="257175"/>
            </a:xfrm>
          </p:grpSpPr>
          <p:sp>
            <p:nvSpPr>
              <p:cNvPr id="19" name="Freeform 19"/>
              <p:cNvSpPr/>
              <p:nvPr/>
            </p:nvSpPr>
            <p:spPr>
              <a:xfrm>
                <a:off x="5519738" y="237648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707372"/>
                </a:solidFill>
              </a:ln>
            </p:spPr>
            <p:txBody>
              <a:bodyPr/>
              <a:lstStyle/>
              <a:p>
                <a:endParaRPr lang="en-US"/>
              </a:p>
            </p:txBody>
          </p:sp>
          <p:sp>
            <p:nvSpPr>
              <p:cNvPr id="20" name="Freeform 20"/>
              <p:cNvSpPr/>
              <p:nvPr/>
            </p:nvSpPr>
            <p:spPr>
              <a:xfrm>
                <a:off x="5691188" y="2547938"/>
                <a:ext cx="85725" cy="85725"/>
              </a:xfrm>
              <a:custGeom>
                <a:avLst/>
                <a:gdLst/>
                <a:ahLst/>
                <a:cxnLst/>
                <a:rect l="l" t="t" r="r" b="b"/>
                <a:pathLst>
                  <a:path w="85725" h="85725">
                    <a:moveTo>
                      <a:pt x="85725" y="85725"/>
                    </a:moveTo>
                    <a:lnTo>
                      <a:pt x="0" y="0"/>
                    </a:lnTo>
                  </a:path>
                </a:pathLst>
              </a:custGeom>
              <a:noFill/>
              <a:ln w="19050">
                <a:solidFill>
                  <a:srgbClr val="707372"/>
                </a:solidFill>
              </a:ln>
            </p:spPr>
            <p:txBody>
              <a:bodyPr/>
              <a:lstStyle/>
              <a:p>
                <a:endParaRPr lang="en-US"/>
              </a:p>
            </p:txBody>
          </p:sp>
        </p:grpSp>
        <p:sp>
          <p:nvSpPr>
            <p:cNvPr id="22" name="TextBox 22"/>
            <p:cNvSpPr txBox="1"/>
            <p:nvPr/>
          </p:nvSpPr>
          <p:spPr>
            <a:xfrm>
              <a:off x="5405896" y="2728912"/>
              <a:ext cx="484858" cy="152400"/>
            </a:xfrm>
            <a:prstGeom prst="rect">
              <a:avLst/>
            </a:prstGeom>
            <a:noFill/>
            <a:ln>
              <a:noFill/>
            </a:ln>
          </p:spPr>
          <p:txBody>
            <a:bodyPr wrap="none" lIns="0" tIns="0" rIns="0" bIns="0" anchor="t" anchorCtr="0">
              <a:spAutoFit/>
            </a:bodyPr>
            <a:lstStyle/>
            <a:p>
              <a:pPr algn="ctr"/>
              <a:r>
                <a:rPr lang="zh-CN" sz="750" b="1" dirty="0">
                  <a:solidFill>
                    <a:srgbClr val="707372"/>
                  </a:solidFill>
                  <a:latin typeface="Arial"/>
                  <a:ea typeface="Microsoft YaHei"/>
                  <a:cs typeface="Arial"/>
                </a:rPr>
                <a:t>CATALOG</a:t>
              </a:r>
            </a:p>
          </p:txBody>
        </p:sp>
      </p:grpSp>
      <p:grpSp>
        <p:nvGrpSpPr>
          <p:cNvPr id="43" name="Group 43"/>
          <p:cNvGrpSpPr/>
          <p:nvPr/>
        </p:nvGrpSpPr>
        <p:grpSpPr>
          <a:xfrm>
            <a:off x="6000750" y="1905000"/>
            <a:ext cx="5619750" cy="2190750"/>
            <a:chOff x="6000750" y="1905000"/>
            <a:chExt cx="5619750" cy="2190750"/>
          </a:xfrm>
        </p:grpSpPr>
        <p:sp>
          <p:nvSpPr>
            <p:cNvPr id="24" name="Rectangle 24"/>
            <p:cNvSpPr/>
            <p:nvPr/>
          </p:nvSpPr>
          <p:spPr>
            <a:xfrm>
              <a:off x="6000750" y="1905000"/>
              <a:ext cx="5619750" cy="2190750"/>
            </a:xfrm>
            <a:prstGeom prst="roundRect">
              <a:avLst>
                <a:gd name="adj" fmla="val 4348"/>
              </a:avLst>
            </a:prstGeom>
            <a:solidFill>
              <a:srgbClr val="004C97"/>
            </a:solidFill>
            <a:ln>
              <a:noFill/>
            </a:ln>
          </p:spPr>
          <p:txBody>
            <a:bodyPr/>
            <a:lstStyle/>
            <a:p>
              <a:endParaRPr lang="en-US"/>
            </a:p>
          </p:txBody>
        </p:sp>
        <p:sp>
          <p:nvSpPr>
            <p:cNvPr id="25" name="TextBox 25"/>
            <p:cNvSpPr txBox="1"/>
            <p:nvPr/>
          </p:nvSpPr>
          <p:spPr>
            <a:xfrm>
              <a:off x="6237922" y="2139791"/>
              <a:ext cx="805353" cy="167640"/>
            </a:xfrm>
            <a:prstGeom prst="rect">
              <a:avLst/>
            </a:prstGeom>
            <a:noFill/>
            <a:ln>
              <a:noFill/>
            </a:ln>
          </p:spPr>
          <p:txBody>
            <a:bodyPr wrap="none" lIns="0" tIns="0" rIns="0" bIns="0" anchor="t" anchorCtr="0">
              <a:spAutoFit/>
            </a:bodyPr>
            <a:lstStyle/>
            <a:p>
              <a:pPr algn="l"/>
              <a:r>
                <a:rPr lang="zh-CN" sz="825" b="1" dirty="0">
                  <a:solidFill>
                    <a:srgbClr val="FFFFFF"/>
                  </a:solidFill>
                  <a:latin typeface="Arial"/>
                  <a:ea typeface="Microsoft YaHei"/>
                  <a:cs typeface="Arial"/>
                </a:rPr>
                <a:t>RESOLVED TO</a:t>
              </a:r>
            </a:p>
          </p:txBody>
        </p:sp>
        <p:grpSp>
          <p:nvGrpSpPr>
            <p:cNvPr id="29" name="Group 29"/>
            <p:cNvGrpSpPr/>
            <p:nvPr/>
          </p:nvGrpSpPr>
          <p:grpSpPr>
            <a:xfrm>
              <a:off x="6237922" y="2521268"/>
              <a:ext cx="5134928" cy="288607"/>
              <a:chOff x="6237922" y="2521268"/>
              <a:chExt cx="5134928" cy="288607"/>
            </a:xfrm>
          </p:grpSpPr>
          <p:sp>
            <p:nvSpPr>
              <p:cNvPr id="26" name="TextBox 26"/>
              <p:cNvSpPr txBox="1"/>
              <p:nvPr/>
            </p:nvSpPr>
            <p:spPr>
              <a:xfrm>
                <a:off x="6237922" y="2577941"/>
                <a:ext cx="577625" cy="167640"/>
              </a:xfrm>
              <a:prstGeom prst="rect">
                <a:avLst/>
              </a:prstGeom>
              <a:noFill/>
              <a:ln>
                <a:noFill/>
              </a:ln>
            </p:spPr>
            <p:txBody>
              <a:bodyPr wrap="none" lIns="0" tIns="0" rIns="0" bIns="0" anchor="t" anchorCtr="0">
                <a:spAutoFit/>
              </a:bodyPr>
              <a:lstStyle/>
              <a:p>
                <a:pPr algn="l"/>
                <a:r>
                  <a:rPr lang="zh-CN" sz="825" b="1" dirty="0">
                    <a:solidFill>
                      <a:srgbClr val="9AA3AE"/>
                    </a:solidFill>
                    <a:latin typeface="Arial"/>
                    <a:ea typeface="Microsoft YaHei"/>
                    <a:cs typeface="Arial"/>
                  </a:rPr>
                  <a:t>DATABASE</a:t>
                </a:r>
              </a:p>
            </p:txBody>
          </p:sp>
          <p:sp>
            <p:nvSpPr>
              <p:cNvPr id="27" name="TextBox 27"/>
              <p:cNvSpPr txBox="1"/>
              <p:nvPr/>
            </p:nvSpPr>
            <p:spPr>
              <a:xfrm>
                <a:off x="8555355" y="2521268"/>
                <a:ext cx="97625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onsolas"/>
                    <a:ea typeface="Microsoft YaHei"/>
                    <a:cs typeface="Consolas"/>
                  </a:rPr>
                  <a:t>WEO_LIVE</a:t>
                </a:r>
              </a:p>
            </p:txBody>
          </p:sp>
          <p:sp>
            <p:nvSpPr>
              <p:cNvPr id="28" name="Line 28"/>
              <p:cNvSpPr/>
              <p:nvPr/>
            </p:nvSpPr>
            <p:spPr>
              <a:xfrm>
                <a:off x="6248400" y="2800350"/>
                <a:ext cx="5124450" cy="9525"/>
              </a:xfrm>
              <a:custGeom>
                <a:avLst/>
                <a:gdLst/>
                <a:ahLst/>
                <a:cxnLst/>
                <a:rect l="l" t="t" r="r" b="b"/>
                <a:pathLst>
                  <a:path w="5124450" h="9525">
                    <a:moveTo>
                      <a:pt x="0" y="0"/>
                    </a:moveTo>
                    <a:lnTo>
                      <a:pt x="5124450" y="0"/>
                    </a:lnTo>
                  </a:path>
                </a:pathLst>
              </a:custGeom>
              <a:noFill/>
              <a:ln w="9525">
                <a:solidFill>
                  <a:srgbClr val="FFFFFF">
                    <a:alpha val="15000"/>
                  </a:srgbClr>
                </a:solidFill>
              </a:ln>
            </p:spPr>
            <p:txBody>
              <a:bodyPr/>
              <a:lstStyle/>
              <a:p>
                <a:endParaRPr lang="en-US"/>
              </a:p>
            </p:txBody>
          </p:sp>
        </p:grpSp>
        <p:grpSp>
          <p:nvGrpSpPr>
            <p:cNvPr id="33" name="Group 33"/>
            <p:cNvGrpSpPr/>
            <p:nvPr/>
          </p:nvGrpSpPr>
          <p:grpSpPr>
            <a:xfrm>
              <a:off x="6237922" y="2902268"/>
              <a:ext cx="5134928" cy="288607"/>
              <a:chOff x="6237922" y="2902268"/>
              <a:chExt cx="5134928" cy="288607"/>
            </a:xfrm>
          </p:grpSpPr>
          <p:sp>
            <p:nvSpPr>
              <p:cNvPr id="30" name="TextBox 30"/>
              <p:cNvSpPr txBox="1"/>
              <p:nvPr/>
            </p:nvSpPr>
            <p:spPr>
              <a:xfrm>
                <a:off x="6237922" y="2958941"/>
                <a:ext cx="609254" cy="167640"/>
              </a:xfrm>
              <a:prstGeom prst="rect">
                <a:avLst/>
              </a:prstGeom>
              <a:noFill/>
              <a:ln>
                <a:noFill/>
              </a:ln>
            </p:spPr>
            <p:txBody>
              <a:bodyPr wrap="none" lIns="0" tIns="0" rIns="0" bIns="0" anchor="t" anchorCtr="0">
                <a:spAutoFit/>
              </a:bodyPr>
              <a:lstStyle/>
              <a:p>
                <a:pPr algn="l"/>
                <a:r>
                  <a:rPr lang="zh-CN" sz="825" b="1" dirty="0">
                    <a:solidFill>
                      <a:srgbClr val="9AA3AE"/>
                    </a:solidFill>
                    <a:latin typeface="Arial"/>
                    <a:ea typeface="Microsoft YaHei"/>
                    <a:cs typeface="Arial"/>
                  </a:rPr>
                  <a:t>INDICATOR</a:t>
                </a:r>
              </a:p>
            </p:txBody>
          </p:sp>
          <p:sp>
            <p:nvSpPr>
              <p:cNvPr id="31" name="TextBox 31"/>
              <p:cNvSpPr txBox="1"/>
              <p:nvPr/>
            </p:nvSpPr>
            <p:spPr>
              <a:xfrm>
                <a:off x="8555355" y="2902268"/>
                <a:ext cx="105906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onsolas"/>
                    <a:ea typeface="Microsoft YaHei"/>
                    <a:cs typeface="Consolas"/>
                  </a:rPr>
                  <a:t>NGDP_RPCH</a:t>
                </a:r>
              </a:p>
            </p:txBody>
          </p:sp>
          <p:sp>
            <p:nvSpPr>
              <p:cNvPr id="32" name="Line 32"/>
              <p:cNvSpPr/>
              <p:nvPr/>
            </p:nvSpPr>
            <p:spPr>
              <a:xfrm>
                <a:off x="6248400" y="3181350"/>
                <a:ext cx="5124450" cy="9525"/>
              </a:xfrm>
              <a:custGeom>
                <a:avLst/>
                <a:gdLst/>
                <a:ahLst/>
                <a:cxnLst/>
                <a:rect l="l" t="t" r="r" b="b"/>
                <a:pathLst>
                  <a:path w="5124450" h="9525">
                    <a:moveTo>
                      <a:pt x="0" y="0"/>
                    </a:moveTo>
                    <a:lnTo>
                      <a:pt x="5124450" y="0"/>
                    </a:lnTo>
                  </a:path>
                </a:pathLst>
              </a:custGeom>
              <a:noFill/>
              <a:ln w="9525">
                <a:solidFill>
                  <a:srgbClr val="FFFFFF">
                    <a:alpha val="15000"/>
                  </a:srgbClr>
                </a:solidFill>
              </a:ln>
            </p:spPr>
            <p:txBody>
              <a:bodyPr/>
              <a:lstStyle/>
              <a:p>
                <a:endParaRPr lang="en-US"/>
              </a:p>
            </p:txBody>
          </p:sp>
        </p:grpSp>
        <p:grpSp>
          <p:nvGrpSpPr>
            <p:cNvPr id="38" name="Group 38"/>
            <p:cNvGrpSpPr/>
            <p:nvPr/>
          </p:nvGrpSpPr>
          <p:grpSpPr>
            <a:xfrm>
              <a:off x="6237922" y="3283268"/>
              <a:ext cx="5134928" cy="288607"/>
              <a:chOff x="6237922" y="3283268"/>
              <a:chExt cx="5134928" cy="288607"/>
            </a:xfrm>
          </p:grpSpPr>
          <p:sp>
            <p:nvSpPr>
              <p:cNvPr id="34" name="TextBox 34"/>
              <p:cNvSpPr txBox="1"/>
              <p:nvPr/>
            </p:nvSpPr>
            <p:spPr>
              <a:xfrm>
                <a:off x="6237922" y="3339941"/>
                <a:ext cx="672511" cy="167640"/>
              </a:xfrm>
              <a:prstGeom prst="rect">
                <a:avLst/>
              </a:prstGeom>
              <a:noFill/>
              <a:ln>
                <a:noFill/>
              </a:ln>
            </p:spPr>
            <p:txBody>
              <a:bodyPr wrap="none" lIns="0" tIns="0" rIns="0" bIns="0" anchor="t" anchorCtr="0">
                <a:spAutoFit/>
              </a:bodyPr>
              <a:lstStyle/>
              <a:p>
                <a:pPr algn="l"/>
                <a:r>
                  <a:rPr lang="zh-CN" sz="825" b="1" dirty="0">
                    <a:solidFill>
                      <a:srgbClr val="9AA3AE"/>
                    </a:solidFill>
                    <a:latin typeface="Arial"/>
                    <a:ea typeface="Microsoft YaHei"/>
                    <a:cs typeface="Arial"/>
                  </a:rPr>
                  <a:t>FREQUENCY</a:t>
                </a:r>
              </a:p>
            </p:txBody>
          </p:sp>
          <p:sp>
            <p:nvSpPr>
              <p:cNvPr id="35" name="TextBox 35"/>
              <p:cNvSpPr txBox="1"/>
              <p:nvPr/>
            </p:nvSpPr>
            <p:spPr>
              <a:xfrm>
                <a:off x="8555355" y="3283268"/>
                <a:ext cx="14815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onsolas"/>
                    <a:ea typeface="Microsoft YaHei"/>
                    <a:cs typeface="Consolas"/>
                  </a:rPr>
                  <a:t>A</a:t>
                </a:r>
              </a:p>
            </p:txBody>
          </p:sp>
          <p:sp>
            <p:nvSpPr>
              <p:cNvPr id="36" name="TextBox 36"/>
              <p:cNvSpPr txBox="1"/>
              <p:nvPr/>
            </p:nvSpPr>
            <p:spPr>
              <a:xfrm>
                <a:off x="8768715" y="3315652"/>
                <a:ext cx="663083" cy="213360"/>
              </a:xfrm>
              <a:prstGeom prst="rect">
                <a:avLst/>
              </a:prstGeom>
              <a:noFill/>
              <a:ln>
                <a:noFill/>
              </a:ln>
            </p:spPr>
            <p:txBody>
              <a:bodyPr wrap="none" lIns="0" tIns="0" rIns="0" bIns="0" anchor="t" anchorCtr="0">
                <a:spAutoFit/>
              </a:bodyPr>
              <a:lstStyle/>
              <a:p>
                <a:pPr algn="l"/>
                <a:r>
                  <a:rPr lang="zh-CN" sz="1050" dirty="0">
                    <a:solidFill>
                      <a:srgbClr val="FFFFFF">
                        <a:alpha val="60000"/>
                      </a:srgbClr>
                    </a:solidFill>
                    <a:latin typeface="Arial"/>
                    <a:ea typeface="Microsoft YaHei"/>
                    <a:cs typeface="Arial"/>
                  </a:rPr>
                  <a:t>(annual)</a:t>
                </a:r>
              </a:p>
            </p:txBody>
          </p:sp>
          <p:sp>
            <p:nvSpPr>
              <p:cNvPr id="37" name="Line 37"/>
              <p:cNvSpPr/>
              <p:nvPr/>
            </p:nvSpPr>
            <p:spPr>
              <a:xfrm>
                <a:off x="6248400" y="3562350"/>
                <a:ext cx="5124450" cy="9525"/>
              </a:xfrm>
              <a:custGeom>
                <a:avLst/>
                <a:gdLst/>
                <a:ahLst/>
                <a:cxnLst/>
                <a:rect l="l" t="t" r="r" b="b"/>
                <a:pathLst>
                  <a:path w="5124450" h="9525">
                    <a:moveTo>
                      <a:pt x="0" y="0"/>
                    </a:moveTo>
                    <a:lnTo>
                      <a:pt x="5124450" y="0"/>
                    </a:lnTo>
                  </a:path>
                </a:pathLst>
              </a:custGeom>
              <a:noFill/>
              <a:ln w="9525">
                <a:solidFill>
                  <a:srgbClr val="FFFFFF">
                    <a:alpha val="15000"/>
                  </a:srgbClr>
                </a:solidFill>
              </a:ln>
            </p:spPr>
            <p:txBody>
              <a:bodyPr/>
              <a:lstStyle/>
              <a:p>
                <a:endParaRPr lang="en-US"/>
              </a:p>
            </p:txBody>
          </p:sp>
        </p:grpSp>
        <p:grpSp>
          <p:nvGrpSpPr>
            <p:cNvPr id="42" name="Group 42"/>
            <p:cNvGrpSpPr/>
            <p:nvPr/>
          </p:nvGrpSpPr>
          <p:grpSpPr>
            <a:xfrm>
              <a:off x="6237922" y="3664268"/>
              <a:ext cx="4394228" cy="377576"/>
              <a:chOff x="6237922" y="3664268"/>
              <a:chExt cx="4394228" cy="377576"/>
            </a:xfrm>
          </p:grpSpPr>
          <p:sp>
            <p:nvSpPr>
              <p:cNvPr id="39" name="TextBox 39"/>
              <p:cNvSpPr txBox="1"/>
              <p:nvPr/>
            </p:nvSpPr>
            <p:spPr>
              <a:xfrm>
                <a:off x="6237922" y="3720941"/>
                <a:ext cx="255009" cy="167640"/>
              </a:xfrm>
              <a:prstGeom prst="rect">
                <a:avLst/>
              </a:prstGeom>
              <a:noFill/>
              <a:ln>
                <a:noFill/>
              </a:ln>
            </p:spPr>
            <p:txBody>
              <a:bodyPr wrap="none" lIns="0" tIns="0" rIns="0" bIns="0" anchor="t" anchorCtr="0">
                <a:spAutoFit/>
              </a:bodyPr>
              <a:lstStyle/>
              <a:p>
                <a:pPr algn="l"/>
                <a:r>
                  <a:rPr lang="zh-CN" sz="825" b="1" dirty="0">
                    <a:solidFill>
                      <a:srgbClr val="9AA3AE"/>
                    </a:solidFill>
                    <a:latin typeface="Arial"/>
                    <a:ea typeface="Microsoft YaHei"/>
                    <a:cs typeface="Arial"/>
                  </a:rPr>
                  <a:t>GEO</a:t>
                </a:r>
              </a:p>
            </p:txBody>
          </p:sp>
          <p:sp>
            <p:nvSpPr>
              <p:cNvPr id="40" name="TextBox 40"/>
              <p:cNvSpPr txBox="1"/>
              <p:nvPr/>
            </p:nvSpPr>
            <p:spPr>
              <a:xfrm>
                <a:off x="8555355" y="3664268"/>
                <a:ext cx="1473120"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Consolas"/>
                    <a:ea typeface="Microsoft YaHei"/>
                    <a:cs typeface="Consolas"/>
                  </a:rPr>
                  <a:t>G20 → ISO3 list</a:t>
                </a:r>
              </a:p>
            </p:txBody>
          </p:sp>
          <p:sp>
            <p:nvSpPr>
              <p:cNvPr id="41" name="TextBox 41"/>
              <p:cNvSpPr txBox="1"/>
              <p:nvPr/>
            </p:nvSpPr>
            <p:spPr>
              <a:xfrm>
                <a:off x="8561070" y="3903345"/>
                <a:ext cx="2071080" cy="138499"/>
              </a:xfrm>
              <a:prstGeom prst="rect">
                <a:avLst/>
              </a:prstGeom>
              <a:noFill/>
              <a:ln>
                <a:noFill/>
              </a:ln>
            </p:spPr>
            <p:txBody>
              <a:bodyPr wrap="none" lIns="0" tIns="0" rIns="0" bIns="0" anchor="t" anchorCtr="0">
                <a:spAutoFit/>
              </a:bodyPr>
              <a:lstStyle/>
              <a:p>
                <a:pPr algn="l"/>
                <a:r>
                  <a:rPr lang="zh-CN" sz="900" dirty="0">
                    <a:solidFill>
                      <a:srgbClr val="FFFFFF">
                        <a:alpha val="60000"/>
                      </a:srgbClr>
                    </a:solidFill>
                    <a:latin typeface="Arial"/>
                    <a:ea typeface="Microsoft YaHei"/>
                    <a:cs typeface="Arial"/>
                  </a:rPr>
                  <a:t>auto-expanded from country_group.csv</a:t>
                </a:r>
              </a:p>
            </p:txBody>
          </p:sp>
        </p:grpSp>
      </p:grpSp>
      <p:grpSp>
        <p:nvGrpSpPr>
          <p:cNvPr id="62" name="Group 62"/>
          <p:cNvGrpSpPr/>
          <p:nvPr/>
        </p:nvGrpSpPr>
        <p:grpSpPr>
          <a:xfrm>
            <a:off x="571500" y="4381500"/>
            <a:ext cx="11049000" cy="1905000"/>
            <a:chOff x="571500" y="4381500"/>
            <a:chExt cx="11049000" cy="1905000"/>
          </a:xfrm>
        </p:grpSpPr>
        <p:sp>
          <p:nvSpPr>
            <p:cNvPr id="44" name="Rectangle 44"/>
            <p:cNvSpPr/>
            <p:nvPr/>
          </p:nvSpPr>
          <p:spPr>
            <a:xfrm>
              <a:off x="571500" y="4381500"/>
              <a:ext cx="11049000" cy="1905000"/>
            </a:xfrm>
            <a:prstGeom prst="roundRect">
              <a:avLst>
                <a:gd name="adj" fmla="val 5000"/>
              </a:avLst>
            </a:prstGeom>
            <a:solidFill>
              <a:srgbClr val="EAF6FD"/>
            </a:solidFill>
            <a:ln>
              <a:noFill/>
            </a:ln>
          </p:spPr>
          <p:txBody>
            <a:bodyPr/>
            <a:lstStyle/>
            <a:p>
              <a:endParaRPr lang="en-US"/>
            </a:p>
          </p:txBody>
        </p:sp>
        <p:sp>
          <p:nvSpPr>
            <p:cNvPr id="45" name="TextBox 45"/>
            <p:cNvSpPr txBox="1"/>
            <p:nvPr/>
          </p:nvSpPr>
          <p:spPr>
            <a:xfrm>
              <a:off x="808672" y="4625816"/>
              <a:ext cx="1501190"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FOUR RULES OF THE ROAD</a:t>
              </a:r>
            </a:p>
          </p:txBody>
        </p:sp>
        <p:grpSp>
          <p:nvGrpSpPr>
            <p:cNvPr id="49" name="Group 49"/>
            <p:cNvGrpSpPr/>
            <p:nvPr/>
          </p:nvGrpSpPr>
          <p:grpSpPr>
            <a:xfrm>
              <a:off x="819150" y="4895850"/>
              <a:ext cx="4581645" cy="492919"/>
              <a:chOff x="819150" y="4895850"/>
              <a:chExt cx="4581645" cy="492919"/>
            </a:xfrm>
          </p:grpSpPr>
          <p:sp>
            <p:nvSpPr>
              <p:cNvPr id="46" name="Rectangle 46"/>
              <p:cNvSpPr/>
              <p:nvPr/>
            </p:nvSpPr>
            <p:spPr>
              <a:xfrm>
                <a:off x="819150" y="4895850"/>
                <a:ext cx="38100" cy="476250"/>
              </a:xfrm>
              <a:prstGeom prst="rect">
                <a:avLst/>
              </a:prstGeom>
              <a:solidFill>
                <a:srgbClr val="004C97"/>
              </a:solidFill>
              <a:ln>
                <a:noFill/>
              </a:ln>
            </p:spPr>
            <p:txBody>
              <a:bodyPr/>
              <a:lstStyle/>
              <a:p>
                <a:endParaRPr lang="en-US"/>
              </a:p>
            </p:txBody>
          </p:sp>
          <p:sp>
            <p:nvSpPr>
              <p:cNvPr id="47" name="TextBox 47"/>
              <p:cNvSpPr txBox="1"/>
              <p:nvPr/>
            </p:nvSpPr>
            <p:spPr>
              <a:xfrm>
                <a:off x="996315" y="4973002"/>
                <a:ext cx="2015269" cy="213360"/>
              </a:xfrm>
              <a:prstGeom prst="rect">
                <a:avLst/>
              </a:prstGeom>
              <a:noFill/>
              <a:ln>
                <a:noFill/>
              </a:ln>
            </p:spPr>
            <p:txBody>
              <a:bodyPr wrap="none" lIns="0" tIns="0" rIns="0" bIns="0" anchor="t" anchorCtr="0">
                <a:spAutoFit/>
              </a:bodyPr>
              <a:lstStyle/>
              <a:p>
                <a:pPr algn="l"/>
                <a:r>
                  <a:rPr lang="zh-CN" sz="1050" b="1" dirty="0">
                    <a:solidFill>
                      <a:srgbClr val="004C97"/>
                    </a:solidFill>
                    <a:latin typeface="Arial"/>
                    <a:ea typeface="Microsoft YaHei"/>
                    <a:cs typeface="Arial"/>
                  </a:rPr>
                  <a:t>LIVE vs vintage is explicit</a:t>
                </a:r>
              </a:p>
            </p:txBody>
          </p:sp>
          <p:sp>
            <p:nvSpPr>
              <p:cNvPr id="48" name="TextBox 48"/>
              <p:cNvSpPr txBox="1"/>
              <p:nvPr/>
            </p:nvSpPr>
            <p:spPr>
              <a:xfrm>
                <a:off x="997268" y="5190649"/>
                <a:ext cx="4403527"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Latest by default. Say </a:t>
                </a:r>
                <a:r>
                  <a:rPr lang="zh-CN" sz="975" i="1" dirty="0">
                    <a:solidFill>
                      <a:srgbClr val="1F2937"/>
                    </a:solidFill>
                    <a:latin typeface="Arial"/>
                    <a:ea typeface="Microsoft YaHei"/>
                    <a:cs typeface="Arial"/>
                  </a:rPr>
                  <a:t>"April 2024 WEO"</a:t>
                </a:r>
                <a:r>
                  <a:rPr lang="zh-CN" sz="975" dirty="0">
                    <a:solidFill>
                      <a:srgbClr val="5B6470"/>
                    </a:solidFill>
                    <a:latin typeface="Arial"/>
                    <a:ea typeface="Microsoft YaHei"/>
                    <a:cs typeface="Arial"/>
                  </a:rPr>
                  <a:t> to lock to a snapshot.</a:t>
                </a:r>
              </a:p>
            </p:txBody>
          </p:sp>
        </p:grpSp>
        <p:grpSp>
          <p:nvGrpSpPr>
            <p:cNvPr id="53" name="Group 53"/>
            <p:cNvGrpSpPr/>
            <p:nvPr/>
          </p:nvGrpSpPr>
          <p:grpSpPr>
            <a:xfrm>
              <a:off x="6324600" y="4895850"/>
              <a:ext cx="3177337" cy="476250"/>
              <a:chOff x="6324600" y="4895850"/>
              <a:chExt cx="3177337" cy="476250"/>
            </a:xfrm>
          </p:grpSpPr>
          <p:sp>
            <p:nvSpPr>
              <p:cNvPr id="50" name="Rectangle 50"/>
              <p:cNvSpPr/>
              <p:nvPr/>
            </p:nvSpPr>
            <p:spPr>
              <a:xfrm>
                <a:off x="6324600" y="4895850"/>
                <a:ext cx="38100" cy="476250"/>
              </a:xfrm>
              <a:prstGeom prst="rect">
                <a:avLst/>
              </a:prstGeom>
              <a:solidFill>
                <a:srgbClr val="004C97"/>
              </a:solidFill>
              <a:ln>
                <a:noFill/>
              </a:ln>
            </p:spPr>
            <p:txBody>
              <a:bodyPr/>
              <a:lstStyle/>
              <a:p>
                <a:endParaRPr lang="en-US"/>
              </a:p>
            </p:txBody>
          </p:sp>
          <p:sp>
            <p:nvSpPr>
              <p:cNvPr id="51" name="TextBox 51"/>
              <p:cNvSpPr txBox="1"/>
              <p:nvPr/>
            </p:nvSpPr>
            <p:spPr>
              <a:xfrm>
                <a:off x="6501765" y="4973002"/>
                <a:ext cx="1805942" cy="213360"/>
              </a:xfrm>
              <a:prstGeom prst="rect">
                <a:avLst/>
              </a:prstGeom>
              <a:noFill/>
              <a:ln>
                <a:noFill/>
              </a:ln>
            </p:spPr>
            <p:txBody>
              <a:bodyPr wrap="none" lIns="0" tIns="0" rIns="0" bIns="0" anchor="t" anchorCtr="0">
                <a:spAutoFit/>
              </a:bodyPr>
              <a:lstStyle/>
              <a:p>
                <a:pPr algn="l"/>
                <a:r>
                  <a:rPr lang="zh-CN" sz="1050" b="1" dirty="0">
                    <a:solidFill>
                      <a:srgbClr val="004C97"/>
                    </a:solidFill>
                    <a:latin typeface="Arial"/>
                    <a:ea typeface="Microsoft YaHei"/>
                    <a:cs typeface="Arial"/>
                  </a:rPr>
                  <a:t>Country groups expand</a:t>
                </a:r>
              </a:p>
            </p:txBody>
          </p:sp>
          <p:sp>
            <p:nvSpPr>
              <p:cNvPr id="52" name="TextBox 52"/>
              <p:cNvSpPr txBox="1"/>
              <p:nvPr/>
            </p:nvSpPr>
            <p:spPr>
              <a:xfrm>
                <a:off x="6502718" y="5190649"/>
                <a:ext cx="2999219" cy="150041"/>
              </a:xfrm>
              <a:prstGeom prst="rect">
                <a:avLst/>
              </a:prstGeom>
              <a:noFill/>
              <a:ln>
                <a:noFill/>
              </a:ln>
            </p:spPr>
            <p:txBody>
              <a:bodyPr wrap="none" lIns="0" tIns="0" rIns="0" bIns="0" anchor="t" anchorCtr="0">
                <a:spAutoFit/>
              </a:bodyPr>
              <a:lstStyle/>
              <a:p>
                <a:pPr algn="l"/>
                <a:r>
                  <a:rPr lang="zh-CN" sz="975" i="1" dirty="0">
                    <a:solidFill>
                      <a:srgbClr val="1F2937"/>
                    </a:solidFill>
                    <a:latin typeface="Arial"/>
                    <a:ea typeface="Microsoft YaHei"/>
                    <a:cs typeface="Arial"/>
                  </a:rPr>
                  <a:t>"advanced economies"</a:t>
                </a:r>
                <a:r>
                  <a:rPr lang="zh-CN" sz="975" dirty="0">
                    <a:solidFill>
                      <a:srgbClr val="5B6470"/>
                    </a:solidFill>
                    <a:latin typeface="Arial"/>
                    <a:ea typeface="Microsoft YaHei"/>
                    <a:cs typeface="Arial"/>
                  </a:rPr>
                  <a:t> → </a:t>
                </a:r>
                <a:r>
                  <a:rPr lang="en-US" altLang="zh-CN" sz="975" dirty="0">
                    <a:solidFill>
                      <a:srgbClr val="5B6470"/>
                    </a:solidFill>
                    <a:latin typeface="Arial"/>
                    <a:ea typeface="Microsoft YaHei"/>
                    <a:cs typeface="Arial"/>
                  </a:rPr>
                  <a:t>straightforward </a:t>
                </a:r>
                <a:r>
                  <a:rPr lang="zh-CN" sz="975" dirty="0">
                    <a:solidFill>
                      <a:srgbClr val="5B6470"/>
                    </a:solidFill>
                    <a:latin typeface="Arial"/>
                    <a:ea typeface="Microsoft YaHei"/>
                    <a:cs typeface="Arial"/>
                  </a:rPr>
                  <a:t>member list.</a:t>
                </a:r>
              </a:p>
            </p:txBody>
          </p:sp>
        </p:grpSp>
        <p:grpSp>
          <p:nvGrpSpPr>
            <p:cNvPr id="57" name="Group 57"/>
            <p:cNvGrpSpPr/>
            <p:nvPr/>
          </p:nvGrpSpPr>
          <p:grpSpPr>
            <a:xfrm>
              <a:off x="819150" y="5600700"/>
              <a:ext cx="4353807" cy="492919"/>
              <a:chOff x="819150" y="5600700"/>
              <a:chExt cx="4353807" cy="492919"/>
            </a:xfrm>
          </p:grpSpPr>
          <p:sp>
            <p:nvSpPr>
              <p:cNvPr id="54" name="Rectangle 54"/>
              <p:cNvSpPr/>
              <p:nvPr/>
            </p:nvSpPr>
            <p:spPr>
              <a:xfrm>
                <a:off x="819150" y="5600700"/>
                <a:ext cx="38100" cy="476250"/>
              </a:xfrm>
              <a:prstGeom prst="rect">
                <a:avLst/>
              </a:prstGeom>
              <a:solidFill>
                <a:srgbClr val="004C97"/>
              </a:solidFill>
              <a:ln>
                <a:noFill/>
              </a:ln>
            </p:spPr>
            <p:txBody>
              <a:bodyPr/>
              <a:lstStyle/>
              <a:p>
                <a:endParaRPr lang="en-US"/>
              </a:p>
            </p:txBody>
          </p:sp>
          <p:sp>
            <p:nvSpPr>
              <p:cNvPr id="55" name="TextBox 55"/>
              <p:cNvSpPr txBox="1"/>
              <p:nvPr/>
            </p:nvSpPr>
            <p:spPr>
              <a:xfrm>
                <a:off x="996315" y="5677852"/>
                <a:ext cx="2514431" cy="213360"/>
              </a:xfrm>
              <a:prstGeom prst="rect">
                <a:avLst/>
              </a:prstGeom>
              <a:noFill/>
              <a:ln>
                <a:noFill/>
              </a:ln>
            </p:spPr>
            <p:txBody>
              <a:bodyPr wrap="none" lIns="0" tIns="0" rIns="0" bIns="0" anchor="t" anchorCtr="0">
                <a:spAutoFit/>
              </a:bodyPr>
              <a:lstStyle/>
              <a:p>
                <a:pPr algn="l"/>
                <a:r>
                  <a:rPr lang="zh-CN" sz="1050" b="1" dirty="0">
                    <a:solidFill>
                      <a:srgbClr val="004C97"/>
                    </a:solidFill>
                    <a:latin typeface="Arial"/>
                    <a:ea typeface="Microsoft YaHei"/>
                    <a:cs typeface="Arial"/>
                  </a:rPr>
                  <a:t>Ambiguous queries are surfaced</a:t>
                </a:r>
              </a:p>
            </p:txBody>
          </p:sp>
          <p:sp>
            <p:nvSpPr>
              <p:cNvPr id="56" name="TextBox 56"/>
              <p:cNvSpPr txBox="1"/>
              <p:nvPr/>
            </p:nvSpPr>
            <p:spPr>
              <a:xfrm>
                <a:off x="997268" y="5895499"/>
                <a:ext cx="4175689"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Candidates listed with distinguishing notes. Never guesses.</a:t>
                </a:r>
              </a:p>
            </p:txBody>
          </p:sp>
        </p:grpSp>
        <p:grpSp>
          <p:nvGrpSpPr>
            <p:cNvPr id="61" name="Group 61"/>
            <p:cNvGrpSpPr/>
            <p:nvPr/>
          </p:nvGrpSpPr>
          <p:grpSpPr>
            <a:xfrm>
              <a:off x="6324600" y="5600700"/>
              <a:ext cx="4239888" cy="492919"/>
              <a:chOff x="6324600" y="5600700"/>
              <a:chExt cx="4239888" cy="492919"/>
            </a:xfrm>
          </p:grpSpPr>
          <p:sp>
            <p:nvSpPr>
              <p:cNvPr id="58" name="Rectangle 58"/>
              <p:cNvSpPr/>
              <p:nvPr/>
            </p:nvSpPr>
            <p:spPr>
              <a:xfrm>
                <a:off x="6324600" y="5600700"/>
                <a:ext cx="38100" cy="476250"/>
              </a:xfrm>
              <a:prstGeom prst="rect">
                <a:avLst/>
              </a:prstGeom>
              <a:solidFill>
                <a:srgbClr val="004C97"/>
              </a:solidFill>
              <a:ln>
                <a:noFill/>
              </a:ln>
            </p:spPr>
            <p:txBody>
              <a:bodyPr/>
              <a:lstStyle/>
              <a:p>
                <a:endParaRPr lang="en-US"/>
              </a:p>
            </p:txBody>
          </p:sp>
          <p:sp>
            <p:nvSpPr>
              <p:cNvPr id="59" name="TextBox 59"/>
              <p:cNvSpPr txBox="1"/>
              <p:nvPr/>
            </p:nvSpPr>
            <p:spPr>
              <a:xfrm>
                <a:off x="6501765" y="5677852"/>
                <a:ext cx="2079677" cy="213360"/>
              </a:xfrm>
              <a:prstGeom prst="rect">
                <a:avLst/>
              </a:prstGeom>
              <a:noFill/>
              <a:ln>
                <a:noFill/>
              </a:ln>
            </p:spPr>
            <p:txBody>
              <a:bodyPr wrap="none" lIns="0" tIns="0" rIns="0" bIns="0" anchor="t" anchorCtr="0">
                <a:spAutoFit/>
              </a:bodyPr>
              <a:lstStyle/>
              <a:p>
                <a:pPr algn="l"/>
                <a:r>
                  <a:rPr lang="zh-CN" sz="1050" b="1" dirty="0">
                    <a:solidFill>
                      <a:srgbClr val="004C97"/>
                    </a:solidFill>
                    <a:latin typeface="Arial"/>
                    <a:ea typeface="Microsoft YaHei"/>
                    <a:cs typeface="Arial"/>
                  </a:rPr>
                  <a:t>Retired endpoints refused</a:t>
                </a:r>
              </a:p>
            </p:txBody>
          </p:sp>
          <p:sp>
            <p:nvSpPr>
              <p:cNvPr id="60" name="TextBox 60"/>
              <p:cNvSpPr txBox="1"/>
              <p:nvPr/>
            </p:nvSpPr>
            <p:spPr>
              <a:xfrm>
                <a:off x="6502718" y="5895499"/>
                <a:ext cx="4061770"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EcOS is retired — pointer to the current iData equivalent.</a:t>
                </a:r>
              </a:p>
            </p:txBody>
          </p:sp>
        </p:grpSp>
      </p:grpSp>
      <p:grpSp>
        <p:nvGrpSpPr>
          <p:cNvPr id="65" name="Group 65"/>
          <p:cNvGrpSpPr/>
          <p:nvPr/>
        </p:nvGrpSpPr>
        <p:grpSpPr>
          <a:xfrm>
            <a:off x="561022" y="6530816"/>
            <a:ext cx="11069956" cy="167640"/>
            <a:chOff x="561022" y="6530816"/>
            <a:chExt cx="11069956" cy="167640"/>
          </a:xfrm>
        </p:grpSpPr>
        <p:sp>
          <p:nvSpPr>
            <p:cNvPr id="63" name="TextBox 63"/>
            <p:cNvSpPr txBox="1"/>
            <p:nvPr/>
          </p:nvSpPr>
          <p:spPr>
            <a:xfrm>
              <a:off x="561022" y="6530816"/>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64" name="TextBox 64"/>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AA3AE"/>
                  </a:solidFill>
                  <a:latin typeface="Arial"/>
                  <a:ea typeface="Microsoft YaHei"/>
                  <a:cs typeface="Arial"/>
                </a:rPr>
                <a:t>07 / 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slide(fromBottom)">
                                      <p:cBhvr>
                                        <p:cTn id="15" dur="400"/>
                                        <p:tgtEl>
                                          <p:spTgt spid="43"/>
                                        </p:tgtEl>
                                      </p:cBhvr>
                                    </p:animEffect>
                                  </p:childTnLst>
                                </p:cTn>
                              </p:par>
                            </p:childTnLst>
                          </p:cTn>
                        </p:par>
                        <p:par>
                          <p:cTn id="16" fill="hold">
                            <p:stCondLst>
                              <p:cond delay="2700"/>
                            </p:stCondLst>
                            <p:childTnLst>
                              <p:par>
                                <p:cTn id="17" presetID="42" presetClass="entr" presetSubtype="8" fill="hold" nodeType="after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slide(fromLeft)">
                                      <p:cBhvr>
                                        <p:cTn id="19"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43" grpId="0"/>
      <p:bldP spid="6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grpSp>
        <p:nvGrpSpPr>
          <p:cNvPr id="6" name="Group 6"/>
          <p:cNvGrpSpPr/>
          <p:nvPr/>
        </p:nvGrpSpPr>
        <p:grpSpPr>
          <a:xfrm>
            <a:off x="542925" y="474345"/>
            <a:ext cx="8648724" cy="852011"/>
            <a:chOff x="542925" y="474345"/>
            <a:chExt cx="8648724" cy="852011"/>
          </a:xfrm>
        </p:grpSpPr>
        <p:sp>
          <p:nvSpPr>
            <p:cNvPr id="3" name="TextBox 3"/>
            <p:cNvSpPr txBox="1"/>
            <p:nvPr/>
          </p:nvSpPr>
          <p:spPr>
            <a:xfrm>
              <a:off x="560070" y="474345"/>
              <a:ext cx="1679067" cy="182880"/>
            </a:xfrm>
            <a:prstGeom prst="rect">
              <a:avLst/>
            </a:prstGeom>
            <a:noFill/>
            <a:ln>
              <a:noFill/>
            </a:ln>
          </p:spPr>
          <p:txBody>
            <a:bodyPr wrap="none" lIns="0" tIns="0" rIns="0" bIns="0" anchor="t" anchorCtr="0">
              <a:spAutoFit/>
            </a:bodyPr>
            <a:lstStyle/>
            <a:p>
              <a:pPr algn="l"/>
              <a:r>
                <a:rPr lang="zh-CN" sz="900" b="1" dirty="0">
                  <a:solidFill>
                    <a:srgbClr val="707372"/>
                  </a:solidFill>
                  <a:latin typeface="Arial"/>
                  <a:ea typeface="Microsoft YaHei"/>
                  <a:cs typeface="Arial"/>
                </a:rPr>
                <a:t>07 · CAPABILITY 2 — FETCH</a:t>
              </a:r>
            </a:p>
          </p:txBody>
        </p:sp>
        <p:sp>
          <p:nvSpPr>
            <p:cNvPr id="4" name="TextBox 4"/>
            <p:cNvSpPr txBox="1"/>
            <p:nvPr/>
          </p:nvSpPr>
          <p:spPr>
            <a:xfrm>
              <a:off x="542925" y="709612"/>
              <a:ext cx="8648724" cy="457200"/>
            </a:xfrm>
            <a:prstGeom prst="rect">
              <a:avLst/>
            </a:prstGeom>
            <a:noFill/>
            <a:ln>
              <a:noFill/>
            </a:ln>
          </p:spPr>
          <p:txBody>
            <a:bodyPr wrap="none" lIns="0" tIns="0" rIns="0" bIns="0" anchor="t" anchorCtr="0">
              <a:spAutoFit/>
            </a:bodyPr>
            <a:lstStyle/>
            <a:p>
              <a:pPr algn="l"/>
              <a:r>
                <a:rPr lang="zh-CN" sz="2250" b="1" dirty="0">
                  <a:solidFill>
                    <a:srgbClr val="004C97"/>
                  </a:solidFill>
                  <a:latin typeface="Arial Black"/>
                  <a:ea typeface="Microsoft YaHei"/>
                  <a:cs typeface="Arial Black"/>
                </a:rPr>
                <a:t>Resolved query → tidy time-series, on your machine</a:t>
              </a:r>
            </a:p>
          </p:txBody>
        </p:sp>
        <p:sp>
          <p:nvSpPr>
            <p:cNvPr id="5" name="TextBox 5"/>
            <p:cNvSpPr txBox="1"/>
            <p:nvPr/>
          </p:nvSpPr>
          <p:spPr>
            <a:xfrm>
              <a:off x="557212" y="1097756"/>
              <a:ext cx="5532834" cy="228600"/>
            </a:xfrm>
            <a:prstGeom prst="rect">
              <a:avLst/>
            </a:prstGeom>
            <a:noFill/>
            <a:ln>
              <a:noFill/>
            </a:ln>
          </p:spPr>
          <p:txBody>
            <a:bodyPr wrap="none" lIns="0" tIns="0" rIns="0" bIns="0" anchor="t" anchorCtr="0">
              <a:spAutoFit/>
            </a:bodyPr>
            <a:lstStyle/>
            <a:p>
              <a:pPr algn="l"/>
              <a:r>
                <a:rPr lang="zh-CN" sz="1125" i="1" dirty="0">
                  <a:solidFill>
                    <a:srgbClr val="5B6470"/>
                  </a:solidFill>
                  <a:latin typeface="Arial"/>
                  <a:ea typeface="Microsoft YaHei"/>
                  <a:cs typeface="Arial"/>
                </a:rPr>
                <a:t>Seven-step protocol · pre-built SDK wrapper · three output shapes.</a:t>
              </a:r>
            </a:p>
          </p:txBody>
        </p:sp>
      </p:grpSp>
      <p:grpSp>
        <p:nvGrpSpPr>
          <p:cNvPr id="46" name="Group 46"/>
          <p:cNvGrpSpPr/>
          <p:nvPr/>
        </p:nvGrpSpPr>
        <p:grpSpPr>
          <a:xfrm>
            <a:off x="571500" y="1619250"/>
            <a:ext cx="11049000" cy="2667000"/>
            <a:chOff x="571500" y="1619250"/>
            <a:chExt cx="11049000" cy="2667000"/>
          </a:xfrm>
        </p:grpSpPr>
        <p:sp>
          <p:nvSpPr>
            <p:cNvPr id="7" name="Rectangle 7"/>
            <p:cNvSpPr/>
            <p:nvPr/>
          </p:nvSpPr>
          <p:spPr>
            <a:xfrm>
              <a:off x="571500" y="1619250"/>
              <a:ext cx="11049000" cy="2667000"/>
            </a:xfrm>
            <a:prstGeom prst="roundRect">
              <a:avLst>
                <a:gd name="adj" fmla="val 3571"/>
              </a:avLst>
            </a:prstGeom>
            <a:solidFill>
              <a:srgbClr val="EAF6FD"/>
            </a:solidFill>
            <a:ln>
              <a:noFill/>
            </a:ln>
          </p:spPr>
          <p:txBody>
            <a:bodyPr/>
            <a:lstStyle/>
            <a:p>
              <a:endParaRPr lang="en-US"/>
            </a:p>
          </p:txBody>
        </p:sp>
        <p:grpSp>
          <p:nvGrpSpPr>
            <p:cNvPr id="18" name="Group 18"/>
            <p:cNvGrpSpPr/>
            <p:nvPr/>
          </p:nvGrpSpPr>
          <p:grpSpPr>
            <a:xfrm>
              <a:off x="819150" y="1905000"/>
              <a:ext cx="3409950" cy="2095500"/>
              <a:chOff x="819150" y="1905000"/>
              <a:chExt cx="3409950" cy="2095500"/>
            </a:xfrm>
          </p:grpSpPr>
          <p:sp>
            <p:nvSpPr>
              <p:cNvPr id="8" name="Rectangle 8"/>
              <p:cNvSpPr/>
              <p:nvPr/>
            </p:nvSpPr>
            <p:spPr>
              <a:xfrm>
                <a:off x="819150" y="1905000"/>
                <a:ext cx="3409950" cy="2095500"/>
              </a:xfrm>
              <a:prstGeom prst="roundRect">
                <a:avLst>
                  <a:gd name="adj" fmla="val 4545"/>
                </a:avLst>
              </a:prstGeom>
              <a:solidFill>
                <a:srgbClr val="FFFFFF"/>
              </a:solidFill>
              <a:ln w="9525">
                <a:solidFill>
                  <a:srgbClr val="CDD7E2"/>
                </a:solidFill>
              </a:ln>
            </p:spPr>
            <p:txBody>
              <a:bodyPr/>
              <a:lstStyle/>
              <a:p>
                <a:endParaRPr lang="en-US"/>
              </a:p>
            </p:txBody>
          </p:sp>
          <p:sp>
            <p:nvSpPr>
              <p:cNvPr id="9" name="Rectangle 9"/>
              <p:cNvSpPr/>
              <p:nvPr/>
            </p:nvSpPr>
            <p:spPr>
              <a:xfrm>
                <a:off x="819150" y="1905000"/>
                <a:ext cx="3409950" cy="438150"/>
              </a:xfrm>
              <a:prstGeom prst="roundRect">
                <a:avLst>
                  <a:gd name="adj" fmla="val 21739"/>
                </a:avLst>
              </a:prstGeom>
              <a:solidFill>
                <a:srgbClr val="009CDE"/>
              </a:solidFill>
              <a:ln>
                <a:noFill/>
              </a:ln>
            </p:spPr>
            <p:txBody>
              <a:bodyPr/>
              <a:lstStyle/>
              <a:p>
                <a:endParaRPr lang="en-US"/>
              </a:p>
            </p:txBody>
          </p:sp>
          <p:sp>
            <p:nvSpPr>
              <p:cNvPr id="10" name="Rectangle 10"/>
              <p:cNvSpPr/>
              <p:nvPr/>
            </p:nvSpPr>
            <p:spPr>
              <a:xfrm>
                <a:off x="819150" y="2209800"/>
                <a:ext cx="3409950" cy="133350"/>
              </a:xfrm>
              <a:prstGeom prst="rect">
                <a:avLst/>
              </a:prstGeom>
              <a:solidFill>
                <a:srgbClr val="009CDE"/>
              </a:solidFill>
              <a:ln>
                <a:noFill/>
              </a:ln>
            </p:spPr>
            <p:txBody>
              <a:bodyPr/>
              <a:lstStyle/>
              <a:p>
                <a:endParaRPr lang="en-US"/>
              </a:p>
            </p:txBody>
          </p:sp>
          <p:sp>
            <p:nvSpPr>
              <p:cNvPr id="11" name="TextBox 11"/>
              <p:cNvSpPr txBox="1"/>
              <p:nvPr/>
            </p:nvSpPr>
            <p:spPr>
              <a:xfrm>
                <a:off x="997268" y="2085499"/>
                <a:ext cx="2035791"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STAGE 01 · CATALOG HANDOFF</a:t>
                </a:r>
              </a:p>
            </p:txBody>
          </p:sp>
          <p:sp>
            <p:nvSpPr>
              <p:cNvPr id="12" name="TextBox 12"/>
              <p:cNvSpPr txBox="1"/>
              <p:nvPr/>
            </p:nvSpPr>
            <p:spPr>
              <a:xfrm>
                <a:off x="992505" y="2502218"/>
                <a:ext cx="1990685" cy="274320"/>
              </a:xfrm>
              <a:prstGeom prst="rect">
                <a:avLst/>
              </a:prstGeom>
              <a:noFill/>
              <a:ln>
                <a:noFill/>
              </a:ln>
            </p:spPr>
            <p:txBody>
              <a:bodyPr wrap="none" lIns="0" tIns="0" rIns="0" bIns="0" anchor="t" anchorCtr="0">
                <a:spAutoFit/>
              </a:bodyPr>
              <a:lstStyle/>
              <a:p>
                <a:pPr algn="l"/>
                <a:r>
                  <a:rPr lang="zh-CN" sz="1350" b="1" dirty="0">
                    <a:solidFill>
                      <a:srgbClr val="004C97"/>
                    </a:solidFill>
                    <a:latin typeface="Arial Black"/>
                    <a:ea typeface="Microsoft YaHei"/>
                    <a:cs typeface="Arial Black"/>
                  </a:rPr>
                  <a:t>Receive the 4-tuple</a:t>
                </a:r>
              </a:p>
            </p:txBody>
          </p:sp>
          <p:sp>
            <p:nvSpPr>
              <p:cNvPr id="13" name="TextBox 13"/>
              <p:cNvSpPr txBox="1"/>
              <p:nvPr/>
            </p:nvSpPr>
            <p:spPr>
              <a:xfrm>
                <a:off x="997268" y="2780824"/>
                <a:ext cx="2716101"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Database · indicator · frequency · geo</a:t>
                </a:r>
              </a:p>
            </p:txBody>
          </p:sp>
          <p:sp>
            <p:nvSpPr>
              <p:cNvPr id="14" name="TextBox 14"/>
              <p:cNvSpPr txBox="1"/>
              <p:nvPr/>
            </p:nvSpPr>
            <p:spPr>
              <a:xfrm>
                <a:off x="997268" y="2952274"/>
                <a:ext cx="1726430"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 from the catalog skill.</a:t>
                </a:r>
              </a:p>
            </p:txBody>
          </p:sp>
          <p:sp>
            <p:nvSpPr>
              <p:cNvPr id="15" name="Line 15"/>
              <p:cNvSpPr/>
              <p:nvPr/>
            </p:nvSpPr>
            <p:spPr>
              <a:xfrm>
                <a:off x="1009650" y="3381375"/>
                <a:ext cx="3028950" cy="9525"/>
              </a:xfrm>
              <a:custGeom>
                <a:avLst/>
                <a:gdLst/>
                <a:ahLst/>
                <a:cxnLst/>
                <a:rect l="l" t="t" r="r" b="b"/>
                <a:pathLst>
                  <a:path w="3028950" h="9525">
                    <a:moveTo>
                      <a:pt x="0" y="0"/>
                    </a:moveTo>
                    <a:lnTo>
                      <a:pt x="3028950" y="0"/>
                    </a:lnTo>
                  </a:path>
                </a:pathLst>
              </a:custGeom>
              <a:noFill/>
              <a:ln w="9525">
                <a:solidFill>
                  <a:srgbClr val="CDD7E2"/>
                </a:solidFill>
              </a:ln>
            </p:spPr>
            <p:txBody>
              <a:bodyPr/>
              <a:lstStyle/>
              <a:p>
                <a:endParaRPr lang="en-US"/>
              </a:p>
            </p:txBody>
          </p:sp>
          <p:sp>
            <p:nvSpPr>
              <p:cNvPr id="16" name="TextBox 16"/>
              <p:cNvSpPr txBox="1"/>
              <p:nvPr/>
            </p:nvSpPr>
            <p:spPr>
              <a:xfrm>
                <a:off x="1000125" y="3519488"/>
                <a:ext cx="421600" cy="152400"/>
              </a:xfrm>
              <a:prstGeom prst="rect">
                <a:avLst/>
              </a:prstGeom>
              <a:noFill/>
              <a:ln>
                <a:noFill/>
              </a:ln>
            </p:spPr>
            <p:txBody>
              <a:bodyPr wrap="none" lIns="0" tIns="0" rIns="0" bIns="0" anchor="t" anchorCtr="0">
                <a:spAutoFit/>
              </a:bodyPr>
              <a:lstStyle/>
              <a:p>
                <a:pPr algn="l"/>
                <a:r>
                  <a:rPr lang="zh-CN" sz="750" b="1" dirty="0">
                    <a:solidFill>
                      <a:srgbClr val="9AA3AE"/>
                    </a:solidFill>
                    <a:latin typeface="Arial"/>
                    <a:ea typeface="Microsoft YaHei"/>
                    <a:cs typeface="Arial"/>
                  </a:rPr>
                  <a:t>OUTPUT</a:t>
                </a:r>
              </a:p>
            </p:txBody>
          </p:sp>
          <p:sp>
            <p:nvSpPr>
              <p:cNvPr id="17" name="TextBox 17"/>
              <p:cNvSpPr txBox="1"/>
              <p:nvPr/>
            </p:nvSpPr>
            <p:spPr>
              <a:xfrm>
                <a:off x="997268" y="3723799"/>
                <a:ext cx="1273246"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Consolas"/>
                    <a:ea typeface="Microsoft YaHei"/>
                    <a:cs typeface="Consolas"/>
                  </a:rPr>
                  <a:t>validated 4-tuple</a:t>
                </a:r>
              </a:p>
            </p:txBody>
          </p:sp>
        </p:grpSp>
        <p:grpSp>
          <p:nvGrpSpPr>
            <p:cNvPr id="29" name="Group 29"/>
            <p:cNvGrpSpPr/>
            <p:nvPr/>
          </p:nvGrpSpPr>
          <p:grpSpPr>
            <a:xfrm>
              <a:off x="4391025" y="1905000"/>
              <a:ext cx="3409950" cy="2095500"/>
              <a:chOff x="4391025" y="1905000"/>
              <a:chExt cx="3409950" cy="2095500"/>
            </a:xfrm>
          </p:grpSpPr>
          <p:sp>
            <p:nvSpPr>
              <p:cNvPr id="19" name="Rectangle 19"/>
              <p:cNvSpPr/>
              <p:nvPr/>
            </p:nvSpPr>
            <p:spPr>
              <a:xfrm>
                <a:off x="4391025" y="1905000"/>
                <a:ext cx="3409950" cy="2095500"/>
              </a:xfrm>
              <a:prstGeom prst="roundRect">
                <a:avLst>
                  <a:gd name="adj" fmla="val 4545"/>
                </a:avLst>
              </a:prstGeom>
              <a:solidFill>
                <a:srgbClr val="FFFFFF"/>
              </a:solidFill>
              <a:ln w="9525">
                <a:solidFill>
                  <a:srgbClr val="CDD7E2"/>
                </a:solidFill>
              </a:ln>
            </p:spPr>
            <p:txBody>
              <a:bodyPr/>
              <a:lstStyle/>
              <a:p>
                <a:endParaRPr lang="en-US"/>
              </a:p>
            </p:txBody>
          </p:sp>
          <p:sp>
            <p:nvSpPr>
              <p:cNvPr id="20" name="Rectangle 20"/>
              <p:cNvSpPr/>
              <p:nvPr/>
            </p:nvSpPr>
            <p:spPr>
              <a:xfrm>
                <a:off x="4391025" y="1905000"/>
                <a:ext cx="3409950" cy="438150"/>
              </a:xfrm>
              <a:prstGeom prst="roundRect">
                <a:avLst>
                  <a:gd name="adj" fmla="val 21739"/>
                </a:avLst>
              </a:prstGeom>
              <a:solidFill>
                <a:srgbClr val="004C97"/>
              </a:solidFill>
              <a:ln>
                <a:noFill/>
              </a:ln>
            </p:spPr>
            <p:txBody>
              <a:bodyPr/>
              <a:lstStyle/>
              <a:p>
                <a:endParaRPr lang="en-US"/>
              </a:p>
            </p:txBody>
          </p:sp>
          <p:sp>
            <p:nvSpPr>
              <p:cNvPr id="21" name="Rectangle 21"/>
              <p:cNvSpPr/>
              <p:nvPr/>
            </p:nvSpPr>
            <p:spPr>
              <a:xfrm>
                <a:off x="4391025" y="2209800"/>
                <a:ext cx="3409950" cy="133350"/>
              </a:xfrm>
              <a:prstGeom prst="rect">
                <a:avLst/>
              </a:prstGeom>
              <a:solidFill>
                <a:srgbClr val="004C97"/>
              </a:solidFill>
              <a:ln>
                <a:noFill/>
              </a:ln>
            </p:spPr>
            <p:txBody>
              <a:bodyPr/>
              <a:lstStyle/>
              <a:p>
                <a:endParaRPr lang="en-US"/>
              </a:p>
            </p:txBody>
          </p:sp>
          <p:sp>
            <p:nvSpPr>
              <p:cNvPr id="22" name="TextBox 22"/>
              <p:cNvSpPr txBox="1"/>
              <p:nvPr/>
            </p:nvSpPr>
            <p:spPr>
              <a:xfrm>
                <a:off x="4569142" y="2085499"/>
                <a:ext cx="1901225"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STAGE 02 · BUILD iDATA KEY</a:t>
                </a:r>
              </a:p>
            </p:txBody>
          </p:sp>
          <p:sp>
            <p:nvSpPr>
              <p:cNvPr id="23" name="TextBox 23"/>
              <p:cNvSpPr txBox="1"/>
              <p:nvPr/>
            </p:nvSpPr>
            <p:spPr>
              <a:xfrm>
                <a:off x="4564380" y="2502218"/>
                <a:ext cx="2435790" cy="274320"/>
              </a:xfrm>
              <a:prstGeom prst="rect">
                <a:avLst/>
              </a:prstGeom>
              <a:noFill/>
              <a:ln>
                <a:noFill/>
              </a:ln>
            </p:spPr>
            <p:txBody>
              <a:bodyPr wrap="none" lIns="0" tIns="0" rIns="0" bIns="0" anchor="t" anchorCtr="0">
                <a:spAutoFit/>
              </a:bodyPr>
              <a:lstStyle/>
              <a:p>
                <a:pPr algn="l"/>
                <a:r>
                  <a:rPr lang="zh-CN" sz="1350" b="1" dirty="0">
                    <a:solidFill>
                      <a:srgbClr val="004C97"/>
                    </a:solidFill>
                    <a:latin typeface="Arial Black"/>
                    <a:ea typeface="Microsoft YaHei"/>
                    <a:cs typeface="Arial Black"/>
                  </a:rPr>
                  <a:t>Resolve every dimension</a:t>
                </a:r>
              </a:p>
            </p:txBody>
          </p:sp>
          <p:sp>
            <p:nvSpPr>
              <p:cNvPr id="24" name="TextBox 24"/>
              <p:cNvSpPr txBox="1"/>
              <p:nvPr/>
            </p:nvSpPr>
            <p:spPr>
              <a:xfrm>
                <a:off x="4569142" y="2780824"/>
                <a:ext cx="2673382"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Explore dimensions, lock country list,</a:t>
                </a:r>
              </a:p>
            </p:txBody>
          </p:sp>
          <p:sp>
            <p:nvSpPr>
              <p:cNvPr id="25" name="TextBox 25"/>
              <p:cNvSpPr txBox="1"/>
              <p:nvPr/>
            </p:nvSpPr>
            <p:spPr>
              <a:xfrm>
                <a:off x="4569142" y="2952274"/>
                <a:ext cx="2452664"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confirm time range and frequency.</a:t>
                </a:r>
              </a:p>
            </p:txBody>
          </p:sp>
          <p:sp>
            <p:nvSpPr>
              <p:cNvPr id="26" name="Line 26"/>
              <p:cNvSpPr/>
              <p:nvPr/>
            </p:nvSpPr>
            <p:spPr>
              <a:xfrm>
                <a:off x="4581525" y="3381375"/>
                <a:ext cx="3028950" cy="9525"/>
              </a:xfrm>
              <a:custGeom>
                <a:avLst/>
                <a:gdLst/>
                <a:ahLst/>
                <a:cxnLst/>
                <a:rect l="l" t="t" r="r" b="b"/>
                <a:pathLst>
                  <a:path w="3028950" h="9525">
                    <a:moveTo>
                      <a:pt x="0" y="0"/>
                    </a:moveTo>
                    <a:lnTo>
                      <a:pt x="3028950" y="0"/>
                    </a:lnTo>
                  </a:path>
                </a:pathLst>
              </a:custGeom>
              <a:noFill/>
              <a:ln w="9525">
                <a:solidFill>
                  <a:srgbClr val="CDD7E2"/>
                </a:solidFill>
              </a:ln>
            </p:spPr>
            <p:txBody>
              <a:bodyPr/>
              <a:lstStyle/>
              <a:p>
                <a:endParaRPr lang="en-US"/>
              </a:p>
            </p:txBody>
          </p:sp>
          <p:sp>
            <p:nvSpPr>
              <p:cNvPr id="27" name="TextBox 27"/>
              <p:cNvSpPr txBox="1"/>
              <p:nvPr/>
            </p:nvSpPr>
            <p:spPr>
              <a:xfrm>
                <a:off x="4572000" y="3519488"/>
                <a:ext cx="421600" cy="152400"/>
              </a:xfrm>
              <a:prstGeom prst="rect">
                <a:avLst/>
              </a:prstGeom>
              <a:noFill/>
              <a:ln>
                <a:noFill/>
              </a:ln>
            </p:spPr>
            <p:txBody>
              <a:bodyPr wrap="none" lIns="0" tIns="0" rIns="0" bIns="0" anchor="t" anchorCtr="0">
                <a:spAutoFit/>
              </a:bodyPr>
              <a:lstStyle/>
              <a:p>
                <a:pPr algn="l"/>
                <a:r>
                  <a:rPr lang="zh-CN" sz="750" b="1" dirty="0">
                    <a:solidFill>
                      <a:srgbClr val="9AA3AE"/>
                    </a:solidFill>
                    <a:latin typeface="Arial"/>
                    <a:ea typeface="Microsoft YaHei"/>
                    <a:cs typeface="Arial"/>
                  </a:rPr>
                  <a:t>OUTPUT</a:t>
                </a:r>
              </a:p>
            </p:txBody>
          </p:sp>
          <p:sp>
            <p:nvSpPr>
              <p:cNvPr id="28" name="TextBox 28"/>
              <p:cNvSpPr txBox="1"/>
              <p:nvPr/>
            </p:nvSpPr>
            <p:spPr>
              <a:xfrm>
                <a:off x="4569142" y="3723799"/>
                <a:ext cx="1437717"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Consolas"/>
                    <a:ea typeface="Microsoft YaHei"/>
                    <a:cs typeface="Consolas"/>
                  </a:rPr>
                  <a:t>fetch_idata.py call</a:t>
                </a:r>
              </a:p>
            </p:txBody>
          </p:sp>
        </p:grpSp>
        <p:grpSp>
          <p:nvGrpSpPr>
            <p:cNvPr id="40" name="Group 40"/>
            <p:cNvGrpSpPr/>
            <p:nvPr/>
          </p:nvGrpSpPr>
          <p:grpSpPr>
            <a:xfrm>
              <a:off x="7962900" y="1905000"/>
              <a:ext cx="3409950" cy="2095500"/>
              <a:chOff x="7962900" y="1905000"/>
              <a:chExt cx="3409950" cy="2095500"/>
            </a:xfrm>
          </p:grpSpPr>
          <p:sp>
            <p:nvSpPr>
              <p:cNvPr id="30" name="Rectangle 30"/>
              <p:cNvSpPr/>
              <p:nvPr/>
            </p:nvSpPr>
            <p:spPr>
              <a:xfrm>
                <a:off x="7962900" y="1905000"/>
                <a:ext cx="3409950" cy="2095500"/>
              </a:xfrm>
              <a:prstGeom prst="roundRect">
                <a:avLst>
                  <a:gd name="adj" fmla="val 4545"/>
                </a:avLst>
              </a:prstGeom>
              <a:solidFill>
                <a:srgbClr val="FFFFFF"/>
              </a:solidFill>
              <a:ln w="9525">
                <a:solidFill>
                  <a:srgbClr val="CDD7E2"/>
                </a:solidFill>
              </a:ln>
            </p:spPr>
            <p:txBody>
              <a:bodyPr/>
              <a:lstStyle/>
              <a:p>
                <a:endParaRPr lang="en-US"/>
              </a:p>
            </p:txBody>
          </p:sp>
          <p:sp>
            <p:nvSpPr>
              <p:cNvPr id="31" name="Rectangle 31"/>
              <p:cNvSpPr/>
              <p:nvPr/>
            </p:nvSpPr>
            <p:spPr>
              <a:xfrm>
                <a:off x="7962900" y="1905000"/>
                <a:ext cx="3409950" cy="438150"/>
              </a:xfrm>
              <a:prstGeom prst="roundRect">
                <a:avLst>
                  <a:gd name="adj" fmla="val 21739"/>
                </a:avLst>
              </a:prstGeom>
              <a:solidFill>
                <a:srgbClr val="707372"/>
              </a:solidFill>
              <a:ln>
                <a:noFill/>
              </a:ln>
            </p:spPr>
            <p:txBody>
              <a:bodyPr/>
              <a:lstStyle/>
              <a:p>
                <a:endParaRPr lang="en-US"/>
              </a:p>
            </p:txBody>
          </p:sp>
          <p:sp>
            <p:nvSpPr>
              <p:cNvPr id="32" name="Rectangle 32"/>
              <p:cNvSpPr/>
              <p:nvPr/>
            </p:nvSpPr>
            <p:spPr>
              <a:xfrm>
                <a:off x="7962900" y="2209800"/>
                <a:ext cx="3409950" cy="133350"/>
              </a:xfrm>
              <a:prstGeom prst="rect">
                <a:avLst/>
              </a:prstGeom>
              <a:solidFill>
                <a:srgbClr val="707372"/>
              </a:solidFill>
              <a:ln>
                <a:noFill/>
              </a:ln>
            </p:spPr>
            <p:txBody>
              <a:bodyPr/>
              <a:lstStyle/>
              <a:p>
                <a:endParaRPr lang="en-US"/>
              </a:p>
            </p:txBody>
          </p:sp>
          <p:sp>
            <p:nvSpPr>
              <p:cNvPr id="33" name="TextBox 33"/>
              <p:cNvSpPr txBox="1"/>
              <p:nvPr/>
            </p:nvSpPr>
            <p:spPr>
              <a:xfrm>
                <a:off x="8141018" y="2085499"/>
                <a:ext cx="1676946" cy="198120"/>
              </a:xfrm>
              <a:prstGeom prst="rect">
                <a:avLst/>
              </a:prstGeom>
              <a:noFill/>
              <a:ln>
                <a:noFill/>
              </a:ln>
            </p:spPr>
            <p:txBody>
              <a:bodyPr wrap="none" lIns="0" tIns="0" rIns="0" bIns="0" anchor="t" anchorCtr="0">
                <a:spAutoFit/>
              </a:bodyPr>
              <a:lstStyle/>
              <a:p>
                <a:pPr algn="l"/>
                <a:r>
                  <a:rPr lang="zh-CN" sz="975" b="1" dirty="0">
                    <a:solidFill>
                      <a:srgbClr val="FFFFFF"/>
                    </a:solidFill>
                    <a:latin typeface="Arial"/>
                    <a:ea typeface="Microsoft YaHei"/>
                    <a:cs typeface="Arial"/>
                  </a:rPr>
                  <a:t>STAGE 03 · TIDY OUTPUT</a:t>
                </a:r>
              </a:p>
            </p:txBody>
          </p:sp>
          <p:sp>
            <p:nvSpPr>
              <p:cNvPr id="34" name="TextBox 34"/>
              <p:cNvSpPr txBox="1"/>
              <p:nvPr/>
            </p:nvSpPr>
            <p:spPr>
              <a:xfrm>
                <a:off x="8136255" y="2502218"/>
                <a:ext cx="1897523" cy="274320"/>
              </a:xfrm>
              <a:prstGeom prst="rect">
                <a:avLst/>
              </a:prstGeom>
              <a:noFill/>
              <a:ln>
                <a:noFill/>
              </a:ln>
            </p:spPr>
            <p:txBody>
              <a:bodyPr wrap="none" lIns="0" tIns="0" rIns="0" bIns="0" anchor="t" anchorCtr="0">
                <a:spAutoFit/>
              </a:bodyPr>
              <a:lstStyle/>
              <a:p>
                <a:pPr algn="l"/>
                <a:r>
                  <a:rPr lang="zh-CN" sz="1350" b="1" dirty="0">
                    <a:solidFill>
                      <a:srgbClr val="004C97"/>
                    </a:solidFill>
                    <a:latin typeface="Arial Black"/>
                    <a:ea typeface="Microsoft YaHei"/>
                    <a:cs typeface="Arial Black"/>
                  </a:rPr>
                  <a:t>Call the SDK locally</a:t>
                </a:r>
              </a:p>
            </p:txBody>
          </p:sp>
          <p:sp>
            <p:nvSpPr>
              <p:cNvPr id="35" name="TextBox 35"/>
              <p:cNvSpPr txBox="1"/>
              <p:nvPr/>
            </p:nvSpPr>
            <p:spPr>
              <a:xfrm>
                <a:off x="8141018" y="2780824"/>
                <a:ext cx="2516743"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Private-access boilerplate handled.</a:t>
                </a:r>
              </a:p>
            </p:txBody>
          </p:sp>
          <p:sp>
            <p:nvSpPr>
              <p:cNvPr id="36" name="TextBox 36"/>
              <p:cNvSpPr txBox="1"/>
              <p:nvPr/>
            </p:nvSpPr>
            <p:spPr>
              <a:xfrm>
                <a:off x="8141018" y="2952274"/>
                <a:ext cx="2345865"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User picks one of three formats.</a:t>
                </a:r>
              </a:p>
            </p:txBody>
          </p:sp>
          <p:sp>
            <p:nvSpPr>
              <p:cNvPr id="37" name="Line 37"/>
              <p:cNvSpPr/>
              <p:nvPr/>
            </p:nvSpPr>
            <p:spPr>
              <a:xfrm>
                <a:off x="8153400" y="3381375"/>
                <a:ext cx="3028950" cy="9525"/>
              </a:xfrm>
              <a:custGeom>
                <a:avLst/>
                <a:gdLst/>
                <a:ahLst/>
                <a:cxnLst/>
                <a:rect l="l" t="t" r="r" b="b"/>
                <a:pathLst>
                  <a:path w="3028950" h="9525">
                    <a:moveTo>
                      <a:pt x="0" y="0"/>
                    </a:moveTo>
                    <a:lnTo>
                      <a:pt x="3028950" y="0"/>
                    </a:lnTo>
                  </a:path>
                </a:pathLst>
              </a:custGeom>
              <a:noFill/>
              <a:ln w="9525">
                <a:solidFill>
                  <a:srgbClr val="CDD7E2"/>
                </a:solidFill>
              </a:ln>
            </p:spPr>
            <p:txBody>
              <a:bodyPr/>
              <a:lstStyle/>
              <a:p>
                <a:endParaRPr lang="en-US"/>
              </a:p>
            </p:txBody>
          </p:sp>
          <p:sp>
            <p:nvSpPr>
              <p:cNvPr id="38" name="TextBox 38"/>
              <p:cNvSpPr txBox="1"/>
              <p:nvPr/>
            </p:nvSpPr>
            <p:spPr>
              <a:xfrm>
                <a:off x="8143875" y="3519488"/>
                <a:ext cx="421600" cy="152400"/>
              </a:xfrm>
              <a:prstGeom prst="rect">
                <a:avLst/>
              </a:prstGeom>
              <a:noFill/>
              <a:ln>
                <a:noFill/>
              </a:ln>
            </p:spPr>
            <p:txBody>
              <a:bodyPr wrap="none" lIns="0" tIns="0" rIns="0" bIns="0" anchor="t" anchorCtr="0">
                <a:spAutoFit/>
              </a:bodyPr>
              <a:lstStyle/>
              <a:p>
                <a:pPr algn="l"/>
                <a:r>
                  <a:rPr lang="zh-CN" sz="750" b="1" dirty="0">
                    <a:solidFill>
                      <a:srgbClr val="9AA3AE"/>
                    </a:solidFill>
                    <a:latin typeface="Arial"/>
                    <a:ea typeface="Microsoft YaHei"/>
                    <a:cs typeface="Arial"/>
                  </a:rPr>
                  <a:t>OUTPUT</a:t>
                </a:r>
              </a:p>
            </p:txBody>
          </p:sp>
          <p:sp>
            <p:nvSpPr>
              <p:cNvPr id="39" name="TextBox 39"/>
              <p:cNvSpPr txBox="1"/>
              <p:nvPr/>
            </p:nvSpPr>
            <p:spPr>
              <a:xfrm>
                <a:off x="8141018" y="3723799"/>
                <a:ext cx="1362957"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Consolas"/>
                    <a:ea typeface="Microsoft YaHei"/>
                    <a:cs typeface="Consolas"/>
                  </a:rPr>
                  <a:t>file on your laptop</a:t>
                </a:r>
              </a:p>
            </p:txBody>
          </p:sp>
        </p:grpSp>
        <p:grpSp>
          <p:nvGrpSpPr>
            <p:cNvPr id="45" name="Group 45"/>
            <p:cNvGrpSpPr/>
            <p:nvPr/>
          </p:nvGrpSpPr>
          <p:grpSpPr>
            <a:xfrm>
              <a:off x="4229100" y="2895600"/>
              <a:ext cx="3762375" cy="114300"/>
              <a:chOff x="4229100" y="2895600"/>
              <a:chExt cx="3762375" cy="114300"/>
            </a:xfrm>
          </p:grpSpPr>
          <p:sp>
            <p:nvSpPr>
              <p:cNvPr id="41" name="Freeform 41"/>
              <p:cNvSpPr/>
              <p:nvPr/>
            </p:nvSpPr>
            <p:spPr>
              <a:xfrm>
                <a:off x="4229100" y="2952750"/>
                <a:ext cx="142875" cy="9525"/>
              </a:xfrm>
              <a:custGeom>
                <a:avLst/>
                <a:gdLst/>
                <a:ahLst/>
                <a:cxnLst/>
                <a:rect l="l" t="t" r="r" b="b"/>
                <a:pathLst>
                  <a:path w="142875" h="9525">
                    <a:moveTo>
                      <a:pt x="0" y="0"/>
                    </a:moveTo>
                    <a:lnTo>
                      <a:pt x="142875" y="0"/>
                    </a:lnTo>
                  </a:path>
                </a:pathLst>
              </a:custGeom>
              <a:solidFill>
                <a:srgbClr val="000000"/>
              </a:solidFill>
              <a:ln w="23812">
                <a:solidFill>
                  <a:srgbClr val="707372"/>
                </a:solidFill>
              </a:ln>
            </p:spPr>
            <p:txBody>
              <a:bodyPr/>
              <a:lstStyle/>
              <a:p>
                <a:endParaRPr lang="en-US"/>
              </a:p>
            </p:txBody>
          </p:sp>
          <p:sp>
            <p:nvSpPr>
              <p:cNvPr id="42" name="Polygon 42"/>
              <p:cNvSpPr/>
              <p:nvPr/>
            </p:nvSpPr>
            <p:spPr>
              <a:xfrm>
                <a:off x="4324350" y="2895600"/>
                <a:ext cx="95250" cy="114300"/>
              </a:xfrm>
              <a:custGeom>
                <a:avLst/>
                <a:gdLst/>
                <a:ahLst/>
                <a:cxnLst/>
                <a:rect l="l" t="t" r="r" b="b"/>
                <a:pathLst>
                  <a:path w="95250" h="114300">
                    <a:moveTo>
                      <a:pt x="95250" y="57150"/>
                    </a:moveTo>
                    <a:lnTo>
                      <a:pt x="0" y="0"/>
                    </a:lnTo>
                    <a:lnTo>
                      <a:pt x="0" y="114300"/>
                    </a:lnTo>
                    <a:close/>
                  </a:path>
                </a:pathLst>
              </a:custGeom>
              <a:solidFill>
                <a:srgbClr val="707372"/>
              </a:solidFill>
              <a:ln>
                <a:noFill/>
              </a:ln>
            </p:spPr>
            <p:txBody>
              <a:bodyPr/>
              <a:lstStyle/>
              <a:p>
                <a:endParaRPr lang="en-US"/>
              </a:p>
            </p:txBody>
          </p:sp>
          <p:sp>
            <p:nvSpPr>
              <p:cNvPr id="43" name="Freeform 43"/>
              <p:cNvSpPr/>
              <p:nvPr/>
            </p:nvSpPr>
            <p:spPr>
              <a:xfrm>
                <a:off x="7800975" y="2952750"/>
                <a:ext cx="142875" cy="9525"/>
              </a:xfrm>
              <a:custGeom>
                <a:avLst/>
                <a:gdLst/>
                <a:ahLst/>
                <a:cxnLst/>
                <a:rect l="l" t="t" r="r" b="b"/>
                <a:pathLst>
                  <a:path w="142875" h="9525">
                    <a:moveTo>
                      <a:pt x="0" y="0"/>
                    </a:moveTo>
                    <a:lnTo>
                      <a:pt x="142875" y="0"/>
                    </a:lnTo>
                  </a:path>
                </a:pathLst>
              </a:custGeom>
              <a:solidFill>
                <a:srgbClr val="000000"/>
              </a:solidFill>
              <a:ln w="23812">
                <a:solidFill>
                  <a:srgbClr val="707372"/>
                </a:solidFill>
              </a:ln>
            </p:spPr>
            <p:txBody>
              <a:bodyPr/>
              <a:lstStyle/>
              <a:p>
                <a:endParaRPr lang="en-US"/>
              </a:p>
            </p:txBody>
          </p:sp>
          <p:sp>
            <p:nvSpPr>
              <p:cNvPr id="44" name="Polygon 44"/>
              <p:cNvSpPr/>
              <p:nvPr/>
            </p:nvSpPr>
            <p:spPr>
              <a:xfrm>
                <a:off x="7896225" y="2895600"/>
                <a:ext cx="95250" cy="114300"/>
              </a:xfrm>
              <a:custGeom>
                <a:avLst/>
                <a:gdLst/>
                <a:ahLst/>
                <a:cxnLst/>
                <a:rect l="l" t="t" r="r" b="b"/>
                <a:pathLst>
                  <a:path w="95250" h="114300">
                    <a:moveTo>
                      <a:pt x="95250" y="57150"/>
                    </a:moveTo>
                    <a:lnTo>
                      <a:pt x="0" y="0"/>
                    </a:lnTo>
                    <a:lnTo>
                      <a:pt x="0" y="114300"/>
                    </a:lnTo>
                    <a:close/>
                  </a:path>
                </a:pathLst>
              </a:custGeom>
              <a:solidFill>
                <a:srgbClr val="707372"/>
              </a:solidFill>
              <a:ln>
                <a:noFill/>
              </a:ln>
            </p:spPr>
            <p:txBody>
              <a:bodyPr/>
              <a:lstStyle/>
              <a:p>
                <a:endParaRPr lang="en-US"/>
              </a:p>
            </p:txBody>
          </p:sp>
        </p:grpSp>
      </p:grpSp>
      <p:grpSp>
        <p:nvGrpSpPr>
          <p:cNvPr id="81" name="Group 81"/>
          <p:cNvGrpSpPr/>
          <p:nvPr/>
        </p:nvGrpSpPr>
        <p:grpSpPr>
          <a:xfrm>
            <a:off x="561022" y="4521041"/>
            <a:ext cx="11059478" cy="1584484"/>
            <a:chOff x="561022" y="4521041"/>
            <a:chExt cx="11059478" cy="1584484"/>
          </a:xfrm>
        </p:grpSpPr>
        <p:sp>
          <p:nvSpPr>
            <p:cNvPr id="47" name="TextBox 47"/>
            <p:cNvSpPr txBox="1"/>
            <p:nvPr/>
          </p:nvSpPr>
          <p:spPr>
            <a:xfrm>
              <a:off x="561022" y="4521041"/>
              <a:ext cx="2083163"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THREE OUTPUT SHAPES — USER PICKS</a:t>
              </a:r>
            </a:p>
          </p:txBody>
        </p:sp>
        <p:grpSp>
          <p:nvGrpSpPr>
            <p:cNvPr id="58" name="Group 58"/>
            <p:cNvGrpSpPr/>
            <p:nvPr/>
          </p:nvGrpSpPr>
          <p:grpSpPr>
            <a:xfrm>
              <a:off x="571500" y="4762500"/>
              <a:ext cx="3619500" cy="1343025"/>
              <a:chOff x="571500" y="4762500"/>
              <a:chExt cx="3619500" cy="1343025"/>
            </a:xfrm>
          </p:grpSpPr>
          <p:sp>
            <p:nvSpPr>
              <p:cNvPr id="48" name="Rectangle 48"/>
              <p:cNvSpPr/>
              <p:nvPr/>
            </p:nvSpPr>
            <p:spPr>
              <a:xfrm>
                <a:off x="571500" y="4762500"/>
                <a:ext cx="3619500" cy="1333500"/>
              </a:xfrm>
              <a:prstGeom prst="roundRect">
                <a:avLst>
                  <a:gd name="adj" fmla="val 7143"/>
                </a:avLst>
              </a:prstGeom>
              <a:solidFill>
                <a:srgbClr val="FFFFFF"/>
              </a:solidFill>
              <a:ln w="14288">
                <a:solidFill>
                  <a:srgbClr val="CDD7E2"/>
                </a:solidFill>
              </a:ln>
            </p:spPr>
            <p:txBody>
              <a:bodyPr/>
              <a:lstStyle/>
              <a:p>
                <a:endParaRPr lang="en-US"/>
              </a:p>
            </p:txBody>
          </p:sp>
          <p:grpSp>
            <p:nvGrpSpPr>
              <p:cNvPr id="54" name="Group 54"/>
              <p:cNvGrpSpPr/>
              <p:nvPr/>
            </p:nvGrpSpPr>
            <p:grpSpPr>
              <a:xfrm>
                <a:off x="841375" y="5000625"/>
                <a:ext cx="222250" cy="285750"/>
                <a:chOff x="841375" y="5000625"/>
                <a:chExt cx="222250" cy="285750"/>
              </a:xfrm>
            </p:grpSpPr>
            <p:sp>
              <p:nvSpPr>
                <p:cNvPr id="49" name="Freeform 49"/>
                <p:cNvSpPr/>
                <p:nvPr/>
              </p:nvSpPr>
              <p:spPr>
                <a:xfrm>
                  <a:off x="984250" y="500062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004C97"/>
                  </a:solidFill>
                </a:ln>
              </p:spPr>
              <p:txBody>
                <a:bodyPr/>
                <a:lstStyle/>
                <a:p>
                  <a:endParaRPr lang="en-US"/>
                </a:p>
              </p:txBody>
            </p:sp>
            <p:sp>
              <p:nvSpPr>
                <p:cNvPr id="50" name="Freeform 50"/>
                <p:cNvSpPr/>
                <p:nvPr/>
              </p:nvSpPr>
              <p:spPr>
                <a:xfrm>
                  <a:off x="841375" y="5000625"/>
                  <a:ext cx="222250" cy="285750"/>
                </a:xfrm>
                <a:custGeom>
                  <a:avLst/>
                  <a:gdLst/>
                  <a:ahLst/>
                  <a:cxnLst/>
                  <a:rect l="l" t="t" r="r" b="b"/>
                  <a:pathLst>
                    <a:path w="222250" h="285750">
                      <a:moveTo>
                        <a:pt x="190500" y="285750"/>
                      </a:moveTo>
                      <a:lnTo>
                        <a:pt x="31750" y="285750"/>
                      </a:lnTo>
                      <a:cubicBezTo>
                        <a:pt x="14215" y="285750"/>
                        <a:pt x="0" y="271535"/>
                        <a:pt x="0" y="254000"/>
                      </a:cubicBezTo>
                      <a:lnTo>
                        <a:pt x="0" y="31750"/>
                      </a:lnTo>
                      <a:cubicBezTo>
                        <a:pt x="0" y="14215"/>
                        <a:pt x="14215" y="0"/>
                        <a:pt x="31750" y="0"/>
                      </a:cubicBezTo>
                      <a:lnTo>
                        <a:pt x="142875" y="0"/>
                      </a:lnTo>
                      <a:lnTo>
                        <a:pt x="222250" y="79375"/>
                      </a:lnTo>
                      <a:lnTo>
                        <a:pt x="222250" y="254000"/>
                      </a:lnTo>
                      <a:cubicBezTo>
                        <a:pt x="222250" y="271535"/>
                        <a:pt x="208035" y="285750"/>
                        <a:pt x="190500" y="285750"/>
                      </a:cubicBezTo>
                    </a:path>
                  </a:pathLst>
                </a:custGeom>
                <a:noFill/>
                <a:ln w="19050">
                  <a:solidFill>
                    <a:srgbClr val="004C97"/>
                  </a:solidFill>
                </a:ln>
              </p:spPr>
              <p:txBody>
                <a:bodyPr/>
                <a:lstStyle/>
                <a:p>
                  <a:endParaRPr lang="en-US"/>
                </a:p>
              </p:txBody>
            </p:sp>
            <p:sp>
              <p:nvSpPr>
                <p:cNvPr id="51" name="Freeform 51"/>
                <p:cNvSpPr/>
                <p:nvPr/>
              </p:nvSpPr>
              <p:spPr>
                <a:xfrm>
                  <a:off x="889000" y="5127625"/>
                  <a:ext cx="127000" cy="111125"/>
                </a:xfrm>
                <a:custGeom>
                  <a:avLst/>
                  <a:gdLst/>
                  <a:ahLst/>
                  <a:cxnLst/>
                  <a:rect l="l" t="t" r="r" b="b"/>
                  <a:pathLst>
                    <a:path w="127000" h="111125">
                      <a:moveTo>
                        <a:pt x="0" y="0"/>
                      </a:moveTo>
                      <a:lnTo>
                        <a:pt x="127000" y="0"/>
                      </a:lnTo>
                      <a:lnTo>
                        <a:pt x="127000" y="111125"/>
                      </a:lnTo>
                      <a:lnTo>
                        <a:pt x="0" y="111125"/>
                      </a:lnTo>
                      <a:lnTo>
                        <a:pt x="0" y="0"/>
                      </a:lnTo>
                    </a:path>
                  </a:pathLst>
                </a:custGeom>
                <a:noFill/>
                <a:ln w="19050">
                  <a:solidFill>
                    <a:srgbClr val="004C97"/>
                  </a:solidFill>
                </a:ln>
              </p:spPr>
              <p:txBody>
                <a:bodyPr/>
                <a:lstStyle/>
                <a:p>
                  <a:endParaRPr lang="en-US"/>
                </a:p>
              </p:txBody>
            </p:sp>
            <p:sp>
              <p:nvSpPr>
                <p:cNvPr id="52" name="Freeform 52"/>
                <p:cNvSpPr/>
                <p:nvPr/>
              </p:nvSpPr>
              <p:spPr>
                <a:xfrm>
                  <a:off x="889000" y="5191125"/>
                  <a:ext cx="127000" cy="9525"/>
                </a:xfrm>
                <a:custGeom>
                  <a:avLst/>
                  <a:gdLst/>
                  <a:ahLst/>
                  <a:cxnLst/>
                  <a:rect l="l" t="t" r="r" b="b"/>
                  <a:pathLst>
                    <a:path w="127000" h="9525">
                      <a:moveTo>
                        <a:pt x="0" y="0"/>
                      </a:moveTo>
                      <a:lnTo>
                        <a:pt x="127000" y="0"/>
                      </a:lnTo>
                    </a:path>
                  </a:pathLst>
                </a:custGeom>
                <a:noFill/>
                <a:ln w="19050">
                  <a:solidFill>
                    <a:srgbClr val="004C97"/>
                  </a:solidFill>
                </a:ln>
              </p:spPr>
              <p:txBody>
                <a:bodyPr/>
                <a:lstStyle/>
                <a:p>
                  <a:endParaRPr lang="en-US"/>
                </a:p>
              </p:txBody>
            </p:sp>
            <p:sp>
              <p:nvSpPr>
                <p:cNvPr id="53" name="Freeform 53"/>
                <p:cNvSpPr/>
                <p:nvPr/>
              </p:nvSpPr>
              <p:spPr>
                <a:xfrm>
                  <a:off x="936625" y="5127625"/>
                  <a:ext cx="9525" cy="111125"/>
                </a:xfrm>
                <a:custGeom>
                  <a:avLst/>
                  <a:gdLst/>
                  <a:ahLst/>
                  <a:cxnLst/>
                  <a:rect l="l" t="t" r="r" b="b"/>
                  <a:pathLst>
                    <a:path w="9525" h="111125">
                      <a:moveTo>
                        <a:pt x="0" y="0"/>
                      </a:moveTo>
                      <a:lnTo>
                        <a:pt x="0" y="111125"/>
                      </a:lnTo>
                    </a:path>
                  </a:pathLst>
                </a:custGeom>
                <a:noFill/>
                <a:ln w="19050">
                  <a:solidFill>
                    <a:srgbClr val="004C97"/>
                  </a:solidFill>
                </a:ln>
              </p:spPr>
              <p:txBody>
                <a:bodyPr/>
                <a:lstStyle/>
                <a:p>
                  <a:endParaRPr lang="en-US"/>
                </a:p>
              </p:txBody>
            </p:sp>
          </p:grpSp>
          <p:sp>
            <p:nvSpPr>
              <p:cNvPr id="55" name="TextBox 55"/>
              <p:cNvSpPr txBox="1"/>
              <p:nvPr/>
            </p:nvSpPr>
            <p:spPr>
              <a:xfrm>
                <a:off x="751522" y="5511641"/>
                <a:ext cx="596602" cy="167640"/>
              </a:xfrm>
              <a:prstGeom prst="rect">
                <a:avLst/>
              </a:prstGeom>
              <a:noFill/>
              <a:ln>
                <a:noFill/>
              </a:ln>
            </p:spPr>
            <p:txBody>
              <a:bodyPr wrap="none" lIns="0" tIns="0" rIns="0" bIns="0" anchor="t" anchorCtr="0">
                <a:spAutoFit/>
              </a:bodyPr>
              <a:lstStyle/>
              <a:p>
                <a:pPr algn="l"/>
                <a:r>
                  <a:rPr lang="zh-CN" sz="825" b="1" dirty="0">
                    <a:solidFill>
                      <a:srgbClr val="5B6470"/>
                    </a:solidFill>
                    <a:latin typeface="Arial"/>
                    <a:ea typeface="Microsoft YaHei"/>
                    <a:cs typeface="Arial"/>
                  </a:rPr>
                  <a:t>FORMAT A</a:t>
                </a:r>
              </a:p>
            </p:txBody>
          </p:sp>
          <p:sp>
            <p:nvSpPr>
              <p:cNvPr id="56" name="TextBox 56"/>
              <p:cNvSpPr txBox="1"/>
              <p:nvPr/>
            </p:nvSpPr>
            <p:spPr>
              <a:xfrm>
                <a:off x="742950" y="5667375"/>
                <a:ext cx="2016347" cy="304800"/>
              </a:xfrm>
              <a:prstGeom prst="rect">
                <a:avLst/>
              </a:prstGeom>
              <a:noFill/>
              <a:ln>
                <a:noFill/>
              </a:ln>
            </p:spPr>
            <p:txBody>
              <a:bodyPr wrap="none" lIns="0" tIns="0" rIns="0" bIns="0" anchor="t" anchorCtr="0">
                <a:spAutoFit/>
              </a:bodyPr>
              <a:lstStyle/>
              <a:p>
                <a:pPr algn="l"/>
                <a:r>
                  <a:rPr lang="zh-CN" sz="1500" b="1" dirty="0">
                    <a:solidFill>
                      <a:srgbClr val="004C97"/>
                    </a:solidFill>
                    <a:latin typeface="Arial Black"/>
                    <a:ea typeface="Microsoft YaHei"/>
                    <a:cs typeface="Arial Black"/>
                  </a:rPr>
                  <a:t>Refreshable Excel</a:t>
                </a:r>
              </a:p>
            </p:txBody>
          </p:sp>
          <p:sp>
            <p:nvSpPr>
              <p:cNvPr id="57" name="TextBox 57"/>
              <p:cNvSpPr txBox="1"/>
              <p:nvPr/>
            </p:nvSpPr>
            <p:spPr>
              <a:xfrm>
                <a:off x="750570" y="5922645"/>
                <a:ext cx="2776633" cy="182880"/>
              </a:xfrm>
              <a:prstGeom prst="rect">
                <a:avLst/>
              </a:prstGeom>
              <a:noFill/>
              <a:ln>
                <a:noFill/>
              </a:ln>
            </p:spPr>
            <p:txBody>
              <a:bodyPr wrap="none" lIns="0" tIns="0" rIns="0" bIns="0" anchor="t" anchorCtr="0">
                <a:spAutoFit/>
              </a:bodyPr>
              <a:lstStyle/>
              <a:p>
                <a:pPr algn="l"/>
                <a:r>
                  <a:rPr lang="zh-CN" sz="900" dirty="0">
                    <a:solidFill>
                      <a:srgbClr val="5B6470"/>
                    </a:solidFill>
                    <a:latin typeface="Arial"/>
                    <a:ea typeface="Microsoft YaHei"/>
                    <a:cs typeface="Arial"/>
                  </a:rPr>
                  <a:t>Enriched: country names, ISO3, IFS codes.</a:t>
                </a:r>
              </a:p>
            </p:txBody>
          </p:sp>
        </p:grpSp>
        <p:grpSp>
          <p:nvGrpSpPr>
            <p:cNvPr id="69" name="Group 69"/>
            <p:cNvGrpSpPr/>
            <p:nvPr/>
          </p:nvGrpSpPr>
          <p:grpSpPr>
            <a:xfrm>
              <a:off x="4286250" y="4762500"/>
              <a:ext cx="3619500" cy="1343025"/>
              <a:chOff x="4286250" y="4762500"/>
              <a:chExt cx="3619500" cy="1343025"/>
            </a:xfrm>
          </p:grpSpPr>
          <p:sp>
            <p:nvSpPr>
              <p:cNvPr id="59" name="Rectangle 59"/>
              <p:cNvSpPr/>
              <p:nvPr/>
            </p:nvSpPr>
            <p:spPr>
              <a:xfrm>
                <a:off x="4286250" y="4762500"/>
                <a:ext cx="3619500" cy="1333500"/>
              </a:xfrm>
              <a:prstGeom prst="roundRect">
                <a:avLst>
                  <a:gd name="adj" fmla="val 7143"/>
                </a:avLst>
              </a:prstGeom>
              <a:solidFill>
                <a:srgbClr val="FFFFFF"/>
              </a:solidFill>
              <a:ln w="14288">
                <a:solidFill>
                  <a:srgbClr val="CDD7E2"/>
                </a:solidFill>
              </a:ln>
            </p:spPr>
            <p:txBody>
              <a:bodyPr/>
              <a:lstStyle/>
              <a:p>
                <a:endParaRPr lang="en-US"/>
              </a:p>
            </p:txBody>
          </p:sp>
          <p:grpSp>
            <p:nvGrpSpPr>
              <p:cNvPr id="65" name="Group 65"/>
              <p:cNvGrpSpPr/>
              <p:nvPr/>
            </p:nvGrpSpPr>
            <p:grpSpPr>
              <a:xfrm>
                <a:off x="4556125" y="5000625"/>
                <a:ext cx="222250" cy="285750"/>
                <a:chOff x="4556125" y="5000625"/>
                <a:chExt cx="222250" cy="285750"/>
              </a:xfrm>
            </p:grpSpPr>
            <p:sp>
              <p:nvSpPr>
                <p:cNvPr id="60" name="Freeform 60"/>
                <p:cNvSpPr/>
                <p:nvPr/>
              </p:nvSpPr>
              <p:spPr>
                <a:xfrm>
                  <a:off x="4699000" y="500062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004C97"/>
                  </a:solidFill>
                </a:ln>
              </p:spPr>
              <p:txBody>
                <a:bodyPr/>
                <a:lstStyle/>
                <a:p>
                  <a:endParaRPr lang="en-US"/>
                </a:p>
              </p:txBody>
            </p:sp>
            <p:sp>
              <p:nvSpPr>
                <p:cNvPr id="61" name="Freeform 61"/>
                <p:cNvSpPr/>
                <p:nvPr/>
              </p:nvSpPr>
              <p:spPr>
                <a:xfrm>
                  <a:off x="4556125" y="5000625"/>
                  <a:ext cx="222250" cy="285750"/>
                </a:xfrm>
                <a:custGeom>
                  <a:avLst/>
                  <a:gdLst/>
                  <a:ahLst/>
                  <a:cxnLst/>
                  <a:rect l="l" t="t" r="r" b="b"/>
                  <a:pathLst>
                    <a:path w="222250" h="285750">
                      <a:moveTo>
                        <a:pt x="190500" y="285750"/>
                      </a:moveTo>
                      <a:lnTo>
                        <a:pt x="31750" y="285750"/>
                      </a:lnTo>
                      <a:cubicBezTo>
                        <a:pt x="14215" y="285750"/>
                        <a:pt x="0" y="271535"/>
                        <a:pt x="0" y="254000"/>
                      </a:cubicBezTo>
                      <a:lnTo>
                        <a:pt x="0" y="31750"/>
                      </a:lnTo>
                      <a:cubicBezTo>
                        <a:pt x="0" y="14215"/>
                        <a:pt x="14215" y="0"/>
                        <a:pt x="31750" y="0"/>
                      </a:cubicBezTo>
                      <a:lnTo>
                        <a:pt x="142875" y="0"/>
                      </a:lnTo>
                      <a:lnTo>
                        <a:pt x="222250" y="79375"/>
                      </a:lnTo>
                      <a:lnTo>
                        <a:pt x="222250" y="254000"/>
                      </a:lnTo>
                      <a:cubicBezTo>
                        <a:pt x="222250" y="271535"/>
                        <a:pt x="208035" y="285750"/>
                        <a:pt x="190500" y="285750"/>
                      </a:cubicBezTo>
                    </a:path>
                  </a:pathLst>
                </a:custGeom>
                <a:noFill/>
                <a:ln w="19050">
                  <a:solidFill>
                    <a:srgbClr val="004C97"/>
                  </a:solidFill>
                </a:ln>
              </p:spPr>
              <p:txBody>
                <a:bodyPr/>
                <a:lstStyle/>
                <a:p>
                  <a:endParaRPr lang="en-US"/>
                </a:p>
              </p:txBody>
            </p:sp>
            <p:sp>
              <p:nvSpPr>
                <p:cNvPr id="62" name="Freeform 62"/>
                <p:cNvSpPr/>
                <p:nvPr/>
              </p:nvSpPr>
              <p:spPr>
                <a:xfrm>
                  <a:off x="4603750" y="5127625"/>
                  <a:ext cx="127000" cy="111125"/>
                </a:xfrm>
                <a:custGeom>
                  <a:avLst/>
                  <a:gdLst/>
                  <a:ahLst/>
                  <a:cxnLst/>
                  <a:rect l="l" t="t" r="r" b="b"/>
                  <a:pathLst>
                    <a:path w="127000" h="111125">
                      <a:moveTo>
                        <a:pt x="0" y="0"/>
                      </a:moveTo>
                      <a:lnTo>
                        <a:pt x="127000" y="0"/>
                      </a:lnTo>
                      <a:lnTo>
                        <a:pt x="127000" y="111125"/>
                      </a:lnTo>
                      <a:lnTo>
                        <a:pt x="0" y="111125"/>
                      </a:lnTo>
                      <a:lnTo>
                        <a:pt x="0" y="0"/>
                      </a:lnTo>
                    </a:path>
                  </a:pathLst>
                </a:custGeom>
                <a:noFill/>
                <a:ln w="19050">
                  <a:solidFill>
                    <a:srgbClr val="004C97"/>
                  </a:solidFill>
                </a:ln>
              </p:spPr>
              <p:txBody>
                <a:bodyPr/>
                <a:lstStyle/>
                <a:p>
                  <a:endParaRPr lang="en-US"/>
                </a:p>
              </p:txBody>
            </p:sp>
            <p:sp>
              <p:nvSpPr>
                <p:cNvPr id="63" name="Freeform 63"/>
                <p:cNvSpPr/>
                <p:nvPr/>
              </p:nvSpPr>
              <p:spPr>
                <a:xfrm>
                  <a:off x="4603750" y="5191125"/>
                  <a:ext cx="127000" cy="9525"/>
                </a:xfrm>
                <a:custGeom>
                  <a:avLst/>
                  <a:gdLst/>
                  <a:ahLst/>
                  <a:cxnLst/>
                  <a:rect l="l" t="t" r="r" b="b"/>
                  <a:pathLst>
                    <a:path w="127000" h="9525">
                      <a:moveTo>
                        <a:pt x="0" y="0"/>
                      </a:moveTo>
                      <a:lnTo>
                        <a:pt x="127000" y="0"/>
                      </a:lnTo>
                    </a:path>
                  </a:pathLst>
                </a:custGeom>
                <a:noFill/>
                <a:ln w="19050">
                  <a:solidFill>
                    <a:srgbClr val="004C97"/>
                  </a:solidFill>
                </a:ln>
              </p:spPr>
              <p:txBody>
                <a:bodyPr/>
                <a:lstStyle/>
                <a:p>
                  <a:endParaRPr lang="en-US"/>
                </a:p>
              </p:txBody>
            </p:sp>
            <p:sp>
              <p:nvSpPr>
                <p:cNvPr id="64" name="Freeform 64"/>
                <p:cNvSpPr/>
                <p:nvPr/>
              </p:nvSpPr>
              <p:spPr>
                <a:xfrm>
                  <a:off x="4651375" y="5127625"/>
                  <a:ext cx="9525" cy="111125"/>
                </a:xfrm>
                <a:custGeom>
                  <a:avLst/>
                  <a:gdLst/>
                  <a:ahLst/>
                  <a:cxnLst/>
                  <a:rect l="l" t="t" r="r" b="b"/>
                  <a:pathLst>
                    <a:path w="9525" h="111125">
                      <a:moveTo>
                        <a:pt x="0" y="0"/>
                      </a:moveTo>
                      <a:lnTo>
                        <a:pt x="0" y="111125"/>
                      </a:lnTo>
                    </a:path>
                  </a:pathLst>
                </a:custGeom>
                <a:noFill/>
                <a:ln w="19050">
                  <a:solidFill>
                    <a:srgbClr val="004C97"/>
                  </a:solidFill>
                </a:ln>
              </p:spPr>
              <p:txBody>
                <a:bodyPr/>
                <a:lstStyle/>
                <a:p>
                  <a:endParaRPr lang="en-US"/>
                </a:p>
              </p:txBody>
            </p:sp>
          </p:grpSp>
          <p:sp>
            <p:nvSpPr>
              <p:cNvPr id="66" name="TextBox 66"/>
              <p:cNvSpPr txBox="1"/>
              <p:nvPr/>
            </p:nvSpPr>
            <p:spPr>
              <a:xfrm>
                <a:off x="4466272" y="5511641"/>
                <a:ext cx="596602" cy="167640"/>
              </a:xfrm>
              <a:prstGeom prst="rect">
                <a:avLst/>
              </a:prstGeom>
              <a:noFill/>
              <a:ln>
                <a:noFill/>
              </a:ln>
            </p:spPr>
            <p:txBody>
              <a:bodyPr wrap="none" lIns="0" tIns="0" rIns="0" bIns="0" anchor="t" anchorCtr="0">
                <a:spAutoFit/>
              </a:bodyPr>
              <a:lstStyle/>
              <a:p>
                <a:pPr algn="l"/>
                <a:r>
                  <a:rPr lang="zh-CN" sz="825" b="1" dirty="0">
                    <a:solidFill>
                      <a:srgbClr val="5B6470"/>
                    </a:solidFill>
                    <a:latin typeface="Arial"/>
                    <a:ea typeface="Microsoft YaHei"/>
                    <a:cs typeface="Arial"/>
                  </a:rPr>
                  <a:t>FORMAT B</a:t>
                </a:r>
              </a:p>
            </p:txBody>
          </p:sp>
          <p:sp>
            <p:nvSpPr>
              <p:cNvPr id="67" name="TextBox 67"/>
              <p:cNvSpPr txBox="1"/>
              <p:nvPr/>
            </p:nvSpPr>
            <p:spPr>
              <a:xfrm>
                <a:off x="4457700" y="5667375"/>
                <a:ext cx="1820823" cy="304800"/>
              </a:xfrm>
              <a:prstGeom prst="rect">
                <a:avLst/>
              </a:prstGeom>
              <a:noFill/>
              <a:ln>
                <a:noFill/>
              </a:ln>
            </p:spPr>
            <p:txBody>
              <a:bodyPr wrap="none" lIns="0" tIns="0" rIns="0" bIns="0" anchor="t" anchorCtr="0">
                <a:spAutoFit/>
              </a:bodyPr>
              <a:lstStyle/>
              <a:p>
                <a:pPr algn="l"/>
                <a:r>
                  <a:rPr lang="zh-CN" sz="1500" b="1" dirty="0">
                    <a:solidFill>
                      <a:srgbClr val="004C97"/>
                    </a:solidFill>
                    <a:latin typeface="Arial Black"/>
                    <a:ea typeface="Microsoft YaHei"/>
                    <a:cs typeface="Arial Black"/>
                  </a:rPr>
                  <a:t>Wide CSV / Excel</a:t>
                </a:r>
              </a:p>
            </p:txBody>
          </p:sp>
          <p:sp>
            <p:nvSpPr>
              <p:cNvPr id="68" name="TextBox 68"/>
              <p:cNvSpPr txBox="1"/>
              <p:nvPr/>
            </p:nvSpPr>
            <p:spPr>
              <a:xfrm>
                <a:off x="4465320" y="5922645"/>
                <a:ext cx="2448020" cy="182880"/>
              </a:xfrm>
              <a:prstGeom prst="rect">
                <a:avLst/>
              </a:prstGeom>
              <a:noFill/>
              <a:ln>
                <a:noFill/>
              </a:ln>
            </p:spPr>
            <p:txBody>
              <a:bodyPr wrap="none" lIns="0" tIns="0" rIns="0" bIns="0" anchor="t" anchorCtr="0">
                <a:spAutoFit/>
              </a:bodyPr>
              <a:lstStyle/>
              <a:p>
                <a:pPr algn="l"/>
                <a:r>
                  <a:rPr lang="zh-CN" sz="900" dirty="0">
                    <a:solidFill>
                      <a:srgbClr val="5B6470"/>
                    </a:solidFill>
                    <a:latin typeface="Arial"/>
                    <a:ea typeface="Microsoft YaHei"/>
                    <a:cs typeface="Arial"/>
                  </a:rPr>
                  <a:t>Dates as rows, countries as columns.</a:t>
                </a:r>
              </a:p>
            </p:txBody>
          </p:sp>
        </p:grpSp>
        <p:grpSp>
          <p:nvGrpSpPr>
            <p:cNvPr id="80" name="Group 80"/>
            <p:cNvGrpSpPr/>
            <p:nvPr/>
          </p:nvGrpSpPr>
          <p:grpSpPr>
            <a:xfrm>
              <a:off x="8001000" y="4762500"/>
              <a:ext cx="3619500" cy="1343025"/>
              <a:chOff x="8001000" y="4762500"/>
              <a:chExt cx="3619500" cy="1343025"/>
            </a:xfrm>
          </p:grpSpPr>
          <p:sp>
            <p:nvSpPr>
              <p:cNvPr id="70" name="Rectangle 70"/>
              <p:cNvSpPr/>
              <p:nvPr/>
            </p:nvSpPr>
            <p:spPr>
              <a:xfrm>
                <a:off x="8001000" y="4762500"/>
                <a:ext cx="3619500" cy="1333500"/>
              </a:xfrm>
              <a:prstGeom prst="roundRect">
                <a:avLst>
                  <a:gd name="adj" fmla="val 7143"/>
                </a:avLst>
              </a:prstGeom>
              <a:solidFill>
                <a:srgbClr val="FFFFFF"/>
              </a:solidFill>
              <a:ln w="14288">
                <a:solidFill>
                  <a:srgbClr val="CDD7E2"/>
                </a:solidFill>
              </a:ln>
            </p:spPr>
            <p:txBody>
              <a:bodyPr/>
              <a:lstStyle/>
              <a:p>
                <a:endParaRPr lang="en-US"/>
              </a:p>
            </p:txBody>
          </p:sp>
          <p:grpSp>
            <p:nvGrpSpPr>
              <p:cNvPr id="76" name="Group 76"/>
              <p:cNvGrpSpPr/>
              <p:nvPr/>
            </p:nvGrpSpPr>
            <p:grpSpPr>
              <a:xfrm>
                <a:off x="8270875" y="5000625"/>
                <a:ext cx="222250" cy="285750"/>
                <a:chOff x="8270875" y="5000625"/>
                <a:chExt cx="222250" cy="285750"/>
              </a:xfrm>
            </p:grpSpPr>
            <p:sp>
              <p:nvSpPr>
                <p:cNvPr id="71" name="Freeform 71"/>
                <p:cNvSpPr/>
                <p:nvPr/>
              </p:nvSpPr>
              <p:spPr>
                <a:xfrm>
                  <a:off x="8413750" y="5000625"/>
                  <a:ext cx="79375" cy="79375"/>
                </a:xfrm>
                <a:custGeom>
                  <a:avLst/>
                  <a:gdLst/>
                  <a:ahLst/>
                  <a:cxnLst/>
                  <a:rect l="l" t="t" r="r" b="b"/>
                  <a:pathLst>
                    <a:path w="79375" h="79375">
                      <a:moveTo>
                        <a:pt x="0" y="0"/>
                      </a:moveTo>
                      <a:lnTo>
                        <a:pt x="0" y="63500"/>
                      </a:lnTo>
                      <a:cubicBezTo>
                        <a:pt x="0" y="72268"/>
                        <a:pt x="7107" y="79375"/>
                        <a:pt x="15875" y="79375"/>
                      </a:cubicBezTo>
                      <a:lnTo>
                        <a:pt x="79375" y="79375"/>
                      </a:lnTo>
                    </a:path>
                  </a:pathLst>
                </a:custGeom>
                <a:noFill/>
                <a:ln w="19050">
                  <a:solidFill>
                    <a:srgbClr val="004C97"/>
                  </a:solidFill>
                </a:ln>
              </p:spPr>
              <p:txBody>
                <a:bodyPr/>
                <a:lstStyle/>
                <a:p>
                  <a:endParaRPr lang="en-US"/>
                </a:p>
              </p:txBody>
            </p:sp>
            <p:sp>
              <p:nvSpPr>
                <p:cNvPr id="72" name="Freeform 72"/>
                <p:cNvSpPr/>
                <p:nvPr/>
              </p:nvSpPr>
              <p:spPr>
                <a:xfrm>
                  <a:off x="8270875" y="5000625"/>
                  <a:ext cx="222250" cy="285750"/>
                </a:xfrm>
                <a:custGeom>
                  <a:avLst/>
                  <a:gdLst/>
                  <a:ahLst/>
                  <a:cxnLst/>
                  <a:rect l="l" t="t" r="r" b="b"/>
                  <a:pathLst>
                    <a:path w="222250" h="285750">
                      <a:moveTo>
                        <a:pt x="190500" y="285750"/>
                      </a:moveTo>
                      <a:lnTo>
                        <a:pt x="31750" y="285750"/>
                      </a:lnTo>
                      <a:cubicBezTo>
                        <a:pt x="14215" y="285750"/>
                        <a:pt x="0" y="271535"/>
                        <a:pt x="0" y="254000"/>
                      </a:cubicBezTo>
                      <a:lnTo>
                        <a:pt x="0" y="31750"/>
                      </a:lnTo>
                      <a:cubicBezTo>
                        <a:pt x="0" y="14215"/>
                        <a:pt x="14215" y="0"/>
                        <a:pt x="31750" y="0"/>
                      </a:cubicBezTo>
                      <a:lnTo>
                        <a:pt x="142875" y="0"/>
                      </a:lnTo>
                      <a:lnTo>
                        <a:pt x="222250" y="79375"/>
                      </a:lnTo>
                      <a:lnTo>
                        <a:pt x="222250" y="254000"/>
                      </a:lnTo>
                      <a:cubicBezTo>
                        <a:pt x="222250" y="271535"/>
                        <a:pt x="208035" y="285750"/>
                        <a:pt x="190500" y="285750"/>
                      </a:cubicBezTo>
                    </a:path>
                  </a:pathLst>
                </a:custGeom>
                <a:noFill/>
                <a:ln w="19050">
                  <a:solidFill>
                    <a:srgbClr val="004C97"/>
                  </a:solidFill>
                </a:ln>
              </p:spPr>
              <p:txBody>
                <a:bodyPr/>
                <a:lstStyle/>
                <a:p>
                  <a:endParaRPr lang="en-US"/>
                </a:p>
              </p:txBody>
            </p:sp>
            <p:sp>
              <p:nvSpPr>
                <p:cNvPr id="73" name="Freeform 73"/>
                <p:cNvSpPr/>
                <p:nvPr/>
              </p:nvSpPr>
              <p:spPr>
                <a:xfrm>
                  <a:off x="8334375" y="5095875"/>
                  <a:ext cx="15875" cy="9525"/>
                </a:xfrm>
                <a:custGeom>
                  <a:avLst/>
                  <a:gdLst/>
                  <a:ahLst/>
                  <a:cxnLst/>
                  <a:rect l="l" t="t" r="r" b="b"/>
                  <a:pathLst>
                    <a:path w="15875" h="9525">
                      <a:moveTo>
                        <a:pt x="0" y="0"/>
                      </a:moveTo>
                      <a:lnTo>
                        <a:pt x="15875" y="0"/>
                      </a:lnTo>
                    </a:path>
                  </a:pathLst>
                </a:custGeom>
                <a:noFill/>
                <a:ln w="19050">
                  <a:solidFill>
                    <a:srgbClr val="004C97"/>
                  </a:solidFill>
                </a:ln>
              </p:spPr>
              <p:txBody>
                <a:bodyPr/>
                <a:lstStyle/>
                <a:p>
                  <a:endParaRPr lang="en-US"/>
                </a:p>
              </p:txBody>
            </p:sp>
            <p:sp>
              <p:nvSpPr>
                <p:cNvPr id="74" name="Freeform 74"/>
                <p:cNvSpPr/>
                <p:nvPr/>
              </p:nvSpPr>
              <p:spPr>
                <a:xfrm>
                  <a:off x="8334375" y="5159375"/>
                  <a:ext cx="95250" cy="9525"/>
                </a:xfrm>
                <a:custGeom>
                  <a:avLst/>
                  <a:gdLst/>
                  <a:ahLst/>
                  <a:cxnLst/>
                  <a:rect l="l" t="t" r="r" b="b"/>
                  <a:pathLst>
                    <a:path w="95250" h="9525">
                      <a:moveTo>
                        <a:pt x="0" y="0"/>
                      </a:moveTo>
                      <a:lnTo>
                        <a:pt x="95250" y="0"/>
                      </a:lnTo>
                    </a:path>
                  </a:pathLst>
                </a:custGeom>
                <a:noFill/>
                <a:ln w="19050">
                  <a:solidFill>
                    <a:srgbClr val="004C97"/>
                  </a:solidFill>
                </a:ln>
              </p:spPr>
              <p:txBody>
                <a:bodyPr/>
                <a:lstStyle/>
                <a:p>
                  <a:endParaRPr lang="en-US"/>
                </a:p>
              </p:txBody>
            </p:sp>
            <p:sp>
              <p:nvSpPr>
                <p:cNvPr id="75" name="Freeform 75"/>
                <p:cNvSpPr/>
                <p:nvPr/>
              </p:nvSpPr>
              <p:spPr>
                <a:xfrm>
                  <a:off x="8334375" y="5222875"/>
                  <a:ext cx="95250" cy="9525"/>
                </a:xfrm>
                <a:custGeom>
                  <a:avLst/>
                  <a:gdLst/>
                  <a:ahLst/>
                  <a:cxnLst/>
                  <a:rect l="l" t="t" r="r" b="b"/>
                  <a:pathLst>
                    <a:path w="95250" h="9525">
                      <a:moveTo>
                        <a:pt x="0" y="0"/>
                      </a:moveTo>
                      <a:lnTo>
                        <a:pt x="95250" y="0"/>
                      </a:lnTo>
                    </a:path>
                  </a:pathLst>
                </a:custGeom>
                <a:noFill/>
                <a:ln w="19050">
                  <a:solidFill>
                    <a:srgbClr val="004C97"/>
                  </a:solidFill>
                </a:ln>
              </p:spPr>
              <p:txBody>
                <a:bodyPr/>
                <a:lstStyle/>
                <a:p>
                  <a:endParaRPr lang="en-US"/>
                </a:p>
              </p:txBody>
            </p:sp>
          </p:grpSp>
          <p:sp>
            <p:nvSpPr>
              <p:cNvPr id="77" name="TextBox 77"/>
              <p:cNvSpPr txBox="1"/>
              <p:nvPr/>
            </p:nvSpPr>
            <p:spPr>
              <a:xfrm>
                <a:off x="8181022" y="5511641"/>
                <a:ext cx="596602" cy="167640"/>
              </a:xfrm>
              <a:prstGeom prst="rect">
                <a:avLst/>
              </a:prstGeom>
              <a:noFill/>
              <a:ln>
                <a:noFill/>
              </a:ln>
            </p:spPr>
            <p:txBody>
              <a:bodyPr wrap="none" lIns="0" tIns="0" rIns="0" bIns="0" anchor="t" anchorCtr="0">
                <a:spAutoFit/>
              </a:bodyPr>
              <a:lstStyle/>
              <a:p>
                <a:pPr algn="l"/>
                <a:r>
                  <a:rPr lang="zh-CN" sz="825" b="1" dirty="0">
                    <a:solidFill>
                      <a:srgbClr val="5B6470"/>
                    </a:solidFill>
                    <a:latin typeface="Arial"/>
                    <a:ea typeface="Microsoft YaHei"/>
                    <a:cs typeface="Arial"/>
                  </a:rPr>
                  <a:t>FORMAT C</a:t>
                </a:r>
              </a:p>
            </p:txBody>
          </p:sp>
          <p:sp>
            <p:nvSpPr>
              <p:cNvPr id="78" name="TextBox 78"/>
              <p:cNvSpPr txBox="1"/>
              <p:nvPr/>
            </p:nvSpPr>
            <p:spPr>
              <a:xfrm>
                <a:off x="8172450" y="5667375"/>
                <a:ext cx="1832324" cy="304800"/>
              </a:xfrm>
              <a:prstGeom prst="rect">
                <a:avLst/>
              </a:prstGeom>
              <a:noFill/>
              <a:ln>
                <a:noFill/>
              </a:ln>
            </p:spPr>
            <p:txBody>
              <a:bodyPr wrap="none" lIns="0" tIns="0" rIns="0" bIns="0" anchor="t" anchorCtr="0">
                <a:spAutoFit/>
              </a:bodyPr>
              <a:lstStyle/>
              <a:p>
                <a:pPr algn="l"/>
                <a:r>
                  <a:rPr lang="zh-CN" sz="1500" b="1" dirty="0">
                    <a:solidFill>
                      <a:srgbClr val="004C97"/>
                    </a:solidFill>
                    <a:latin typeface="Arial Black"/>
                    <a:ea typeface="Microsoft YaHei"/>
                    <a:cs typeface="Arial Black"/>
                  </a:rPr>
                  <a:t>Long CSV / Excel</a:t>
                </a:r>
              </a:p>
            </p:txBody>
          </p:sp>
          <p:sp>
            <p:nvSpPr>
              <p:cNvPr id="79" name="TextBox 79"/>
              <p:cNvSpPr txBox="1"/>
              <p:nvPr/>
            </p:nvSpPr>
            <p:spPr>
              <a:xfrm>
                <a:off x="8180070" y="5922645"/>
                <a:ext cx="2848927" cy="182880"/>
              </a:xfrm>
              <a:prstGeom prst="rect">
                <a:avLst/>
              </a:prstGeom>
              <a:noFill/>
              <a:ln>
                <a:noFill/>
              </a:ln>
            </p:spPr>
            <p:txBody>
              <a:bodyPr wrap="none" lIns="0" tIns="0" rIns="0" bIns="0" anchor="t" anchorCtr="0">
                <a:spAutoFit/>
              </a:bodyPr>
              <a:lstStyle/>
              <a:p>
                <a:pPr algn="l"/>
                <a:r>
                  <a:rPr lang="zh-CN" sz="900" dirty="0">
                    <a:solidFill>
                      <a:srgbClr val="5B6470"/>
                    </a:solidFill>
                    <a:latin typeface="Arial"/>
                    <a:ea typeface="Microsoft YaHei"/>
                    <a:cs typeface="Arial"/>
                  </a:rPr>
                  <a:t>One observation per row — analytics-ready.</a:t>
                </a:r>
              </a:p>
            </p:txBody>
          </p:sp>
        </p:grpSp>
      </p:grpSp>
      <p:grpSp>
        <p:nvGrpSpPr>
          <p:cNvPr id="83" name="Group 83"/>
          <p:cNvGrpSpPr/>
          <p:nvPr/>
        </p:nvGrpSpPr>
        <p:grpSpPr>
          <a:xfrm>
            <a:off x="556260" y="6328410"/>
            <a:ext cx="5524881" cy="243840"/>
            <a:chOff x="556260" y="6328410"/>
            <a:chExt cx="5524881" cy="243840"/>
          </a:xfrm>
        </p:grpSpPr>
        <p:sp>
          <p:nvSpPr>
            <p:cNvPr id="82" name="TextBox 82"/>
            <p:cNvSpPr txBox="1"/>
            <p:nvPr/>
          </p:nvSpPr>
          <p:spPr>
            <a:xfrm>
              <a:off x="556260" y="6328410"/>
              <a:ext cx="5524881" cy="243840"/>
            </a:xfrm>
            <a:prstGeom prst="rect">
              <a:avLst/>
            </a:prstGeom>
            <a:noFill/>
            <a:ln>
              <a:noFill/>
            </a:ln>
          </p:spPr>
          <p:txBody>
            <a:bodyPr wrap="none" lIns="0" tIns="0" rIns="0" bIns="0" anchor="t" anchorCtr="0">
              <a:spAutoFit/>
            </a:bodyPr>
            <a:lstStyle/>
            <a:p>
              <a:pPr algn="l"/>
              <a:r>
                <a:rPr lang="zh-CN" sz="1200" b="1" i="1" dirty="0">
                  <a:solidFill>
                    <a:srgbClr val="707372"/>
                  </a:solidFill>
                  <a:latin typeface="Arial Black"/>
                  <a:ea typeface="Microsoft YaHei"/>
                  <a:cs typeface="Arial Black"/>
                </a:rPr>
                <a:t>Data stays local.</a:t>
              </a:r>
              <a:r>
                <a:rPr lang="zh-CN" sz="1200" i="1" dirty="0">
                  <a:solidFill>
                    <a:srgbClr val="004C97"/>
                  </a:solidFill>
                  <a:latin typeface="Arial Black"/>
                  <a:ea typeface="Microsoft YaHei"/>
                  <a:cs typeface="Arial Black"/>
                </a:rPr>
                <a:t> EcOS retired — iData is the exclusive pathway.</a:t>
              </a:r>
            </a:p>
          </p:txBody>
        </p:sp>
      </p:grpSp>
      <p:grpSp>
        <p:nvGrpSpPr>
          <p:cNvPr id="86" name="Group 86"/>
          <p:cNvGrpSpPr/>
          <p:nvPr/>
        </p:nvGrpSpPr>
        <p:grpSpPr>
          <a:xfrm>
            <a:off x="561022" y="6654641"/>
            <a:ext cx="11069956" cy="167640"/>
            <a:chOff x="561022" y="6654641"/>
            <a:chExt cx="11069956" cy="167640"/>
          </a:xfrm>
        </p:grpSpPr>
        <p:sp>
          <p:nvSpPr>
            <p:cNvPr id="84" name="TextBox 84"/>
            <p:cNvSpPr txBox="1"/>
            <p:nvPr/>
          </p:nvSpPr>
          <p:spPr>
            <a:xfrm>
              <a:off x="561022" y="6654641"/>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85" name="TextBox 85"/>
            <p:cNvSpPr txBox="1"/>
            <p:nvPr/>
          </p:nvSpPr>
          <p:spPr>
            <a:xfrm>
              <a:off x="11236500" y="6654641"/>
              <a:ext cx="394478" cy="167640"/>
            </a:xfrm>
            <a:prstGeom prst="rect">
              <a:avLst/>
            </a:prstGeom>
            <a:noFill/>
            <a:ln>
              <a:noFill/>
            </a:ln>
          </p:spPr>
          <p:txBody>
            <a:bodyPr wrap="none" lIns="0" tIns="0" rIns="0" bIns="0" anchor="t" anchorCtr="0">
              <a:spAutoFit/>
            </a:bodyPr>
            <a:lstStyle/>
            <a:p>
              <a:pPr algn="r"/>
              <a:r>
                <a:rPr lang="zh-CN" sz="825" dirty="0">
                  <a:solidFill>
                    <a:srgbClr val="9AA3AE"/>
                  </a:solidFill>
                  <a:latin typeface="Arial"/>
                  <a:ea typeface="Microsoft YaHei"/>
                  <a:cs typeface="Arial"/>
                </a:rPr>
                <a:t>08 / 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400"/>
                                        <p:tgtEl>
                                          <p:spTgt spid="46"/>
                                        </p:tgtEl>
                                      </p:cBhvr>
                                    </p:animEffect>
                                  </p:childTnLst>
                                </p:cTn>
                              </p:par>
                            </p:childTnLst>
                          </p:cTn>
                        </p:par>
                        <p:par>
                          <p:cTn id="8" fill="hold">
                            <p:stCondLst>
                              <p:cond delay="900"/>
                            </p:stCondLst>
                            <p:childTnLst>
                              <p:par>
                                <p:cTn id="9" presetID="14" presetClass="entr" presetSubtype="10"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randombar(horizontal)">
                                      <p:cBhvr>
                                        <p:cTn id="11" dur="400"/>
                                        <p:tgtEl>
                                          <p:spTgt spid="81"/>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83"/>
                                        </p:tgtEl>
                                        <p:attrNameLst>
                                          <p:attrName>style.visibility</p:attrName>
                                        </p:attrNameLst>
                                      </p:cBhvr>
                                      <p:to>
                                        <p:strVal val="visible"/>
                                      </p:to>
                                    </p:set>
                                    <p:animEffect transition="in" filter="box(in)">
                                      <p:cBhvr>
                                        <p:cTn id="15"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81" grpId="0"/>
      <p:bldP spid="8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lang="en-US"/>
          </a:p>
        </p:txBody>
      </p:sp>
      <p:grpSp>
        <p:nvGrpSpPr>
          <p:cNvPr id="6" name="Group 6"/>
          <p:cNvGrpSpPr/>
          <p:nvPr/>
        </p:nvGrpSpPr>
        <p:grpSpPr>
          <a:xfrm>
            <a:off x="541020" y="474345"/>
            <a:ext cx="5673662" cy="852011"/>
            <a:chOff x="541020" y="474345"/>
            <a:chExt cx="5673662" cy="852011"/>
          </a:xfrm>
        </p:grpSpPr>
        <p:sp>
          <p:nvSpPr>
            <p:cNvPr id="3" name="TextBox 3"/>
            <p:cNvSpPr txBox="1"/>
            <p:nvPr/>
          </p:nvSpPr>
          <p:spPr>
            <a:xfrm>
              <a:off x="560070" y="474345"/>
              <a:ext cx="1982705" cy="182880"/>
            </a:xfrm>
            <a:prstGeom prst="rect">
              <a:avLst/>
            </a:prstGeom>
            <a:noFill/>
            <a:ln>
              <a:noFill/>
            </a:ln>
          </p:spPr>
          <p:txBody>
            <a:bodyPr wrap="none" lIns="0" tIns="0" rIns="0" bIns="0" anchor="t" anchorCtr="0">
              <a:spAutoFit/>
            </a:bodyPr>
            <a:lstStyle/>
            <a:p>
              <a:pPr algn="l"/>
              <a:r>
                <a:rPr lang="zh-CN" sz="900" b="1" dirty="0">
                  <a:solidFill>
                    <a:srgbClr val="707372"/>
                  </a:solidFill>
                  <a:latin typeface="Arial"/>
                  <a:ea typeface="Microsoft YaHei"/>
                  <a:cs typeface="Arial"/>
                </a:rPr>
                <a:t>08 · WORKFLOW WALKTHROUGH</a:t>
              </a:r>
            </a:p>
          </p:txBody>
        </p:sp>
        <p:sp>
          <p:nvSpPr>
            <p:cNvPr id="4" name="TextBox 4"/>
            <p:cNvSpPr txBox="1"/>
            <p:nvPr/>
          </p:nvSpPr>
          <p:spPr>
            <a:xfrm>
              <a:off x="541020" y="693420"/>
              <a:ext cx="5673662" cy="487680"/>
            </a:xfrm>
            <a:prstGeom prst="rect">
              <a:avLst/>
            </a:prstGeom>
            <a:noFill/>
            <a:ln>
              <a:noFill/>
            </a:ln>
          </p:spPr>
          <p:txBody>
            <a:bodyPr wrap="none" lIns="0" tIns="0" rIns="0" bIns="0" anchor="t" anchorCtr="0">
              <a:spAutoFit/>
            </a:bodyPr>
            <a:lstStyle/>
            <a:p>
              <a:pPr algn="l"/>
              <a:r>
                <a:rPr lang="zh-CN" sz="2400" b="1" dirty="0">
                  <a:solidFill>
                    <a:srgbClr val="004C97"/>
                  </a:solidFill>
                  <a:latin typeface="Arial Black"/>
                  <a:ea typeface="Microsoft YaHei"/>
                  <a:cs typeface="Arial Black"/>
                </a:rPr>
                <a:t>One sentence in, tidy panel out</a:t>
              </a:r>
            </a:p>
          </p:txBody>
        </p:sp>
        <p:sp>
          <p:nvSpPr>
            <p:cNvPr id="5" name="TextBox 5"/>
            <p:cNvSpPr txBox="1"/>
            <p:nvPr/>
          </p:nvSpPr>
          <p:spPr>
            <a:xfrm>
              <a:off x="557212" y="1097756"/>
              <a:ext cx="3520083" cy="228600"/>
            </a:xfrm>
            <a:prstGeom prst="rect">
              <a:avLst/>
            </a:prstGeom>
            <a:noFill/>
            <a:ln>
              <a:noFill/>
            </a:ln>
          </p:spPr>
          <p:txBody>
            <a:bodyPr wrap="none" lIns="0" tIns="0" rIns="0" bIns="0" anchor="t" anchorCtr="0">
              <a:spAutoFit/>
            </a:bodyPr>
            <a:lstStyle/>
            <a:p>
              <a:pPr algn="l"/>
              <a:r>
                <a:rPr lang="zh-CN" sz="1125" i="1" dirty="0">
                  <a:solidFill>
                    <a:srgbClr val="5B6470"/>
                  </a:solidFill>
                  <a:latin typeface="Arial"/>
                  <a:ea typeface="Microsoft YaHei"/>
                  <a:cs typeface="Arial"/>
                </a:rPr>
                <a:t>End-to-end, for the same query as before.</a:t>
              </a:r>
            </a:p>
          </p:txBody>
        </p:sp>
      </p:grpSp>
      <p:grpSp>
        <p:nvGrpSpPr>
          <p:cNvPr id="92" name="Group 92"/>
          <p:cNvGrpSpPr/>
          <p:nvPr/>
        </p:nvGrpSpPr>
        <p:grpSpPr>
          <a:xfrm>
            <a:off x="571500" y="2286000"/>
            <a:ext cx="11049000" cy="2095500"/>
            <a:chOff x="571500" y="2286000"/>
            <a:chExt cx="11049000" cy="2095500"/>
          </a:xfrm>
        </p:grpSpPr>
        <p:sp>
          <p:nvSpPr>
            <p:cNvPr id="7" name="Line 7"/>
            <p:cNvSpPr/>
            <p:nvPr/>
          </p:nvSpPr>
          <p:spPr>
            <a:xfrm>
              <a:off x="933450" y="2714625"/>
              <a:ext cx="10687050" cy="9525"/>
            </a:xfrm>
            <a:custGeom>
              <a:avLst/>
              <a:gdLst/>
              <a:ahLst/>
              <a:cxnLst/>
              <a:rect l="l" t="t" r="r" b="b"/>
              <a:pathLst>
                <a:path w="10687050" h="9525">
                  <a:moveTo>
                    <a:pt x="0" y="0"/>
                  </a:moveTo>
                  <a:lnTo>
                    <a:pt x="10687050" y="0"/>
                  </a:lnTo>
                </a:path>
              </a:pathLst>
            </a:custGeom>
            <a:noFill/>
            <a:ln w="19050">
              <a:solidFill>
                <a:srgbClr val="CDD7E2"/>
              </a:solidFill>
            </a:ln>
          </p:spPr>
          <p:txBody>
            <a:bodyPr/>
            <a:lstStyle/>
            <a:p>
              <a:endParaRPr lang="en-US"/>
            </a:p>
          </p:txBody>
        </p:sp>
        <p:grpSp>
          <p:nvGrpSpPr>
            <p:cNvPr id="16" name="Group 16"/>
            <p:cNvGrpSpPr/>
            <p:nvPr/>
          </p:nvGrpSpPr>
          <p:grpSpPr>
            <a:xfrm>
              <a:off x="571500" y="2505075"/>
              <a:ext cx="1714500" cy="1876425"/>
              <a:chOff x="571500" y="2505075"/>
              <a:chExt cx="1714500" cy="1876425"/>
            </a:xfrm>
          </p:grpSpPr>
          <p:sp>
            <p:nvSpPr>
              <p:cNvPr id="8" name="Ellipse 8"/>
              <p:cNvSpPr/>
              <p:nvPr/>
            </p:nvSpPr>
            <p:spPr>
              <a:xfrm>
                <a:off x="933450" y="2505075"/>
                <a:ext cx="419100" cy="419100"/>
              </a:xfrm>
              <a:prstGeom prst="ellipse">
                <a:avLst/>
              </a:prstGeom>
              <a:solidFill>
                <a:srgbClr val="004C97"/>
              </a:solidFill>
              <a:ln>
                <a:noFill/>
              </a:ln>
            </p:spPr>
            <p:txBody>
              <a:bodyPr/>
              <a:lstStyle/>
              <a:p>
                <a:endParaRPr lang="en-US"/>
              </a:p>
            </p:txBody>
          </p:sp>
          <p:sp>
            <p:nvSpPr>
              <p:cNvPr id="9" name="TextBox 9"/>
              <p:cNvSpPr txBox="1"/>
              <p:nvPr/>
            </p:nvSpPr>
            <p:spPr>
              <a:xfrm>
                <a:off x="1102834" y="2650331"/>
                <a:ext cx="8033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Black"/>
                    <a:ea typeface="Microsoft YaHei"/>
                    <a:cs typeface="Arial Black"/>
                  </a:rPr>
                  <a:t>1</a:t>
                </a:r>
              </a:p>
            </p:txBody>
          </p:sp>
          <p:sp>
            <p:nvSpPr>
              <p:cNvPr id="10" name="TextBox 10"/>
              <p:cNvSpPr txBox="1"/>
              <p:nvPr/>
            </p:nvSpPr>
            <p:spPr>
              <a:xfrm>
                <a:off x="870002" y="3197066"/>
                <a:ext cx="545996" cy="167640"/>
              </a:xfrm>
              <a:prstGeom prst="rect">
                <a:avLst/>
              </a:prstGeom>
              <a:noFill/>
              <a:ln>
                <a:noFill/>
              </a:ln>
            </p:spPr>
            <p:txBody>
              <a:bodyPr wrap="none" lIns="0" tIns="0" rIns="0" bIns="0" anchor="t" anchorCtr="0">
                <a:spAutoFit/>
              </a:bodyPr>
              <a:lstStyle/>
              <a:p>
                <a:pPr algn="ctr"/>
                <a:r>
                  <a:rPr lang="zh-CN" sz="825" b="1" dirty="0">
                    <a:solidFill>
                      <a:srgbClr val="004C97"/>
                    </a:solidFill>
                    <a:latin typeface="Arial"/>
                    <a:ea typeface="Microsoft YaHei"/>
                    <a:cs typeface="Arial"/>
                  </a:rPr>
                  <a:t>RA TYPES</a:t>
                </a:r>
              </a:p>
            </p:txBody>
          </p:sp>
          <p:sp>
            <p:nvSpPr>
              <p:cNvPr id="11" name="Rectangle 11"/>
              <p:cNvSpPr/>
              <p:nvPr/>
            </p:nvSpPr>
            <p:spPr>
              <a:xfrm>
                <a:off x="571500" y="3429000"/>
                <a:ext cx="1714500" cy="952500"/>
              </a:xfrm>
              <a:prstGeom prst="roundRect">
                <a:avLst>
                  <a:gd name="adj" fmla="val 8000"/>
                </a:avLst>
              </a:prstGeom>
              <a:solidFill>
                <a:srgbClr val="EAF6FD"/>
              </a:solidFill>
              <a:ln>
                <a:noFill/>
              </a:ln>
            </p:spPr>
            <p:txBody>
              <a:bodyPr/>
              <a:lstStyle/>
              <a:p>
                <a:endParaRPr lang="en-US"/>
              </a:p>
            </p:txBody>
          </p:sp>
          <p:sp>
            <p:nvSpPr>
              <p:cNvPr id="12" name="TextBox 12"/>
              <p:cNvSpPr txBox="1"/>
              <p:nvPr/>
            </p:nvSpPr>
            <p:spPr>
              <a:xfrm>
                <a:off x="967121" y="3617595"/>
                <a:ext cx="923258" cy="182880"/>
              </a:xfrm>
              <a:prstGeom prst="rect">
                <a:avLst/>
              </a:prstGeom>
              <a:noFill/>
              <a:ln>
                <a:noFill/>
              </a:ln>
            </p:spPr>
            <p:txBody>
              <a:bodyPr wrap="none" lIns="0" tIns="0" rIns="0" bIns="0" anchor="t" anchorCtr="0">
                <a:spAutoFit/>
              </a:bodyPr>
              <a:lstStyle/>
              <a:p>
                <a:pPr algn="ctr"/>
                <a:r>
                  <a:rPr lang="zh-CN" sz="900" i="1" dirty="0">
                    <a:solidFill>
                      <a:srgbClr val="1F2937"/>
                    </a:solidFill>
                    <a:latin typeface="Arial"/>
                    <a:ea typeface="Microsoft YaHei"/>
                    <a:cs typeface="Arial"/>
                  </a:rPr>
                  <a:t>"Pull WEO real</a:t>
                </a:r>
              </a:p>
            </p:txBody>
          </p:sp>
          <p:sp>
            <p:nvSpPr>
              <p:cNvPr id="13" name="TextBox 13"/>
              <p:cNvSpPr txBox="1"/>
              <p:nvPr/>
            </p:nvSpPr>
            <p:spPr>
              <a:xfrm>
                <a:off x="930974" y="3789045"/>
                <a:ext cx="995553" cy="182880"/>
              </a:xfrm>
              <a:prstGeom prst="rect">
                <a:avLst/>
              </a:prstGeom>
              <a:noFill/>
              <a:ln>
                <a:noFill/>
              </a:ln>
            </p:spPr>
            <p:txBody>
              <a:bodyPr wrap="none" lIns="0" tIns="0" rIns="0" bIns="0" anchor="t" anchorCtr="0">
                <a:spAutoFit/>
              </a:bodyPr>
              <a:lstStyle/>
              <a:p>
                <a:pPr algn="ctr"/>
                <a:r>
                  <a:rPr lang="zh-CN" sz="900" i="1" dirty="0">
                    <a:solidFill>
                      <a:srgbClr val="1F2937"/>
                    </a:solidFill>
                    <a:latin typeface="Arial"/>
                    <a:ea typeface="Microsoft YaHei"/>
                    <a:cs typeface="Arial"/>
                  </a:rPr>
                  <a:t>GDP growth for</a:t>
                </a:r>
              </a:p>
            </p:txBody>
          </p:sp>
          <p:sp>
            <p:nvSpPr>
              <p:cNvPr id="14" name="TextBox 14"/>
              <p:cNvSpPr txBox="1"/>
              <p:nvPr/>
            </p:nvSpPr>
            <p:spPr>
              <a:xfrm>
                <a:off x="1032843" y="3960495"/>
                <a:ext cx="791813" cy="182880"/>
              </a:xfrm>
              <a:prstGeom prst="rect">
                <a:avLst/>
              </a:prstGeom>
              <a:noFill/>
              <a:ln>
                <a:noFill/>
              </a:ln>
            </p:spPr>
            <p:txBody>
              <a:bodyPr wrap="none" lIns="0" tIns="0" rIns="0" bIns="0" anchor="t" anchorCtr="0">
                <a:spAutoFit/>
              </a:bodyPr>
              <a:lstStyle/>
              <a:p>
                <a:pPr algn="ctr"/>
                <a:r>
                  <a:rPr lang="zh-CN" sz="900" i="1" dirty="0">
                    <a:solidFill>
                      <a:srgbClr val="1F2937"/>
                    </a:solidFill>
                    <a:latin typeface="Arial"/>
                    <a:ea typeface="Microsoft YaHei"/>
                    <a:cs typeface="Arial"/>
                  </a:rPr>
                  <a:t>G20, 2010 to</a:t>
                </a:r>
              </a:p>
            </p:txBody>
          </p:sp>
          <p:sp>
            <p:nvSpPr>
              <p:cNvPr id="15" name="TextBox 15"/>
              <p:cNvSpPr txBox="1"/>
              <p:nvPr/>
            </p:nvSpPr>
            <p:spPr>
              <a:xfrm>
                <a:off x="1091994" y="4131945"/>
                <a:ext cx="673513" cy="182880"/>
              </a:xfrm>
              <a:prstGeom prst="rect">
                <a:avLst/>
              </a:prstGeom>
              <a:noFill/>
              <a:ln>
                <a:noFill/>
              </a:ln>
            </p:spPr>
            <p:txBody>
              <a:bodyPr wrap="none" lIns="0" tIns="0" rIns="0" bIns="0" anchor="t" anchorCtr="0">
                <a:spAutoFit/>
              </a:bodyPr>
              <a:lstStyle/>
              <a:p>
                <a:pPr algn="ctr"/>
                <a:r>
                  <a:rPr lang="zh-CN" sz="900" i="1" dirty="0">
                    <a:solidFill>
                      <a:srgbClr val="1F2937"/>
                    </a:solidFill>
                    <a:latin typeface="Arial"/>
                    <a:ea typeface="Microsoft YaHei"/>
                    <a:cs typeface="Arial"/>
                  </a:rPr>
                  <a:t>present."</a:t>
                </a:r>
              </a:p>
            </p:txBody>
          </p:sp>
        </p:grpSp>
        <p:sp>
          <p:nvSpPr>
            <p:cNvPr id="17" name="Line 17"/>
            <p:cNvSpPr/>
            <p:nvPr/>
          </p:nvSpPr>
          <p:spPr>
            <a:xfrm>
              <a:off x="2362200" y="2714625"/>
              <a:ext cx="381000" cy="1"/>
            </a:xfrm>
            <a:prstGeom prst="line">
              <a:avLst/>
            </a:prstGeom>
            <a:noFill/>
            <a:ln w="23812">
              <a:solidFill>
                <a:srgbClr val="707372"/>
              </a:solidFill>
              <a:tailEnd type="triangle" w="lg" len="lg"/>
            </a:ln>
          </p:spPr>
          <p:txBody>
            <a:bodyPr/>
            <a:lstStyle/>
            <a:p>
              <a:endParaRPr lang="en-US"/>
            </a:p>
          </p:txBody>
        </p:sp>
        <p:grpSp>
          <p:nvGrpSpPr>
            <p:cNvPr id="29" name="Group 29"/>
            <p:cNvGrpSpPr/>
            <p:nvPr/>
          </p:nvGrpSpPr>
          <p:grpSpPr>
            <a:xfrm>
              <a:off x="2381250" y="2505075"/>
              <a:ext cx="1714500" cy="1876425"/>
              <a:chOff x="2381250" y="2505075"/>
              <a:chExt cx="1714500" cy="1876425"/>
            </a:xfrm>
          </p:grpSpPr>
          <p:sp>
            <p:nvSpPr>
              <p:cNvPr id="18" name="Ellipse 18"/>
              <p:cNvSpPr/>
              <p:nvPr/>
            </p:nvSpPr>
            <p:spPr>
              <a:xfrm>
                <a:off x="2743200" y="2505075"/>
                <a:ext cx="419100" cy="419100"/>
              </a:xfrm>
              <a:prstGeom prst="ellipse">
                <a:avLst/>
              </a:prstGeom>
              <a:solidFill>
                <a:srgbClr val="004C97"/>
              </a:solidFill>
              <a:ln>
                <a:noFill/>
              </a:ln>
            </p:spPr>
            <p:txBody>
              <a:bodyPr/>
              <a:lstStyle/>
              <a:p>
                <a:endParaRPr lang="en-US"/>
              </a:p>
            </p:txBody>
          </p:sp>
          <p:sp>
            <p:nvSpPr>
              <p:cNvPr id="19" name="TextBox 19"/>
              <p:cNvSpPr txBox="1"/>
              <p:nvPr/>
            </p:nvSpPr>
            <p:spPr>
              <a:xfrm>
                <a:off x="2891019" y="2650331"/>
                <a:ext cx="12346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Black"/>
                    <a:ea typeface="Microsoft YaHei"/>
                    <a:cs typeface="Arial Black"/>
                  </a:rPr>
                  <a:t>2</a:t>
                </a:r>
              </a:p>
            </p:txBody>
          </p:sp>
          <p:sp>
            <p:nvSpPr>
              <p:cNvPr id="20" name="TextBox 20"/>
              <p:cNvSpPr txBox="1"/>
              <p:nvPr/>
            </p:nvSpPr>
            <p:spPr>
              <a:xfrm>
                <a:off x="2686078" y="3197066"/>
                <a:ext cx="533344" cy="167640"/>
              </a:xfrm>
              <a:prstGeom prst="rect">
                <a:avLst/>
              </a:prstGeom>
              <a:noFill/>
              <a:ln>
                <a:noFill/>
              </a:ln>
            </p:spPr>
            <p:txBody>
              <a:bodyPr wrap="none" lIns="0" tIns="0" rIns="0" bIns="0" anchor="t" anchorCtr="0">
                <a:spAutoFit/>
              </a:bodyPr>
              <a:lstStyle/>
              <a:p>
                <a:pPr algn="ctr"/>
                <a:r>
                  <a:rPr lang="zh-CN" sz="825" b="1" dirty="0">
                    <a:solidFill>
                      <a:srgbClr val="004C97"/>
                    </a:solidFill>
                    <a:latin typeface="Arial"/>
                    <a:ea typeface="Microsoft YaHei"/>
                    <a:cs typeface="Arial"/>
                  </a:rPr>
                  <a:t>CATALOG</a:t>
                </a:r>
              </a:p>
            </p:txBody>
          </p:sp>
          <p:sp>
            <p:nvSpPr>
              <p:cNvPr id="21" name="Rectangle 21"/>
              <p:cNvSpPr/>
              <p:nvPr/>
            </p:nvSpPr>
            <p:spPr>
              <a:xfrm>
                <a:off x="2381250" y="3429000"/>
                <a:ext cx="1714500" cy="952500"/>
              </a:xfrm>
              <a:prstGeom prst="roundRect">
                <a:avLst>
                  <a:gd name="adj" fmla="val 8000"/>
                </a:avLst>
              </a:prstGeom>
              <a:solidFill>
                <a:srgbClr val="EAF6FD"/>
              </a:solidFill>
              <a:ln>
                <a:noFill/>
              </a:ln>
            </p:spPr>
            <p:txBody>
              <a:bodyPr/>
              <a:lstStyle/>
              <a:p>
                <a:endParaRPr lang="en-US"/>
              </a:p>
            </p:txBody>
          </p:sp>
          <p:grpSp>
            <p:nvGrpSpPr>
              <p:cNvPr id="24" name="Group 24"/>
              <p:cNvGrpSpPr/>
              <p:nvPr/>
            </p:nvGrpSpPr>
            <p:grpSpPr>
              <a:xfrm>
                <a:off x="2490788" y="3567112"/>
                <a:ext cx="142875" cy="142875"/>
                <a:chOff x="2490788" y="3567112"/>
                <a:chExt cx="142875" cy="142875"/>
              </a:xfrm>
            </p:grpSpPr>
            <p:sp>
              <p:nvSpPr>
                <p:cNvPr id="22" name="Freeform 22"/>
                <p:cNvSpPr/>
                <p:nvPr/>
              </p:nvSpPr>
              <p:spPr>
                <a:xfrm>
                  <a:off x="2490788" y="3567112"/>
                  <a:ext cx="111125" cy="111125"/>
                </a:xfrm>
                <a:custGeom>
                  <a:avLst/>
                  <a:gdLst/>
                  <a:ahLst/>
                  <a:cxnLst/>
                  <a:rect l="l" t="t" r="r" b="b"/>
                  <a:pathLst>
                    <a:path w="111125" h="111125">
                      <a:moveTo>
                        <a:pt x="0" y="55562"/>
                      </a:moveTo>
                      <a:cubicBezTo>
                        <a:pt x="0" y="86249"/>
                        <a:pt x="24876" y="111125"/>
                        <a:pt x="55562" y="111125"/>
                      </a:cubicBezTo>
                      <a:cubicBezTo>
                        <a:pt x="86249" y="111125"/>
                        <a:pt x="111125" y="86249"/>
                        <a:pt x="111125" y="55562"/>
                      </a:cubicBezTo>
                      <a:cubicBezTo>
                        <a:pt x="111125" y="24876"/>
                        <a:pt x="86249" y="0"/>
                        <a:pt x="55562" y="0"/>
                      </a:cubicBezTo>
                      <a:cubicBezTo>
                        <a:pt x="24876" y="0"/>
                        <a:pt x="0" y="24876"/>
                        <a:pt x="0" y="55562"/>
                      </a:cubicBezTo>
                    </a:path>
                  </a:pathLst>
                </a:custGeom>
                <a:noFill/>
                <a:ln w="19050">
                  <a:solidFill>
                    <a:srgbClr val="009CDE"/>
                  </a:solidFill>
                </a:ln>
              </p:spPr>
              <p:txBody>
                <a:bodyPr/>
                <a:lstStyle/>
                <a:p>
                  <a:endParaRPr lang="en-US"/>
                </a:p>
              </p:txBody>
            </p:sp>
            <p:sp>
              <p:nvSpPr>
                <p:cNvPr id="23" name="Freeform 23"/>
                <p:cNvSpPr/>
                <p:nvPr/>
              </p:nvSpPr>
              <p:spPr>
                <a:xfrm>
                  <a:off x="2586038" y="3662362"/>
                  <a:ext cx="47625" cy="47625"/>
                </a:xfrm>
                <a:custGeom>
                  <a:avLst/>
                  <a:gdLst/>
                  <a:ahLst/>
                  <a:cxnLst/>
                  <a:rect l="l" t="t" r="r" b="b"/>
                  <a:pathLst>
                    <a:path w="47625" h="47625">
                      <a:moveTo>
                        <a:pt x="47625" y="47625"/>
                      </a:moveTo>
                      <a:lnTo>
                        <a:pt x="0" y="0"/>
                      </a:lnTo>
                    </a:path>
                  </a:pathLst>
                </a:custGeom>
                <a:noFill/>
                <a:ln w="19050">
                  <a:solidFill>
                    <a:srgbClr val="009CDE"/>
                  </a:solidFill>
                </a:ln>
              </p:spPr>
              <p:txBody>
                <a:bodyPr/>
                <a:lstStyle/>
                <a:p>
                  <a:endParaRPr lang="en-US"/>
                </a:p>
              </p:txBody>
            </p:sp>
          </p:grpSp>
          <p:sp>
            <p:nvSpPr>
              <p:cNvPr id="25" name="TextBox 25"/>
              <p:cNvSpPr txBox="1"/>
              <p:nvPr/>
            </p:nvSpPr>
            <p:spPr>
              <a:xfrm>
                <a:off x="2704148" y="3606641"/>
                <a:ext cx="723118" cy="167640"/>
              </a:xfrm>
              <a:prstGeom prst="rect">
                <a:avLst/>
              </a:prstGeom>
              <a:noFill/>
              <a:ln>
                <a:noFill/>
              </a:ln>
            </p:spPr>
            <p:txBody>
              <a:bodyPr wrap="none" lIns="0" tIns="0" rIns="0" bIns="0" anchor="t" anchorCtr="0">
                <a:spAutoFit/>
              </a:bodyPr>
              <a:lstStyle/>
              <a:p>
                <a:pPr algn="l"/>
                <a:r>
                  <a:rPr lang="zh-CN" sz="825" b="1" dirty="0">
                    <a:solidFill>
                      <a:srgbClr val="009CDE"/>
                    </a:solidFill>
                    <a:latin typeface="Arial"/>
                    <a:ea typeface="Microsoft YaHei"/>
                    <a:cs typeface="Arial"/>
                  </a:rPr>
                  <a:t>resolves to</a:t>
                </a:r>
              </a:p>
            </p:txBody>
          </p:sp>
          <p:sp>
            <p:nvSpPr>
              <p:cNvPr id="26" name="TextBox 26"/>
              <p:cNvSpPr txBox="1"/>
              <p:nvPr/>
            </p:nvSpPr>
            <p:spPr>
              <a:xfrm>
                <a:off x="2456498" y="3835241"/>
                <a:ext cx="596602" cy="167640"/>
              </a:xfrm>
              <a:prstGeom prst="rect">
                <a:avLst/>
              </a:prstGeom>
              <a:noFill/>
              <a:ln>
                <a:noFill/>
              </a:ln>
            </p:spPr>
            <p:txBody>
              <a:bodyPr wrap="none" lIns="0" tIns="0" rIns="0" bIns="0" anchor="t" anchorCtr="0">
                <a:spAutoFit/>
              </a:bodyPr>
              <a:lstStyle/>
              <a:p>
                <a:pPr algn="l"/>
                <a:r>
                  <a:rPr lang="zh-CN" sz="825" b="1" dirty="0">
                    <a:solidFill>
                      <a:srgbClr val="004C97"/>
                    </a:solidFill>
                    <a:latin typeface="Consolas"/>
                    <a:ea typeface="Microsoft YaHei"/>
                    <a:cs typeface="Consolas"/>
                  </a:rPr>
                  <a:t>WEO_LIVE</a:t>
                </a:r>
              </a:p>
            </p:txBody>
          </p:sp>
          <p:sp>
            <p:nvSpPr>
              <p:cNvPr id="27" name="TextBox 27"/>
              <p:cNvSpPr txBox="1"/>
              <p:nvPr/>
            </p:nvSpPr>
            <p:spPr>
              <a:xfrm>
                <a:off x="2456498" y="3968591"/>
                <a:ext cx="647208" cy="167640"/>
              </a:xfrm>
              <a:prstGeom prst="rect">
                <a:avLst/>
              </a:prstGeom>
              <a:noFill/>
              <a:ln>
                <a:noFill/>
              </a:ln>
            </p:spPr>
            <p:txBody>
              <a:bodyPr wrap="none" lIns="0" tIns="0" rIns="0" bIns="0" anchor="t" anchorCtr="0">
                <a:spAutoFit/>
              </a:bodyPr>
              <a:lstStyle/>
              <a:p>
                <a:pPr algn="l"/>
                <a:r>
                  <a:rPr lang="zh-CN" sz="825" b="1" dirty="0">
                    <a:solidFill>
                      <a:srgbClr val="004C97"/>
                    </a:solidFill>
                    <a:latin typeface="Consolas"/>
                    <a:ea typeface="Microsoft YaHei"/>
                    <a:cs typeface="Consolas"/>
                  </a:rPr>
                  <a:t>NGDP_RPCH</a:t>
                </a:r>
              </a:p>
            </p:txBody>
          </p:sp>
          <p:sp>
            <p:nvSpPr>
              <p:cNvPr id="28" name="TextBox 28"/>
              <p:cNvSpPr txBox="1"/>
              <p:nvPr/>
            </p:nvSpPr>
            <p:spPr>
              <a:xfrm>
                <a:off x="2456498" y="4101941"/>
                <a:ext cx="1052059" cy="167640"/>
              </a:xfrm>
              <a:prstGeom prst="rect">
                <a:avLst/>
              </a:prstGeom>
              <a:noFill/>
              <a:ln>
                <a:noFill/>
              </a:ln>
            </p:spPr>
            <p:txBody>
              <a:bodyPr wrap="none" lIns="0" tIns="0" rIns="0" bIns="0" anchor="t" anchorCtr="0">
                <a:spAutoFit/>
              </a:bodyPr>
              <a:lstStyle/>
              <a:p>
                <a:pPr algn="l"/>
                <a:r>
                  <a:rPr lang="zh-CN" sz="825" b="1" dirty="0">
                    <a:solidFill>
                      <a:srgbClr val="004C97"/>
                    </a:solidFill>
                    <a:latin typeface="Consolas"/>
                    <a:ea typeface="Microsoft YaHei"/>
                    <a:cs typeface="Consolas"/>
                  </a:rPr>
                  <a:t>A · G20-members</a:t>
                </a:r>
              </a:p>
            </p:txBody>
          </p:sp>
        </p:grpSp>
        <p:sp>
          <p:nvSpPr>
            <p:cNvPr id="30" name="Line 30"/>
            <p:cNvSpPr/>
            <p:nvPr/>
          </p:nvSpPr>
          <p:spPr>
            <a:xfrm>
              <a:off x="4171950" y="2714625"/>
              <a:ext cx="381000" cy="1"/>
            </a:xfrm>
            <a:prstGeom prst="line">
              <a:avLst/>
            </a:prstGeom>
            <a:noFill/>
            <a:ln w="23812">
              <a:solidFill>
                <a:srgbClr val="707372"/>
              </a:solidFill>
              <a:tailEnd type="triangle" w="lg" len="lg"/>
            </a:ln>
          </p:spPr>
          <p:txBody>
            <a:bodyPr/>
            <a:lstStyle/>
            <a:p>
              <a:endParaRPr lang="en-US"/>
            </a:p>
          </p:txBody>
        </p:sp>
        <p:grpSp>
          <p:nvGrpSpPr>
            <p:cNvPr id="43" name="Group 43"/>
            <p:cNvGrpSpPr/>
            <p:nvPr/>
          </p:nvGrpSpPr>
          <p:grpSpPr>
            <a:xfrm>
              <a:off x="4191000" y="2505075"/>
              <a:ext cx="1714500" cy="1876425"/>
              <a:chOff x="4191000" y="2505075"/>
              <a:chExt cx="1714500" cy="1876425"/>
            </a:xfrm>
          </p:grpSpPr>
          <p:sp>
            <p:nvSpPr>
              <p:cNvPr id="31" name="Ellipse 31"/>
              <p:cNvSpPr/>
              <p:nvPr/>
            </p:nvSpPr>
            <p:spPr>
              <a:xfrm>
                <a:off x="4552950" y="2505075"/>
                <a:ext cx="419100" cy="419100"/>
              </a:xfrm>
              <a:prstGeom prst="ellipse">
                <a:avLst/>
              </a:prstGeom>
              <a:solidFill>
                <a:srgbClr val="004C97"/>
              </a:solidFill>
              <a:ln>
                <a:noFill/>
              </a:ln>
            </p:spPr>
            <p:txBody>
              <a:bodyPr/>
              <a:lstStyle/>
              <a:p>
                <a:endParaRPr lang="en-US"/>
              </a:p>
            </p:txBody>
          </p:sp>
          <p:sp>
            <p:nvSpPr>
              <p:cNvPr id="32" name="TextBox 32"/>
              <p:cNvSpPr txBox="1"/>
              <p:nvPr/>
            </p:nvSpPr>
            <p:spPr>
              <a:xfrm>
                <a:off x="4700769" y="2650331"/>
                <a:ext cx="12346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Black"/>
                    <a:ea typeface="Microsoft YaHei"/>
                    <a:cs typeface="Arial Black"/>
                  </a:rPr>
                  <a:t>3</a:t>
                </a:r>
              </a:p>
            </p:txBody>
          </p:sp>
          <p:sp>
            <p:nvSpPr>
              <p:cNvPr id="33" name="TextBox 33"/>
              <p:cNvSpPr txBox="1"/>
              <p:nvPr/>
            </p:nvSpPr>
            <p:spPr>
              <a:xfrm>
                <a:off x="4612855" y="3197066"/>
                <a:ext cx="299290" cy="167640"/>
              </a:xfrm>
              <a:prstGeom prst="rect">
                <a:avLst/>
              </a:prstGeom>
              <a:noFill/>
              <a:ln>
                <a:noFill/>
              </a:ln>
            </p:spPr>
            <p:txBody>
              <a:bodyPr wrap="none" lIns="0" tIns="0" rIns="0" bIns="0" anchor="t" anchorCtr="0">
                <a:spAutoFit/>
              </a:bodyPr>
              <a:lstStyle/>
              <a:p>
                <a:pPr algn="ctr"/>
                <a:r>
                  <a:rPr lang="zh-CN" sz="825" b="1" dirty="0">
                    <a:solidFill>
                      <a:srgbClr val="004C97"/>
                    </a:solidFill>
                    <a:latin typeface="Arial"/>
                    <a:ea typeface="Microsoft YaHei"/>
                    <a:cs typeface="Arial"/>
                  </a:rPr>
                  <a:t>DATA</a:t>
                </a:r>
              </a:p>
            </p:txBody>
          </p:sp>
          <p:sp>
            <p:nvSpPr>
              <p:cNvPr id="34" name="Rectangle 34"/>
              <p:cNvSpPr/>
              <p:nvPr/>
            </p:nvSpPr>
            <p:spPr>
              <a:xfrm>
                <a:off x="4191000" y="3429000"/>
                <a:ext cx="1714500" cy="952500"/>
              </a:xfrm>
              <a:prstGeom prst="roundRect">
                <a:avLst>
                  <a:gd name="adj" fmla="val 8000"/>
                </a:avLst>
              </a:prstGeom>
              <a:solidFill>
                <a:srgbClr val="EAF6FD"/>
              </a:solidFill>
              <a:ln>
                <a:noFill/>
              </a:ln>
            </p:spPr>
            <p:txBody>
              <a:bodyPr/>
              <a:lstStyle/>
              <a:p>
                <a:endParaRPr lang="en-US"/>
              </a:p>
            </p:txBody>
          </p:sp>
          <p:grpSp>
            <p:nvGrpSpPr>
              <p:cNvPr id="38" name="Group 38"/>
              <p:cNvGrpSpPr/>
              <p:nvPr/>
            </p:nvGrpSpPr>
            <p:grpSpPr>
              <a:xfrm>
                <a:off x="4308475" y="3567112"/>
                <a:ext cx="127000" cy="142876"/>
                <a:chOff x="4308475" y="3567112"/>
                <a:chExt cx="127000" cy="142876"/>
              </a:xfrm>
            </p:grpSpPr>
            <p:sp>
              <p:nvSpPr>
                <p:cNvPr id="35" name="Freeform 35"/>
                <p:cNvSpPr/>
                <p:nvPr/>
              </p:nvSpPr>
              <p:spPr>
                <a:xfrm>
                  <a:off x="4308475" y="3567112"/>
                  <a:ext cx="127000" cy="47625"/>
                </a:xfrm>
                <a:custGeom>
                  <a:avLst/>
                  <a:gdLst/>
                  <a:ahLst/>
                  <a:cxnLst/>
                  <a:rect l="l" t="t" r="r" b="b"/>
                  <a:pathLst>
                    <a:path w="127000" h="47625">
                      <a:moveTo>
                        <a:pt x="0" y="23812"/>
                      </a:moveTo>
                      <a:cubicBezTo>
                        <a:pt x="0" y="36964"/>
                        <a:pt x="28430" y="47625"/>
                        <a:pt x="63500" y="47625"/>
                      </a:cubicBezTo>
                      <a:cubicBezTo>
                        <a:pt x="98570" y="47625"/>
                        <a:pt x="127000" y="36964"/>
                        <a:pt x="127000" y="23812"/>
                      </a:cubicBezTo>
                      <a:cubicBezTo>
                        <a:pt x="127000" y="10661"/>
                        <a:pt x="98570" y="0"/>
                        <a:pt x="63500" y="0"/>
                      </a:cubicBezTo>
                      <a:cubicBezTo>
                        <a:pt x="28430" y="0"/>
                        <a:pt x="0" y="10661"/>
                        <a:pt x="0" y="23812"/>
                      </a:cubicBezTo>
                    </a:path>
                  </a:pathLst>
                </a:custGeom>
                <a:noFill/>
                <a:ln w="19050">
                  <a:solidFill>
                    <a:srgbClr val="009CDE"/>
                  </a:solidFill>
                </a:ln>
              </p:spPr>
              <p:txBody>
                <a:bodyPr/>
                <a:lstStyle/>
                <a:p>
                  <a:endParaRPr lang="en-US"/>
                </a:p>
              </p:txBody>
            </p:sp>
            <p:sp>
              <p:nvSpPr>
                <p:cNvPr id="36" name="Freeform 36"/>
                <p:cNvSpPr/>
                <p:nvPr/>
              </p:nvSpPr>
              <p:spPr>
                <a:xfrm>
                  <a:off x="4308475" y="3590925"/>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009CDE"/>
                  </a:solidFill>
                </a:ln>
              </p:spPr>
              <p:txBody>
                <a:bodyPr/>
                <a:lstStyle/>
                <a:p>
                  <a:endParaRPr lang="en-US"/>
                </a:p>
              </p:txBody>
            </p:sp>
            <p:sp>
              <p:nvSpPr>
                <p:cNvPr id="37" name="Freeform 37"/>
                <p:cNvSpPr/>
                <p:nvPr/>
              </p:nvSpPr>
              <p:spPr>
                <a:xfrm>
                  <a:off x="4308475" y="3638550"/>
                  <a:ext cx="127000" cy="71438"/>
                </a:xfrm>
                <a:custGeom>
                  <a:avLst/>
                  <a:gdLst/>
                  <a:ahLst/>
                  <a:cxnLst/>
                  <a:rect l="l" t="t" r="r" b="b"/>
                  <a:pathLst>
                    <a:path w="127000" h="71438">
                      <a:moveTo>
                        <a:pt x="0" y="0"/>
                      </a:moveTo>
                      <a:lnTo>
                        <a:pt x="0" y="47625"/>
                      </a:lnTo>
                      <a:cubicBezTo>
                        <a:pt x="0" y="60776"/>
                        <a:pt x="28430" y="71438"/>
                        <a:pt x="63500" y="71438"/>
                      </a:cubicBezTo>
                      <a:cubicBezTo>
                        <a:pt x="98570" y="71438"/>
                        <a:pt x="127000" y="60776"/>
                        <a:pt x="127000" y="47625"/>
                      </a:cubicBezTo>
                      <a:lnTo>
                        <a:pt x="127000" y="0"/>
                      </a:lnTo>
                    </a:path>
                  </a:pathLst>
                </a:custGeom>
                <a:noFill/>
                <a:ln w="19050">
                  <a:solidFill>
                    <a:srgbClr val="009CDE"/>
                  </a:solidFill>
                </a:ln>
              </p:spPr>
              <p:txBody>
                <a:bodyPr/>
                <a:lstStyle/>
                <a:p>
                  <a:endParaRPr lang="en-US"/>
                </a:p>
              </p:txBody>
            </p:sp>
          </p:grpSp>
          <p:sp>
            <p:nvSpPr>
              <p:cNvPr id="39" name="TextBox 39"/>
              <p:cNvSpPr txBox="1"/>
              <p:nvPr/>
            </p:nvSpPr>
            <p:spPr>
              <a:xfrm>
                <a:off x="4513898" y="3606641"/>
                <a:ext cx="508041" cy="167640"/>
              </a:xfrm>
              <a:prstGeom prst="rect">
                <a:avLst/>
              </a:prstGeom>
              <a:noFill/>
              <a:ln>
                <a:noFill/>
              </a:ln>
            </p:spPr>
            <p:txBody>
              <a:bodyPr wrap="none" lIns="0" tIns="0" rIns="0" bIns="0" anchor="t" anchorCtr="0">
                <a:spAutoFit/>
              </a:bodyPr>
              <a:lstStyle/>
              <a:p>
                <a:pPr algn="l"/>
                <a:r>
                  <a:rPr lang="zh-CN" sz="825" b="1" dirty="0">
                    <a:solidFill>
                      <a:srgbClr val="009CDE"/>
                    </a:solidFill>
                    <a:latin typeface="Arial"/>
                    <a:ea typeface="Microsoft YaHei"/>
                    <a:cs typeface="Arial"/>
                  </a:rPr>
                  <a:t>fetches</a:t>
                </a:r>
              </a:p>
            </p:txBody>
          </p:sp>
          <p:sp>
            <p:nvSpPr>
              <p:cNvPr id="40" name="TextBox 40"/>
              <p:cNvSpPr txBox="1"/>
              <p:nvPr/>
            </p:nvSpPr>
            <p:spPr>
              <a:xfrm>
                <a:off x="4266248" y="3835241"/>
                <a:ext cx="954762" cy="167640"/>
              </a:xfrm>
              <a:prstGeom prst="rect">
                <a:avLst/>
              </a:prstGeom>
              <a:noFill/>
              <a:ln>
                <a:noFill/>
              </a:ln>
            </p:spPr>
            <p:txBody>
              <a:bodyPr wrap="none" lIns="0" tIns="0" rIns="0" bIns="0" anchor="t" anchorCtr="0">
                <a:spAutoFit/>
              </a:bodyPr>
              <a:lstStyle/>
              <a:p>
                <a:pPr algn="l"/>
                <a:r>
                  <a:rPr lang="zh-CN" sz="825" dirty="0">
                    <a:solidFill>
                      <a:srgbClr val="1F2937"/>
                    </a:solidFill>
                    <a:latin typeface="Arial"/>
                    <a:ea typeface="Microsoft YaHei"/>
                    <a:cs typeface="Arial"/>
                  </a:rPr>
                  <a:t>7-step protocol</a:t>
                </a:r>
              </a:p>
            </p:txBody>
          </p:sp>
          <p:sp>
            <p:nvSpPr>
              <p:cNvPr id="41" name="TextBox 41"/>
              <p:cNvSpPr txBox="1"/>
              <p:nvPr/>
            </p:nvSpPr>
            <p:spPr>
              <a:xfrm>
                <a:off x="4266248" y="3968591"/>
                <a:ext cx="918615" cy="167640"/>
              </a:xfrm>
              <a:prstGeom prst="rect">
                <a:avLst/>
              </a:prstGeom>
              <a:noFill/>
              <a:ln>
                <a:noFill/>
              </a:ln>
            </p:spPr>
            <p:txBody>
              <a:bodyPr wrap="none" lIns="0" tIns="0" rIns="0" bIns="0" anchor="t" anchorCtr="0">
                <a:spAutoFit/>
              </a:bodyPr>
              <a:lstStyle/>
              <a:p>
                <a:pPr algn="l"/>
                <a:r>
                  <a:rPr lang="zh-CN" sz="825" dirty="0">
                    <a:solidFill>
                      <a:srgbClr val="5B6470"/>
                    </a:solidFill>
                    <a:latin typeface="Consolas"/>
                    <a:ea typeface="Microsoft YaHei"/>
                    <a:cs typeface="Consolas"/>
                  </a:rPr>
                  <a:t>fetch_idata.py</a:t>
                </a:r>
              </a:p>
            </p:txBody>
          </p:sp>
          <p:sp>
            <p:nvSpPr>
              <p:cNvPr id="42" name="TextBox 42"/>
              <p:cNvSpPr txBox="1"/>
              <p:nvPr/>
            </p:nvSpPr>
            <p:spPr>
              <a:xfrm>
                <a:off x="4266248" y="4101941"/>
                <a:ext cx="1159597" cy="167640"/>
              </a:xfrm>
              <a:prstGeom prst="rect">
                <a:avLst/>
              </a:prstGeom>
              <a:noFill/>
              <a:ln>
                <a:noFill/>
              </a:ln>
            </p:spPr>
            <p:txBody>
              <a:bodyPr wrap="none" lIns="0" tIns="0" rIns="0" bIns="0" anchor="t" anchorCtr="0">
                <a:spAutoFit/>
              </a:bodyPr>
              <a:lstStyle/>
              <a:p>
                <a:pPr algn="l"/>
                <a:r>
                  <a:rPr lang="zh-CN" sz="825" dirty="0">
                    <a:solidFill>
                      <a:srgbClr val="1F2937"/>
                    </a:solidFill>
                    <a:latin typeface="Arial"/>
                    <a:ea typeface="Microsoft YaHei"/>
                    <a:cs typeface="Arial"/>
                  </a:rPr>
                  <a:t>→ Refreshable Excel</a:t>
                </a:r>
              </a:p>
            </p:txBody>
          </p:sp>
        </p:grpSp>
        <p:sp>
          <p:nvSpPr>
            <p:cNvPr id="44" name="Line 44"/>
            <p:cNvSpPr/>
            <p:nvPr/>
          </p:nvSpPr>
          <p:spPr>
            <a:xfrm>
              <a:off x="5981700" y="2714625"/>
              <a:ext cx="381000" cy="1"/>
            </a:xfrm>
            <a:prstGeom prst="line">
              <a:avLst/>
            </a:prstGeom>
            <a:noFill/>
            <a:ln w="23812">
              <a:solidFill>
                <a:schemeClr val="tx2">
                  <a:lumMod val="40000"/>
                  <a:lumOff val="60000"/>
                </a:schemeClr>
              </a:solidFill>
              <a:prstDash val="dash"/>
              <a:tailEnd type="triangle" w="lg" len="lg"/>
            </a:ln>
          </p:spPr>
          <p:txBody>
            <a:bodyPr/>
            <a:lstStyle/>
            <a:p>
              <a:endParaRPr lang="en-US"/>
            </a:p>
          </p:txBody>
        </p:sp>
        <p:grpSp>
          <p:nvGrpSpPr>
            <p:cNvPr id="65" name="Group 65"/>
            <p:cNvGrpSpPr/>
            <p:nvPr/>
          </p:nvGrpSpPr>
          <p:grpSpPr>
            <a:xfrm>
              <a:off x="6000750" y="2505075"/>
              <a:ext cx="1714500" cy="1876425"/>
              <a:chOff x="6000750" y="2505075"/>
              <a:chExt cx="1714500" cy="1876425"/>
            </a:xfrm>
          </p:grpSpPr>
          <p:sp>
            <p:nvSpPr>
              <p:cNvPr id="45" name="Ellipse 45"/>
              <p:cNvSpPr/>
              <p:nvPr/>
            </p:nvSpPr>
            <p:spPr>
              <a:xfrm>
                <a:off x="6362700" y="2505075"/>
                <a:ext cx="419100" cy="419100"/>
              </a:xfrm>
              <a:prstGeom prst="ellipse">
                <a:avLst/>
              </a:prstGeom>
              <a:solidFill>
                <a:srgbClr val="FFFFFF"/>
              </a:solidFill>
              <a:ln w="23812">
                <a:solidFill>
                  <a:schemeClr val="tx2">
                    <a:lumMod val="40000"/>
                    <a:lumOff val="60000"/>
                  </a:schemeClr>
                </a:solidFill>
                <a:custDash>
                  <a:ds d="120000" sp="80000"/>
                </a:custDash>
              </a:ln>
            </p:spPr>
            <p:txBody>
              <a:bodyPr/>
              <a:lstStyle/>
              <a:p>
                <a:endParaRPr lang="en-US"/>
              </a:p>
            </p:txBody>
          </p:sp>
          <p:grpSp>
            <p:nvGrpSpPr>
              <p:cNvPr id="54" name="Group 54"/>
              <p:cNvGrpSpPr/>
              <p:nvPr/>
            </p:nvGrpSpPr>
            <p:grpSpPr>
              <a:xfrm>
                <a:off x="6472238" y="2614612"/>
                <a:ext cx="201882" cy="201883"/>
                <a:chOff x="6472238" y="2614612"/>
                <a:chExt cx="201882" cy="201883"/>
              </a:xfrm>
            </p:grpSpPr>
            <p:sp>
              <p:nvSpPr>
                <p:cNvPr id="46" name="Freeform 46"/>
                <p:cNvSpPr/>
                <p:nvPr/>
              </p:nvSpPr>
              <p:spPr>
                <a:xfrm>
                  <a:off x="6501574" y="2622280"/>
                  <a:ext cx="32448" cy="21669"/>
                </a:xfrm>
                <a:custGeom>
                  <a:avLst/>
                  <a:gdLst/>
                  <a:ahLst/>
                  <a:cxnLst/>
                  <a:rect l="l" t="t" r="r" b="b"/>
                  <a:pathLst>
                    <a:path w="32448" h="21669">
                      <a:moveTo>
                        <a:pt x="32448" y="0"/>
                      </a:moveTo>
                      <a:cubicBezTo>
                        <a:pt x="20315" y="5023"/>
                        <a:pt x="9289" y="12386"/>
                        <a:pt x="0" y="21669"/>
                      </a:cubicBezTo>
                    </a:path>
                  </a:pathLst>
                </a:custGeom>
                <a:noFill/>
                <a:ln w="19050">
                  <a:solidFill>
                    <a:schemeClr val="tx2">
                      <a:lumMod val="40000"/>
                      <a:lumOff val="60000"/>
                    </a:schemeClr>
                  </a:solidFill>
                </a:ln>
              </p:spPr>
              <p:txBody>
                <a:bodyPr/>
                <a:lstStyle/>
                <a:p>
                  <a:endParaRPr lang="en-US"/>
                </a:p>
              </p:txBody>
            </p:sp>
            <p:sp>
              <p:nvSpPr>
                <p:cNvPr id="47" name="Freeform 47"/>
                <p:cNvSpPr/>
                <p:nvPr/>
              </p:nvSpPr>
              <p:spPr>
                <a:xfrm>
                  <a:off x="6472238" y="2676398"/>
                  <a:ext cx="9525" cy="38227"/>
                </a:xfrm>
                <a:custGeom>
                  <a:avLst/>
                  <a:gdLst/>
                  <a:ahLst/>
                  <a:cxnLst/>
                  <a:rect l="l" t="t" r="r" b="b"/>
                  <a:pathLst>
                    <a:path w="9525" h="38227">
                      <a:moveTo>
                        <a:pt x="7668" y="0"/>
                      </a:moveTo>
                      <a:cubicBezTo>
                        <a:pt x="2629" y="12116"/>
                        <a:pt x="23" y="25105"/>
                        <a:pt x="0" y="38227"/>
                      </a:cubicBezTo>
                    </a:path>
                  </a:pathLst>
                </a:custGeom>
                <a:noFill/>
                <a:ln w="19050">
                  <a:solidFill>
                    <a:schemeClr val="tx2">
                      <a:lumMod val="40000"/>
                      <a:lumOff val="60000"/>
                    </a:schemeClr>
                  </a:solidFill>
                </a:ln>
              </p:spPr>
              <p:txBody>
                <a:bodyPr/>
                <a:lstStyle/>
                <a:p>
                  <a:endParaRPr lang="en-US"/>
                </a:p>
              </p:txBody>
            </p:sp>
            <p:sp>
              <p:nvSpPr>
                <p:cNvPr id="48" name="Freeform 48"/>
                <p:cNvSpPr/>
                <p:nvPr/>
              </p:nvSpPr>
              <p:spPr>
                <a:xfrm>
                  <a:off x="6479905" y="2752852"/>
                  <a:ext cx="21669" cy="32449"/>
                </a:xfrm>
                <a:custGeom>
                  <a:avLst/>
                  <a:gdLst/>
                  <a:ahLst/>
                  <a:cxnLst/>
                  <a:rect l="l" t="t" r="r" b="b"/>
                  <a:pathLst>
                    <a:path w="21669" h="32449">
                      <a:moveTo>
                        <a:pt x="0" y="0"/>
                      </a:moveTo>
                      <a:cubicBezTo>
                        <a:pt x="5023" y="12134"/>
                        <a:pt x="12386" y="23160"/>
                        <a:pt x="21669" y="32449"/>
                      </a:cubicBezTo>
                    </a:path>
                  </a:pathLst>
                </a:custGeom>
                <a:noFill/>
                <a:ln w="19050">
                  <a:solidFill>
                    <a:schemeClr val="tx2">
                      <a:lumMod val="40000"/>
                      <a:lumOff val="60000"/>
                    </a:schemeClr>
                  </a:solidFill>
                </a:ln>
              </p:spPr>
              <p:txBody>
                <a:bodyPr/>
                <a:lstStyle/>
                <a:p>
                  <a:endParaRPr lang="en-US"/>
                </a:p>
              </p:txBody>
            </p:sp>
            <p:sp>
              <p:nvSpPr>
                <p:cNvPr id="49" name="Freeform 49"/>
                <p:cNvSpPr/>
                <p:nvPr/>
              </p:nvSpPr>
              <p:spPr>
                <a:xfrm>
                  <a:off x="6534023" y="2806970"/>
                  <a:ext cx="38227" cy="9525"/>
                </a:xfrm>
                <a:custGeom>
                  <a:avLst/>
                  <a:gdLst/>
                  <a:ahLst/>
                  <a:cxnLst/>
                  <a:rect l="l" t="t" r="r" b="b"/>
                  <a:pathLst>
                    <a:path w="38227" h="9525">
                      <a:moveTo>
                        <a:pt x="0" y="0"/>
                      </a:moveTo>
                      <a:cubicBezTo>
                        <a:pt x="12116" y="5039"/>
                        <a:pt x="25105" y="7644"/>
                        <a:pt x="38227" y="7668"/>
                      </a:cubicBezTo>
                    </a:path>
                  </a:pathLst>
                </a:custGeom>
                <a:noFill/>
                <a:ln w="19050">
                  <a:solidFill>
                    <a:schemeClr val="tx2">
                      <a:lumMod val="40000"/>
                      <a:lumOff val="60000"/>
                    </a:schemeClr>
                  </a:solidFill>
                </a:ln>
              </p:spPr>
              <p:txBody>
                <a:bodyPr/>
                <a:lstStyle/>
                <a:p>
                  <a:endParaRPr lang="en-US"/>
                </a:p>
              </p:txBody>
            </p:sp>
            <p:sp>
              <p:nvSpPr>
                <p:cNvPr id="50" name="Freeform 50"/>
                <p:cNvSpPr/>
                <p:nvPr/>
              </p:nvSpPr>
              <p:spPr>
                <a:xfrm>
                  <a:off x="6610477" y="2785300"/>
                  <a:ext cx="32448" cy="21669"/>
                </a:xfrm>
                <a:custGeom>
                  <a:avLst/>
                  <a:gdLst/>
                  <a:ahLst/>
                  <a:cxnLst/>
                  <a:rect l="l" t="t" r="r" b="b"/>
                  <a:pathLst>
                    <a:path w="32448" h="21669">
                      <a:moveTo>
                        <a:pt x="0" y="21669"/>
                      </a:moveTo>
                      <a:cubicBezTo>
                        <a:pt x="12134" y="16647"/>
                        <a:pt x="23160" y="9283"/>
                        <a:pt x="32448" y="0"/>
                      </a:cubicBezTo>
                    </a:path>
                  </a:pathLst>
                </a:custGeom>
                <a:noFill/>
                <a:ln w="19050">
                  <a:solidFill>
                    <a:schemeClr val="tx2">
                      <a:lumMod val="40000"/>
                      <a:lumOff val="60000"/>
                    </a:schemeClr>
                  </a:solidFill>
                </a:ln>
              </p:spPr>
              <p:txBody>
                <a:bodyPr/>
                <a:lstStyle/>
                <a:p>
                  <a:endParaRPr lang="en-US"/>
                </a:p>
              </p:txBody>
            </p:sp>
            <p:sp>
              <p:nvSpPr>
                <p:cNvPr id="51" name="Freeform 51"/>
                <p:cNvSpPr/>
                <p:nvPr/>
              </p:nvSpPr>
              <p:spPr>
                <a:xfrm>
                  <a:off x="6664595" y="2714625"/>
                  <a:ext cx="9525" cy="38227"/>
                </a:xfrm>
                <a:custGeom>
                  <a:avLst/>
                  <a:gdLst/>
                  <a:ahLst/>
                  <a:cxnLst/>
                  <a:rect l="l" t="t" r="r" b="b"/>
                  <a:pathLst>
                    <a:path w="9525" h="38227">
                      <a:moveTo>
                        <a:pt x="0" y="38227"/>
                      </a:moveTo>
                      <a:cubicBezTo>
                        <a:pt x="5039" y="26111"/>
                        <a:pt x="7644" y="13122"/>
                        <a:pt x="7668" y="0"/>
                      </a:cubicBezTo>
                    </a:path>
                  </a:pathLst>
                </a:custGeom>
                <a:noFill/>
                <a:ln w="19050">
                  <a:solidFill>
                    <a:schemeClr val="tx2">
                      <a:lumMod val="40000"/>
                      <a:lumOff val="60000"/>
                    </a:schemeClr>
                  </a:solidFill>
                </a:ln>
              </p:spPr>
              <p:txBody>
                <a:bodyPr/>
                <a:lstStyle/>
                <a:p>
                  <a:endParaRPr lang="en-US"/>
                </a:p>
              </p:txBody>
            </p:sp>
            <p:sp>
              <p:nvSpPr>
                <p:cNvPr id="52" name="Freeform 52"/>
                <p:cNvSpPr/>
                <p:nvPr/>
              </p:nvSpPr>
              <p:spPr>
                <a:xfrm>
                  <a:off x="6642926" y="2643950"/>
                  <a:ext cx="21669" cy="32449"/>
                </a:xfrm>
                <a:custGeom>
                  <a:avLst/>
                  <a:gdLst/>
                  <a:ahLst/>
                  <a:cxnLst/>
                  <a:rect l="l" t="t" r="r" b="b"/>
                  <a:pathLst>
                    <a:path w="21669" h="32449">
                      <a:moveTo>
                        <a:pt x="21669" y="32449"/>
                      </a:moveTo>
                      <a:cubicBezTo>
                        <a:pt x="16647" y="20315"/>
                        <a:pt x="9283" y="9289"/>
                        <a:pt x="0" y="0"/>
                      </a:cubicBezTo>
                    </a:path>
                  </a:pathLst>
                </a:custGeom>
                <a:noFill/>
                <a:ln w="19050">
                  <a:solidFill>
                    <a:schemeClr val="tx2">
                      <a:lumMod val="40000"/>
                      <a:lumOff val="60000"/>
                    </a:schemeClr>
                  </a:solidFill>
                </a:ln>
              </p:spPr>
              <p:txBody>
                <a:bodyPr/>
                <a:lstStyle/>
                <a:p>
                  <a:endParaRPr lang="en-US"/>
                </a:p>
              </p:txBody>
            </p:sp>
            <p:sp>
              <p:nvSpPr>
                <p:cNvPr id="53" name="Freeform 53"/>
                <p:cNvSpPr/>
                <p:nvPr/>
              </p:nvSpPr>
              <p:spPr>
                <a:xfrm>
                  <a:off x="6572250" y="2614612"/>
                  <a:ext cx="38227" cy="9525"/>
                </a:xfrm>
                <a:custGeom>
                  <a:avLst/>
                  <a:gdLst/>
                  <a:ahLst/>
                  <a:cxnLst/>
                  <a:rect l="l" t="t" r="r" b="b"/>
                  <a:pathLst>
                    <a:path w="38227" h="9525">
                      <a:moveTo>
                        <a:pt x="38227" y="7668"/>
                      </a:moveTo>
                      <a:cubicBezTo>
                        <a:pt x="26111" y="2629"/>
                        <a:pt x="13122" y="23"/>
                        <a:pt x="0" y="0"/>
                      </a:cubicBezTo>
                    </a:path>
                  </a:pathLst>
                </a:custGeom>
                <a:noFill/>
                <a:ln w="19050">
                  <a:solidFill>
                    <a:schemeClr val="tx2">
                      <a:lumMod val="40000"/>
                      <a:lumOff val="60000"/>
                    </a:schemeClr>
                  </a:solidFill>
                </a:ln>
              </p:spPr>
              <p:txBody>
                <a:bodyPr/>
                <a:lstStyle/>
                <a:p>
                  <a:endParaRPr lang="en-US"/>
                </a:p>
              </p:txBody>
            </p:sp>
          </p:grpSp>
          <p:sp>
            <p:nvSpPr>
              <p:cNvPr id="55" name="TextBox 55"/>
              <p:cNvSpPr txBox="1"/>
              <p:nvPr/>
            </p:nvSpPr>
            <p:spPr>
              <a:xfrm>
                <a:off x="6201957" y="3197066"/>
                <a:ext cx="740587" cy="126958"/>
              </a:xfrm>
              <a:prstGeom prst="rect">
                <a:avLst/>
              </a:prstGeom>
              <a:noFill/>
              <a:ln>
                <a:noFill/>
              </a:ln>
            </p:spPr>
            <p:txBody>
              <a:bodyPr wrap="none" lIns="0" tIns="0" rIns="0" bIns="0" anchor="t" anchorCtr="0">
                <a:spAutoFit/>
              </a:bodyPr>
              <a:lstStyle/>
              <a:p>
                <a:pPr algn="ctr"/>
                <a:r>
                  <a:rPr lang="zh-CN" sz="825" b="1" dirty="0">
                    <a:solidFill>
                      <a:schemeClr val="tx2">
                        <a:lumMod val="40000"/>
                        <a:lumOff val="60000"/>
                      </a:schemeClr>
                    </a:solidFill>
                    <a:latin typeface="Arial"/>
                    <a:ea typeface="Microsoft YaHei"/>
                    <a:cs typeface="Arial"/>
                  </a:rPr>
                  <a:t>CHARTS (WIP)</a:t>
                </a:r>
              </a:p>
            </p:txBody>
          </p:sp>
          <p:sp>
            <p:nvSpPr>
              <p:cNvPr id="56" name="Rectangle 56"/>
              <p:cNvSpPr/>
              <p:nvPr/>
            </p:nvSpPr>
            <p:spPr>
              <a:xfrm>
                <a:off x="6000750" y="3429000"/>
                <a:ext cx="1714500" cy="952500"/>
              </a:xfrm>
              <a:prstGeom prst="roundRect">
                <a:avLst>
                  <a:gd name="adj" fmla="val 8000"/>
                </a:avLst>
              </a:prstGeom>
              <a:solidFill>
                <a:srgbClr val="FFFFFF"/>
              </a:solidFill>
              <a:ln w="9525">
                <a:solidFill>
                  <a:schemeClr val="tx2">
                    <a:lumMod val="40000"/>
                    <a:lumOff val="60000"/>
                  </a:schemeClr>
                </a:solidFill>
                <a:prstDash val="dash"/>
              </a:ln>
            </p:spPr>
            <p:txBody>
              <a:bodyPr/>
              <a:lstStyle/>
              <a:p>
                <a:endParaRPr lang="en-US"/>
              </a:p>
            </p:txBody>
          </p:sp>
          <p:grpSp>
            <p:nvGrpSpPr>
              <p:cNvPr id="61" name="Group 61"/>
              <p:cNvGrpSpPr/>
              <p:nvPr/>
            </p:nvGrpSpPr>
            <p:grpSpPr>
              <a:xfrm>
                <a:off x="6110288" y="3575050"/>
                <a:ext cx="142875" cy="136525"/>
                <a:chOff x="6110288" y="3575050"/>
                <a:chExt cx="142875" cy="136525"/>
              </a:xfrm>
            </p:grpSpPr>
            <p:sp>
              <p:nvSpPr>
                <p:cNvPr id="57" name="Freeform 57"/>
                <p:cNvSpPr/>
                <p:nvPr/>
              </p:nvSpPr>
              <p:spPr>
                <a:xfrm>
                  <a:off x="6110288" y="3638550"/>
                  <a:ext cx="47625" cy="63500"/>
                </a:xfrm>
                <a:custGeom>
                  <a:avLst/>
                  <a:gdLst/>
                  <a:ahLst/>
                  <a:cxnLst/>
                  <a:rect l="l" t="t" r="r" b="b"/>
                  <a:pathLst>
                    <a:path w="47625" h="63500">
                      <a:moveTo>
                        <a:pt x="0" y="7937"/>
                      </a:moveTo>
                      <a:cubicBezTo>
                        <a:pt x="0" y="3554"/>
                        <a:pt x="3554" y="0"/>
                        <a:pt x="7938" y="0"/>
                      </a:cubicBezTo>
                      <a:lnTo>
                        <a:pt x="39687" y="0"/>
                      </a:lnTo>
                      <a:cubicBezTo>
                        <a:pt x="44071" y="0"/>
                        <a:pt x="47625" y="3554"/>
                        <a:pt x="47625" y="7937"/>
                      </a:cubicBezTo>
                      <a:lnTo>
                        <a:pt x="47625" y="55562"/>
                      </a:lnTo>
                      <a:cubicBezTo>
                        <a:pt x="47625" y="59946"/>
                        <a:pt x="44071" y="63500"/>
                        <a:pt x="39687" y="63500"/>
                      </a:cubicBezTo>
                      <a:lnTo>
                        <a:pt x="7938" y="63500"/>
                      </a:lnTo>
                      <a:cubicBezTo>
                        <a:pt x="3554" y="63500"/>
                        <a:pt x="0" y="59946"/>
                        <a:pt x="0" y="55562"/>
                      </a:cubicBezTo>
                      <a:lnTo>
                        <a:pt x="0" y="7937"/>
                      </a:lnTo>
                    </a:path>
                  </a:pathLst>
                </a:custGeom>
                <a:noFill/>
                <a:ln w="19050">
                  <a:solidFill>
                    <a:schemeClr val="tx2">
                      <a:lumMod val="40000"/>
                      <a:lumOff val="60000"/>
                    </a:schemeClr>
                  </a:solidFill>
                </a:ln>
              </p:spPr>
              <p:txBody>
                <a:bodyPr/>
                <a:lstStyle/>
                <a:p>
                  <a:endParaRPr lang="en-US"/>
                </a:p>
              </p:txBody>
            </p:sp>
            <p:sp>
              <p:nvSpPr>
                <p:cNvPr id="58" name="Freeform 58"/>
                <p:cNvSpPr/>
                <p:nvPr/>
              </p:nvSpPr>
              <p:spPr>
                <a:xfrm>
                  <a:off x="6205538" y="3606800"/>
                  <a:ext cx="47625" cy="95250"/>
                </a:xfrm>
                <a:custGeom>
                  <a:avLst/>
                  <a:gdLst/>
                  <a:ahLst/>
                  <a:cxnLst/>
                  <a:rect l="l" t="t" r="r" b="b"/>
                  <a:pathLst>
                    <a:path w="47625" h="95250">
                      <a:moveTo>
                        <a:pt x="0" y="7937"/>
                      </a:moveTo>
                      <a:cubicBezTo>
                        <a:pt x="0" y="3554"/>
                        <a:pt x="3554" y="0"/>
                        <a:pt x="7938" y="0"/>
                      </a:cubicBezTo>
                      <a:lnTo>
                        <a:pt x="39687" y="0"/>
                      </a:lnTo>
                      <a:cubicBezTo>
                        <a:pt x="44071" y="0"/>
                        <a:pt x="47625" y="3554"/>
                        <a:pt x="47625" y="7937"/>
                      </a:cubicBezTo>
                      <a:lnTo>
                        <a:pt x="47625" y="87312"/>
                      </a:lnTo>
                      <a:cubicBezTo>
                        <a:pt x="47625" y="91696"/>
                        <a:pt x="44071" y="95250"/>
                        <a:pt x="39687" y="95250"/>
                      </a:cubicBezTo>
                      <a:lnTo>
                        <a:pt x="7938" y="95250"/>
                      </a:lnTo>
                      <a:cubicBezTo>
                        <a:pt x="3554" y="95250"/>
                        <a:pt x="0" y="91696"/>
                        <a:pt x="0" y="87312"/>
                      </a:cubicBezTo>
                      <a:lnTo>
                        <a:pt x="0" y="7937"/>
                      </a:lnTo>
                    </a:path>
                  </a:pathLst>
                </a:custGeom>
                <a:noFill/>
                <a:ln w="19050">
                  <a:solidFill>
                    <a:schemeClr val="tx2">
                      <a:lumMod val="40000"/>
                      <a:lumOff val="60000"/>
                    </a:schemeClr>
                  </a:solidFill>
                </a:ln>
              </p:spPr>
              <p:txBody>
                <a:bodyPr/>
                <a:lstStyle/>
                <a:p>
                  <a:endParaRPr lang="en-US"/>
                </a:p>
              </p:txBody>
            </p:sp>
            <p:sp>
              <p:nvSpPr>
                <p:cNvPr id="59" name="Freeform 59"/>
                <p:cNvSpPr/>
                <p:nvPr/>
              </p:nvSpPr>
              <p:spPr>
                <a:xfrm>
                  <a:off x="6157912" y="3575050"/>
                  <a:ext cx="47625" cy="127000"/>
                </a:xfrm>
                <a:custGeom>
                  <a:avLst/>
                  <a:gdLst/>
                  <a:ahLst/>
                  <a:cxnLst/>
                  <a:rect l="l" t="t" r="r" b="b"/>
                  <a:pathLst>
                    <a:path w="47625" h="127000">
                      <a:moveTo>
                        <a:pt x="0" y="7938"/>
                      </a:moveTo>
                      <a:cubicBezTo>
                        <a:pt x="0" y="3554"/>
                        <a:pt x="3554" y="0"/>
                        <a:pt x="7938" y="0"/>
                      </a:cubicBezTo>
                      <a:lnTo>
                        <a:pt x="39687" y="0"/>
                      </a:lnTo>
                      <a:cubicBezTo>
                        <a:pt x="44071" y="0"/>
                        <a:pt x="47625" y="3554"/>
                        <a:pt x="47625" y="7938"/>
                      </a:cubicBezTo>
                      <a:lnTo>
                        <a:pt x="47625" y="119062"/>
                      </a:lnTo>
                      <a:cubicBezTo>
                        <a:pt x="47625" y="123446"/>
                        <a:pt x="44071" y="127000"/>
                        <a:pt x="39687" y="127000"/>
                      </a:cubicBezTo>
                      <a:lnTo>
                        <a:pt x="7938" y="127000"/>
                      </a:lnTo>
                      <a:cubicBezTo>
                        <a:pt x="3554" y="127000"/>
                        <a:pt x="0" y="123446"/>
                        <a:pt x="0" y="119062"/>
                      </a:cubicBezTo>
                      <a:lnTo>
                        <a:pt x="0" y="7938"/>
                      </a:lnTo>
                    </a:path>
                  </a:pathLst>
                </a:custGeom>
                <a:noFill/>
                <a:ln w="19050">
                  <a:solidFill>
                    <a:schemeClr val="tx2">
                      <a:lumMod val="40000"/>
                      <a:lumOff val="60000"/>
                    </a:schemeClr>
                  </a:solidFill>
                </a:ln>
              </p:spPr>
              <p:txBody>
                <a:bodyPr/>
                <a:lstStyle/>
                <a:p>
                  <a:endParaRPr lang="en-US"/>
                </a:p>
              </p:txBody>
            </p:sp>
            <p:sp>
              <p:nvSpPr>
                <p:cNvPr id="60" name="Freeform 60"/>
                <p:cNvSpPr/>
                <p:nvPr/>
              </p:nvSpPr>
              <p:spPr>
                <a:xfrm>
                  <a:off x="6118225" y="3702050"/>
                  <a:ext cx="111125" cy="9525"/>
                </a:xfrm>
                <a:custGeom>
                  <a:avLst/>
                  <a:gdLst/>
                  <a:ahLst/>
                  <a:cxnLst/>
                  <a:rect l="l" t="t" r="r" b="b"/>
                  <a:pathLst>
                    <a:path w="111125" h="9525">
                      <a:moveTo>
                        <a:pt x="0" y="0"/>
                      </a:moveTo>
                      <a:lnTo>
                        <a:pt x="111125" y="0"/>
                      </a:lnTo>
                    </a:path>
                  </a:pathLst>
                </a:custGeom>
                <a:noFill/>
                <a:ln w="19050">
                  <a:solidFill>
                    <a:schemeClr val="tx2">
                      <a:lumMod val="40000"/>
                      <a:lumOff val="60000"/>
                    </a:schemeClr>
                  </a:solidFill>
                </a:ln>
              </p:spPr>
              <p:txBody>
                <a:bodyPr/>
                <a:lstStyle/>
                <a:p>
                  <a:endParaRPr lang="en-US"/>
                </a:p>
              </p:txBody>
            </p:sp>
          </p:grpSp>
          <p:sp>
            <p:nvSpPr>
              <p:cNvPr id="62" name="TextBox 62"/>
              <p:cNvSpPr txBox="1"/>
              <p:nvPr/>
            </p:nvSpPr>
            <p:spPr>
              <a:xfrm>
                <a:off x="6323648" y="3606641"/>
                <a:ext cx="474489" cy="126958"/>
              </a:xfrm>
              <a:prstGeom prst="rect">
                <a:avLst/>
              </a:prstGeom>
              <a:noFill/>
              <a:ln>
                <a:solidFill>
                  <a:schemeClr val="tx2">
                    <a:lumMod val="40000"/>
                    <a:lumOff val="60000"/>
                  </a:schemeClr>
                </a:solidFill>
              </a:ln>
            </p:spPr>
            <p:txBody>
              <a:bodyPr wrap="none" lIns="0" tIns="0" rIns="0" bIns="0" anchor="t" anchorCtr="0">
                <a:spAutoFit/>
              </a:bodyPr>
              <a:lstStyle/>
              <a:p>
                <a:pPr algn="l"/>
                <a:r>
                  <a:rPr lang="zh-CN" sz="825" b="1" dirty="0">
                    <a:solidFill>
                      <a:schemeClr val="tx2">
                        <a:lumMod val="40000"/>
                        <a:lumOff val="60000"/>
                      </a:schemeClr>
                    </a:solidFill>
                    <a:latin typeface="Arial"/>
                    <a:ea typeface="Microsoft YaHei"/>
                    <a:cs typeface="Arial"/>
                  </a:rPr>
                  <a:t>hands off</a:t>
                </a:r>
              </a:p>
            </p:txBody>
          </p:sp>
          <p:sp>
            <p:nvSpPr>
              <p:cNvPr id="63" name="TextBox 63"/>
              <p:cNvSpPr txBox="1"/>
              <p:nvPr/>
            </p:nvSpPr>
            <p:spPr>
              <a:xfrm>
                <a:off x="6075998" y="3835241"/>
                <a:ext cx="1027057" cy="167640"/>
              </a:xfrm>
              <a:prstGeom prst="rect">
                <a:avLst/>
              </a:prstGeom>
              <a:noFill/>
              <a:ln>
                <a:noFill/>
              </a:ln>
            </p:spPr>
            <p:txBody>
              <a:bodyPr wrap="none" lIns="0" tIns="0" rIns="0" bIns="0" anchor="t" anchorCtr="0">
                <a:spAutoFit/>
              </a:bodyPr>
              <a:lstStyle/>
              <a:p>
                <a:pPr algn="l"/>
                <a:r>
                  <a:rPr lang="zh-CN" sz="825" dirty="0">
                    <a:solidFill>
                      <a:srgbClr val="5B6470"/>
                    </a:solidFill>
                    <a:latin typeface="Arial"/>
                    <a:ea typeface="Microsoft YaHei"/>
                    <a:cs typeface="Arial"/>
                  </a:rPr>
                  <a:t>to internal chart</a:t>
                </a:r>
              </a:p>
            </p:txBody>
          </p:sp>
          <p:sp>
            <p:nvSpPr>
              <p:cNvPr id="64" name="TextBox 64"/>
              <p:cNvSpPr txBox="1"/>
              <p:nvPr/>
            </p:nvSpPr>
            <p:spPr>
              <a:xfrm>
                <a:off x="6075998" y="3968591"/>
                <a:ext cx="725829" cy="167640"/>
              </a:xfrm>
              <a:prstGeom prst="rect">
                <a:avLst/>
              </a:prstGeom>
              <a:noFill/>
              <a:ln>
                <a:noFill/>
              </a:ln>
            </p:spPr>
            <p:txBody>
              <a:bodyPr wrap="none" lIns="0" tIns="0" rIns="0" bIns="0" anchor="t" anchorCtr="0">
                <a:spAutoFit/>
              </a:bodyPr>
              <a:lstStyle/>
              <a:p>
                <a:pPr algn="l"/>
                <a:r>
                  <a:rPr lang="zh-CN" sz="825" dirty="0">
                    <a:solidFill>
                      <a:srgbClr val="5B6470"/>
                    </a:solidFill>
                    <a:latin typeface="Arial"/>
                    <a:ea typeface="Microsoft YaHei"/>
                    <a:cs typeface="Arial"/>
                  </a:rPr>
                  <a:t>tool — soon.</a:t>
                </a:r>
              </a:p>
            </p:txBody>
          </p:sp>
        </p:grpSp>
        <p:sp>
          <p:nvSpPr>
            <p:cNvPr id="66" name="Line 66"/>
            <p:cNvSpPr/>
            <p:nvPr/>
          </p:nvSpPr>
          <p:spPr>
            <a:xfrm>
              <a:off x="7791450" y="2714625"/>
              <a:ext cx="381000" cy="1"/>
            </a:xfrm>
            <a:prstGeom prst="line">
              <a:avLst/>
            </a:prstGeom>
            <a:noFill/>
            <a:ln w="23812">
              <a:solidFill>
                <a:srgbClr val="707372"/>
              </a:solidFill>
              <a:tailEnd type="triangle" w="lg" len="lg"/>
            </a:ln>
          </p:spPr>
          <p:txBody>
            <a:bodyPr/>
            <a:lstStyle/>
            <a:p>
              <a:endParaRPr lang="en-US"/>
            </a:p>
          </p:txBody>
        </p:sp>
        <p:grpSp>
          <p:nvGrpSpPr>
            <p:cNvPr id="77" name="Group 77"/>
            <p:cNvGrpSpPr/>
            <p:nvPr/>
          </p:nvGrpSpPr>
          <p:grpSpPr>
            <a:xfrm>
              <a:off x="7810500" y="2505075"/>
              <a:ext cx="1714500" cy="1876425"/>
              <a:chOff x="7810500" y="2505075"/>
              <a:chExt cx="1714500" cy="1876425"/>
            </a:xfrm>
          </p:grpSpPr>
          <p:sp>
            <p:nvSpPr>
              <p:cNvPr id="67" name="Ellipse 67"/>
              <p:cNvSpPr/>
              <p:nvPr/>
            </p:nvSpPr>
            <p:spPr>
              <a:xfrm>
                <a:off x="8172450" y="2505075"/>
                <a:ext cx="419100" cy="419100"/>
              </a:xfrm>
              <a:prstGeom prst="ellipse">
                <a:avLst/>
              </a:prstGeom>
              <a:solidFill>
                <a:srgbClr val="78BE20"/>
              </a:solidFill>
              <a:ln>
                <a:noFill/>
              </a:ln>
            </p:spPr>
            <p:txBody>
              <a:bodyPr/>
              <a:lstStyle/>
              <a:p>
                <a:endParaRPr lang="en-US"/>
              </a:p>
            </p:txBody>
          </p:sp>
          <p:grpSp>
            <p:nvGrpSpPr>
              <p:cNvPr id="70" name="Group 70"/>
              <p:cNvGrpSpPr/>
              <p:nvPr/>
            </p:nvGrpSpPr>
            <p:grpSpPr>
              <a:xfrm>
                <a:off x="8267700" y="2600325"/>
                <a:ext cx="228600" cy="228600"/>
                <a:chOff x="8267700" y="2600325"/>
                <a:chExt cx="228600" cy="228600"/>
              </a:xfrm>
            </p:grpSpPr>
            <p:sp>
              <p:nvSpPr>
                <p:cNvPr id="68" name="Freeform 68"/>
                <p:cNvSpPr/>
                <p:nvPr/>
              </p:nvSpPr>
              <p:spPr>
                <a:xfrm>
                  <a:off x="8267700" y="2600325"/>
                  <a:ext cx="228600" cy="228600"/>
                </a:xfrm>
                <a:custGeom>
                  <a:avLst/>
                  <a:gdLst/>
                  <a:ahLst/>
                  <a:cxnLst/>
                  <a:rect l="l" t="t" r="r" b="b"/>
                  <a:pathLst>
                    <a:path w="228600" h="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path>
                  </a:pathLst>
                </a:custGeom>
                <a:noFill/>
                <a:ln w="19050">
                  <a:solidFill>
                    <a:srgbClr val="FFFFFF"/>
                  </a:solidFill>
                </a:ln>
              </p:spPr>
              <p:txBody>
                <a:bodyPr/>
                <a:lstStyle/>
                <a:p>
                  <a:endParaRPr lang="en-US"/>
                </a:p>
              </p:txBody>
            </p:sp>
            <p:sp>
              <p:nvSpPr>
                <p:cNvPr id="69" name="Freeform 69"/>
                <p:cNvSpPr/>
                <p:nvPr/>
              </p:nvSpPr>
              <p:spPr>
                <a:xfrm>
                  <a:off x="8343900" y="2689225"/>
                  <a:ext cx="76200" cy="50800"/>
                </a:xfrm>
                <a:custGeom>
                  <a:avLst/>
                  <a:gdLst/>
                  <a:ahLst/>
                  <a:cxnLst/>
                  <a:rect l="l" t="t" r="r" b="b"/>
                  <a:pathLst>
                    <a:path w="76200" h="50800">
                      <a:moveTo>
                        <a:pt x="0" y="25400"/>
                      </a:moveTo>
                      <a:lnTo>
                        <a:pt x="25400" y="50800"/>
                      </a:lnTo>
                      <a:lnTo>
                        <a:pt x="76200" y="0"/>
                      </a:lnTo>
                    </a:path>
                  </a:pathLst>
                </a:custGeom>
                <a:noFill/>
                <a:ln w="19050">
                  <a:solidFill>
                    <a:srgbClr val="FFFFFF"/>
                  </a:solidFill>
                </a:ln>
              </p:spPr>
              <p:txBody>
                <a:bodyPr/>
                <a:lstStyle/>
                <a:p>
                  <a:endParaRPr lang="en-US"/>
                </a:p>
              </p:txBody>
            </p:sp>
          </p:grpSp>
          <p:sp>
            <p:nvSpPr>
              <p:cNvPr id="71" name="TextBox 71"/>
              <p:cNvSpPr txBox="1"/>
              <p:nvPr/>
            </p:nvSpPr>
            <p:spPr>
              <a:xfrm>
                <a:off x="8096351" y="3197066"/>
                <a:ext cx="571299" cy="167640"/>
              </a:xfrm>
              <a:prstGeom prst="rect">
                <a:avLst/>
              </a:prstGeom>
              <a:noFill/>
              <a:ln>
                <a:noFill/>
              </a:ln>
            </p:spPr>
            <p:txBody>
              <a:bodyPr wrap="none" lIns="0" tIns="0" rIns="0" bIns="0" anchor="t" anchorCtr="0">
                <a:spAutoFit/>
              </a:bodyPr>
              <a:lstStyle/>
              <a:p>
                <a:pPr algn="ctr"/>
                <a:r>
                  <a:rPr lang="zh-CN" sz="825" b="1" dirty="0">
                    <a:solidFill>
                      <a:srgbClr val="78BE20"/>
                    </a:solidFill>
                    <a:latin typeface="Arial"/>
                    <a:ea typeface="Microsoft YaHei"/>
                    <a:cs typeface="Arial"/>
                  </a:rPr>
                  <a:t>RA OPENS</a:t>
                </a:r>
              </a:p>
            </p:txBody>
          </p:sp>
          <p:sp>
            <p:nvSpPr>
              <p:cNvPr id="72" name="Rectangle 72"/>
              <p:cNvSpPr/>
              <p:nvPr/>
            </p:nvSpPr>
            <p:spPr>
              <a:xfrm>
                <a:off x="7810500" y="3429000"/>
                <a:ext cx="1714500" cy="952500"/>
              </a:xfrm>
              <a:prstGeom prst="roundRect">
                <a:avLst>
                  <a:gd name="adj" fmla="val 8000"/>
                </a:avLst>
              </a:prstGeom>
              <a:solidFill>
                <a:srgbClr val="EAF6FD"/>
              </a:solidFill>
              <a:ln>
                <a:noFill/>
              </a:ln>
            </p:spPr>
            <p:txBody>
              <a:bodyPr/>
              <a:lstStyle/>
              <a:p>
                <a:endParaRPr lang="en-US"/>
              </a:p>
            </p:txBody>
          </p:sp>
          <p:sp>
            <p:nvSpPr>
              <p:cNvPr id="73" name="TextBox 73"/>
              <p:cNvSpPr txBox="1"/>
              <p:nvPr/>
            </p:nvSpPr>
            <p:spPr>
              <a:xfrm>
                <a:off x="7971472" y="3606641"/>
                <a:ext cx="969824" cy="167640"/>
              </a:xfrm>
              <a:prstGeom prst="rect">
                <a:avLst/>
              </a:prstGeom>
              <a:noFill/>
              <a:ln>
                <a:noFill/>
              </a:ln>
            </p:spPr>
            <p:txBody>
              <a:bodyPr wrap="none" lIns="0" tIns="0" rIns="0" bIns="0" anchor="t" anchorCtr="0">
                <a:spAutoFit/>
              </a:bodyPr>
              <a:lstStyle/>
              <a:p>
                <a:pPr algn="l"/>
                <a:r>
                  <a:rPr lang="zh-CN" sz="825" b="1" dirty="0">
                    <a:solidFill>
                      <a:srgbClr val="78BE20"/>
                    </a:solidFill>
                    <a:latin typeface="Arial"/>
                    <a:ea typeface="Microsoft YaHei"/>
                    <a:cs typeface="Arial"/>
                  </a:rPr>
                  <a:t>Excel ready for</a:t>
                </a:r>
              </a:p>
            </p:txBody>
          </p:sp>
          <p:sp>
            <p:nvSpPr>
              <p:cNvPr id="74" name="TextBox 74"/>
              <p:cNvSpPr txBox="1"/>
              <p:nvPr/>
            </p:nvSpPr>
            <p:spPr>
              <a:xfrm>
                <a:off x="7969568" y="3819049"/>
                <a:ext cx="435941"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Stata</a:t>
                </a:r>
              </a:p>
            </p:txBody>
          </p:sp>
          <p:sp>
            <p:nvSpPr>
              <p:cNvPr id="75" name="TextBox 75"/>
              <p:cNvSpPr txBox="1"/>
              <p:nvPr/>
            </p:nvSpPr>
            <p:spPr>
              <a:xfrm>
                <a:off x="7969568" y="3990499"/>
                <a:ext cx="772358"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chart tool</a:t>
                </a:r>
              </a:p>
            </p:txBody>
          </p:sp>
          <p:sp>
            <p:nvSpPr>
              <p:cNvPr id="76" name="TextBox 76"/>
              <p:cNvSpPr txBox="1"/>
              <p:nvPr/>
            </p:nvSpPr>
            <p:spPr>
              <a:xfrm>
                <a:off x="7969568" y="4161949"/>
                <a:ext cx="1078872" cy="198120"/>
              </a:xfrm>
              <a:prstGeom prst="rect">
                <a:avLst/>
              </a:prstGeom>
              <a:noFill/>
              <a:ln>
                <a:noFill/>
              </a:ln>
            </p:spPr>
            <p:txBody>
              <a:bodyPr wrap="none" lIns="0" tIns="0" rIns="0" bIns="0" anchor="t" anchorCtr="0">
                <a:spAutoFit/>
              </a:bodyPr>
              <a:lstStyle/>
              <a:p>
                <a:pPr algn="l"/>
                <a:r>
                  <a:rPr lang="zh-CN" sz="975" b="1" dirty="0">
                    <a:solidFill>
                      <a:srgbClr val="004C97"/>
                    </a:solidFill>
                    <a:latin typeface="Arial"/>
                    <a:ea typeface="Microsoft YaHei"/>
                    <a:cs typeface="Arial"/>
                  </a:rPr>
                  <a:t>the next memo</a:t>
                </a:r>
              </a:p>
            </p:txBody>
          </p:sp>
        </p:grpSp>
        <p:grpSp>
          <p:nvGrpSpPr>
            <p:cNvPr id="91" name="Group 91"/>
            <p:cNvGrpSpPr/>
            <p:nvPr/>
          </p:nvGrpSpPr>
          <p:grpSpPr>
            <a:xfrm>
              <a:off x="9715500" y="2286000"/>
              <a:ext cx="1905000" cy="2095500"/>
              <a:chOff x="9715500" y="2286000"/>
              <a:chExt cx="1905000" cy="2095500"/>
            </a:xfrm>
          </p:grpSpPr>
          <p:sp>
            <p:nvSpPr>
              <p:cNvPr id="78" name="Rectangle 78"/>
              <p:cNvSpPr/>
              <p:nvPr/>
            </p:nvSpPr>
            <p:spPr>
              <a:xfrm>
                <a:off x="9715500" y="2286000"/>
                <a:ext cx="1905000" cy="2095500"/>
              </a:xfrm>
              <a:prstGeom prst="roundRect">
                <a:avLst>
                  <a:gd name="adj" fmla="val 5000"/>
                </a:avLst>
              </a:prstGeom>
              <a:solidFill>
                <a:srgbClr val="004C97"/>
              </a:solidFill>
              <a:ln>
                <a:noFill/>
              </a:ln>
            </p:spPr>
            <p:txBody>
              <a:bodyPr/>
              <a:lstStyle/>
              <a:p>
                <a:endParaRPr lang="en-US"/>
              </a:p>
            </p:txBody>
          </p:sp>
          <p:grpSp>
            <p:nvGrpSpPr>
              <p:cNvPr id="82" name="Group 82"/>
              <p:cNvGrpSpPr/>
              <p:nvPr/>
            </p:nvGrpSpPr>
            <p:grpSpPr>
              <a:xfrm>
                <a:off x="9906000" y="2476500"/>
                <a:ext cx="228600" cy="228600"/>
                <a:chOff x="9906000" y="2476500"/>
                <a:chExt cx="228600" cy="228600"/>
              </a:xfrm>
            </p:grpSpPr>
            <p:sp>
              <p:nvSpPr>
                <p:cNvPr id="79" name="Freeform 79"/>
                <p:cNvSpPr/>
                <p:nvPr/>
              </p:nvSpPr>
              <p:spPr>
                <a:xfrm>
                  <a:off x="9906000" y="26543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FFFFFF"/>
                  </a:solidFill>
                </a:ln>
              </p:spPr>
              <p:txBody>
                <a:bodyPr/>
                <a:lstStyle/>
                <a:p>
                  <a:endParaRPr lang="en-US"/>
                </a:p>
              </p:txBody>
            </p:sp>
            <p:sp>
              <p:nvSpPr>
                <p:cNvPr id="80" name="Freeform 80"/>
                <p:cNvSpPr/>
                <p:nvPr/>
              </p:nvSpPr>
              <p:spPr>
                <a:xfrm>
                  <a:off x="10083800" y="2476500"/>
                  <a:ext cx="50800" cy="50800"/>
                </a:xfrm>
                <a:custGeom>
                  <a:avLst/>
                  <a:gdLst/>
                  <a:ahLst/>
                  <a:cxnLst/>
                  <a:rect l="l" t="t" r="r" b="b"/>
                  <a:pathLst>
                    <a:path w="50800" h="50800">
                      <a:moveTo>
                        <a:pt x="25400" y="50800"/>
                      </a:moveTo>
                      <a:cubicBezTo>
                        <a:pt x="39428" y="50800"/>
                        <a:pt x="50800" y="39428"/>
                        <a:pt x="50800" y="25400"/>
                      </a:cubicBezTo>
                      <a:cubicBezTo>
                        <a:pt x="50800" y="11372"/>
                        <a:pt x="39428" y="0"/>
                        <a:pt x="25400" y="0"/>
                      </a:cubicBezTo>
                      <a:cubicBezTo>
                        <a:pt x="11372" y="0"/>
                        <a:pt x="0" y="11372"/>
                        <a:pt x="0" y="25400"/>
                      </a:cubicBezTo>
                      <a:cubicBezTo>
                        <a:pt x="0" y="39428"/>
                        <a:pt x="11372" y="50800"/>
                        <a:pt x="25400" y="50800"/>
                      </a:cubicBezTo>
                    </a:path>
                  </a:pathLst>
                </a:custGeom>
                <a:noFill/>
                <a:ln w="19050">
                  <a:solidFill>
                    <a:srgbClr val="FFFFFF"/>
                  </a:solidFill>
                </a:ln>
              </p:spPr>
              <p:txBody>
                <a:bodyPr/>
                <a:lstStyle/>
                <a:p>
                  <a:endParaRPr lang="en-US"/>
                </a:p>
              </p:txBody>
            </p:sp>
            <p:sp>
              <p:nvSpPr>
                <p:cNvPr id="81" name="Freeform 81"/>
                <p:cNvSpPr/>
                <p:nvPr/>
              </p:nvSpPr>
              <p:spPr>
                <a:xfrm>
                  <a:off x="9931400" y="2501900"/>
                  <a:ext cx="190500" cy="177800"/>
                </a:xfrm>
                <a:custGeom>
                  <a:avLst/>
                  <a:gdLst/>
                  <a:ahLst/>
                  <a:cxnLst/>
                  <a:rect l="l" t="t" r="r" b="b"/>
                  <a:pathLst>
                    <a:path w="190500" h="177800">
                      <a:moveTo>
                        <a:pt x="76200" y="177800"/>
                      </a:moveTo>
                      <a:lnTo>
                        <a:pt x="146050" y="177800"/>
                      </a:lnTo>
                      <a:cubicBezTo>
                        <a:pt x="170599" y="177800"/>
                        <a:pt x="190500" y="157899"/>
                        <a:pt x="190500" y="133350"/>
                      </a:cubicBezTo>
                      <a:cubicBezTo>
                        <a:pt x="190500" y="108801"/>
                        <a:pt x="170599" y="88900"/>
                        <a:pt x="146050" y="88900"/>
                      </a:cubicBezTo>
                      <a:lnTo>
                        <a:pt x="44450" y="88900"/>
                      </a:lnTo>
                      <a:cubicBezTo>
                        <a:pt x="19901" y="88900"/>
                        <a:pt x="0" y="68999"/>
                        <a:pt x="0" y="44450"/>
                      </a:cubicBezTo>
                      <a:cubicBezTo>
                        <a:pt x="0" y="19901"/>
                        <a:pt x="19901" y="0"/>
                        <a:pt x="44450" y="0"/>
                      </a:cubicBezTo>
                      <a:lnTo>
                        <a:pt x="101600" y="0"/>
                      </a:lnTo>
                    </a:path>
                  </a:pathLst>
                </a:custGeom>
                <a:noFill/>
                <a:ln w="19050">
                  <a:solidFill>
                    <a:srgbClr val="FFFFFF"/>
                  </a:solidFill>
                </a:ln>
              </p:spPr>
              <p:txBody>
                <a:bodyPr/>
                <a:lstStyle/>
                <a:p>
                  <a:endParaRPr lang="en-US"/>
                </a:p>
              </p:txBody>
            </p:sp>
          </p:grpSp>
          <p:sp>
            <p:nvSpPr>
              <p:cNvPr id="83" name="TextBox 83"/>
              <p:cNvSpPr txBox="1"/>
              <p:nvPr/>
            </p:nvSpPr>
            <p:spPr>
              <a:xfrm>
                <a:off x="10276522" y="2558891"/>
                <a:ext cx="742095" cy="167640"/>
              </a:xfrm>
              <a:prstGeom prst="rect">
                <a:avLst/>
              </a:prstGeom>
              <a:noFill/>
              <a:ln>
                <a:noFill/>
              </a:ln>
            </p:spPr>
            <p:txBody>
              <a:bodyPr wrap="none" lIns="0" tIns="0" rIns="0" bIns="0" anchor="t" anchorCtr="0">
                <a:spAutoFit/>
              </a:bodyPr>
              <a:lstStyle/>
              <a:p>
                <a:pPr algn="l"/>
                <a:r>
                  <a:rPr lang="zh-CN" sz="825" b="1" dirty="0">
                    <a:solidFill>
                      <a:srgbClr val="FFFFFF"/>
                    </a:solidFill>
                    <a:latin typeface="Arial"/>
                    <a:ea typeface="Microsoft YaHei"/>
                    <a:cs typeface="Arial"/>
                  </a:rPr>
                  <a:t>END-TO-END</a:t>
                </a:r>
              </a:p>
            </p:txBody>
          </p:sp>
          <p:sp>
            <p:nvSpPr>
              <p:cNvPr id="84" name="TextBox 84"/>
              <p:cNvSpPr txBox="1"/>
              <p:nvPr/>
            </p:nvSpPr>
            <p:spPr>
              <a:xfrm>
                <a:off x="10030392" y="2778720"/>
                <a:ext cx="1296830" cy="923330"/>
              </a:xfrm>
              <a:prstGeom prst="rect">
                <a:avLst/>
              </a:prstGeom>
              <a:noFill/>
              <a:ln>
                <a:noFill/>
              </a:ln>
            </p:spPr>
            <p:txBody>
              <a:bodyPr wrap="none" lIns="0" tIns="0" rIns="0" bIns="0" anchor="t" anchorCtr="0">
                <a:spAutoFit/>
              </a:bodyPr>
              <a:lstStyle/>
              <a:p>
                <a:pPr algn="l"/>
                <a:r>
                  <a:rPr lang="en-US" altLang="zh-CN" sz="2000" b="1" dirty="0">
                    <a:solidFill>
                      <a:srgbClr val="FFFFFF"/>
                    </a:solidFill>
                    <a:latin typeface="Arial Black"/>
                    <a:ea typeface="Microsoft YaHei"/>
                    <a:cs typeface="Arial Black"/>
                  </a:rPr>
                  <a:t>Dynamic </a:t>
                </a:r>
              </a:p>
              <a:p>
                <a:pPr algn="l"/>
                <a:r>
                  <a:rPr lang="en-US" altLang="zh-CN" sz="2000" b="1" dirty="0">
                    <a:solidFill>
                      <a:srgbClr val="FFFFFF"/>
                    </a:solidFill>
                    <a:latin typeface="Arial Black"/>
                    <a:ea typeface="Microsoft YaHei"/>
                    <a:cs typeface="Arial Black"/>
                  </a:rPr>
                  <a:t>Data </a:t>
                </a:r>
              </a:p>
              <a:p>
                <a:pPr algn="l"/>
                <a:r>
                  <a:rPr lang="en-US" altLang="zh-CN" sz="2000" b="1" dirty="0">
                    <a:solidFill>
                      <a:srgbClr val="FFFFFF"/>
                    </a:solidFill>
                    <a:latin typeface="Arial Black"/>
                    <a:ea typeface="Microsoft YaHei"/>
                    <a:cs typeface="Arial Black"/>
                  </a:rPr>
                  <a:t>Routing</a:t>
                </a:r>
                <a:endParaRPr lang="zh-CN" sz="2000" b="1" dirty="0">
                  <a:solidFill>
                    <a:srgbClr val="FFFFFF"/>
                  </a:solidFill>
                  <a:latin typeface="Arial Black"/>
                  <a:ea typeface="Microsoft YaHei"/>
                  <a:cs typeface="Arial Black"/>
                </a:endParaRPr>
              </a:p>
            </p:txBody>
          </p:sp>
          <p:sp>
            <p:nvSpPr>
              <p:cNvPr id="87" name="Line 87"/>
              <p:cNvSpPr/>
              <p:nvPr/>
            </p:nvSpPr>
            <p:spPr>
              <a:xfrm>
                <a:off x="9867900" y="3657600"/>
                <a:ext cx="1600200" cy="9525"/>
              </a:xfrm>
              <a:custGeom>
                <a:avLst/>
                <a:gdLst/>
                <a:ahLst/>
                <a:cxnLst/>
                <a:rect l="l" t="t" r="r" b="b"/>
                <a:pathLst>
                  <a:path w="1600200" h="9525">
                    <a:moveTo>
                      <a:pt x="0" y="0"/>
                    </a:moveTo>
                    <a:lnTo>
                      <a:pt x="1600200" y="0"/>
                    </a:lnTo>
                  </a:path>
                </a:pathLst>
              </a:custGeom>
              <a:noFill/>
              <a:ln w="9525">
                <a:solidFill>
                  <a:srgbClr val="FFFFFF">
                    <a:alpha val="20000"/>
                  </a:srgbClr>
                </a:solidFill>
              </a:ln>
            </p:spPr>
            <p:txBody>
              <a:bodyPr/>
              <a:lstStyle/>
              <a:p>
                <a:endParaRPr lang="en-US"/>
              </a:p>
            </p:txBody>
          </p:sp>
          <p:sp>
            <p:nvSpPr>
              <p:cNvPr id="90" name="TextBox 90"/>
              <p:cNvSpPr txBox="1"/>
              <p:nvPr/>
            </p:nvSpPr>
            <p:spPr>
              <a:xfrm>
                <a:off x="10028320" y="3804592"/>
                <a:ext cx="1459322" cy="461665"/>
              </a:xfrm>
              <a:prstGeom prst="rect">
                <a:avLst/>
              </a:prstGeom>
              <a:noFill/>
              <a:ln>
                <a:noFill/>
              </a:ln>
            </p:spPr>
            <p:txBody>
              <a:bodyPr wrap="square" lIns="0" tIns="0" rIns="0" bIns="0" anchor="t" anchorCtr="0">
                <a:spAutoFit/>
              </a:bodyPr>
              <a:lstStyle/>
              <a:p>
                <a:pPr algn="l"/>
                <a:r>
                  <a:rPr lang="en-US" altLang="zh-CN" sz="1000" dirty="0">
                    <a:solidFill>
                      <a:srgbClr val="FFFFFF">
                        <a:alpha val="75000"/>
                      </a:srgbClr>
                    </a:solidFill>
                    <a:latin typeface="Arial"/>
                    <a:ea typeface="Microsoft YaHei"/>
                    <a:cs typeface="Arial"/>
                  </a:rPr>
                  <a:t>Past: Manual indicator lookup and code matching with </a:t>
                </a:r>
                <a:r>
                  <a:rPr lang="zh-CN" sz="1000" dirty="0">
                    <a:solidFill>
                      <a:srgbClr val="FFFFFF">
                        <a:alpha val="75000"/>
                      </a:srgbClr>
                    </a:solidFill>
                    <a:latin typeface="Arial"/>
                    <a:ea typeface="Microsoft YaHei"/>
                    <a:cs typeface="Arial"/>
                  </a:rPr>
                  <a:t>error risk</a:t>
                </a:r>
                <a:r>
                  <a:rPr lang="en-US" altLang="zh-CN" sz="1000" dirty="0">
                    <a:solidFill>
                      <a:srgbClr val="FFFFFF">
                        <a:alpha val="75000"/>
                      </a:srgbClr>
                    </a:solidFill>
                    <a:latin typeface="Arial"/>
                    <a:ea typeface="Microsoft YaHei"/>
                    <a:cs typeface="Arial"/>
                  </a:rPr>
                  <a:t>.</a:t>
                </a:r>
                <a:endParaRPr lang="zh-CN" sz="1000" dirty="0">
                  <a:solidFill>
                    <a:srgbClr val="FFFFFF">
                      <a:alpha val="75000"/>
                    </a:srgbClr>
                  </a:solidFill>
                  <a:latin typeface="Arial"/>
                  <a:ea typeface="Microsoft YaHei"/>
                  <a:cs typeface="Arial"/>
                </a:endParaRPr>
              </a:p>
            </p:txBody>
          </p:sp>
        </p:grpSp>
      </p:grpSp>
      <p:grpSp>
        <p:nvGrpSpPr>
          <p:cNvPr id="125" name="Group 125"/>
          <p:cNvGrpSpPr/>
          <p:nvPr/>
        </p:nvGrpSpPr>
        <p:grpSpPr>
          <a:xfrm>
            <a:off x="571500" y="4714875"/>
            <a:ext cx="11049000" cy="1619250"/>
            <a:chOff x="571500" y="4714875"/>
            <a:chExt cx="11049000" cy="1619250"/>
          </a:xfrm>
        </p:grpSpPr>
        <p:sp>
          <p:nvSpPr>
            <p:cNvPr id="93" name="Rectangle 93"/>
            <p:cNvSpPr/>
            <p:nvPr/>
          </p:nvSpPr>
          <p:spPr>
            <a:xfrm>
              <a:off x="571500" y="4714875"/>
              <a:ext cx="11049000" cy="1619250"/>
            </a:xfrm>
            <a:prstGeom prst="roundRect">
              <a:avLst>
                <a:gd name="adj" fmla="val 5882"/>
              </a:avLst>
            </a:prstGeom>
            <a:solidFill>
              <a:srgbClr val="EAF6FD"/>
            </a:solidFill>
            <a:ln>
              <a:noFill/>
            </a:ln>
          </p:spPr>
          <p:txBody>
            <a:bodyPr/>
            <a:lstStyle/>
            <a:p>
              <a:endParaRPr lang="en-US"/>
            </a:p>
          </p:txBody>
        </p:sp>
        <p:sp>
          <p:nvSpPr>
            <p:cNvPr id="94" name="TextBox 94"/>
            <p:cNvSpPr txBox="1"/>
            <p:nvPr/>
          </p:nvSpPr>
          <p:spPr>
            <a:xfrm>
              <a:off x="808672" y="4959191"/>
              <a:ext cx="1893389" cy="167640"/>
            </a:xfrm>
            <a:prstGeom prst="rect">
              <a:avLst/>
            </a:prstGeom>
            <a:noFill/>
            <a:ln>
              <a:noFill/>
            </a:ln>
          </p:spPr>
          <p:txBody>
            <a:bodyPr wrap="none" lIns="0" tIns="0" rIns="0" bIns="0" anchor="t" anchorCtr="0">
              <a:spAutoFit/>
            </a:bodyPr>
            <a:lstStyle/>
            <a:p>
              <a:pPr algn="l"/>
              <a:r>
                <a:rPr lang="zh-CN" sz="825" b="1" dirty="0">
                  <a:solidFill>
                    <a:srgbClr val="707372"/>
                  </a:solidFill>
                  <a:latin typeface="Arial"/>
                  <a:ea typeface="Microsoft YaHei"/>
                  <a:cs typeface="Arial"/>
                </a:rPr>
                <a:t>WHAT THE RA DIDN'T HAVE TO DO</a:t>
              </a:r>
            </a:p>
          </p:txBody>
        </p:sp>
        <p:grpSp>
          <p:nvGrpSpPr>
            <p:cNvPr id="99" name="Group 99"/>
            <p:cNvGrpSpPr/>
            <p:nvPr/>
          </p:nvGrpSpPr>
          <p:grpSpPr>
            <a:xfrm>
              <a:off x="845344" y="5283994"/>
              <a:ext cx="2054424" cy="238125"/>
              <a:chOff x="845344" y="5283994"/>
              <a:chExt cx="2054424" cy="238125"/>
            </a:xfrm>
          </p:grpSpPr>
          <p:grpSp>
            <p:nvGrpSpPr>
              <p:cNvPr id="97" name="Group 97"/>
              <p:cNvGrpSpPr/>
              <p:nvPr/>
            </p:nvGrpSpPr>
            <p:grpSpPr>
              <a:xfrm>
                <a:off x="845344" y="5283994"/>
                <a:ext cx="157162" cy="157162"/>
                <a:chOff x="845344" y="5283994"/>
                <a:chExt cx="157162" cy="157162"/>
              </a:xfrm>
            </p:grpSpPr>
            <p:sp>
              <p:nvSpPr>
                <p:cNvPr id="95" name="Freeform 95"/>
                <p:cNvSpPr/>
                <p:nvPr/>
              </p:nvSpPr>
              <p:spPr>
                <a:xfrm>
                  <a:off x="845344" y="528399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9AA3AE"/>
                  </a:solidFill>
                </a:ln>
              </p:spPr>
              <p:txBody>
                <a:bodyPr/>
                <a:lstStyle/>
                <a:p>
                  <a:endParaRPr lang="en-US"/>
                </a:p>
              </p:txBody>
            </p:sp>
            <p:sp>
              <p:nvSpPr>
                <p:cNvPr id="96" name="Freeform 96"/>
                <p:cNvSpPr/>
                <p:nvPr/>
              </p:nvSpPr>
              <p:spPr>
                <a:xfrm>
                  <a:off x="906462" y="5345112"/>
                  <a:ext cx="34925" cy="34925"/>
                </a:xfrm>
                <a:custGeom>
                  <a:avLst/>
                  <a:gdLst/>
                  <a:ahLst/>
                  <a:cxnLst/>
                  <a:rect l="l" t="t" r="r" b="b"/>
                  <a:pathLst>
                    <a:path w="34925" h="34925">
                      <a:moveTo>
                        <a:pt x="0" y="0"/>
                      </a:moveTo>
                      <a:lnTo>
                        <a:pt x="34925" y="34925"/>
                      </a:lnTo>
                      <a:moveTo>
                        <a:pt x="34925" y="0"/>
                      </a:moveTo>
                      <a:lnTo>
                        <a:pt x="0" y="34925"/>
                      </a:lnTo>
                    </a:path>
                  </a:pathLst>
                </a:custGeom>
                <a:noFill/>
                <a:ln w="19050">
                  <a:solidFill>
                    <a:srgbClr val="9AA3AE"/>
                  </a:solidFill>
                </a:ln>
              </p:spPr>
              <p:txBody>
                <a:bodyPr/>
                <a:lstStyle/>
                <a:p>
                  <a:endParaRPr lang="en-US"/>
                </a:p>
              </p:txBody>
            </p:sp>
          </p:grpSp>
          <p:sp>
            <p:nvSpPr>
              <p:cNvPr id="98" name="TextBox 98"/>
              <p:cNvSpPr txBox="1"/>
              <p:nvPr/>
            </p:nvSpPr>
            <p:spPr>
              <a:xfrm>
                <a:off x="1130618" y="5323999"/>
                <a:ext cx="1769150"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Look up an indicator code</a:t>
                </a:r>
              </a:p>
            </p:txBody>
          </p:sp>
        </p:grpSp>
        <p:grpSp>
          <p:nvGrpSpPr>
            <p:cNvPr id="104" name="Group 104"/>
            <p:cNvGrpSpPr/>
            <p:nvPr/>
          </p:nvGrpSpPr>
          <p:grpSpPr>
            <a:xfrm>
              <a:off x="845344" y="5626894"/>
              <a:ext cx="3200734" cy="238125"/>
              <a:chOff x="845344" y="5626894"/>
              <a:chExt cx="3200734" cy="238125"/>
            </a:xfrm>
          </p:grpSpPr>
          <p:grpSp>
            <p:nvGrpSpPr>
              <p:cNvPr id="102" name="Group 102"/>
              <p:cNvGrpSpPr/>
              <p:nvPr/>
            </p:nvGrpSpPr>
            <p:grpSpPr>
              <a:xfrm>
                <a:off x="845344" y="5626894"/>
                <a:ext cx="157162" cy="157162"/>
                <a:chOff x="845344" y="5626894"/>
                <a:chExt cx="157162" cy="157162"/>
              </a:xfrm>
            </p:grpSpPr>
            <p:sp>
              <p:nvSpPr>
                <p:cNvPr id="100" name="Freeform 100"/>
                <p:cNvSpPr/>
                <p:nvPr/>
              </p:nvSpPr>
              <p:spPr>
                <a:xfrm>
                  <a:off x="845344" y="562689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9AA3AE"/>
                  </a:solidFill>
                </a:ln>
              </p:spPr>
              <p:txBody>
                <a:bodyPr/>
                <a:lstStyle/>
                <a:p>
                  <a:endParaRPr lang="en-US"/>
                </a:p>
              </p:txBody>
            </p:sp>
            <p:sp>
              <p:nvSpPr>
                <p:cNvPr id="101" name="Freeform 101"/>
                <p:cNvSpPr/>
                <p:nvPr/>
              </p:nvSpPr>
              <p:spPr>
                <a:xfrm>
                  <a:off x="906462" y="5688012"/>
                  <a:ext cx="34925" cy="34925"/>
                </a:xfrm>
                <a:custGeom>
                  <a:avLst/>
                  <a:gdLst/>
                  <a:ahLst/>
                  <a:cxnLst/>
                  <a:rect l="l" t="t" r="r" b="b"/>
                  <a:pathLst>
                    <a:path w="34925" h="34925">
                      <a:moveTo>
                        <a:pt x="0" y="0"/>
                      </a:moveTo>
                      <a:lnTo>
                        <a:pt x="34925" y="34925"/>
                      </a:lnTo>
                      <a:moveTo>
                        <a:pt x="34925" y="0"/>
                      </a:moveTo>
                      <a:lnTo>
                        <a:pt x="0" y="34925"/>
                      </a:lnTo>
                    </a:path>
                  </a:pathLst>
                </a:custGeom>
                <a:noFill/>
                <a:ln w="19050">
                  <a:solidFill>
                    <a:srgbClr val="9AA3AE"/>
                  </a:solidFill>
                </a:ln>
              </p:spPr>
              <p:txBody>
                <a:bodyPr/>
                <a:lstStyle/>
                <a:p>
                  <a:endParaRPr lang="en-US"/>
                </a:p>
              </p:txBody>
            </p:sp>
          </p:grpSp>
          <p:sp>
            <p:nvSpPr>
              <p:cNvPr id="103" name="TextBox 103"/>
              <p:cNvSpPr txBox="1"/>
              <p:nvPr/>
            </p:nvSpPr>
            <p:spPr>
              <a:xfrm>
                <a:off x="1130618" y="5666899"/>
                <a:ext cx="2915460"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Remember which ISO3 codes are in the G20</a:t>
                </a:r>
              </a:p>
            </p:txBody>
          </p:sp>
        </p:grpSp>
        <p:grpSp>
          <p:nvGrpSpPr>
            <p:cNvPr id="109" name="Group 109"/>
            <p:cNvGrpSpPr/>
            <p:nvPr/>
          </p:nvGrpSpPr>
          <p:grpSpPr>
            <a:xfrm>
              <a:off x="845344" y="5969794"/>
              <a:ext cx="3357372" cy="238125"/>
              <a:chOff x="845344" y="5969794"/>
              <a:chExt cx="3357372" cy="238125"/>
            </a:xfrm>
          </p:grpSpPr>
          <p:grpSp>
            <p:nvGrpSpPr>
              <p:cNvPr id="107" name="Group 107"/>
              <p:cNvGrpSpPr/>
              <p:nvPr/>
            </p:nvGrpSpPr>
            <p:grpSpPr>
              <a:xfrm>
                <a:off x="845344" y="5969794"/>
                <a:ext cx="157162" cy="157162"/>
                <a:chOff x="845344" y="5969794"/>
                <a:chExt cx="157162" cy="157162"/>
              </a:xfrm>
            </p:grpSpPr>
            <p:sp>
              <p:nvSpPr>
                <p:cNvPr id="105" name="Freeform 105"/>
                <p:cNvSpPr/>
                <p:nvPr/>
              </p:nvSpPr>
              <p:spPr>
                <a:xfrm>
                  <a:off x="845344" y="596979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9AA3AE"/>
                  </a:solidFill>
                </a:ln>
              </p:spPr>
              <p:txBody>
                <a:bodyPr/>
                <a:lstStyle/>
                <a:p>
                  <a:endParaRPr lang="en-US"/>
                </a:p>
              </p:txBody>
            </p:sp>
            <p:sp>
              <p:nvSpPr>
                <p:cNvPr id="106" name="Freeform 106"/>
                <p:cNvSpPr/>
                <p:nvPr/>
              </p:nvSpPr>
              <p:spPr>
                <a:xfrm>
                  <a:off x="906462" y="6030912"/>
                  <a:ext cx="34925" cy="34925"/>
                </a:xfrm>
                <a:custGeom>
                  <a:avLst/>
                  <a:gdLst/>
                  <a:ahLst/>
                  <a:cxnLst/>
                  <a:rect l="l" t="t" r="r" b="b"/>
                  <a:pathLst>
                    <a:path w="34925" h="34925">
                      <a:moveTo>
                        <a:pt x="0" y="0"/>
                      </a:moveTo>
                      <a:lnTo>
                        <a:pt x="34925" y="34925"/>
                      </a:lnTo>
                      <a:moveTo>
                        <a:pt x="34925" y="0"/>
                      </a:moveTo>
                      <a:lnTo>
                        <a:pt x="0" y="34925"/>
                      </a:lnTo>
                    </a:path>
                  </a:pathLst>
                </a:custGeom>
                <a:noFill/>
                <a:ln w="19050">
                  <a:solidFill>
                    <a:srgbClr val="9AA3AE"/>
                  </a:solidFill>
                </a:ln>
              </p:spPr>
              <p:txBody>
                <a:bodyPr/>
                <a:lstStyle/>
                <a:p>
                  <a:endParaRPr lang="en-US"/>
                </a:p>
              </p:txBody>
            </p:sp>
          </p:grpSp>
          <p:sp>
            <p:nvSpPr>
              <p:cNvPr id="108" name="TextBox 108"/>
              <p:cNvSpPr txBox="1"/>
              <p:nvPr/>
            </p:nvSpPr>
            <p:spPr>
              <a:xfrm>
                <a:off x="1130618" y="6009799"/>
                <a:ext cx="3072098"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Read the iData SDK docs or set </a:t>
                </a:r>
                <a:r>
                  <a:rPr lang="zh-CN" sz="975" dirty="0">
                    <a:solidFill>
                      <a:srgbClr val="009CDE"/>
                    </a:solidFill>
                    <a:latin typeface="Consolas"/>
                    <a:ea typeface="Microsoft YaHei"/>
                    <a:cs typeface="Consolas"/>
                  </a:rPr>
                  <a:t>PRIVATE=True</a:t>
                </a:r>
              </a:p>
            </p:txBody>
          </p:sp>
        </p:grpSp>
        <p:grpSp>
          <p:nvGrpSpPr>
            <p:cNvPr id="114" name="Group 114"/>
            <p:cNvGrpSpPr/>
            <p:nvPr/>
          </p:nvGrpSpPr>
          <p:grpSpPr>
            <a:xfrm>
              <a:off x="6312694" y="5283994"/>
              <a:ext cx="3699129" cy="238125"/>
              <a:chOff x="6312694" y="5283994"/>
              <a:chExt cx="3699129" cy="238125"/>
            </a:xfrm>
          </p:grpSpPr>
          <p:grpSp>
            <p:nvGrpSpPr>
              <p:cNvPr id="112" name="Group 112"/>
              <p:cNvGrpSpPr/>
              <p:nvPr/>
            </p:nvGrpSpPr>
            <p:grpSpPr>
              <a:xfrm>
                <a:off x="6312694" y="5283994"/>
                <a:ext cx="157162" cy="157162"/>
                <a:chOff x="6312694" y="5283994"/>
                <a:chExt cx="157162" cy="157162"/>
              </a:xfrm>
            </p:grpSpPr>
            <p:sp>
              <p:nvSpPr>
                <p:cNvPr id="110" name="Freeform 110"/>
                <p:cNvSpPr/>
                <p:nvPr/>
              </p:nvSpPr>
              <p:spPr>
                <a:xfrm>
                  <a:off x="6312694" y="528399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9AA3AE"/>
                  </a:solidFill>
                </a:ln>
              </p:spPr>
              <p:txBody>
                <a:bodyPr/>
                <a:lstStyle/>
                <a:p>
                  <a:endParaRPr lang="en-US"/>
                </a:p>
              </p:txBody>
            </p:sp>
            <p:sp>
              <p:nvSpPr>
                <p:cNvPr id="111" name="Freeform 111"/>
                <p:cNvSpPr/>
                <p:nvPr/>
              </p:nvSpPr>
              <p:spPr>
                <a:xfrm>
                  <a:off x="6373812" y="5345112"/>
                  <a:ext cx="34925" cy="34925"/>
                </a:xfrm>
                <a:custGeom>
                  <a:avLst/>
                  <a:gdLst/>
                  <a:ahLst/>
                  <a:cxnLst/>
                  <a:rect l="l" t="t" r="r" b="b"/>
                  <a:pathLst>
                    <a:path w="34925" h="34925">
                      <a:moveTo>
                        <a:pt x="0" y="0"/>
                      </a:moveTo>
                      <a:lnTo>
                        <a:pt x="34925" y="34925"/>
                      </a:lnTo>
                      <a:moveTo>
                        <a:pt x="34925" y="0"/>
                      </a:moveTo>
                      <a:lnTo>
                        <a:pt x="0" y="34925"/>
                      </a:lnTo>
                    </a:path>
                  </a:pathLst>
                </a:custGeom>
                <a:noFill/>
                <a:ln w="19050">
                  <a:solidFill>
                    <a:srgbClr val="9AA3AE"/>
                  </a:solidFill>
                </a:ln>
              </p:spPr>
              <p:txBody>
                <a:bodyPr/>
                <a:lstStyle/>
                <a:p>
                  <a:endParaRPr lang="en-US"/>
                </a:p>
              </p:txBody>
            </p:sp>
          </p:grpSp>
          <p:sp>
            <p:nvSpPr>
              <p:cNvPr id="113" name="TextBox 113"/>
              <p:cNvSpPr txBox="1"/>
              <p:nvPr/>
            </p:nvSpPr>
            <p:spPr>
              <a:xfrm>
                <a:off x="6597968" y="5323999"/>
                <a:ext cx="3413855"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Reformat the wide-API response into a long panel</a:t>
                </a:r>
              </a:p>
            </p:txBody>
          </p:sp>
        </p:grpSp>
        <p:grpSp>
          <p:nvGrpSpPr>
            <p:cNvPr id="119" name="Group 119"/>
            <p:cNvGrpSpPr/>
            <p:nvPr/>
          </p:nvGrpSpPr>
          <p:grpSpPr>
            <a:xfrm>
              <a:off x="6312694" y="5626894"/>
              <a:ext cx="3727609" cy="238125"/>
              <a:chOff x="6312694" y="5626894"/>
              <a:chExt cx="3727609" cy="238125"/>
            </a:xfrm>
          </p:grpSpPr>
          <p:grpSp>
            <p:nvGrpSpPr>
              <p:cNvPr id="117" name="Group 117"/>
              <p:cNvGrpSpPr/>
              <p:nvPr/>
            </p:nvGrpSpPr>
            <p:grpSpPr>
              <a:xfrm>
                <a:off x="6312694" y="5626894"/>
                <a:ext cx="157162" cy="157162"/>
                <a:chOff x="6312694" y="5626894"/>
                <a:chExt cx="157162" cy="157162"/>
              </a:xfrm>
            </p:grpSpPr>
            <p:sp>
              <p:nvSpPr>
                <p:cNvPr id="115" name="Freeform 115"/>
                <p:cNvSpPr/>
                <p:nvPr/>
              </p:nvSpPr>
              <p:spPr>
                <a:xfrm>
                  <a:off x="6312694" y="562689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9AA3AE"/>
                  </a:solidFill>
                </a:ln>
              </p:spPr>
              <p:txBody>
                <a:bodyPr/>
                <a:lstStyle/>
                <a:p>
                  <a:endParaRPr lang="en-US"/>
                </a:p>
              </p:txBody>
            </p:sp>
            <p:sp>
              <p:nvSpPr>
                <p:cNvPr id="116" name="Freeform 116"/>
                <p:cNvSpPr/>
                <p:nvPr/>
              </p:nvSpPr>
              <p:spPr>
                <a:xfrm>
                  <a:off x="6373812" y="5688012"/>
                  <a:ext cx="34925" cy="34925"/>
                </a:xfrm>
                <a:custGeom>
                  <a:avLst/>
                  <a:gdLst/>
                  <a:ahLst/>
                  <a:cxnLst/>
                  <a:rect l="l" t="t" r="r" b="b"/>
                  <a:pathLst>
                    <a:path w="34925" h="34925">
                      <a:moveTo>
                        <a:pt x="0" y="0"/>
                      </a:moveTo>
                      <a:lnTo>
                        <a:pt x="34925" y="34925"/>
                      </a:lnTo>
                      <a:moveTo>
                        <a:pt x="34925" y="0"/>
                      </a:moveTo>
                      <a:lnTo>
                        <a:pt x="0" y="34925"/>
                      </a:lnTo>
                    </a:path>
                  </a:pathLst>
                </a:custGeom>
                <a:noFill/>
                <a:ln w="19050">
                  <a:solidFill>
                    <a:srgbClr val="9AA3AE"/>
                  </a:solidFill>
                </a:ln>
              </p:spPr>
              <p:txBody>
                <a:bodyPr/>
                <a:lstStyle/>
                <a:p>
                  <a:endParaRPr lang="en-US"/>
                </a:p>
              </p:txBody>
            </p:sp>
          </p:grpSp>
          <p:sp>
            <p:nvSpPr>
              <p:cNvPr id="118" name="TextBox 118"/>
              <p:cNvSpPr txBox="1"/>
              <p:nvPr/>
            </p:nvSpPr>
            <p:spPr>
              <a:xfrm>
                <a:off x="6597968" y="5666899"/>
                <a:ext cx="3442335"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Re-ask the same question they asked last Monday</a:t>
                </a:r>
              </a:p>
            </p:txBody>
          </p:sp>
        </p:grpSp>
        <p:grpSp>
          <p:nvGrpSpPr>
            <p:cNvPr id="124" name="Group 124"/>
            <p:cNvGrpSpPr/>
            <p:nvPr/>
          </p:nvGrpSpPr>
          <p:grpSpPr>
            <a:xfrm>
              <a:off x="6312694" y="5969794"/>
              <a:ext cx="3514011" cy="238125"/>
              <a:chOff x="6312694" y="5969794"/>
              <a:chExt cx="3514011" cy="238125"/>
            </a:xfrm>
          </p:grpSpPr>
          <p:grpSp>
            <p:nvGrpSpPr>
              <p:cNvPr id="122" name="Group 122"/>
              <p:cNvGrpSpPr/>
              <p:nvPr/>
            </p:nvGrpSpPr>
            <p:grpSpPr>
              <a:xfrm>
                <a:off x="6312694" y="5969794"/>
                <a:ext cx="157162" cy="157162"/>
                <a:chOff x="6312694" y="5969794"/>
                <a:chExt cx="157162" cy="157162"/>
              </a:xfrm>
            </p:grpSpPr>
            <p:sp>
              <p:nvSpPr>
                <p:cNvPr id="120" name="Freeform 120"/>
                <p:cNvSpPr/>
                <p:nvPr/>
              </p:nvSpPr>
              <p:spPr>
                <a:xfrm>
                  <a:off x="6312694" y="5969794"/>
                  <a:ext cx="157162" cy="157162"/>
                </a:xfrm>
                <a:custGeom>
                  <a:avLst/>
                  <a:gdLst/>
                  <a:ahLst/>
                  <a:cxnLst/>
                  <a:rect l="l" t="t" r="r" b="b"/>
                  <a:pathLst>
                    <a:path w="157162" h="157162">
                      <a:moveTo>
                        <a:pt x="0" y="78581"/>
                      </a:moveTo>
                      <a:cubicBezTo>
                        <a:pt x="0" y="121980"/>
                        <a:pt x="35182" y="157162"/>
                        <a:pt x="78581" y="157162"/>
                      </a:cubicBezTo>
                      <a:cubicBezTo>
                        <a:pt x="121980" y="157162"/>
                        <a:pt x="157162" y="121980"/>
                        <a:pt x="157162" y="78581"/>
                      </a:cubicBezTo>
                      <a:cubicBezTo>
                        <a:pt x="157162" y="35182"/>
                        <a:pt x="121980" y="0"/>
                        <a:pt x="78581" y="0"/>
                      </a:cubicBezTo>
                      <a:cubicBezTo>
                        <a:pt x="35182" y="0"/>
                        <a:pt x="0" y="35182"/>
                        <a:pt x="0" y="78581"/>
                      </a:cubicBezTo>
                    </a:path>
                  </a:pathLst>
                </a:custGeom>
                <a:noFill/>
                <a:ln w="19050">
                  <a:solidFill>
                    <a:srgbClr val="9AA3AE"/>
                  </a:solidFill>
                </a:ln>
              </p:spPr>
              <p:txBody>
                <a:bodyPr/>
                <a:lstStyle/>
                <a:p>
                  <a:endParaRPr lang="en-US"/>
                </a:p>
              </p:txBody>
            </p:sp>
            <p:sp>
              <p:nvSpPr>
                <p:cNvPr id="121" name="Freeform 121"/>
                <p:cNvSpPr/>
                <p:nvPr/>
              </p:nvSpPr>
              <p:spPr>
                <a:xfrm>
                  <a:off x="6373812" y="6030912"/>
                  <a:ext cx="34925" cy="34925"/>
                </a:xfrm>
                <a:custGeom>
                  <a:avLst/>
                  <a:gdLst/>
                  <a:ahLst/>
                  <a:cxnLst/>
                  <a:rect l="l" t="t" r="r" b="b"/>
                  <a:pathLst>
                    <a:path w="34925" h="34925">
                      <a:moveTo>
                        <a:pt x="0" y="0"/>
                      </a:moveTo>
                      <a:lnTo>
                        <a:pt x="34925" y="34925"/>
                      </a:lnTo>
                      <a:moveTo>
                        <a:pt x="34925" y="0"/>
                      </a:moveTo>
                      <a:lnTo>
                        <a:pt x="0" y="34925"/>
                      </a:lnTo>
                    </a:path>
                  </a:pathLst>
                </a:custGeom>
                <a:noFill/>
                <a:ln w="19050">
                  <a:solidFill>
                    <a:srgbClr val="9AA3AE"/>
                  </a:solidFill>
                </a:ln>
              </p:spPr>
              <p:txBody>
                <a:bodyPr/>
                <a:lstStyle/>
                <a:p>
                  <a:endParaRPr lang="en-US"/>
                </a:p>
              </p:txBody>
            </p:sp>
          </p:grpSp>
          <p:sp>
            <p:nvSpPr>
              <p:cNvPr id="123" name="TextBox 123"/>
              <p:cNvSpPr txBox="1"/>
              <p:nvPr/>
            </p:nvSpPr>
            <p:spPr>
              <a:xfrm>
                <a:off x="6597968" y="6009799"/>
                <a:ext cx="3228737" cy="198120"/>
              </a:xfrm>
              <a:prstGeom prst="rect">
                <a:avLst/>
              </a:prstGeom>
              <a:noFill/>
              <a:ln>
                <a:noFill/>
              </a:ln>
            </p:spPr>
            <p:txBody>
              <a:bodyPr wrap="none" lIns="0" tIns="0" rIns="0" bIns="0" anchor="t" anchorCtr="0">
                <a:spAutoFit/>
              </a:bodyPr>
              <a:lstStyle/>
              <a:p>
                <a:pPr algn="l"/>
                <a:r>
                  <a:rPr lang="zh-CN" sz="975" dirty="0">
                    <a:solidFill>
                      <a:srgbClr val="1F2937"/>
                    </a:solidFill>
                    <a:latin typeface="Arial"/>
                    <a:ea typeface="Microsoft YaHei"/>
                    <a:cs typeface="Arial"/>
                  </a:rPr>
                  <a:t>Worry whether they hit the right WEO vintage</a:t>
                </a:r>
              </a:p>
            </p:txBody>
          </p:sp>
        </p:grpSp>
      </p:grpSp>
      <p:grpSp>
        <p:nvGrpSpPr>
          <p:cNvPr id="128" name="Group 128"/>
          <p:cNvGrpSpPr/>
          <p:nvPr/>
        </p:nvGrpSpPr>
        <p:grpSpPr>
          <a:xfrm>
            <a:off x="561022" y="6578441"/>
            <a:ext cx="11069956" cy="167640"/>
            <a:chOff x="561022" y="6578441"/>
            <a:chExt cx="11069956" cy="167640"/>
          </a:xfrm>
        </p:grpSpPr>
        <p:sp>
          <p:nvSpPr>
            <p:cNvPr id="126" name="TextBox 126"/>
            <p:cNvSpPr txBox="1"/>
            <p:nvPr/>
          </p:nvSpPr>
          <p:spPr>
            <a:xfrm>
              <a:off x="561022" y="6578441"/>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127" name="TextBox 127"/>
            <p:cNvSpPr txBox="1"/>
            <p:nvPr/>
          </p:nvSpPr>
          <p:spPr>
            <a:xfrm>
              <a:off x="11236500" y="6578441"/>
              <a:ext cx="394478" cy="167640"/>
            </a:xfrm>
            <a:prstGeom prst="rect">
              <a:avLst/>
            </a:prstGeom>
            <a:noFill/>
            <a:ln>
              <a:noFill/>
            </a:ln>
          </p:spPr>
          <p:txBody>
            <a:bodyPr wrap="none" lIns="0" tIns="0" rIns="0" bIns="0" anchor="t" anchorCtr="0">
              <a:spAutoFit/>
            </a:bodyPr>
            <a:lstStyle/>
            <a:p>
              <a:pPr algn="r"/>
              <a:r>
                <a:rPr lang="zh-CN" sz="825" dirty="0">
                  <a:solidFill>
                    <a:srgbClr val="9AA3AE"/>
                  </a:solidFill>
                  <a:latin typeface="Arial"/>
                  <a:ea typeface="Microsoft YaHei"/>
                  <a:cs typeface="Arial"/>
                </a:rPr>
                <a:t>09 / 10</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fade">
                                      <p:cBhvr>
                                        <p:cTn id="7" dur="400"/>
                                        <p:tgtEl>
                                          <p:spTgt spid="92"/>
                                        </p:tgtEl>
                                      </p:cBhvr>
                                    </p:animEffect>
                                  </p:childTnLst>
                                </p:cTn>
                              </p:par>
                            </p:childTnLst>
                          </p:cTn>
                        </p:par>
                        <p:par>
                          <p:cTn id="8" fill="hold">
                            <p:stCondLst>
                              <p:cond delay="900"/>
                            </p:stCondLst>
                            <p:childTnLst>
                              <p:par>
                                <p:cTn id="9" presetID="16" presetClass="entr" presetSubtype="21" fill="hold" nodeType="afterEffect">
                                  <p:stCondLst>
                                    <p:cond delay="0"/>
                                  </p:stCondLst>
                                  <p:childTnLst>
                                    <p:set>
                                      <p:cBhvr>
                                        <p:cTn id="10" dur="1" fill="hold">
                                          <p:stCondLst>
                                            <p:cond delay="0"/>
                                          </p:stCondLst>
                                        </p:cTn>
                                        <p:tgtEl>
                                          <p:spTgt spid="125"/>
                                        </p:tgtEl>
                                        <p:attrNameLst>
                                          <p:attrName>style.visibility</p:attrName>
                                        </p:attrNameLst>
                                      </p:cBhvr>
                                      <p:to>
                                        <p:strVal val="visible"/>
                                      </p:to>
                                    </p:set>
                                    <p:animEffect transition="in" filter="barn(inVertical)">
                                      <p:cBhvr>
                                        <p:cTn id="11" dur="4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12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542925" y="474345"/>
            <a:ext cx="11219295" cy="692467"/>
            <a:chOff x="542925" y="474345"/>
            <a:chExt cx="11219295" cy="692467"/>
          </a:xfrm>
        </p:grpSpPr>
        <p:sp>
          <p:nvSpPr>
            <p:cNvPr id="3" name="TextBox 3"/>
            <p:cNvSpPr txBox="1"/>
            <p:nvPr/>
          </p:nvSpPr>
          <p:spPr>
            <a:xfrm>
              <a:off x="560070" y="474345"/>
              <a:ext cx="1161502" cy="182880"/>
            </a:xfrm>
            <a:prstGeom prst="rect">
              <a:avLst/>
            </a:prstGeom>
            <a:noFill/>
            <a:ln>
              <a:noFill/>
            </a:ln>
          </p:spPr>
          <p:txBody>
            <a:bodyPr wrap="none" lIns="0" tIns="0" rIns="0" bIns="0" anchor="t" anchorCtr="0">
              <a:spAutoFit/>
            </a:bodyPr>
            <a:lstStyle/>
            <a:p>
              <a:pPr algn="l"/>
              <a:r>
                <a:rPr lang="zh-CN" sz="900" b="1" dirty="0">
                  <a:solidFill>
                    <a:srgbClr val="707372"/>
                  </a:solidFill>
                  <a:latin typeface="Arial"/>
                  <a:ea typeface="Microsoft YaHei"/>
                  <a:cs typeface="Arial"/>
                </a:rPr>
                <a:t>09 · WHAT'S NEXT</a:t>
              </a:r>
            </a:p>
          </p:txBody>
        </p:sp>
        <p:sp>
          <p:nvSpPr>
            <p:cNvPr id="4" name="TextBox 4"/>
            <p:cNvSpPr txBox="1"/>
            <p:nvPr/>
          </p:nvSpPr>
          <p:spPr>
            <a:xfrm>
              <a:off x="542925" y="709612"/>
              <a:ext cx="11219295" cy="457200"/>
            </a:xfrm>
            <a:prstGeom prst="rect">
              <a:avLst/>
            </a:prstGeom>
            <a:noFill/>
            <a:ln>
              <a:noFill/>
            </a:ln>
          </p:spPr>
          <p:txBody>
            <a:bodyPr wrap="none" lIns="0" tIns="0" rIns="0" bIns="0" anchor="t" anchorCtr="0">
              <a:spAutoFit/>
            </a:bodyPr>
            <a:lstStyle/>
            <a:p>
              <a:pPr algn="l"/>
              <a:r>
                <a:rPr lang="zh-CN" sz="2250" b="1" dirty="0">
                  <a:solidFill>
                    <a:srgbClr val="004C97"/>
                  </a:solidFill>
                  <a:latin typeface="Arial Black"/>
                  <a:ea typeface="Microsoft YaHei"/>
                  <a:cs typeface="Arial Black"/>
                </a:rPr>
                <a:t>This is Phase 1. The roadmap turns the chain into a full RA cockpit.</a:t>
              </a:r>
            </a:p>
          </p:txBody>
        </p:sp>
      </p:grpSp>
      <p:grpSp>
        <p:nvGrpSpPr>
          <p:cNvPr id="8" name="Group 8"/>
          <p:cNvGrpSpPr/>
          <p:nvPr/>
        </p:nvGrpSpPr>
        <p:grpSpPr>
          <a:xfrm>
            <a:off x="2286000" y="1524000"/>
            <a:ext cx="9525" cy="3810000"/>
            <a:chOff x="2286000" y="1524000"/>
            <a:chExt cx="9525" cy="3810000"/>
          </a:xfrm>
        </p:grpSpPr>
        <p:sp>
          <p:nvSpPr>
            <p:cNvPr id="6" name="Line 6"/>
            <p:cNvSpPr/>
            <p:nvPr/>
          </p:nvSpPr>
          <p:spPr>
            <a:xfrm>
              <a:off x="2286000" y="1524000"/>
              <a:ext cx="9525" cy="3810000"/>
            </a:xfrm>
            <a:custGeom>
              <a:avLst/>
              <a:gdLst/>
              <a:ahLst/>
              <a:cxnLst/>
              <a:rect l="l" t="t" r="r" b="b"/>
              <a:pathLst>
                <a:path w="9525" h="3810000">
                  <a:moveTo>
                    <a:pt x="0" y="0"/>
                  </a:moveTo>
                  <a:lnTo>
                    <a:pt x="0" y="3810000"/>
                  </a:lnTo>
                </a:path>
              </a:pathLst>
            </a:custGeom>
            <a:noFill/>
            <a:ln w="38100" cap="rnd">
              <a:solidFill>
                <a:srgbClr val="CDD7E2"/>
              </a:solidFill>
            </a:ln>
          </p:spPr>
          <p:txBody>
            <a:bodyPr/>
            <a:lstStyle/>
            <a:p>
              <a:endParaRPr lang="en-US"/>
            </a:p>
          </p:txBody>
        </p:sp>
        <p:sp>
          <p:nvSpPr>
            <p:cNvPr id="7" name="Line 7"/>
            <p:cNvSpPr/>
            <p:nvPr/>
          </p:nvSpPr>
          <p:spPr>
            <a:xfrm>
              <a:off x="2286000" y="1524000"/>
              <a:ext cx="9525" cy="762000"/>
            </a:xfrm>
            <a:custGeom>
              <a:avLst/>
              <a:gdLst/>
              <a:ahLst/>
              <a:cxnLst/>
              <a:rect l="l" t="t" r="r" b="b"/>
              <a:pathLst>
                <a:path w="9525" h="762000">
                  <a:moveTo>
                    <a:pt x="0" y="0"/>
                  </a:moveTo>
                  <a:lnTo>
                    <a:pt x="0" y="762000"/>
                  </a:lnTo>
                </a:path>
              </a:pathLst>
            </a:custGeom>
            <a:noFill/>
            <a:ln w="38100" cap="rnd">
              <a:gradFill>
                <a:gsLst>
                  <a:gs pos="0">
                    <a:srgbClr val="78BE20"/>
                  </a:gs>
                  <a:gs pos="100000">
                    <a:srgbClr val="707372"/>
                  </a:gs>
                </a:gsLst>
                <a:lin ang="5400000" scaled="1"/>
              </a:gradFill>
            </a:ln>
          </p:spPr>
          <p:txBody>
            <a:bodyPr/>
            <a:lstStyle/>
            <a:p>
              <a:endParaRPr lang="en-US"/>
            </a:p>
          </p:txBody>
        </p:sp>
      </p:grpSp>
      <p:grpSp>
        <p:nvGrpSpPr>
          <p:cNvPr id="31" name="Group 31"/>
          <p:cNvGrpSpPr/>
          <p:nvPr/>
        </p:nvGrpSpPr>
        <p:grpSpPr>
          <a:xfrm>
            <a:off x="1838578" y="3228022"/>
            <a:ext cx="8448422" cy="762000"/>
            <a:chOff x="1838578" y="1333500"/>
            <a:chExt cx="8448422" cy="762000"/>
          </a:xfrm>
        </p:grpSpPr>
        <p:sp>
          <p:nvSpPr>
            <p:cNvPr id="9" name="TextBox 9"/>
            <p:cNvSpPr txBox="1"/>
            <p:nvPr/>
          </p:nvSpPr>
          <p:spPr>
            <a:xfrm>
              <a:off x="1838578" y="1666399"/>
              <a:ext cx="269304" cy="150041"/>
            </a:xfrm>
            <a:prstGeom prst="rect">
              <a:avLst/>
            </a:prstGeom>
            <a:noFill/>
            <a:ln>
              <a:noFill/>
            </a:ln>
          </p:spPr>
          <p:txBody>
            <a:bodyPr wrap="none" lIns="0" tIns="0" rIns="0" bIns="0" anchor="t" anchorCtr="0">
              <a:spAutoFit/>
            </a:bodyPr>
            <a:lstStyle/>
            <a:p>
              <a:pPr algn="r"/>
              <a:r>
                <a:rPr lang="zh-CN" sz="975" b="1" dirty="0">
                  <a:solidFill>
                    <a:schemeClr val="tx2">
                      <a:lumMod val="40000"/>
                      <a:lumOff val="60000"/>
                    </a:schemeClr>
                  </a:solidFill>
                  <a:latin typeface="Arial"/>
                  <a:ea typeface="Microsoft YaHei"/>
                  <a:cs typeface="Arial"/>
                </a:rPr>
                <a:t>Next</a:t>
              </a:r>
            </a:p>
          </p:txBody>
        </p:sp>
        <p:sp>
          <p:nvSpPr>
            <p:cNvPr id="10" name="Ellipse 10"/>
            <p:cNvSpPr/>
            <p:nvPr/>
          </p:nvSpPr>
          <p:spPr>
            <a:xfrm>
              <a:off x="2133600" y="1562100"/>
              <a:ext cx="304800" cy="304800"/>
            </a:xfrm>
            <a:prstGeom prst="ellipse">
              <a:avLst/>
            </a:prstGeom>
            <a:solidFill>
              <a:srgbClr val="FFFFFF"/>
            </a:solidFill>
            <a:ln w="33338">
              <a:solidFill>
                <a:schemeClr val="tx2">
                  <a:lumMod val="40000"/>
                  <a:lumOff val="60000"/>
                </a:schemeClr>
              </a:solidFill>
            </a:ln>
          </p:spPr>
          <p:txBody>
            <a:bodyPr/>
            <a:lstStyle/>
            <a:p>
              <a:endParaRPr lang="en-US" dirty="0">
                <a:solidFill>
                  <a:schemeClr val="tx2">
                    <a:lumMod val="40000"/>
                    <a:lumOff val="60000"/>
                  </a:schemeClr>
                </a:solidFill>
              </a:endParaRPr>
            </a:p>
          </p:txBody>
        </p:sp>
        <p:grpSp>
          <p:nvGrpSpPr>
            <p:cNvPr id="19" name="Group 19"/>
            <p:cNvGrpSpPr/>
            <p:nvPr/>
          </p:nvGrpSpPr>
          <p:grpSpPr>
            <a:xfrm>
              <a:off x="2157412" y="1585912"/>
              <a:ext cx="257175" cy="257175"/>
              <a:chOff x="2157412" y="1585912"/>
              <a:chExt cx="257175" cy="257175"/>
            </a:xfrm>
          </p:grpSpPr>
          <p:sp>
            <p:nvSpPr>
              <p:cNvPr id="11" name="Freeform 11"/>
              <p:cNvSpPr/>
              <p:nvPr/>
            </p:nvSpPr>
            <p:spPr>
              <a:xfrm>
                <a:off x="2195132" y="1595771"/>
                <a:ext cx="41719" cy="27861"/>
              </a:xfrm>
              <a:custGeom>
                <a:avLst/>
                <a:gdLst/>
                <a:ahLst/>
                <a:cxnLst/>
                <a:rect l="l" t="t" r="r" b="b"/>
                <a:pathLst>
                  <a:path w="41719" h="27861">
                    <a:moveTo>
                      <a:pt x="41719" y="0"/>
                    </a:moveTo>
                    <a:cubicBezTo>
                      <a:pt x="26119" y="6458"/>
                      <a:pt x="11942" y="15925"/>
                      <a:pt x="0" y="27861"/>
                    </a:cubicBezTo>
                  </a:path>
                </a:pathLst>
              </a:custGeom>
              <a:noFill/>
              <a:ln w="19050">
                <a:solidFill>
                  <a:schemeClr val="tx2">
                    <a:lumMod val="40000"/>
                    <a:lumOff val="60000"/>
                  </a:schemeClr>
                </a:solidFill>
              </a:ln>
            </p:spPr>
            <p:txBody>
              <a:bodyPr/>
              <a:lstStyle/>
              <a:p>
                <a:endParaRPr lang="en-US"/>
              </a:p>
            </p:txBody>
          </p:sp>
          <p:sp>
            <p:nvSpPr>
              <p:cNvPr id="12" name="Freeform 12"/>
              <p:cNvSpPr/>
              <p:nvPr/>
            </p:nvSpPr>
            <p:spPr>
              <a:xfrm>
                <a:off x="2157412" y="1665351"/>
                <a:ext cx="9858" cy="49149"/>
              </a:xfrm>
              <a:custGeom>
                <a:avLst/>
                <a:gdLst/>
                <a:ahLst/>
                <a:cxnLst/>
                <a:rect l="l" t="t" r="r" b="b"/>
                <a:pathLst>
                  <a:path w="9858" h="49149">
                    <a:moveTo>
                      <a:pt x="9858" y="0"/>
                    </a:moveTo>
                    <a:cubicBezTo>
                      <a:pt x="3380" y="15578"/>
                      <a:pt x="30" y="32278"/>
                      <a:pt x="0" y="49149"/>
                    </a:cubicBezTo>
                  </a:path>
                </a:pathLst>
              </a:custGeom>
              <a:noFill/>
              <a:ln w="19050">
                <a:solidFill>
                  <a:schemeClr val="tx2">
                    <a:lumMod val="40000"/>
                    <a:lumOff val="60000"/>
                  </a:schemeClr>
                </a:solidFill>
              </a:ln>
            </p:spPr>
            <p:txBody>
              <a:bodyPr/>
              <a:lstStyle/>
              <a:p>
                <a:endParaRPr lang="en-US"/>
              </a:p>
            </p:txBody>
          </p:sp>
          <p:sp>
            <p:nvSpPr>
              <p:cNvPr id="13" name="Freeform 13"/>
              <p:cNvSpPr/>
              <p:nvPr/>
            </p:nvSpPr>
            <p:spPr>
              <a:xfrm>
                <a:off x="2167271" y="1763649"/>
                <a:ext cx="27861" cy="41719"/>
              </a:xfrm>
              <a:custGeom>
                <a:avLst/>
                <a:gdLst/>
                <a:ahLst/>
                <a:cxnLst/>
                <a:rect l="l" t="t" r="r" b="b"/>
                <a:pathLst>
                  <a:path w="27861" h="41719">
                    <a:moveTo>
                      <a:pt x="0" y="0"/>
                    </a:moveTo>
                    <a:cubicBezTo>
                      <a:pt x="6458" y="15601"/>
                      <a:pt x="15925" y="29777"/>
                      <a:pt x="27861" y="41719"/>
                    </a:cubicBezTo>
                  </a:path>
                </a:pathLst>
              </a:custGeom>
              <a:noFill/>
              <a:ln w="19050">
                <a:solidFill>
                  <a:schemeClr val="tx2">
                    <a:lumMod val="40000"/>
                    <a:lumOff val="60000"/>
                  </a:schemeClr>
                </a:solidFill>
              </a:ln>
            </p:spPr>
            <p:txBody>
              <a:bodyPr/>
              <a:lstStyle/>
              <a:p>
                <a:endParaRPr lang="en-US"/>
              </a:p>
            </p:txBody>
          </p:sp>
          <p:sp>
            <p:nvSpPr>
              <p:cNvPr id="14" name="Freeform 14"/>
              <p:cNvSpPr/>
              <p:nvPr/>
            </p:nvSpPr>
            <p:spPr>
              <a:xfrm>
                <a:off x="2236851" y="1833229"/>
                <a:ext cx="49149" cy="9858"/>
              </a:xfrm>
              <a:custGeom>
                <a:avLst/>
                <a:gdLst/>
                <a:ahLst/>
                <a:cxnLst/>
                <a:rect l="l" t="t" r="r" b="b"/>
                <a:pathLst>
                  <a:path w="49149" h="9858">
                    <a:moveTo>
                      <a:pt x="0" y="0"/>
                    </a:moveTo>
                    <a:cubicBezTo>
                      <a:pt x="15578" y="6479"/>
                      <a:pt x="32278" y="9828"/>
                      <a:pt x="49149" y="9858"/>
                    </a:cubicBezTo>
                  </a:path>
                </a:pathLst>
              </a:custGeom>
              <a:noFill/>
              <a:ln w="19050">
                <a:solidFill>
                  <a:schemeClr val="tx2">
                    <a:lumMod val="40000"/>
                    <a:lumOff val="60000"/>
                  </a:schemeClr>
                </a:solidFill>
              </a:ln>
            </p:spPr>
            <p:txBody>
              <a:bodyPr/>
              <a:lstStyle/>
              <a:p>
                <a:endParaRPr lang="en-US"/>
              </a:p>
            </p:txBody>
          </p:sp>
          <p:sp>
            <p:nvSpPr>
              <p:cNvPr id="15" name="Freeform 15"/>
              <p:cNvSpPr/>
              <p:nvPr/>
            </p:nvSpPr>
            <p:spPr>
              <a:xfrm>
                <a:off x="2335149" y="1805368"/>
                <a:ext cx="41719" cy="27861"/>
              </a:xfrm>
              <a:custGeom>
                <a:avLst/>
                <a:gdLst/>
                <a:ahLst/>
                <a:cxnLst/>
                <a:rect l="l" t="t" r="r" b="b"/>
                <a:pathLst>
                  <a:path w="41719" h="27861">
                    <a:moveTo>
                      <a:pt x="0" y="27861"/>
                    </a:moveTo>
                    <a:cubicBezTo>
                      <a:pt x="15601" y="21403"/>
                      <a:pt x="29777" y="11936"/>
                      <a:pt x="41719" y="0"/>
                    </a:cubicBezTo>
                  </a:path>
                </a:pathLst>
              </a:custGeom>
              <a:noFill/>
              <a:ln w="19050">
                <a:solidFill>
                  <a:schemeClr val="tx2">
                    <a:lumMod val="40000"/>
                    <a:lumOff val="60000"/>
                  </a:schemeClr>
                </a:solidFill>
              </a:ln>
            </p:spPr>
            <p:txBody>
              <a:bodyPr/>
              <a:lstStyle/>
              <a:p>
                <a:endParaRPr lang="en-US"/>
              </a:p>
            </p:txBody>
          </p:sp>
          <p:sp>
            <p:nvSpPr>
              <p:cNvPr id="16" name="Freeform 16"/>
              <p:cNvSpPr/>
              <p:nvPr/>
            </p:nvSpPr>
            <p:spPr>
              <a:xfrm>
                <a:off x="2404729" y="1714500"/>
                <a:ext cx="9858" cy="49149"/>
              </a:xfrm>
              <a:custGeom>
                <a:avLst/>
                <a:gdLst/>
                <a:ahLst/>
                <a:cxnLst/>
                <a:rect l="l" t="t" r="r" b="b"/>
                <a:pathLst>
                  <a:path w="9858" h="49149">
                    <a:moveTo>
                      <a:pt x="0" y="49149"/>
                    </a:moveTo>
                    <a:cubicBezTo>
                      <a:pt x="6479" y="33571"/>
                      <a:pt x="9828" y="16871"/>
                      <a:pt x="9858" y="0"/>
                    </a:cubicBezTo>
                  </a:path>
                </a:pathLst>
              </a:custGeom>
              <a:noFill/>
              <a:ln w="19050">
                <a:solidFill>
                  <a:schemeClr val="tx2">
                    <a:lumMod val="40000"/>
                    <a:lumOff val="60000"/>
                  </a:schemeClr>
                </a:solidFill>
              </a:ln>
            </p:spPr>
            <p:txBody>
              <a:bodyPr/>
              <a:lstStyle/>
              <a:p>
                <a:endParaRPr lang="en-US"/>
              </a:p>
            </p:txBody>
          </p:sp>
          <p:sp>
            <p:nvSpPr>
              <p:cNvPr id="17" name="Freeform 17"/>
              <p:cNvSpPr/>
              <p:nvPr/>
            </p:nvSpPr>
            <p:spPr>
              <a:xfrm>
                <a:off x="2376868" y="1623632"/>
                <a:ext cx="27861" cy="41719"/>
              </a:xfrm>
              <a:custGeom>
                <a:avLst/>
                <a:gdLst/>
                <a:ahLst/>
                <a:cxnLst/>
                <a:rect l="l" t="t" r="r" b="b"/>
                <a:pathLst>
                  <a:path w="27861" h="41719">
                    <a:moveTo>
                      <a:pt x="27861" y="41719"/>
                    </a:moveTo>
                    <a:cubicBezTo>
                      <a:pt x="21403" y="26119"/>
                      <a:pt x="11936" y="11942"/>
                      <a:pt x="0" y="0"/>
                    </a:cubicBezTo>
                  </a:path>
                </a:pathLst>
              </a:custGeom>
              <a:noFill/>
              <a:ln w="19050">
                <a:solidFill>
                  <a:schemeClr val="tx2">
                    <a:lumMod val="40000"/>
                    <a:lumOff val="60000"/>
                  </a:schemeClr>
                </a:solidFill>
              </a:ln>
            </p:spPr>
            <p:txBody>
              <a:bodyPr/>
              <a:lstStyle/>
              <a:p>
                <a:endParaRPr lang="en-US"/>
              </a:p>
            </p:txBody>
          </p:sp>
          <p:sp>
            <p:nvSpPr>
              <p:cNvPr id="18" name="Freeform 18"/>
              <p:cNvSpPr/>
              <p:nvPr/>
            </p:nvSpPr>
            <p:spPr>
              <a:xfrm>
                <a:off x="2286000" y="1585912"/>
                <a:ext cx="49149" cy="9858"/>
              </a:xfrm>
              <a:custGeom>
                <a:avLst/>
                <a:gdLst/>
                <a:ahLst/>
                <a:cxnLst/>
                <a:rect l="l" t="t" r="r" b="b"/>
                <a:pathLst>
                  <a:path w="49149" h="9858">
                    <a:moveTo>
                      <a:pt x="49149" y="9858"/>
                    </a:moveTo>
                    <a:cubicBezTo>
                      <a:pt x="33571" y="3380"/>
                      <a:pt x="16871" y="30"/>
                      <a:pt x="0" y="0"/>
                    </a:cubicBezTo>
                  </a:path>
                </a:pathLst>
              </a:custGeom>
              <a:noFill/>
              <a:ln w="19050">
                <a:solidFill>
                  <a:schemeClr val="tx2">
                    <a:lumMod val="40000"/>
                    <a:lumOff val="60000"/>
                  </a:schemeClr>
                </a:solidFill>
              </a:ln>
            </p:spPr>
            <p:txBody>
              <a:bodyPr/>
              <a:lstStyle/>
              <a:p>
                <a:endParaRPr lang="en-US"/>
              </a:p>
            </p:txBody>
          </p:sp>
        </p:grpSp>
        <p:sp>
          <p:nvSpPr>
            <p:cNvPr id="20" name="Rectangle 20"/>
            <p:cNvSpPr/>
            <p:nvPr/>
          </p:nvSpPr>
          <p:spPr>
            <a:xfrm>
              <a:off x="2667000" y="1333500"/>
              <a:ext cx="7620000" cy="762000"/>
            </a:xfrm>
            <a:prstGeom prst="roundRect">
              <a:avLst>
                <a:gd name="adj" fmla="val 12500"/>
              </a:avLst>
            </a:prstGeom>
            <a:solidFill>
              <a:srgbClr val="FFFFFF"/>
            </a:solidFill>
            <a:ln w="19050">
              <a:solidFill>
                <a:schemeClr val="tx2">
                  <a:lumMod val="40000"/>
                  <a:lumOff val="60000"/>
                </a:schemeClr>
              </a:solidFill>
            </a:ln>
          </p:spPr>
          <p:txBody>
            <a:bodyPr/>
            <a:lstStyle/>
            <a:p>
              <a:endParaRPr lang="en-US"/>
            </a:p>
          </p:txBody>
        </p:sp>
        <p:sp>
          <p:nvSpPr>
            <p:cNvPr id="21" name="Line 21"/>
            <p:cNvSpPr/>
            <p:nvPr/>
          </p:nvSpPr>
          <p:spPr>
            <a:xfrm>
              <a:off x="2705100" y="1476375"/>
              <a:ext cx="9525" cy="476250"/>
            </a:xfrm>
            <a:custGeom>
              <a:avLst/>
              <a:gdLst/>
              <a:ahLst/>
              <a:cxnLst/>
              <a:rect l="l" t="t" r="r" b="b"/>
              <a:pathLst>
                <a:path w="9525" h="476250">
                  <a:moveTo>
                    <a:pt x="0" y="0"/>
                  </a:moveTo>
                  <a:lnTo>
                    <a:pt x="0" y="476250"/>
                  </a:lnTo>
                </a:path>
              </a:pathLst>
            </a:custGeom>
            <a:noFill/>
            <a:ln w="38100" cap="rnd">
              <a:solidFill>
                <a:schemeClr val="tx2">
                  <a:lumMod val="40000"/>
                  <a:lumOff val="60000"/>
                </a:schemeClr>
              </a:solidFill>
            </a:ln>
          </p:spPr>
          <p:txBody>
            <a:bodyPr/>
            <a:lstStyle/>
            <a:p>
              <a:endParaRPr lang="en-US"/>
            </a:p>
          </p:txBody>
        </p:sp>
        <p:grpSp>
          <p:nvGrpSpPr>
            <p:cNvPr id="26" name="Group 26"/>
            <p:cNvGrpSpPr/>
            <p:nvPr/>
          </p:nvGrpSpPr>
          <p:grpSpPr>
            <a:xfrm>
              <a:off x="2947988" y="1530350"/>
              <a:ext cx="200025" cy="187325"/>
              <a:chOff x="2947988" y="1530350"/>
              <a:chExt cx="200025" cy="187325"/>
            </a:xfrm>
          </p:grpSpPr>
          <p:sp>
            <p:nvSpPr>
              <p:cNvPr id="22" name="Freeform 22"/>
              <p:cNvSpPr/>
              <p:nvPr/>
            </p:nvSpPr>
            <p:spPr>
              <a:xfrm>
                <a:off x="2947988" y="1619250"/>
                <a:ext cx="66675" cy="88900"/>
              </a:xfrm>
              <a:custGeom>
                <a:avLst/>
                <a:gdLst/>
                <a:ahLst/>
                <a:cxnLst/>
                <a:rect l="l" t="t" r="r" b="b"/>
                <a:pathLst>
                  <a:path w="66675" h="88900">
                    <a:moveTo>
                      <a:pt x="0" y="11112"/>
                    </a:moveTo>
                    <a:cubicBezTo>
                      <a:pt x="0" y="4975"/>
                      <a:pt x="4975" y="0"/>
                      <a:pt x="11113" y="0"/>
                    </a:cubicBezTo>
                    <a:lnTo>
                      <a:pt x="55562" y="0"/>
                    </a:lnTo>
                    <a:cubicBezTo>
                      <a:pt x="61700" y="0"/>
                      <a:pt x="66675" y="4975"/>
                      <a:pt x="66675" y="11112"/>
                    </a:cubicBezTo>
                    <a:lnTo>
                      <a:pt x="66675" y="77787"/>
                    </a:lnTo>
                    <a:cubicBezTo>
                      <a:pt x="66675" y="83925"/>
                      <a:pt x="61700" y="88900"/>
                      <a:pt x="55562" y="88900"/>
                    </a:cubicBezTo>
                    <a:lnTo>
                      <a:pt x="11113" y="88900"/>
                    </a:lnTo>
                    <a:cubicBezTo>
                      <a:pt x="4975" y="88900"/>
                      <a:pt x="0" y="83925"/>
                      <a:pt x="0" y="77787"/>
                    </a:cubicBezTo>
                    <a:lnTo>
                      <a:pt x="0" y="11112"/>
                    </a:lnTo>
                  </a:path>
                </a:pathLst>
              </a:custGeom>
              <a:noFill/>
              <a:ln w="19050">
                <a:solidFill>
                  <a:schemeClr val="tx2">
                    <a:lumMod val="40000"/>
                    <a:lumOff val="60000"/>
                  </a:schemeClr>
                </a:solidFill>
              </a:ln>
            </p:spPr>
            <p:txBody>
              <a:bodyPr/>
              <a:lstStyle/>
              <a:p>
                <a:endParaRPr lang="en-US"/>
              </a:p>
            </p:txBody>
          </p:sp>
          <p:sp>
            <p:nvSpPr>
              <p:cNvPr id="23" name="Freeform 23"/>
              <p:cNvSpPr/>
              <p:nvPr/>
            </p:nvSpPr>
            <p:spPr>
              <a:xfrm>
                <a:off x="3081338" y="1574800"/>
                <a:ext cx="66675" cy="133350"/>
              </a:xfrm>
              <a:custGeom>
                <a:avLst/>
                <a:gdLst/>
                <a:ahLst/>
                <a:cxnLst/>
                <a:rect l="l" t="t" r="r" b="b"/>
                <a:pathLst>
                  <a:path w="66675" h="133350">
                    <a:moveTo>
                      <a:pt x="0" y="11112"/>
                    </a:moveTo>
                    <a:cubicBezTo>
                      <a:pt x="0" y="4975"/>
                      <a:pt x="4975" y="0"/>
                      <a:pt x="11113" y="0"/>
                    </a:cubicBezTo>
                    <a:lnTo>
                      <a:pt x="55562" y="0"/>
                    </a:lnTo>
                    <a:cubicBezTo>
                      <a:pt x="61700" y="0"/>
                      <a:pt x="66675" y="4975"/>
                      <a:pt x="66675" y="11112"/>
                    </a:cubicBezTo>
                    <a:lnTo>
                      <a:pt x="66675" y="122237"/>
                    </a:lnTo>
                    <a:cubicBezTo>
                      <a:pt x="66675" y="128375"/>
                      <a:pt x="61700" y="133350"/>
                      <a:pt x="55562" y="133350"/>
                    </a:cubicBezTo>
                    <a:lnTo>
                      <a:pt x="11113" y="133350"/>
                    </a:lnTo>
                    <a:cubicBezTo>
                      <a:pt x="4975" y="133350"/>
                      <a:pt x="0" y="128375"/>
                      <a:pt x="0" y="122237"/>
                    </a:cubicBezTo>
                    <a:lnTo>
                      <a:pt x="0" y="11112"/>
                    </a:lnTo>
                  </a:path>
                </a:pathLst>
              </a:custGeom>
              <a:noFill/>
              <a:ln w="19050">
                <a:solidFill>
                  <a:schemeClr val="tx2">
                    <a:lumMod val="40000"/>
                    <a:lumOff val="60000"/>
                  </a:schemeClr>
                </a:solidFill>
              </a:ln>
            </p:spPr>
            <p:txBody>
              <a:bodyPr/>
              <a:lstStyle/>
              <a:p>
                <a:endParaRPr lang="en-US"/>
              </a:p>
            </p:txBody>
          </p:sp>
          <p:sp>
            <p:nvSpPr>
              <p:cNvPr id="24" name="Freeform 24"/>
              <p:cNvSpPr/>
              <p:nvPr/>
            </p:nvSpPr>
            <p:spPr>
              <a:xfrm>
                <a:off x="3014662" y="1530350"/>
                <a:ext cx="66675" cy="177800"/>
              </a:xfrm>
              <a:custGeom>
                <a:avLst/>
                <a:gdLst/>
                <a:ahLst/>
                <a:cxnLst/>
                <a:rect l="l" t="t" r="r" b="b"/>
                <a:pathLst>
                  <a:path w="66675" h="177800">
                    <a:moveTo>
                      <a:pt x="0" y="11113"/>
                    </a:moveTo>
                    <a:cubicBezTo>
                      <a:pt x="0" y="4975"/>
                      <a:pt x="4975" y="0"/>
                      <a:pt x="11113" y="0"/>
                    </a:cubicBezTo>
                    <a:lnTo>
                      <a:pt x="55562" y="0"/>
                    </a:lnTo>
                    <a:cubicBezTo>
                      <a:pt x="61700" y="0"/>
                      <a:pt x="66675" y="4975"/>
                      <a:pt x="66675" y="11113"/>
                    </a:cubicBezTo>
                    <a:lnTo>
                      <a:pt x="66675" y="166688"/>
                    </a:lnTo>
                    <a:cubicBezTo>
                      <a:pt x="66675" y="172825"/>
                      <a:pt x="61700" y="177800"/>
                      <a:pt x="55562" y="177800"/>
                    </a:cubicBezTo>
                    <a:lnTo>
                      <a:pt x="11113" y="177800"/>
                    </a:lnTo>
                    <a:cubicBezTo>
                      <a:pt x="4975" y="177800"/>
                      <a:pt x="0" y="172825"/>
                      <a:pt x="0" y="166688"/>
                    </a:cubicBezTo>
                    <a:lnTo>
                      <a:pt x="0" y="11113"/>
                    </a:lnTo>
                  </a:path>
                </a:pathLst>
              </a:custGeom>
              <a:noFill/>
              <a:ln w="19050">
                <a:solidFill>
                  <a:schemeClr val="tx2">
                    <a:lumMod val="40000"/>
                    <a:lumOff val="60000"/>
                  </a:schemeClr>
                </a:solidFill>
              </a:ln>
            </p:spPr>
            <p:txBody>
              <a:bodyPr/>
              <a:lstStyle/>
              <a:p>
                <a:endParaRPr lang="en-US"/>
              </a:p>
            </p:txBody>
          </p:sp>
          <p:sp>
            <p:nvSpPr>
              <p:cNvPr id="25" name="Freeform 25"/>
              <p:cNvSpPr/>
              <p:nvPr/>
            </p:nvSpPr>
            <p:spPr>
              <a:xfrm>
                <a:off x="2959100" y="1708150"/>
                <a:ext cx="155575" cy="9525"/>
              </a:xfrm>
              <a:custGeom>
                <a:avLst/>
                <a:gdLst/>
                <a:ahLst/>
                <a:cxnLst/>
                <a:rect l="l" t="t" r="r" b="b"/>
                <a:pathLst>
                  <a:path w="155575" h="9525">
                    <a:moveTo>
                      <a:pt x="0" y="0"/>
                    </a:moveTo>
                    <a:lnTo>
                      <a:pt x="155575" y="0"/>
                    </a:lnTo>
                  </a:path>
                </a:pathLst>
              </a:custGeom>
              <a:noFill/>
              <a:ln w="19050">
                <a:solidFill>
                  <a:schemeClr val="tx2">
                    <a:lumMod val="40000"/>
                    <a:lumOff val="60000"/>
                  </a:schemeClr>
                </a:solidFill>
              </a:ln>
            </p:spPr>
            <p:txBody>
              <a:bodyPr/>
              <a:lstStyle/>
              <a:p>
                <a:endParaRPr lang="en-US"/>
              </a:p>
            </p:txBody>
          </p:sp>
        </p:grpSp>
        <p:sp>
          <p:nvSpPr>
            <p:cNvPr id="27" name="TextBox 27"/>
            <p:cNvSpPr txBox="1"/>
            <p:nvPr/>
          </p:nvSpPr>
          <p:spPr>
            <a:xfrm>
              <a:off x="3276600" y="1514475"/>
              <a:ext cx="2430399" cy="304800"/>
            </a:xfrm>
            <a:prstGeom prst="rect">
              <a:avLst/>
            </a:prstGeom>
            <a:noFill/>
            <a:ln>
              <a:noFill/>
            </a:ln>
          </p:spPr>
          <p:txBody>
            <a:bodyPr wrap="none" lIns="0" tIns="0" rIns="0" bIns="0" anchor="t" anchorCtr="0">
              <a:spAutoFit/>
            </a:bodyPr>
            <a:lstStyle/>
            <a:p>
              <a:pPr algn="l"/>
              <a:r>
                <a:rPr lang="zh-CN" sz="1200" b="1" dirty="0">
                  <a:solidFill>
                    <a:srgbClr val="009CDE"/>
                  </a:solidFill>
                  <a:latin typeface="Consolas"/>
                  <a:ea typeface="Microsoft YaHei"/>
                  <a:cs typeface="Consolas"/>
                </a:rPr>
                <a:t>imf-ra-charts</a:t>
              </a:r>
              <a:r>
                <a:rPr lang="zh-CN" sz="1500" b="1" dirty="0">
                  <a:solidFill>
                    <a:srgbClr val="004C97"/>
                  </a:solidFill>
                  <a:latin typeface="Arial Black"/>
                  <a:ea typeface="Microsoft YaHei"/>
                  <a:cs typeface="Arial Black"/>
                </a:rPr>
                <a:t> wiring</a:t>
              </a:r>
            </a:p>
          </p:txBody>
        </p:sp>
        <p:sp>
          <p:nvSpPr>
            <p:cNvPr id="28" name="TextBox 28"/>
            <p:cNvSpPr txBox="1"/>
            <p:nvPr/>
          </p:nvSpPr>
          <p:spPr>
            <a:xfrm>
              <a:off x="3283268" y="1799749"/>
              <a:ext cx="6247590"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Connect to the internal chart tool — close the discovery → fetch → chart loop end-to-end.</a:t>
              </a:r>
            </a:p>
          </p:txBody>
        </p:sp>
        <p:sp>
          <p:nvSpPr>
            <p:cNvPr id="29" name="Rectangle 29"/>
            <p:cNvSpPr/>
            <p:nvPr/>
          </p:nvSpPr>
          <p:spPr>
            <a:xfrm>
              <a:off x="9239250" y="1447800"/>
              <a:ext cx="952500" cy="247650"/>
            </a:xfrm>
            <a:prstGeom prst="roundRect">
              <a:avLst>
                <a:gd name="adj" fmla="val 50000"/>
              </a:avLst>
            </a:prstGeom>
            <a:solidFill>
              <a:srgbClr val="F1F5F9"/>
            </a:solidFill>
            <a:ln>
              <a:noFill/>
            </a:ln>
          </p:spPr>
          <p:txBody>
            <a:bodyPr/>
            <a:lstStyle/>
            <a:p>
              <a:endParaRPr lang="en-US"/>
            </a:p>
          </p:txBody>
        </p:sp>
        <p:sp>
          <p:nvSpPr>
            <p:cNvPr id="30" name="TextBox 30"/>
            <p:cNvSpPr txBox="1"/>
            <p:nvPr/>
          </p:nvSpPr>
          <p:spPr>
            <a:xfrm>
              <a:off x="9328374" y="1530191"/>
              <a:ext cx="774251" cy="126958"/>
            </a:xfrm>
            <a:prstGeom prst="rect">
              <a:avLst/>
            </a:prstGeom>
            <a:noFill/>
            <a:ln>
              <a:noFill/>
            </a:ln>
          </p:spPr>
          <p:txBody>
            <a:bodyPr wrap="none" lIns="0" tIns="0" rIns="0" bIns="0" anchor="t" anchorCtr="0">
              <a:spAutoFit/>
            </a:bodyPr>
            <a:lstStyle/>
            <a:p>
              <a:pPr algn="ctr"/>
              <a:r>
                <a:rPr lang="en-US" altLang="zh-CN" sz="825" b="1" dirty="0">
                  <a:solidFill>
                    <a:schemeClr val="tx2">
                      <a:lumMod val="40000"/>
                      <a:lumOff val="60000"/>
                    </a:schemeClr>
                  </a:solidFill>
                  <a:latin typeface="Arial"/>
                  <a:ea typeface="Microsoft YaHei"/>
                  <a:cs typeface="Arial"/>
                </a:rPr>
                <a:t>COMING SOON</a:t>
              </a:r>
              <a:endParaRPr lang="zh-CN" sz="825" b="1" dirty="0">
                <a:solidFill>
                  <a:schemeClr val="tx2">
                    <a:lumMod val="40000"/>
                    <a:lumOff val="60000"/>
                  </a:schemeClr>
                </a:solidFill>
                <a:latin typeface="Arial"/>
                <a:ea typeface="Microsoft YaHei"/>
                <a:cs typeface="Arial"/>
              </a:endParaRPr>
            </a:p>
          </p:txBody>
        </p:sp>
      </p:grpSp>
      <p:grpSp>
        <p:nvGrpSpPr>
          <p:cNvPr id="45" name="Group 45"/>
          <p:cNvGrpSpPr/>
          <p:nvPr/>
        </p:nvGrpSpPr>
        <p:grpSpPr>
          <a:xfrm>
            <a:off x="1808121" y="2286000"/>
            <a:ext cx="8478879" cy="762000"/>
            <a:chOff x="1808121" y="2286000"/>
            <a:chExt cx="8478879" cy="762000"/>
          </a:xfrm>
        </p:grpSpPr>
        <p:sp>
          <p:nvSpPr>
            <p:cNvPr id="32" name="TextBox 32"/>
            <p:cNvSpPr txBox="1"/>
            <p:nvPr/>
          </p:nvSpPr>
          <p:spPr>
            <a:xfrm>
              <a:off x="1808121" y="2618899"/>
              <a:ext cx="299761" cy="150041"/>
            </a:xfrm>
            <a:prstGeom prst="rect">
              <a:avLst/>
            </a:prstGeom>
            <a:noFill/>
            <a:ln>
              <a:noFill/>
            </a:ln>
          </p:spPr>
          <p:txBody>
            <a:bodyPr wrap="none" lIns="0" tIns="0" rIns="0" bIns="0" anchor="t" anchorCtr="0">
              <a:spAutoFit/>
            </a:bodyPr>
            <a:lstStyle/>
            <a:p>
              <a:pPr algn="r"/>
              <a:r>
                <a:rPr lang="zh-CN" sz="975" b="1" dirty="0">
                  <a:solidFill>
                    <a:srgbClr val="5BAFCA"/>
                  </a:solidFill>
                  <a:latin typeface="Arial"/>
                  <a:ea typeface="Microsoft YaHei"/>
                  <a:cs typeface="Arial"/>
                </a:rPr>
                <a:t>Then</a:t>
              </a:r>
            </a:p>
          </p:txBody>
        </p:sp>
        <p:sp>
          <p:nvSpPr>
            <p:cNvPr id="33" name="Ellipse 33"/>
            <p:cNvSpPr/>
            <p:nvPr/>
          </p:nvSpPr>
          <p:spPr>
            <a:xfrm>
              <a:off x="2152650" y="2533650"/>
              <a:ext cx="266700" cy="266700"/>
            </a:xfrm>
            <a:prstGeom prst="ellipse">
              <a:avLst/>
            </a:prstGeom>
            <a:solidFill>
              <a:srgbClr val="EAF6FD"/>
            </a:solidFill>
            <a:ln w="28575">
              <a:solidFill>
                <a:srgbClr val="5BAFCA"/>
              </a:solidFill>
            </a:ln>
          </p:spPr>
          <p:txBody>
            <a:bodyPr/>
            <a:lstStyle/>
            <a:p>
              <a:endParaRPr lang="en-US"/>
            </a:p>
          </p:txBody>
        </p:sp>
        <p:sp>
          <p:nvSpPr>
            <p:cNvPr id="34" name="Ellipse 34"/>
            <p:cNvSpPr/>
            <p:nvPr/>
          </p:nvSpPr>
          <p:spPr>
            <a:xfrm>
              <a:off x="2238375" y="2619375"/>
              <a:ext cx="95250" cy="95250"/>
            </a:xfrm>
            <a:prstGeom prst="ellipse">
              <a:avLst/>
            </a:prstGeom>
            <a:solidFill>
              <a:srgbClr val="5BAFCA"/>
            </a:solidFill>
            <a:ln>
              <a:noFill/>
            </a:ln>
          </p:spPr>
          <p:txBody>
            <a:bodyPr/>
            <a:lstStyle/>
            <a:p>
              <a:endParaRPr lang="en-US"/>
            </a:p>
          </p:txBody>
        </p:sp>
        <p:sp>
          <p:nvSpPr>
            <p:cNvPr id="35" name="Rectangle 35"/>
            <p:cNvSpPr/>
            <p:nvPr/>
          </p:nvSpPr>
          <p:spPr>
            <a:xfrm>
              <a:off x="2667000" y="2286000"/>
              <a:ext cx="7620000" cy="762000"/>
            </a:xfrm>
            <a:prstGeom prst="roundRect">
              <a:avLst>
                <a:gd name="adj" fmla="val 12500"/>
              </a:avLst>
            </a:prstGeom>
            <a:solidFill>
              <a:srgbClr val="FFFFFF"/>
            </a:solidFill>
            <a:ln w="14288">
              <a:solidFill>
                <a:srgbClr val="5BAFCA"/>
              </a:solidFill>
            </a:ln>
          </p:spPr>
          <p:txBody>
            <a:bodyPr/>
            <a:lstStyle/>
            <a:p>
              <a:endParaRPr lang="en-US"/>
            </a:p>
          </p:txBody>
        </p:sp>
        <p:sp>
          <p:nvSpPr>
            <p:cNvPr id="36" name="Line 36"/>
            <p:cNvSpPr/>
            <p:nvPr/>
          </p:nvSpPr>
          <p:spPr>
            <a:xfrm>
              <a:off x="2705100" y="2428875"/>
              <a:ext cx="9525" cy="476250"/>
            </a:xfrm>
            <a:custGeom>
              <a:avLst/>
              <a:gdLst/>
              <a:ahLst/>
              <a:cxnLst/>
              <a:rect l="l" t="t" r="r" b="b"/>
              <a:pathLst>
                <a:path w="9525" h="476250">
                  <a:moveTo>
                    <a:pt x="0" y="0"/>
                  </a:moveTo>
                  <a:lnTo>
                    <a:pt x="0" y="476250"/>
                  </a:lnTo>
                </a:path>
              </a:pathLst>
            </a:custGeom>
            <a:noFill/>
            <a:ln w="38100" cap="rnd">
              <a:solidFill>
                <a:srgbClr val="5BAFCA"/>
              </a:solidFill>
            </a:ln>
          </p:spPr>
          <p:txBody>
            <a:bodyPr/>
            <a:lstStyle/>
            <a:p>
              <a:endParaRPr lang="en-US"/>
            </a:p>
          </p:txBody>
        </p:sp>
        <p:grpSp>
          <p:nvGrpSpPr>
            <p:cNvPr id="40" name="Group 40"/>
            <p:cNvGrpSpPr/>
            <p:nvPr/>
          </p:nvGrpSpPr>
          <p:grpSpPr>
            <a:xfrm>
              <a:off x="2959100" y="2471738"/>
              <a:ext cx="177800" cy="200024"/>
              <a:chOff x="2959100" y="2471738"/>
              <a:chExt cx="177800" cy="200024"/>
            </a:xfrm>
          </p:grpSpPr>
          <p:sp>
            <p:nvSpPr>
              <p:cNvPr id="37" name="Freeform 37"/>
              <p:cNvSpPr/>
              <p:nvPr/>
            </p:nvSpPr>
            <p:spPr>
              <a:xfrm>
                <a:off x="2959100" y="2471738"/>
                <a:ext cx="177800" cy="66675"/>
              </a:xfrm>
              <a:custGeom>
                <a:avLst/>
                <a:gdLst/>
                <a:ahLst/>
                <a:cxnLst/>
                <a:rect l="l" t="t" r="r" b="b"/>
                <a:pathLst>
                  <a:path w="177800" h="66675">
                    <a:moveTo>
                      <a:pt x="0" y="33338"/>
                    </a:moveTo>
                    <a:cubicBezTo>
                      <a:pt x="0" y="51749"/>
                      <a:pt x="39802" y="66675"/>
                      <a:pt x="88900" y="66675"/>
                    </a:cubicBezTo>
                    <a:cubicBezTo>
                      <a:pt x="137998" y="66675"/>
                      <a:pt x="177800" y="51749"/>
                      <a:pt x="177800" y="33338"/>
                    </a:cubicBezTo>
                    <a:cubicBezTo>
                      <a:pt x="177800" y="14926"/>
                      <a:pt x="137998" y="0"/>
                      <a:pt x="88900" y="0"/>
                    </a:cubicBezTo>
                    <a:cubicBezTo>
                      <a:pt x="39802" y="0"/>
                      <a:pt x="0" y="14926"/>
                      <a:pt x="0" y="33338"/>
                    </a:cubicBezTo>
                  </a:path>
                </a:pathLst>
              </a:custGeom>
              <a:noFill/>
              <a:ln w="19050">
                <a:solidFill>
                  <a:srgbClr val="5BAFCA"/>
                </a:solidFill>
              </a:ln>
            </p:spPr>
            <p:txBody>
              <a:bodyPr/>
              <a:lstStyle/>
              <a:p>
                <a:endParaRPr lang="en-US"/>
              </a:p>
            </p:txBody>
          </p:sp>
          <p:sp>
            <p:nvSpPr>
              <p:cNvPr id="38" name="Freeform 38"/>
              <p:cNvSpPr/>
              <p:nvPr/>
            </p:nvSpPr>
            <p:spPr>
              <a:xfrm>
                <a:off x="2959100" y="2505075"/>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5BAFCA"/>
                </a:solidFill>
              </a:ln>
            </p:spPr>
            <p:txBody>
              <a:bodyPr/>
              <a:lstStyle/>
              <a:p>
                <a:endParaRPr lang="en-US"/>
              </a:p>
            </p:txBody>
          </p:sp>
          <p:sp>
            <p:nvSpPr>
              <p:cNvPr id="39" name="Freeform 39"/>
              <p:cNvSpPr/>
              <p:nvPr/>
            </p:nvSpPr>
            <p:spPr>
              <a:xfrm>
                <a:off x="2959100" y="2571750"/>
                <a:ext cx="177800" cy="100012"/>
              </a:xfrm>
              <a:custGeom>
                <a:avLst/>
                <a:gdLst/>
                <a:ahLst/>
                <a:cxnLst/>
                <a:rect l="l" t="t" r="r" b="b"/>
                <a:pathLst>
                  <a:path w="177800" h="100012">
                    <a:moveTo>
                      <a:pt x="0" y="0"/>
                    </a:moveTo>
                    <a:lnTo>
                      <a:pt x="0" y="66675"/>
                    </a:lnTo>
                    <a:cubicBezTo>
                      <a:pt x="0" y="85087"/>
                      <a:pt x="39802" y="100012"/>
                      <a:pt x="88900" y="100012"/>
                    </a:cubicBezTo>
                    <a:cubicBezTo>
                      <a:pt x="137998" y="100012"/>
                      <a:pt x="177800" y="85087"/>
                      <a:pt x="177800" y="66675"/>
                    </a:cubicBezTo>
                    <a:lnTo>
                      <a:pt x="177800" y="0"/>
                    </a:lnTo>
                  </a:path>
                </a:pathLst>
              </a:custGeom>
              <a:noFill/>
              <a:ln w="19050">
                <a:solidFill>
                  <a:srgbClr val="5BAFCA"/>
                </a:solidFill>
              </a:ln>
            </p:spPr>
            <p:txBody>
              <a:bodyPr/>
              <a:lstStyle/>
              <a:p>
                <a:endParaRPr lang="en-US"/>
              </a:p>
            </p:txBody>
          </p:sp>
        </p:grpSp>
        <p:sp>
          <p:nvSpPr>
            <p:cNvPr id="41" name="TextBox 41"/>
            <p:cNvSpPr txBox="1"/>
            <p:nvPr/>
          </p:nvSpPr>
          <p:spPr>
            <a:xfrm>
              <a:off x="3276600" y="2466975"/>
              <a:ext cx="2859565" cy="230832"/>
            </a:xfrm>
            <a:prstGeom prst="rect">
              <a:avLst/>
            </a:prstGeom>
            <a:noFill/>
            <a:ln>
              <a:noFill/>
            </a:ln>
          </p:spPr>
          <p:txBody>
            <a:bodyPr wrap="none" lIns="0" tIns="0" rIns="0" bIns="0" anchor="t" anchorCtr="0">
              <a:spAutoFit/>
            </a:bodyPr>
            <a:lstStyle/>
            <a:p>
              <a:pPr algn="l"/>
              <a:r>
                <a:rPr lang="zh-CN" sz="1500" b="1" dirty="0">
                  <a:solidFill>
                    <a:srgbClr val="5BAFCA"/>
                  </a:solidFill>
                  <a:latin typeface="Arial Black"/>
                  <a:ea typeface="Microsoft YaHei"/>
                  <a:cs typeface="Arial Black"/>
                </a:rPr>
                <a:t>More sources beyond iData</a:t>
              </a:r>
            </a:p>
          </p:txBody>
        </p:sp>
        <p:sp>
          <p:nvSpPr>
            <p:cNvPr id="42" name="TextBox 42"/>
            <p:cNvSpPr txBox="1"/>
            <p:nvPr/>
          </p:nvSpPr>
          <p:spPr>
            <a:xfrm>
              <a:off x="3283268" y="2752249"/>
              <a:ext cx="4599016" cy="150041"/>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Datastream · </a:t>
              </a:r>
              <a:r>
                <a:rPr lang="en-US" altLang="zh-CN" sz="975" dirty="0">
                  <a:solidFill>
                    <a:srgbClr val="5B6470"/>
                  </a:solidFill>
                  <a:latin typeface="Arial"/>
                  <a:ea typeface="Microsoft YaHei"/>
                  <a:cs typeface="Arial"/>
                </a:rPr>
                <a:t>Dealogic</a:t>
              </a:r>
              <a:r>
                <a:rPr lang="zh-CN" sz="975" dirty="0">
                  <a:solidFill>
                    <a:srgbClr val="5B6470"/>
                  </a:solidFill>
                  <a:latin typeface="Arial"/>
                  <a:ea typeface="Microsoft YaHei"/>
                  <a:cs typeface="Arial"/>
                </a:rPr>
                <a:t> — added as new </a:t>
              </a:r>
              <a:r>
                <a:rPr lang="zh-CN" sz="975" dirty="0">
                  <a:solidFill>
                    <a:srgbClr val="009CDE"/>
                  </a:solidFill>
                  <a:latin typeface="Consolas"/>
                  <a:ea typeface="Microsoft YaHei"/>
                  <a:cs typeface="Consolas"/>
                </a:rPr>
                <a:t>imf-ra-*</a:t>
              </a:r>
              <a:r>
                <a:rPr lang="zh-CN" sz="975" dirty="0">
                  <a:solidFill>
                    <a:srgbClr val="5B6470"/>
                  </a:solidFill>
                  <a:latin typeface="Arial"/>
                  <a:ea typeface="Microsoft YaHei"/>
                  <a:cs typeface="Arial"/>
                </a:rPr>
                <a:t> workers, no rework of the chain.</a:t>
              </a:r>
            </a:p>
          </p:txBody>
        </p:sp>
        <p:sp>
          <p:nvSpPr>
            <p:cNvPr id="43" name="Rectangle 43"/>
            <p:cNvSpPr/>
            <p:nvPr/>
          </p:nvSpPr>
          <p:spPr>
            <a:xfrm>
              <a:off x="9239250" y="2400300"/>
              <a:ext cx="952500" cy="247650"/>
            </a:xfrm>
            <a:prstGeom prst="roundRect">
              <a:avLst>
                <a:gd name="adj" fmla="val 50000"/>
              </a:avLst>
            </a:prstGeom>
            <a:solidFill>
              <a:srgbClr val="F1F5F9"/>
            </a:solidFill>
            <a:ln>
              <a:noFill/>
            </a:ln>
          </p:spPr>
          <p:txBody>
            <a:bodyPr/>
            <a:lstStyle/>
            <a:p>
              <a:endParaRPr lang="en-US"/>
            </a:p>
          </p:txBody>
        </p:sp>
        <p:sp>
          <p:nvSpPr>
            <p:cNvPr id="44" name="TextBox 44"/>
            <p:cNvSpPr txBox="1"/>
            <p:nvPr/>
          </p:nvSpPr>
          <p:spPr>
            <a:xfrm>
              <a:off x="9459020" y="2482691"/>
              <a:ext cx="512961" cy="126958"/>
            </a:xfrm>
            <a:prstGeom prst="rect">
              <a:avLst/>
            </a:prstGeom>
            <a:noFill/>
            <a:ln>
              <a:noFill/>
            </a:ln>
          </p:spPr>
          <p:txBody>
            <a:bodyPr wrap="none" lIns="0" tIns="0" rIns="0" bIns="0" anchor="t" anchorCtr="0">
              <a:spAutoFit/>
            </a:bodyPr>
            <a:lstStyle/>
            <a:p>
              <a:pPr algn="ctr"/>
              <a:r>
                <a:rPr lang="zh-CN" sz="825" b="1" dirty="0">
                  <a:solidFill>
                    <a:srgbClr val="5BAFCA"/>
                  </a:solidFill>
                  <a:latin typeface="Arial"/>
                  <a:ea typeface="Microsoft YaHei"/>
                  <a:cs typeface="Arial"/>
                </a:rPr>
                <a:t>PLANNED</a:t>
              </a:r>
            </a:p>
          </p:txBody>
        </p:sp>
      </p:grpSp>
      <p:grpSp>
        <p:nvGrpSpPr>
          <p:cNvPr id="72" name="Group 72"/>
          <p:cNvGrpSpPr/>
          <p:nvPr/>
        </p:nvGrpSpPr>
        <p:grpSpPr>
          <a:xfrm>
            <a:off x="1589706" y="4191000"/>
            <a:ext cx="8697294" cy="762000"/>
            <a:chOff x="1589706" y="4191000"/>
            <a:chExt cx="8697294" cy="762000"/>
          </a:xfrm>
        </p:grpSpPr>
        <p:sp>
          <p:nvSpPr>
            <p:cNvPr id="62" name="TextBox 62"/>
            <p:cNvSpPr txBox="1"/>
            <p:nvPr/>
          </p:nvSpPr>
          <p:spPr>
            <a:xfrm>
              <a:off x="1589706" y="4523899"/>
              <a:ext cx="518177" cy="198120"/>
            </a:xfrm>
            <a:prstGeom prst="rect">
              <a:avLst/>
            </a:prstGeom>
            <a:noFill/>
            <a:ln>
              <a:noFill/>
            </a:ln>
          </p:spPr>
          <p:txBody>
            <a:bodyPr wrap="none" lIns="0" tIns="0" rIns="0" bIns="0" anchor="t" anchorCtr="0">
              <a:spAutoFit/>
            </a:bodyPr>
            <a:lstStyle/>
            <a:p>
              <a:pPr algn="r"/>
              <a:r>
                <a:rPr lang="zh-CN" sz="975" b="1" dirty="0">
                  <a:solidFill>
                    <a:srgbClr val="5B6470"/>
                  </a:solidFill>
                  <a:latin typeface="Arial"/>
                  <a:ea typeface="Microsoft YaHei"/>
                  <a:cs typeface="Arial"/>
                </a:rPr>
                <a:t>Future</a:t>
              </a:r>
            </a:p>
          </p:txBody>
        </p:sp>
        <p:sp>
          <p:nvSpPr>
            <p:cNvPr id="63" name="Ellipse 63"/>
            <p:cNvSpPr/>
            <p:nvPr/>
          </p:nvSpPr>
          <p:spPr>
            <a:xfrm>
              <a:off x="2152650" y="4438650"/>
              <a:ext cx="266700" cy="266700"/>
            </a:xfrm>
            <a:prstGeom prst="ellipse">
              <a:avLst/>
            </a:prstGeom>
            <a:solidFill>
              <a:srgbClr val="EAF6FD"/>
            </a:solidFill>
            <a:ln w="28575">
              <a:solidFill>
                <a:srgbClr val="9AA3AE"/>
              </a:solidFill>
            </a:ln>
          </p:spPr>
          <p:txBody>
            <a:bodyPr/>
            <a:lstStyle/>
            <a:p>
              <a:endParaRPr lang="en-US"/>
            </a:p>
          </p:txBody>
        </p:sp>
        <p:sp>
          <p:nvSpPr>
            <p:cNvPr id="64" name="Ellipse 64"/>
            <p:cNvSpPr/>
            <p:nvPr/>
          </p:nvSpPr>
          <p:spPr>
            <a:xfrm>
              <a:off x="2238375" y="4524375"/>
              <a:ext cx="95250" cy="95250"/>
            </a:xfrm>
            <a:prstGeom prst="ellipse">
              <a:avLst/>
            </a:prstGeom>
            <a:solidFill>
              <a:srgbClr val="9AA3AE"/>
            </a:solidFill>
            <a:ln>
              <a:noFill/>
            </a:ln>
          </p:spPr>
          <p:txBody>
            <a:bodyPr/>
            <a:lstStyle/>
            <a:p>
              <a:endParaRPr lang="en-US"/>
            </a:p>
          </p:txBody>
        </p:sp>
        <p:sp>
          <p:nvSpPr>
            <p:cNvPr id="65" name="Rectangle 65"/>
            <p:cNvSpPr/>
            <p:nvPr/>
          </p:nvSpPr>
          <p:spPr>
            <a:xfrm>
              <a:off x="2667000" y="4191000"/>
              <a:ext cx="7620000" cy="762000"/>
            </a:xfrm>
            <a:prstGeom prst="roundRect">
              <a:avLst>
                <a:gd name="adj" fmla="val 12500"/>
              </a:avLst>
            </a:prstGeom>
            <a:solidFill>
              <a:srgbClr val="FFFFFF"/>
            </a:solidFill>
            <a:ln w="14288">
              <a:solidFill>
                <a:srgbClr val="CDD7E2"/>
              </a:solidFill>
            </a:ln>
          </p:spPr>
          <p:txBody>
            <a:bodyPr/>
            <a:lstStyle/>
            <a:p>
              <a:endParaRPr lang="en-US"/>
            </a:p>
          </p:txBody>
        </p:sp>
        <p:sp>
          <p:nvSpPr>
            <p:cNvPr id="66" name="Line 66"/>
            <p:cNvSpPr/>
            <p:nvPr/>
          </p:nvSpPr>
          <p:spPr>
            <a:xfrm>
              <a:off x="2705100" y="4333875"/>
              <a:ext cx="9525" cy="476250"/>
            </a:xfrm>
            <a:custGeom>
              <a:avLst/>
              <a:gdLst/>
              <a:ahLst/>
              <a:cxnLst/>
              <a:rect l="l" t="t" r="r" b="b"/>
              <a:pathLst>
                <a:path w="9525" h="476250">
                  <a:moveTo>
                    <a:pt x="0" y="0"/>
                  </a:moveTo>
                  <a:lnTo>
                    <a:pt x="0" y="476250"/>
                  </a:lnTo>
                </a:path>
              </a:pathLst>
            </a:custGeom>
            <a:noFill/>
            <a:ln w="38100" cap="rnd">
              <a:solidFill>
                <a:srgbClr val="9AA3AE"/>
              </a:solidFill>
            </a:ln>
          </p:spPr>
          <p:txBody>
            <a:bodyPr/>
            <a:lstStyle/>
            <a:p>
              <a:endParaRPr lang="en-US"/>
            </a:p>
          </p:txBody>
        </p:sp>
        <p:sp>
          <p:nvSpPr>
            <p:cNvPr id="67" name="Freeform 67"/>
            <p:cNvSpPr/>
            <p:nvPr/>
          </p:nvSpPr>
          <p:spPr>
            <a:xfrm>
              <a:off x="2970212" y="4398962"/>
              <a:ext cx="155575" cy="177800"/>
            </a:xfrm>
            <a:custGeom>
              <a:avLst/>
              <a:gdLst/>
              <a:ahLst/>
              <a:cxnLst/>
              <a:rect l="l" t="t" r="r" b="b"/>
              <a:pathLst>
                <a:path w="155575" h="177800">
                  <a:moveTo>
                    <a:pt x="0" y="100012"/>
                  </a:moveTo>
                  <a:lnTo>
                    <a:pt x="155575" y="100012"/>
                  </a:lnTo>
                  <a:lnTo>
                    <a:pt x="155575" y="0"/>
                  </a:lnTo>
                  <a:lnTo>
                    <a:pt x="0" y="0"/>
                  </a:lnTo>
                  <a:lnTo>
                    <a:pt x="0" y="177800"/>
                  </a:lnTo>
                </a:path>
              </a:pathLst>
            </a:custGeom>
            <a:noFill/>
            <a:ln w="19050">
              <a:solidFill>
                <a:srgbClr val="5B6470"/>
              </a:solidFill>
            </a:ln>
          </p:spPr>
          <p:txBody>
            <a:bodyPr/>
            <a:lstStyle/>
            <a:p>
              <a:endParaRPr lang="en-US"/>
            </a:p>
          </p:txBody>
        </p:sp>
        <p:sp>
          <p:nvSpPr>
            <p:cNvPr id="68" name="TextBox 68"/>
            <p:cNvSpPr txBox="1"/>
            <p:nvPr/>
          </p:nvSpPr>
          <p:spPr>
            <a:xfrm>
              <a:off x="3276600" y="4371975"/>
              <a:ext cx="2717935" cy="304800"/>
            </a:xfrm>
            <a:prstGeom prst="rect">
              <a:avLst/>
            </a:prstGeom>
            <a:noFill/>
            <a:ln>
              <a:noFill/>
            </a:ln>
          </p:spPr>
          <p:txBody>
            <a:bodyPr wrap="none" lIns="0" tIns="0" rIns="0" bIns="0" anchor="t" anchorCtr="0">
              <a:spAutoFit/>
            </a:bodyPr>
            <a:lstStyle/>
            <a:p>
              <a:pPr algn="l"/>
              <a:r>
                <a:rPr lang="zh-CN" sz="1500" b="1" dirty="0">
                  <a:solidFill>
                    <a:srgbClr val="334155"/>
                  </a:solidFill>
                  <a:latin typeface="Arial Black"/>
                  <a:ea typeface="Microsoft YaHei"/>
                  <a:cs typeface="Arial Black"/>
                </a:rPr>
                <a:t>Downstream automation</a:t>
              </a:r>
            </a:p>
          </p:txBody>
        </p:sp>
        <p:sp>
          <p:nvSpPr>
            <p:cNvPr id="69" name="TextBox 69"/>
            <p:cNvSpPr txBox="1"/>
            <p:nvPr/>
          </p:nvSpPr>
          <p:spPr>
            <a:xfrm>
              <a:off x="3283268" y="4657249"/>
              <a:ext cx="4873442" cy="198120"/>
            </a:xfrm>
            <a:prstGeom prst="rect">
              <a:avLst/>
            </a:prstGeom>
            <a:noFill/>
            <a:ln>
              <a:noFill/>
            </a:ln>
          </p:spPr>
          <p:txBody>
            <a:bodyPr wrap="none" lIns="0" tIns="0" rIns="0" bIns="0" anchor="t" anchorCtr="0">
              <a:spAutoFit/>
            </a:bodyPr>
            <a:lstStyle/>
            <a:p>
              <a:pPr algn="l"/>
              <a:r>
                <a:rPr lang="zh-CN" sz="975" dirty="0">
                  <a:solidFill>
                    <a:srgbClr val="5B6470"/>
                  </a:solidFill>
                  <a:latin typeface="Arial"/>
                  <a:ea typeface="Microsoft YaHei"/>
                  <a:cs typeface="Arial"/>
                </a:rPr>
                <a:t>Notebook templates · reusable modules · scheduled refresh pipelines.</a:t>
              </a:r>
            </a:p>
          </p:txBody>
        </p:sp>
        <p:sp>
          <p:nvSpPr>
            <p:cNvPr id="70" name="Rectangle 70"/>
            <p:cNvSpPr/>
            <p:nvPr/>
          </p:nvSpPr>
          <p:spPr>
            <a:xfrm>
              <a:off x="9239250" y="4305300"/>
              <a:ext cx="952500" cy="247650"/>
            </a:xfrm>
            <a:prstGeom prst="roundRect">
              <a:avLst>
                <a:gd name="adj" fmla="val 50000"/>
              </a:avLst>
            </a:prstGeom>
            <a:solidFill>
              <a:srgbClr val="F1F5F9"/>
            </a:solidFill>
            <a:ln>
              <a:noFill/>
            </a:ln>
          </p:spPr>
          <p:txBody>
            <a:bodyPr/>
            <a:lstStyle/>
            <a:p>
              <a:endParaRPr lang="en-US"/>
            </a:p>
          </p:txBody>
        </p:sp>
        <p:sp>
          <p:nvSpPr>
            <p:cNvPr id="71" name="TextBox 71"/>
            <p:cNvSpPr txBox="1"/>
            <p:nvPr/>
          </p:nvSpPr>
          <p:spPr>
            <a:xfrm>
              <a:off x="9496271" y="4387691"/>
              <a:ext cx="438457" cy="167640"/>
            </a:xfrm>
            <a:prstGeom prst="rect">
              <a:avLst/>
            </a:prstGeom>
            <a:noFill/>
            <a:ln>
              <a:noFill/>
            </a:ln>
          </p:spPr>
          <p:txBody>
            <a:bodyPr wrap="none" lIns="0" tIns="0" rIns="0" bIns="0" anchor="t" anchorCtr="0">
              <a:spAutoFit/>
            </a:bodyPr>
            <a:lstStyle/>
            <a:p>
              <a:pPr algn="ctr"/>
              <a:r>
                <a:rPr lang="zh-CN" sz="825" b="1" dirty="0">
                  <a:solidFill>
                    <a:srgbClr val="5B6470"/>
                  </a:solidFill>
                  <a:latin typeface="Arial"/>
                  <a:ea typeface="Microsoft YaHei"/>
                  <a:cs typeface="Arial"/>
                </a:rPr>
                <a:t>FUTURE</a:t>
              </a:r>
            </a:p>
          </p:txBody>
        </p:sp>
      </p:grpSp>
      <p:grpSp>
        <p:nvGrpSpPr>
          <p:cNvPr id="77" name="Group 77"/>
          <p:cNvGrpSpPr/>
          <p:nvPr/>
        </p:nvGrpSpPr>
        <p:grpSpPr>
          <a:xfrm>
            <a:off x="561022" y="5430679"/>
            <a:ext cx="11049000" cy="609600"/>
            <a:chOff x="571500" y="5715000"/>
            <a:chExt cx="11049000" cy="609600"/>
          </a:xfrm>
        </p:grpSpPr>
        <p:sp>
          <p:nvSpPr>
            <p:cNvPr id="75" name="Rectangle 75"/>
            <p:cNvSpPr/>
            <p:nvPr/>
          </p:nvSpPr>
          <p:spPr>
            <a:xfrm>
              <a:off x="571500" y="5715000"/>
              <a:ext cx="11049000" cy="609600"/>
            </a:xfrm>
            <a:prstGeom prst="roundRect">
              <a:avLst>
                <a:gd name="adj" fmla="val 12500"/>
              </a:avLst>
            </a:prstGeom>
            <a:solidFill>
              <a:srgbClr val="004C97"/>
            </a:solidFill>
            <a:ln>
              <a:noFill/>
            </a:ln>
          </p:spPr>
          <p:txBody>
            <a:bodyPr/>
            <a:lstStyle/>
            <a:p>
              <a:endParaRPr lang="en-US"/>
            </a:p>
          </p:txBody>
        </p:sp>
        <p:sp>
          <p:nvSpPr>
            <p:cNvPr id="76" name="TextBox 76"/>
            <p:cNvSpPr txBox="1"/>
            <p:nvPr/>
          </p:nvSpPr>
          <p:spPr>
            <a:xfrm>
              <a:off x="2062686" y="5936932"/>
              <a:ext cx="8066627" cy="335280"/>
            </a:xfrm>
            <a:prstGeom prst="rect">
              <a:avLst/>
            </a:prstGeom>
            <a:noFill/>
            <a:ln>
              <a:noFill/>
            </a:ln>
          </p:spPr>
          <p:txBody>
            <a:bodyPr wrap="none" lIns="0" tIns="0" rIns="0" bIns="0" anchor="t" anchorCtr="0">
              <a:spAutoFit/>
            </a:bodyPr>
            <a:lstStyle/>
            <a:p>
              <a:pPr algn="ctr"/>
              <a:r>
                <a:rPr lang="zh-CN" sz="1650" i="1" dirty="0">
                  <a:solidFill>
                    <a:srgbClr val="FFFFFF"/>
                  </a:solidFill>
                  <a:latin typeface="Arial Black"/>
                  <a:ea typeface="Microsoft YaHei"/>
                  <a:cs typeface="Arial Black"/>
                </a:rPr>
                <a:t>From chatbot to colleague — and the colleague keeps getting better.</a:t>
              </a:r>
            </a:p>
          </p:txBody>
        </p:sp>
      </p:grpSp>
      <p:grpSp>
        <p:nvGrpSpPr>
          <p:cNvPr id="80" name="Group 80"/>
          <p:cNvGrpSpPr/>
          <p:nvPr/>
        </p:nvGrpSpPr>
        <p:grpSpPr>
          <a:xfrm>
            <a:off x="561022" y="6578441"/>
            <a:ext cx="11069955" cy="167640"/>
            <a:chOff x="561022" y="6578441"/>
            <a:chExt cx="11069955" cy="167640"/>
          </a:xfrm>
        </p:grpSpPr>
        <p:sp>
          <p:nvSpPr>
            <p:cNvPr id="78" name="TextBox 78"/>
            <p:cNvSpPr txBox="1"/>
            <p:nvPr/>
          </p:nvSpPr>
          <p:spPr>
            <a:xfrm>
              <a:off x="561022" y="6578441"/>
              <a:ext cx="2099429" cy="167640"/>
            </a:xfrm>
            <a:prstGeom prst="rect">
              <a:avLst/>
            </a:prstGeom>
            <a:noFill/>
            <a:ln>
              <a:noFill/>
            </a:ln>
          </p:spPr>
          <p:txBody>
            <a:bodyPr wrap="none" lIns="0" tIns="0" rIns="0" bIns="0" anchor="t" anchorCtr="0">
              <a:spAutoFit/>
            </a:bodyPr>
            <a:lstStyle/>
            <a:p>
              <a:pPr algn="l"/>
              <a:r>
                <a:rPr lang="zh-CN" sz="825" dirty="0">
                  <a:solidFill>
                    <a:srgbClr val="9AA3AE"/>
                  </a:solidFill>
                  <a:latin typeface="Arial"/>
                  <a:ea typeface="Microsoft YaHei"/>
                  <a:cs typeface="Arial"/>
                </a:rPr>
                <a:t>RA Skills · Internal showcase · 2026</a:t>
              </a:r>
            </a:p>
          </p:txBody>
        </p:sp>
        <p:sp>
          <p:nvSpPr>
            <p:cNvPr id="79" name="TextBox 79"/>
            <p:cNvSpPr txBox="1"/>
            <p:nvPr/>
          </p:nvSpPr>
          <p:spPr>
            <a:xfrm>
              <a:off x="11266622" y="6578441"/>
              <a:ext cx="364355" cy="167640"/>
            </a:xfrm>
            <a:prstGeom prst="rect">
              <a:avLst/>
            </a:prstGeom>
            <a:noFill/>
            <a:ln>
              <a:noFill/>
            </a:ln>
          </p:spPr>
          <p:txBody>
            <a:bodyPr wrap="none" lIns="0" tIns="0" rIns="0" bIns="0" anchor="t" anchorCtr="0">
              <a:spAutoFit/>
            </a:bodyPr>
            <a:lstStyle/>
            <a:p>
              <a:pPr algn="r"/>
              <a:r>
                <a:rPr lang="zh-CN" sz="825" dirty="0">
                  <a:solidFill>
                    <a:srgbClr val="9AA3AE"/>
                  </a:solidFill>
                  <a:latin typeface="Arial"/>
                  <a:ea typeface="Microsoft YaHei"/>
                  <a:cs typeface="Arial"/>
                </a:rPr>
                <a:t>10 / 10</a:t>
              </a:r>
            </a:p>
          </p:txBody>
        </p:sp>
      </p:grpSp>
      <p:grpSp>
        <p:nvGrpSpPr>
          <p:cNvPr id="95" name="Group 31">
            <a:extLst>
              <a:ext uri="{FF2B5EF4-FFF2-40B4-BE49-F238E27FC236}">
                <a16:creationId xmlns:a16="http://schemas.microsoft.com/office/drawing/2014/main" id="{D88EECC6-4DDB-5C7E-5D2D-296AB5B41468}"/>
              </a:ext>
            </a:extLst>
          </p:cNvPr>
          <p:cNvGrpSpPr/>
          <p:nvPr/>
        </p:nvGrpSpPr>
        <p:grpSpPr>
          <a:xfrm>
            <a:off x="1843386" y="1339691"/>
            <a:ext cx="8443614" cy="762000"/>
            <a:chOff x="1843386" y="1333500"/>
            <a:chExt cx="8443614" cy="762000"/>
          </a:xfrm>
        </p:grpSpPr>
        <p:sp>
          <p:nvSpPr>
            <p:cNvPr id="96" name="TextBox 9">
              <a:extLst>
                <a:ext uri="{FF2B5EF4-FFF2-40B4-BE49-F238E27FC236}">
                  <a16:creationId xmlns:a16="http://schemas.microsoft.com/office/drawing/2014/main" id="{DDD31987-F2C2-D30A-FD36-6D1A4C52EDF3}"/>
                </a:ext>
              </a:extLst>
            </p:cNvPr>
            <p:cNvSpPr txBox="1"/>
            <p:nvPr/>
          </p:nvSpPr>
          <p:spPr>
            <a:xfrm>
              <a:off x="1843386" y="1666399"/>
              <a:ext cx="264496" cy="150041"/>
            </a:xfrm>
            <a:prstGeom prst="rect">
              <a:avLst/>
            </a:prstGeom>
            <a:noFill/>
            <a:ln>
              <a:noFill/>
            </a:ln>
          </p:spPr>
          <p:txBody>
            <a:bodyPr wrap="none" lIns="0" tIns="0" rIns="0" bIns="0" anchor="t" anchorCtr="0">
              <a:spAutoFit/>
            </a:bodyPr>
            <a:lstStyle/>
            <a:p>
              <a:pPr algn="r"/>
              <a:r>
                <a:rPr lang="en-US" altLang="zh-CN" sz="975" b="1" dirty="0">
                  <a:solidFill>
                    <a:srgbClr val="00B050"/>
                  </a:solidFill>
                  <a:latin typeface="Arial"/>
                  <a:ea typeface="Microsoft YaHei"/>
                  <a:cs typeface="Arial"/>
                </a:rPr>
                <a:t>Now</a:t>
              </a:r>
              <a:endParaRPr lang="zh-CN" sz="975" b="1" dirty="0">
                <a:solidFill>
                  <a:srgbClr val="00B050"/>
                </a:solidFill>
                <a:latin typeface="Arial"/>
                <a:ea typeface="Microsoft YaHei"/>
                <a:cs typeface="Arial"/>
              </a:endParaRPr>
            </a:p>
          </p:txBody>
        </p:sp>
        <p:sp>
          <p:nvSpPr>
            <p:cNvPr id="97" name="Ellipse 10">
              <a:extLst>
                <a:ext uri="{FF2B5EF4-FFF2-40B4-BE49-F238E27FC236}">
                  <a16:creationId xmlns:a16="http://schemas.microsoft.com/office/drawing/2014/main" id="{4BC88524-2BBD-550A-CFF6-1B9F1D825E1F}"/>
                </a:ext>
              </a:extLst>
            </p:cNvPr>
            <p:cNvSpPr/>
            <p:nvPr/>
          </p:nvSpPr>
          <p:spPr>
            <a:xfrm>
              <a:off x="2133600" y="1562100"/>
              <a:ext cx="304800" cy="304800"/>
            </a:xfrm>
            <a:prstGeom prst="ellipse">
              <a:avLst/>
            </a:prstGeom>
            <a:solidFill>
              <a:srgbClr val="FFFFFF"/>
            </a:solidFill>
            <a:ln w="33338">
              <a:solidFill>
                <a:srgbClr val="00B050"/>
              </a:solidFill>
            </a:ln>
          </p:spPr>
          <p:txBody>
            <a:bodyPr/>
            <a:lstStyle/>
            <a:p>
              <a:endParaRPr lang="en-US"/>
            </a:p>
          </p:txBody>
        </p:sp>
        <p:grpSp>
          <p:nvGrpSpPr>
            <p:cNvPr id="98" name="Group 19">
              <a:extLst>
                <a:ext uri="{FF2B5EF4-FFF2-40B4-BE49-F238E27FC236}">
                  <a16:creationId xmlns:a16="http://schemas.microsoft.com/office/drawing/2014/main" id="{406005A3-D156-EC0D-F25B-6B02C14D9EA7}"/>
                </a:ext>
              </a:extLst>
            </p:cNvPr>
            <p:cNvGrpSpPr/>
            <p:nvPr/>
          </p:nvGrpSpPr>
          <p:grpSpPr>
            <a:xfrm>
              <a:off x="2157412" y="1585912"/>
              <a:ext cx="257175" cy="257175"/>
              <a:chOff x="2157412" y="1585912"/>
              <a:chExt cx="257175" cy="257175"/>
            </a:xfrm>
          </p:grpSpPr>
          <p:sp>
            <p:nvSpPr>
              <p:cNvPr id="110" name="Freeform 11">
                <a:extLst>
                  <a:ext uri="{FF2B5EF4-FFF2-40B4-BE49-F238E27FC236}">
                    <a16:creationId xmlns:a16="http://schemas.microsoft.com/office/drawing/2014/main" id="{1EFDB600-2F8D-8867-E11F-3B6C55B852C3}"/>
                  </a:ext>
                </a:extLst>
              </p:cNvPr>
              <p:cNvSpPr/>
              <p:nvPr/>
            </p:nvSpPr>
            <p:spPr>
              <a:xfrm>
                <a:off x="2195132" y="1595771"/>
                <a:ext cx="41719" cy="27861"/>
              </a:xfrm>
              <a:custGeom>
                <a:avLst/>
                <a:gdLst/>
                <a:ahLst/>
                <a:cxnLst/>
                <a:rect l="l" t="t" r="r" b="b"/>
                <a:pathLst>
                  <a:path w="41719" h="27861">
                    <a:moveTo>
                      <a:pt x="41719" y="0"/>
                    </a:moveTo>
                    <a:cubicBezTo>
                      <a:pt x="26119" y="6458"/>
                      <a:pt x="11942" y="15925"/>
                      <a:pt x="0" y="27861"/>
                    </a:cubicBezTo>
                  </a:path>
                </a:pathLst>
              </a:custGeom>
              <a:noFill/>
              <a:ln w="19050">
                <a:solidFill>
                  <a:srgbClr val="00B050"/>
                </a:solidFill>
              </a:ln>
            </p:spPr>
            <p:txBody>
              <a:bodyPr/>
              <a:lstStyle/>
              <a:p>
                <a:endParaRPr lang="en-US"/>
              </a:p>
            </p:txBody>
          </p:sp>
          <p:sp>
            <p:nvSpPr>
              <p:cNvPr id="111" name="Freeform 12">
                <a:extLst>
                  <a:ext uri="{FF2B5EF4-FFF2-40B4-BE49-F238E27FC236}">
                    <a16:creationId xmlns:a16="http://schemas.microsoft.com/office/drawing/2014/main" id="{E9BFCAC9-BB44-68F8-2DA2-15AF45B9B270}"/>
                  </a:ext>
                </a:extLst>
              </p:cNvPr>
              <p:cNvSpPr/>
              <p:nvPr/>
            </p:nvSpPr>
            <p:spPr>
              <a:xfrm>
                <a:off x="2157412" y="1665351"/>
                <a:ext cx="9858" cy="49149"/>
              </a:xfrm>
              <a:custGeom>
                <a:avLst/>
                <a:gdLst/>
                <a:ahLst/>
                <a:cxnLst/>
                <a:rect l="l" t="t" r="r" b="b"/>
                <a:pathLst>
                  <a:path w="9858" h="49149">
                    <a:moveTo>
                      <a:pt x="9858" y="0"/>
                    </a:moveTo>
                    <a:cubicBezTo>
                      <a:pt x="3380" y="15578"/>
                      <a:pt x="30" y="32278"/>
                      <a:pt x="0" y="49149"/>
                    </a:cubicBezTo>
                  </a:path>
                </a:pathLst>
              </a:custGeom>
              <a:noFill/>
              <a:ln w="19050">
                <a:solidFill>
                  <a:srgbClr val="00B050"/>
                </a:solidFill>
              </a:ln>
            </p:spPr>
            <p:txBody>
              <a:bodyPr/>
              <a:lstStyle/>
              <a:p>
                <a:endParaRPr lang="en-US"/>
              </a:p>
            </p:txBody>
          </p:sp>
          <p:sp>
            <p:nvSpPr>
              <p:cNvPr id="112" name="Freeform 13">
                <a:extLst>
                  <a:ext uri="{FF2B5EF4-FFF2-40B4-BE49-F238E27FC236}">
                    <a16:creationId xmlns:a16="http://schemas.microsoft.com/office/drawing/2014/main" id="{7898A36C-E3C2-7B8E-D750-67141CBC9004}"/>
                  </a:ext>
                </a:extLst>
              </p:cNvPr>
              <p:cNvSpPr/>
              <p:nvPr/>
            </p:nvSpPr>
            <p:spPr>
              <a:xfrm>
                <a:off x="2167271" y="1763649"/>
                <a:ext cx="27861" cy="41719"/>
              </a:xfrm>
              <a:custGeom>
                <a:avLst/>
                <a:gdLst/>
                <a:ahLst/>
                <a:cxnLst/>
                <a:rect l="l" t="t" r="r" b="b"/>
                <a:pathLst>
                  <a:path w="27861" h="41719">
                    <a:moveTo>
                      <a:pt x="0" y="0"/>
                    </a:moveTo>
                    <a:cubicBezTo>
                      <a:pt x="6458" y="15601"/>
                      <a:pt x="15925" y="29777"/>
                      <a:pt x="27861" y="41719"/>
                    </a:cubicBezTo>
                  </a:path>
                </a:pathLst>
              </a:custGeom>
              <a:noFill/>
              <a:ln w="19050">
                <a:solidFill>
                  <a:srgbClr val="00B050"/>
                </a:solidFill>
              </a:ln>
            </p:spPr>
            <p:txBody>
              <a:bodyPr/>
              <a:lstStyle/>
              <a:p>
                <a:endParaRPr lang="en-US"/>
              </a:p>
            </p:txBody>
          </p:sp>
          <p:sp>
            <p:nvSpPr>
              <p:cNvPr id="113" name="Freeform 14">
                <a:extLst>
                  <a:ext uri="{FF2B5EF4-FFF2-40B4-BE49-F238E27FC236}">
                    <a16:creationId xmlns:a16="http://schemas.microsoft.com/office/drawing/2014/main" id="{4D626EEA-5B9C-2926-DE6F-D1420E972186}"/>
                  </a:ext>
                </a:extLst>
              </p:cNvPr>
              <p:cNvSpPr/>
              <p:nvPr/>
            </p:nvSpPr>
            <p:spPr>
              <a:xfrm>
                <a:off x="2236851" y="1833229"/>
                <a:ext cx="49149" cy="9858"/>
              </a:xfrm>
              <a:custGeom>
                <a:avLst/>
                <a:gdLst/>
                <a:ahLst/>
                <a:cxnLst/>
                <a:rect l="l" t="t" r="r" b="b"/>
                <a:pathLst>
                  <a:path w="49149" h="9858">
                    <a:moveTo>
                      <a:pt x="0" y="0"/>
                    </a:moveTo>
                    <a:cubicBezTo>
                      <a:pt x="15578" y="6479"/>
                      <a:pt x="32278" y="9828"/>
                      <a:pt x="49149" y="9858"/>
                    </a:cubicBezTo>
                  </a:path>
                </a:pathLst>
              </a:custGeom>
              <a:noFill/>
              <a:ln w="19050">
                <a:solidFill>
                  <a:srgbClr val="00B050"/>
                </a:solidFill>
              </a:ln>
            </p:spPr>
            <p:txBody>
              <a:bodyPr/>
              <a:lstStyle/>
              <a:p>
                <a:endParaRPr lang="en-US"/>
              </a:p>
            </p:txBody>
          </p:sp>
          <p:sp>
            <p:nvSpPr>
              <p:cNvPr id="114" name="Freeform 15">
                <a:extLst>
                  <a:ext uri="{FF2B5EF4-FFF2-40B4-BE49-F238E27FC236}">
                    <a16:creationId xmlns:a16="http://schemas.microsoft.com/office/drawing/2014/main" id="{13A07DE3-9277-5522-A5FB-EA2CEB538E29}"/>
                  </a:ext>
                </a:extLst>
              </p:cNvPr>
              <p:cNvSpPr/>
              <p:nvPr/>
            </p:nvSpPr>
            <p:spPr>
              <a:xfrm>
                <a:off x="2335149" y="1805368"/>
                <a:ext cx="41719" cy="27861"/>
              </a:xfrm>
              <a:custGeom>
                <a:avLst/>
                <a:gdLst/>
                <a:ahLst/>
                <a:cxnLst/>
                <a:rect l="l" t="t" r="r" b="b"/>
                <a:pathLst>
                  <a:path w="41719" h="27861">
                    <a:moveTo>
                      <a:pt x="0" y="27861"/>
                    </a:moveTo>
                    <a:cubicBezTo>
                      <a:pt x="15601" y="21403"/>
                      <a:pt x="29777" y="11936"/>
                      <a:pt x="41719" y="0"/>
                    </a:cubicBezTo>
                  </a:path>
                </a:pathLst>
              </a:custGeom>
              <a:noFill/>
              <a:ln w="19050">
                <a:solidFill>
                  <a:srgbClr val="00B050"/>
                </a:solidFill>
              </a:ln>
            </p:spPr>
            <p:txBody>
              <a:bodyPr/>
              <a:lstStyle/>
              <a:p>
                <a:endParaRPr lang="en-US"/>
              </a:p>
            </p:txBody>
          </p:sp>
          <p:sp>
            <p:nvSpPr>
              <p:cNvPr id="115" name="Freeform 16">
                <a:extLst>
                  <a:ext uri="{FF2B5EF4-FFF2-40B4-BE49-F238E27FC236}">
                    <a16:creationId xmlns:a16="http://schemas.microsoft.com/office/drawing/2014/main" id="{01471414-0679-75AD-1448-F599EA01DCC5}"/>
                  </a:ext>
                </a:extLst>
              </p:cNvPr>
              <p:cNvSpPr/>
              <p:nvPr/>
            </p:nvSpPr>
            <p:spPr>
              <a:xfrm>
                <a:off x="2404729" y="1714500"/>
                <a:ext cx="9858" cy="49149"/>
              </a:xfrm>
              <a:custGeom>
                <a:avLst/>
                <a:gdLst/>
                <a:ahLst/>
                <a:cxnLst/>
                <a:rect l="l" t="t" r="r" b="b"/>
                <a:pathLst>
                  <a:path w="9858" h="49149">
                    <a:moveTo>
                      <a:pt x="0" y="49149"/>
                    </a:moveTo>
                    <a:cubicBezTo>
                      <a:pt x="6479" y="33571"/>
                      <a:pt x="9828" y="16871"/>
                      <a:pt x="9858" y="0"/>
                    </a:cubicBezTo>
                  </a:path>
                </a:pathLst>
              </a:custGeom>
              <a:noFill/>
              <a:ln w="19050">
                <a:solidFill>
                  <a:srgbClr val="00B050"/>
                </a:solidFill>
              </a:ln>
            </p:spPr>
            <p:txBody>
              <a:bodyPr/>
              <a:lstStyle/>
              <a:p>
                <a:endParaRPr lang="en-US"/>
              </a:p>
            </p:txBody>
          </p:sp>
          <p:sp>
            <p:nvSpPr>
              <p:cNvPr id="116" name="Freeform 17">
                <a:extLst>
                  <a:ext uri="{FF2B5EF4-FFF2-40B4-BE49-F238E27FC236}">
                    <a16:creationId xmlns:a16="http://schemas.microsoft.com/office/drawing/2014/main" id="{82B739C8-5EB3-C476-5A54-5CFBF5D24DAD}"/>
                  </a:ext>
                </a:extLst>
              </p:cNvPr>
              <p:cNvSpPr/>
              <p:nvPr/>
            </p:nvSpPr>
            <p:spPr>
              <a:xfrm>
                <a:off x="2376868" y="1623632"/>
                <a:ext cx="27861" cy="41719"/>
              </a:xfrm>
              <a:custGeom>
                <a:avLst/>
                <a:gdLst/>
                <a:ahLst/>
                <a:cxnLst/>
                <a:rect l="l" t="t" r="r" b="b"/>
                <a:pathLst>
                  <a:path w="27861" h="41719">
                    <a:moveTo>
                      <a:pt x="27861" y="41719"/>
                    </a:moveTo>
                    <a:cubicBezTo>
                      <a:pt x="21403" y="26119"/>
                      <a:pt x="11936" y="11942"/>
                      <a:pt x="0" y="0"/>
                    </a:cubicBezTo>
                  </a:path>
                </a:pathLst>
              </a:custGeom>
              <a:noFill/>
              <a:ln w="19050">
                <a:solidFill>
                  <a:srgbClr val="00B050"/>
                </a:solidFill>
              </a:ln>
            </p:spPr>
            <p:txBody>
              <a:bodyPr/>
              <a:lstStyle/>
              <a:p>
                <a:endParaRPr lang="en-US"/>
              </a:p>
            </p:txBody>
          </p:sp>
          <p:sp>
            <p:nvSpPr>
              <p:cNvPr id="117" name="Freeform 18">
                <a:extLst>
                  <a:ext uri="{FF2B5EF4-FFF2-40B4-BE49-F238E27FC236}">
                    <a16:creationId xmlns:a16="http://schemas.microsoft.com/office/drawing/2014/main" id="{39D5187E-3ABA-B6BC-2D8B-C19D7190DBDA}"/>
                  </a:ext>
                </a:extLst>
              </p:cNvPr>
              <p:cNvSpPr/>
              <p:nvPr/>
            </p:nvSpPr>
            <p:spPr>
              <a:xfrm>
                <a:off x="2286000" y="1585912"/>
                <a:ext cx="49149" cy="9858"/>
              </a:xfrm>
              <a:custGeom>
                <a:avLst/>
                <a:gdLst/>
                <a:ahLst/>
                <a:cxnLst/>
                <a:rect l="l" t="t" r="r" b="b"/>
                <a:pathLst>
                  <a:path w="49149" h="9858">
                    <a:moveTo>
                      <a:pt x="49149" y="9858"/>
                    </a:moveTo>
                    <a:cubicBezTo>
                      <a:pt x="33571" y="3380"/>
                      <a:pt x="16871" y="30"/>
                      <a:pt x="0" y="0"/>
                    </a:cubicBezTo>
                  </a:path>
                </a:pathLst>
              </a:custGeom>
              <a:noFill/>
              <a:ln w="19050">
                <a:solidFill>
                  <a:srgbClr val="00B050"/>
                </a:solidFill>
              </a:ln>
            </p:spPr>
            <p:txBody>
              <a:bodyPr/>
              <a:lstStyle/>
              <a:p>
                <a:endParaRPr lang="en-US"/>
              </a:p>
            </p:txBody>
          </p:sp>
        </p:grpSp>
        <p:sp>
          <p:nvSpPr>
            <p:cNvPr id="99" name="Rectangle 20">
              <a:extLst>
                <a:ext uri="{FF2B5EF4-FFF2-40B4-BE49-F238E27FC236}">
                  <a16:creationId xmlns:a16="http://schemas.microsoft.com/office/drawing/2014/main" id="{D407C7CC-A728-B488-B3EF-59FBAA71C2D8}"/>
                </a:ext>
              </a:extLst>
            </p:cNvPr>
            <p:cNvSpPr/>
            <p:nvPr/>
          </p:nvSpPr>
          <p:spPr>
            <a:xfrm>
              <a:off x="2667000" y="1333500"/>
              <a:ext cx="7620000" cy="762000"/>
            </a:xfrm>
            <a:prstGeom prst="roundRect">
              <a:avLst>
                <a:gd name="adj" fmla="val 12500"/>
              </a:avLst>
            </a:prstGeom>
            <a:solidFill>
              <a:srgbClr val="FFFFFF"/>
            </a:solidFill>
            <a:ln w="19050">
              <a:solidFill>
                <a:srgbClr val="00B050"/>
              </a:solidFill>
            </a:ln>
          </p:spPr>
          <p:txBody>
            <a:bodyPr/>
            <a:lstStyle/>
            <a:p>
              <a:endParaRPr lang="en-US"/>
            </a:p>
          </p:txBody>
        </p:sp>
        <p:sp>
          <p:nvSpPr>
            <p:cNvPr id="100" name="Line 21">
              <a:extLst>
                <a:ext uri="{FF2B5EF4-FFF2-40B4-BE49-F238E27FC236}">
                  <a16:creationId xmlns:a16="http://schemas.microsoft.com/office/drawing/2014/main" id="{2F34406D-7369-1604-10D4-AF2BEE8223B1}"/>
                </a:ext>
              </a:extLst>
            </p:cNvPr>
            <p:cNvSpPr/>
            <p:nvPr/>
          </p:nvSpPr>
          <p:spPr>
            <a:xfrm>
              <a:off x="2705100" y="1476375"/>
              <a:ext cx="9525" cy="476250"/>
            </a:xfrm>
            <a:custGeom>
              <a:avLst/>
              <a:gdLst/>
              <a:ahLst/>
              <a:cxnLst/>
              <a:rect l="l" t="t" r="r" b="b"/>
              <a:pathLst>
                <a:path w="9525" h="476250">
                  <a:moveTo>
                    <a:pt x="0" y="0"/>
                  </a:moveTo>
                  <a:lnTo>
                    <a:pt x="0" y="476250"/>
                  </a:lnTo>
                </a:path>
              </a:pathLst>
            </a:custGeom>
            <a:noFill/>
            <a:ln w="38100" cap="rnd">
              <a:solidFill>
                <a:srgbClr val="00B050"/>
              </a:solidFill>
            </a:ln>
          </p:spPr>
          <p:txBody>
            <a:bodyPr/>
            <a:lstStyle/>
            <a:p>
              <a:endParaRPr lang="en-US"/>
            </a:p>
          </p:txBody>
        </p:sp>
        <p:grpSp>
          <p:nvGrpSpPr>
            <p:cNvPr id="101" name="Group 26">
              <a:extLst>
                <a:ext uri="{FF2B5EF4-FFF2-40B4-BE49-F238E27FC236}">
                  <a16:creationId xmlns:a16="http://schemas.microsoft.com/office/drawing/2014/main" id="{7098D9F4-8680-5EE5-7AB6-3DBE7AFF7785}"/>
                </a:ext>
              </a:extLst>
            </p:cNvPr>
            <p:cNvGrpSpPr/>
            <p:nvPr/>
          </p:nvGrpSpPr>
          <p:grpSpPr>
            <a:xfrm>
              <a:off x="2947988" y="1530350"/>
              <a:ext cx="200025" cy="187325"/>
              <a:chOff x="2947988" y="1530350"/>
              <a:chExt cx="200025" cy="187325"/>
            </a:xfrm>
          </p:grpSpPr>
          <p:sp>
            <p:nvSpPr>
              <p:cNvPr id="106" name="Freeform 22">
                <a:extLst>
                  <a:ext uri="{FF2B5EF4-FFF2-40B4-BE49-F238E27FC236}">
                    <a16:creationId xmlns:a16="http://schemas.microsoft.com/office/drawing/2014/main" id="{93480C66-0C26-A15C-192F-52C0C4FF3663}"/>
                  </a:ext>
                </a:extLst>
              </p:cNvPr>
              <p:cNvSpPr/>
              <p:nvPr/>
            </p:nvSpPr>
            <p:spPr>
              <a:xfrm>
                <a:off x="2947988" y="1619250"/>
                <a:ext cx="66675" cy="88900"/>
              </a:xfrm>
              <a:custGeom>
                <a:avLst/>
                <a:gdLst/>
                <a:ahLst/>
                <a:cxnLst/>
                <a:rect l="l" t="t" r="r" b="b"/>
                <a:pathLst>
                  <a:path w="66675" h="88900">
                    <a:moveTo>
                      <a:pt x="0" y="11112"/>
                    </a:moveTo>
                    <a:cubicBezTo>
                      <a:pt x="0" y="4975"/>
                      <a:pt x="4975" y="0"/>
                      <a:pt x="11113" y="0"/>
                    </a:cubicBezTo>
                    <a:lnTo>
                      <a:pt x="55562" y="0"/>
                    </a:lnTo>
                    <a:cubicBezTo>
                      <a:pt x="61700" y="0"/>
                      <a:pt x="66675" y="4975"/>
                      <a:pt x="66675" y="11112"/>
                    </a:cubicBezTo>
                    <a:lnTo>
                      <a:pt x="66675" y="77787"/>
                    </a:lnTo>
                    <a:cubicBezTo>
                      <a:pt x="66675" y="83925"/>
                      <a:pt x="61700" y="88900"/>
                      <a:pt x="55562" y="88900"/>
                    </a:cubicBezTo>
                    <a:lnTo>
                      <a:pt x="11113" y="88900"/>
                    </a:lnTo>
                    <a:cubicBezTo>
                      <a:pt x="4975" y="88900"/>
                      <a:pt x="0" y="83925"/>
                      <a:pt x="0" y="77787"/>
                    </a:cubicBezTo>
                    <a:lnTo>
                      <a:pt x="0" y="11112"/>
                    </a:lnTo>
                  </a:path>
                </a:pathLst>
              </a:custGeom>
              <a:noFill/>
              <a:ln w="19050">
                <a:solidFill>
                  <a:srgbClr val="00B050"/>
                </a:solidFill>
              </a:ln>
            </p:spPr>
            <p:txBody>
              <a:bodyPr/>
              <a:lstStyle/>
              <a:p>
                <a:endParaRPr lang="en-US"/>
              </a:p>
            </p:txBody>
          </p:sp>
          <p:sp>
            <p:nvSpPr>
              <p:cNvPr id="107" name="Freeform 23">
                <a:extLst>
                  <a:ext uri="{FF2B5EF4-FFF2-40B4-BE49-F238E27FC236}">
                    <a16:creationId xmlns:a16="http://schemas.microsoft.com/office/drawing/2014/main" id="{D4FBFBA5-9AD8-38E8-1B12-D4B19F7E17E7}"/>
                  </a:ext>
                </a:extLst>
              </p:cNvPr>
              <p:cNvSpPr/>
              <p:nvPr/>
            </p:nvSpPr>
            <p:spPr>
              <a:xfrm>
                <a:off x="3081338" y="1574800"/>
                <a:ext cx="66675" cy="133350"/>
              </a:xfrm>
              <a:custGeom>
                <a:avLst/>
                <a:gdLst/>
                <a:ahLst/>
                <a:cxnLst/>
                <a:rect l="l" t="t" r="r" b="b"/>
                <a:pathLst>
                  <a:path w="66675" h="133350">
                    <a:moveTo>
                      <a:pt x="0" y="11112"/>
                    </a:moveTo>
                    <a:cubicBezTo>
                      <a:pt x="0" y="4975"/>
                      <a:pt x="4975" y="0"/>
                      <a:pt x="11113" y="0"/>
                    </a:cubicBezTo>
                    <a:lnTo>
                      <a:pt x="55562" y="0"/>
                    </a:lnTo>
                    <a:cubicBezTo>
                      <a:pt x="61700" y="0"/>
                      <a:pt x="66675" y="4975"/>
                      <a:pt x="66675" y="11112"/>
                    </a:cubicBezTo>
                    <a:lnTo>
                      <a:pt x="66675" y="122237"/>
                    </a:lnTo>
                    <a:cubicBezTo>
                      <a:pt x="66675" y="128375"/>
                      <a:pt x="61700" y="133350"/>
                      <a:pt x="55562" y="133350"/>
                    </a:cubicBezTo>
                    <a:lnTo>
                      <a:pt x="11113" y="133350"/>
                    </a:lnTo>
                    <a:cubicBezTo>
                      <a:pt x="4975" y="133350"/>
                      <a:pt x="0" y="128375"/>
                      <a:pt x="0" y="122237"/>
                    </a:cubicBezTo>
                    <a:lnTo>
                      <a:pt x="0" y="11112"/>
                    </a:lnTo>
                  </a:path>
                </a:pathLst>
              </a:custGeom>
              <a:noFill/>
              <a:ln w="19050">
                <a:solidFill>
                  <a:srgbClr val="00B050"/>
                </a:solidFill>
              </a:ln>
            </p:spPr>
            <p:txBody>
              <a:bodyPr/>
              <a:lstStyle/>
              <a:p>
                <a:endParaRPr lang="en-US"/>
              </a:p>
            </p:txBody>
          </p:sp>
          <p:sp>
            <p:nvSpPr>
              <p:cNvPr id="108" name="Freeform 24">
                <a:extLst>
                  <a:ext uri="{FF2B5EF4-FFF2-40B4-BE49-F238E27FC236}">
                    <a16:creationId xmlns:a16="http://schemas.microsoft.com/office/drawing/2014/main" id="{EBC25188-3435-6900-4C8E-0DAAAA80B215}"/>
                  </a:ext>
                </a:extLst>
              </p:cNvPr>
              <p:cNvSpPr/>
              <p:nvPr/>
            </p:nvSpPr>
            <p:spPr>
              <a:xfrm>
                <a:off x="3014662" y="1530350"/>
                <a:ext cx="66675" cy="177800"/>
              </a:xfrm>
              <a:custGeom>
                <a:avLst/>
                <a:gdLst/>
                <a:ahLst/>
                <a:cxnLst/>
                <a:rect l="l" t="t" r="r" b="b"/>
                <a:pathLst>
                  <a:path w="66675" h="177800">
                    <a:moveTo>
                      <a:pt x="0" y="11113"/>
                    </a:moveTo>
                    <a:cubicBezTo>
                      <a:pt x="0" y="4975"/>
                      <a:pt x="4975" y="0"/>
                      <a:pt x="11113" y="0"/>
                    </a:cubicBezTo>
                    <a:lnTo>
                      <a:pt x="55562" y="0"/>
                    </a:lnTo>
                    <a:cubicBezTo>
                      <a:pt x="61700" y="0"/>
                      <a:pt x="66675" y="4975"/>
                      <a:pt x="66675" y="11113"/>
                    </a:cubicBezTo>
                    <a:lnTo>
                      <a:pt x="66675" y="166688"/>
                    </a:lnTo>
                    <a:cubicBezTo>
                      <a:pt x="66675" y="172825"/>
                      <a:pt x="61700" y="177800"/>
                      <a:pt x="55562" y="177800"/>
                    </a:cubicBezTo>
                    <a:lnTo>
                      <a:pt x="11113" y="177800"/>
                    </a:lnTo>
                    <a:cubicBezTo>
                      <a:pt x="4975" y="177800"/>
                      <a:pt x="0" y="172825"/>
                      <a:pt x="0" y="166688"/>
                    </a:cubicBezTo>
                    <a:lnTo>
                      <a:pt x="0" y="11113"/>
                    </a:lnTo>
                  </a:path>
                </a:pathLst>
              </a:custGeom>
              <a:noFill/>
              <a:ln w="19050">
                <a:solidFill>
                  <a:srgbClr val="00B050"/>
                </a:solidFill>
              </a:ln>
            </p:spPr>
            <p:txBody>
              <a:bodyPr/>
              <a:lstStyle/>
              <a:p>
                <a:endParaRPr lang="en-US"/>
              </a:p>
            </p:txBody>
          </p:sp>
          <p:sp>
            <p:nvSpPr>
              <p:cNvPr id="109" name="Freeform 25">
                <a:extLst>
                  <a:ext uri="{FF2B5EF4-FFF2-40B4-BE49-F238E27FC236}">
                    <a16:creationId xmlns:a16="http://schemas.microsoft.com/office/drawing/2014/main" id="{C1ECFCA4-A467-8CA2-21C8-DC5C206FC1F4}"/>
                  </a:ext>
                </a:extLst>
              </p:cNvPr>
              <p:cNvSpPr/>
              <p:nvPr/>
            </p:nvSpPr>
            <p:spPr>
              <a:xfrm>
                <a:off x="2959100" y="1708150"/>
                <a:ext cx="155575" cy="9525"/>
              </a:xfrm>
              <a:custGeom>
                <a:avLst/>
                <a:gdLst/>
                <a:ahLst/>
                <a:cxnLst/>
                <a:rect l="l" t="t" r="r" b="b"/>
                <a:pathLst>
                  <a:path w="155575" h="9525">
                    <a:moveTo>
                      <a:pt x="0" y="0"/>
                    </a:moveTo>
                    <a:lnTo>
                      <a:pt x="155575" y="0"/>
                    </a:lnTo>
                  </a:path>
                </a:pathLst>
              </a:custGeom>
              <a:noFill/>
              <a:ln w="19050">
                <a:solidFill>
                  <a:srgbClr val="00B050"/>
                </a:solidFill>
              </a:ln>
            </p:spPr>
            <p:txBody>
              <a:bodyPr/>
              <a:lstStyle/>
              <a:p>
                <a:endParaRPr lang="en-US"/>
              </a:p>
            </p:txBody>
          </p:sp>
        </p:grpSp>
        <p:sp>
          <p:nvSpPr>
            <p:cNvPr id="102" name="TextBox 27">
              <a:extLst>
                <a:ext uri="{FF2B5EF4-FFF2-40B4-BE49-F238E27FC236}">
                  <a16:creationId xmlns:a16="http://schemas.microsoft.com/office/drawing/2014/main" id="{B60171F4-457F-FBAE-CA14-DC113C82430A}"/>
                </a:ext>
              </a:extLst>
            </p:cNvPr>
            <p:cNvSpPr txBox="1"/>
            <p:nvPr/>
          </p:nvSpPr>
          <p:spPr>
            <a:xfrm>
              <a:off x="3276600" y="1514475"/>
              <a:ext cx="2345450" cy="184666"/>
            </a:xfrm>
            <a:prstGeom prst="rect">
              <a:avLst/>
            </a:prstGeom>
            <a:noFill/>
            <a:ln>
              <a:noFill/>
            </a:ln>
          </p:spPr>
          <p:txBody>
            <a:bodyPr wrap="none" lIns="0" tIns="0" rIns="0" bIns="0" anchor="t" anchorCtr="0">
              <a:spAutoFit/>
            </a:bodyPr>
            <a:lstStyle>
              <a:defPPr>
                <a:defRPr lang="en-US"/>
              </a:defPPr>
              <a:lvl1pPr>
                <a:defRPr sz="1500" b="1">
                  <a:solidFill>
                    <a:srgbClr val="334155"/>
                  </a:solidFill>
                  <a:latin typeface="Arial Black"/>
                  <a:ea typeface="Microsoft YaHei"/>
                  <a:cs typeface="Arial Black"/>
                </a:defRPr>
              </a:lvl1pPr>
            </a:lstStyle>
            <a:p>
              <a:r>
                <a:rPr lang="en-US" altLang="zh-CN" dirty="0" err="1">
                  <a:solidFill>
                    <a:srgbClr val="00B050"/>
                  </a:solidFill>
                </a:rPr>
                <a:t>iData</a:t>
              </a:r>
              <a:r>
                <a:rPr lang="en-US" altLang="zh-CN" dirty="0">
                  <a:solidFill>
                    <a:srgbClr val="00B050"/>
                  </a:solidFill>
                </a:rPr>
                <a:t> Based Indicator Search &amp; Fetch</a:t>
              </a:r>
              <a:endParaRPr lang="zh-CN" altLang="en-US" dirty="0">
                <a:solidFill>
                  <a:srgbClr val="00B050"/>
                </a:solidFill>
              </a:endParaRPr>
            </a:p>
          </p:txBody>
        </p:sp>
        <p:sp>
          <p:nvSpPr>
            <p:cNvPr id="103" name="TextBox 28">
              <a:extLst>
                <a:ext uri="{FF2B5EF4-FFF2-40B4-BE49-F238E27FC236}">
                  <a16:creationId xmlns:a16="http://schemas.microsoft.com/office/drawing/2014/main" id="{BC450E02-7619-2F56-55FD-2EF9E65C0EE1}"/>
                </a:ext>
              </a:extLst>
            </p:cNvPr>
            <p:cNvSpPr txBox="1"/>
            <p:nvPr/>
          </p:nvSpPr>
          <p:spPr>
            <a:xfrm>
              <a:off x="3283268" y="1799749"/>
              <a:ext cx="3504164" cy="150041"/>
            </a:xfrm>
            <a:prstGeom prst="rect">
              <a:avLst/>
            </a:prstGeom>
            <a:noFill/>
            <a:ln>
              <a:noFill/>
            </a:ln>
          </p:spPr>
          <p:txBody>
            <a:bodyPr wrap="none" lIns="0" tIns="0" rIns="0" bIns="0" anchor="t" anchorCtr="0">
              <a:spAutoFit/>
            </a:bodyPr>
            <a:lstStyle/>
            <a:p>
              <a:pPr algn="l"/>
              <a:r>
                <a:rPr lang="en-US" altLang="zh-CN" sz="975" dirty="0">
                  <a:solidFill>
                    <a:srgbClr val="5B6470"/>
                  </a:solidFill>
                  <a:latin typeface="Arial"/>
                  <a:ea typeface="Microsoft YaHei"/>
                  <a:cs typeface="Arial"/>
                </a:rPr>
                <a:t>Finds, validates, and pulls research data based on </a:t>
              </a:r>
              <a:r>
                <a:rPr lang="en-US" altLang="zh-CN" sz="975" dirty="0" err="1">
                  <a:solidFill>
                    <a:srgbClr val="5B6470"/>
                  </a:solidFill>
                  <a:latin typeface="Arial"/>
                  <a:ea typeface="Microsoft YaHei"/>
                  <a:cs typeface="Arial"/>
                </a:rPr>
                <a:t>iData</a:t>
              </a:r>
              <a:r>
                <a:rPr lang="en-US" altLang="zh-CN" sz="975" dirty="0">
                  <a:solidFill>
                    <a:srgbClr val="5B6470"/>
                  </a:solidFill>
                  <a:latin typeface="Arial"/>
                  <a:ea typeface="Microsoft YaHei"/>
                  <a:cs typeface="Arial"/>
                </a:rPr>
                <a:t> scope.</a:t>
              </a:r>
              <a:endParaRPr lang="zh-CN" sz="975" dirty="0">
                <a:solidFill>
                  <a:srgbClr val="5B6470"/>
                </a:solidFill>
                <a:latin typeface="Arial"/>
                <a:ea typeface="Microsoft YaHei"/>
                <a:cs typeface="Arial"/>
              </a:endParaRPr>
            </a:p>
          </p:txBody>
        </p:sp>
        <p:sp>
          <p:nvSpPr>
            <p:cNvPr id="104" name="Rectangle 29">
              <a:extLst>
                <a:ext uri="{FF2B5EF4-FFF2-40B4-BE49-F238E27FC236}">
                  <a16:creationId xmlns:a16="http://schemas.microsoft.com/office/drawing/2014/main" id="{AC3F41D2-A643-AD53-2E15-D749FF6C283F}"/>
                </a:ext>
              </a:extLst>
            </p:cNvPr>
            <p:cNvSpPr/>
            <p:nvPr/>
          </p:nvSpPr>
          <p:spPr>
            <a:xfrm>
              <a:off x="9239250" y="1447800"/>
              <a:ext cx="952500" cy="247650"/>
            </a:xfrm>
            <a:prstGeom prst="roundRect">
              <a:avLst>
                <a:gd name="adj" fmla="val 50000"/>
              </a:avLst>
            </a:prstGeom>
            <a:solidFill>
              <a:srgbClr val="F1F5F9"/>
            </a:solidFill>
            <a:ln>
              <a:solidFill>
                <a:srgbClr val="E8EEF7"/>
              </a:solidFill>
            </a:ln>
          </p:spPr>
          <p:txBody>
            <a:bodyPr/>
            <a:lstStyle/>
            <a:p>
              <a:endParaRPr lang="en-US"/>
            </a:p>
          </p:txBody>
        </p:sp>
        <p:sp>
          <p:nvSpPr>
            <p:cNvPr id="105" name="TextBox 30">
              <a:extLst>
                <a:ext uri="{FF2B5EF4-FFF2-40B4-BE49-F238E27FC236}">
                  <a16:creationId xmlns:a16="http://schemas.microsoft.com/office/drawing/2014/main" id="{907F639F-4A8F-A450-E955-E52A89777B32}"/>
                </a:ext>
              </a:extLst>
            </p:cNvPr>
            <p:cNvSpPr txBox="1"/>
            <p:nvPr/>
          </p:nvSpPr>
          <p:spPr>
            <a:xfrm>
              <a:off x="9562416" y="1530191"/>
              <a:ext cx="306174" cy="126958"/>
            </a:xfrm>
            <a:prstGeom prst="rect">
              <a:avLst/>
            </a:prstGeom>
            <a:noFill/>
            <a:ln>
              <a:noFill/>
            </a:ln>
          </p:spPr>
          <p:txBody>
            <a:bodyPr wrap="none" lIns="0" tIns="0" rIns="0" bIns="0" anchor="t" anchorCtr="0">
              <a:spAutoFit/>
            </a:bodyPr>
            <a:lstStyle/>
            <a:p>
              <a:pPr algn="ctr"/>
              <a:r>
                <a:rPr lang="en-US" altLang="zh-CN" sz="825" b="1" dirty="0">
                  <a:solidFill>
                    <a:srgbClr val="00B050"/>
                  </a:solidFill>
                  <a:latin typeface="Arial"/>
                  <a:ea typeface="Microsoft YaHei"/>
                  <a:cs typeface="Arial"/>
                </a:rPr>
                <a:t>DONE</a:t>
              </a:r>
              <a:endParaRPr lang="zh-CN" sz="825" b="1" dirty="0">
                <a:solidFill>
                  <a:srgbClr val="00B050"/>
                </a:solidFill>
                <a:latin typeface="Arial"/>
                <a:ea typeface="Microsoft YaHei"/>
                <a:cs typeface="Arial"/>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400"/>
                            </p:stCondLst>
                            <p:childTnLst>
                              <p:par>
                                <p:cTn id="9" presetID="20" presetClass="entr" presetSubtype="0"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edge">
                                      <p:cBhvr>
                                        <p:cTn id="11" dur="400"/>
                                        <p:tgtEl>
                                          <p:spTgt spid="45"/>
                                        </p:tgtEl>
                                      </p:cBhvr>
                                    </p:animEffect>
                                  </p:childTnLst>
                                </p:cTn>
                              </p:par>
                            </p:childTnLst>
                          </p:cTn>
                        </p:par>
                        <p:par>
                          <p:cTn id="12" fill="hold">
                            <p:stCondLst>
                              <p:cond delay="800"/>
                            </p:stCondLst>
                            <p:childTnLst>
                              <p:par>
                                <p:cTn id="13" presetID="18" presetClass="entr" presetSubtype="12"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strips(downRight)">
                                      <p:cBhvr>
                                        <p:cTn id="15" dur="400"/>
                                        <p:tgtEl>
                                          <p:spTgt spid="31"/>
                                        </p:tgtEl>
                                      </p:cBhvr>
                                    </p:animEffect>
                                  </p:childTnLst>
                                </p:cTn>
                              </p:par>
                            </p:childTnLst>
                          </p:cTn>
                        </p:par>
                        <p:par>
                          <p:cTn id="16" fill="hold">
                            <p:stCondLst>
                              <p:cond delay="1200"/>
                            </p:stCondLst>
                            <p:childTnLst>
                              <p:par>
                                <p:cTn id="17" presetID="22" presetClass="entr" presetSubtype="1" fill="hold" nodeType="after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wipe(left)">
                                      <p:cBhvr>
                                        <p:cTn id="19" dur="400"/>
                                        <p:tgtEl>
                                          <p:spTgt spid="72"/>
                                        </p:tgtEl>
                                      </p:cBhvr>
                                    </p:animEffect>
                                  </p:childTnLst>
                                </p:cTn>
                              </p:par>
                            </p:childTnLst>
                          </p:cTn>
                        </p:par>
                        <p:par>
                          <p:cTn id="20" fill="hold">
                            <p:stCondLst>
                              <p:cond delay="1600"/>
                            </p:stCondLst>
                            <p:childTnLst>
                              <p:par>
                                <p:cTn id="21" presetID="10" presetClass="entr" presetSubtype="0" fill="hold" nodeType="after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fade">
                                      <p:cBhvr>
                                        <p:cTn id="23"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1" grpId="0"/>
      <p:bldP spid="45" grpId="0"/>
      <p:bldP spid="72" grpId="0"/>
      <p:bldP spid="77" grpId="0"/>
      <p:bldP spid="9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9256</Words>
  <Application>Microsoft Office PowerPoint</Application>
  <PresentationFormat>Widescreen</PresentationFormat>
  <Paragraphs>292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Hao, Bella</cp:lastModifiedBy>
  <cp:revision>7</cp:revision>
  <dcterms:created xsi:type="dcterms:W3CDTF">2013-01-27T09:14:16Z</dcterms:created>
  <dcterms:modified xsi:type="dcterms:W3CDTF">2026-06-12T14:24:59Z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07ed86-5dc5-4593-ad03-a8684b843815_Enabled">
    <vt:lpwstr>true</vt:lpwstr>
  </property>
  <property fmtid="{D5CDD505-2E9C-101B-9397-08002B2CF9AE}" pid="3" name="MSIP_Label_0c07ed86-5dc5-4593-ad03-a8684b843815_SetDate">
    <vt:lpwstr>2026-05-10T21:48:33Z</vt:lpwstr>
  </property>
  <property fmtid="{D5CDD505-2E9C-101B-9397-08002B2CF9AE}" pid="4" name="MSIP_Label_0c07ed86-5dc5-4593-ad03-a8684b843815_Method">
    <vt:lpwstr>Standard</vt:lpwstr>
  </property>
  <property fmtid="{D5CDD505-2E9C-101B-9397-08002B2CF9AE}" pid="5" name="MSIP_Label_0c07ed86-5dc5-4593-ad03-a8684b843815_Name">
    <vt:lpwstr>0c07ed86-5dc5-4593-ad03-a8684b843815</vt:lpwstr>
  </property>
  <property fmtid="{D5CDD505-2E9C-101B-9397-08002B2CF9AE}" pid="6" name="MSIP_Label_0c07ed86-5dc5-4593-ad03-a8684b843815_SiteId">
    <vt:lpwstr>8085fa43-302e-45bd-b171-a6648c3b6be7</vt:lpwstr>
  </property>
  <property fmtid="{D5CDD505-2E9C-101B-9397-08002B2CF9AE}" pid="7" name="MSIP_Label_0c07ed86-5dc5-4593-ad03-a8684b843815_ActionId">
    <vt:lpwstr>4c120a36-4719-417c-a1de-f7171f4ce401</vt:lpwstr>
  </property>
  <property fmtid="{D5CDD505-2E9C-101B-9397-08002B2CF9AE}" pid="8" name="MSIP_Label_0c07ed86-5dc5-4593-ad03-a8684b843815_ContentBits">
    <vt:lpwstr>0</vt:lpwstr>
  </property>
  <property fmtid="{D5CDD505-2E9C-101B-9397-08002B2CF9AE}" pid="9" name="MSIP_Label_0c07ed86-5dc5-4593-ad03-a8684b843815_Tag">
    <vt:lpwstr>50, 3, 0, 1</vt:lpwstr>
  </property>
</Properties>
</file>