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94"/>
  </p:normalViewPr>
  <p:slideViewPr>
    <p:cSldViewPr snapToGrid="0" snapToObjects="1">
      <p:cViewPr varScale="1">
        <p:scale>
          <a:sx n="104" d="100"/>
          <a:sy n="104" d="100"/>
        </p:scale>
        <p:origin x="232" y="5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71946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Welcome. Over the next ten minutes I want to walk you through RA Skills — a small project that takes a big bet. The bet is that today's AI is stuck in a chat window, and the real value comes when it moves out of the chat and into the tools an analyst already uses. So the through-line of this deck is one phrase: from chatbot to colleague.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Let's start with the problem we're actually trying to solve. Today, AI for the research analyst lives in a separate browser tab. You ask Claude or ChatGPT a question, you read the answer, and then you copy something out and paste it into iData, or Excel, or Stata, or a Jupyter notebook — that is where the actual work happens. The chatbot can't see your SDK. It doesn't know your country codes. It has no memory of the question you answered the same way last Monday. So every query becomes a fresh copy-paste loop, and institutional knowledge stays stranded in heads and email threads.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vision is to flip that. Instead of an AI you talk to, an AI that does the work. Three things make this possible. First, it has to be local — running inside the analyst's repo, alongside the SDK and the catalogs, not in a separate tab. Second, it has to speak the SDK natively, so there's no copy-pasting code and no guessing API conventions. And third, it has to encode institutional knowledge — WEO groups, LIVE versus vintage, retired endpoints — so the same question doesn't get re-asked every Monday. The shorthand for all of this is: discovery, fetch, tidy, chart — chained, not stitched.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That is what RA Skills is. It is a family of project-local Claude Code skills for IMF Research Assistants. It lives under the .claude/skills directory inside the analyst's repo, so it's auto-loaded only when working in that repo — there is no global install. The input is plain English: pull WEO real GDP growth for G20 countries from 2010 to present. The output is a refreshable Excel, or a wide or long CSV, and soon a chart. It runs on top of Claude Code, so there is no new application to learn — the analyst's existing workspace simply gets smarter.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Architecturally, RA Skills is four small skills that chain — not one monolith. The umbrella, imf-ra, holds shared conventions: country codes, frequencies, SDK setup. Then imf-ra-catalog turns plain English into the right identifier. imf-ra-data calls the SDK and fetches the data. And imf-ra-charts hands the tidy output to the internal chart tool — that last one is scaffolded but not yet wired up. The design principle is that these are siblings, not nested. The umbrella does not orchestrate. Workers reference each other directly, which keeps each skill small, inspectable, and replaceable.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 is the design choice I want to dwell on for a moment, because it's the one that makes the whole thing trustworthy. CSVs are the source of truth. Six hundred and sixty-nine datasets, eighty-one thousand and thirty-five indicators, and every WEO country group live in CSV files that the agent reads directly. So the agent is not summarizing a catalog from memory and hoping it got the indicator code right. It is opening the file and looking it up. That gives us three things at once: no model drift on identifiers, reproducible answers, and an audit trail where every claim points to a file.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Now the two capabilities. The first one is discovery: turning plain English into an exact identifier. Take the query, pull WEO real GDP growth for G20 countries from 2010 to present. The catalog skill resolves that to four things — the database WEO_LIVE, the indicator NGDP_RPCH, the frequency annual, and the G20 ISO3 list auto-expanded from the country-group CSV. Four rules of the road. LIVE versus vintage is explicit; the latest is the default but you can lock to April 2024 if you want. Country groups expand by name or code. Ambiguous queries are surfaced as candidates with notes — the skill never guesses. And retired endpoints like EcOS are refused with a pointer to the current iData equivalent.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second capability is the fetch. Once the four-tuple is resolved, imf-ra-data runs a seven-step protocol: it receives the handoff, explores dimensions, builds the iData key, and calls a pre-built wrapper called fetch_idata.py. There is no ad-hoc SDK code, no re-implementing of the private-access boilerplate. The analyst then picks one of three output shapes: a refreshable Excel that's enriched with country names and IFS codes, a wide CSV with dates as rows, or a long CSV with one observation per row. And crucially, the data stays local. The SDK runs on the analyst's laptop. There is no cloud round-trip for IMF data.</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Putting it all together end-to-end takes about thirty seconds. The analyst types the sentence. The catalog resolves it. The data skill fetches. The charts skill — once it's wired up — hands off to the internal chart tool. And the analyst opens the Excel, ready for Stata or the next memo. The interesting list is on the bottom of this slide: what the analyst didn't have to do. They didn't look up an indicator code. They didn't remember which ISO3 codes are in the G20. They didn't read the SDK docs or set the private-access flag. They didn't reformat a wide API response into a long panel. And they didn't re-ask the question they asked last Monday.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Phase 1. Where it goes next, in priority order. First, wire up imf-ra-charts so the discovery-to-fetch-to-chart loop closes end-to-end. Then add sources beyond iData — Haver is the priority, then Bloomberg, Datastream, EDSS — as additional imf-ra workers, no rework of the chain. Then curated overlays: institutional knowledge as data, so the rule that you should use IFS quarterly rather than WEO annual for some particular series gets captured once and never re-learned. And then downstream automation — notebook templates, reusable modules, scheduled refresh pipelines. The closing thought is the one we started with: from chatbot to colleague — and the colleague keeps getting better.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20"/>
          <p:cNvGrpSpPr/>
          <p:nvPr/>
        </p:nvGrpSpPr>
        <p:grpSpPr>
          <a:xfrm>
            <a:off x="559118" y="571500"/>
            <a:ext cx="1908700" cy="473869"/>
            <a:chOff x="559118" y="571500"/>
            <a:chExt cx="1908700" cy="473869"/>
          </a:xfrm>
        </p:grpSpPr>
        <p:sp>
          <p:nvSpPr>
            <p:cNvPr id="18" name="Rectangle 18"/>
            <p:cNvSpPr/>
            <p:nvPr/>
          </p:nvSpPr>
          <p:spPr>
            <a:xfrm>
              <a:off x="571500" y="571500"/>
              <a:ext cx="571500" cy="57150"/>
            </a:xfrm>
            <a:prstGeom prst="rect">
              <a:avLst/>
            </a:prstGeom>
            <a:solidFill>
              <a:srgbClr val="707372"/>
            </a:solidFill>
            <a:ln>
              <a:noFill/>
            </a:ln>
          </p:spPr>
          <p:txBody>
            <a:bodyPr/>
            <a:lstStyle/>
            <a:p>
              <a:endParaRPr lang="en-US"/>
            </a:p>
          </p:txBody>
        </p:sp>
        <p:sp>
          <p:nvSpPr>
            <p:cNvPr id="19" name="TextBox 19"/>
            <p:cNvSpPr txBox="1"/>
            <p:nvPr/>
          </p:nvSpPr>
          <p:spPr>
            <a:xfrm>
              <a:off x="559118" y="847249"/>
              <a:ext cx="1908700" cy="198120"/>
            </a:xfrm>
            <a:prstGeom prst="rect">
              <a:avLst/>
            </a:prstGeom>
            <a:noFill/>
            <a:ln>
              <a:noFill/>
            </a:ln>
          </p:spPr>
          <p:txBody>
            <a:bodyPr wrap="none" lIns="0" tIns="0" rIns="0" bIns="0" anchor="t" anchorCtr="0">
              <a:spAutoFit/>
            </a:bodyPr>
            <a:lstStyle/>
            <a:p>
              <a:pPr algn="l"/>
              <a:r>
                <a:rPr lang="zh-CN" sz="975" b="1" dirty="0">
                  <a:solidFill>
                    <a:srgbClr val="5B6470"/>
                  </a:solidFill>
                  <a:latin typeface="Arial"/>
                  <a:ea typeface="Microsoft YaHei"/>
                  <a:cs typeface="Arial"/>
                </a:rPr>
                <a:t>INTERNAL SHOWCASE · 2026</a:t>
              </a:r>
            </a:p>
          </p:txBody>
        </p:sp>
      </p:grpSp>
      <p:grpSp>
        <p:nvGrpSpPr>
          <p:cNvPr id="24" name="Group 24"/>
          <p:cNvGrpSpPr/>
          <p:nvPr/>
        </p:nvGrpSpPr>
        <p:grpSpPr>
          <a:xfrm>
            <a:off x="536209" y="1367314"/>
            <a:ext cx="3976197" cy="1656397"/>
            <a:chOff x="491490" y="2082165"/>
            <a:chExt cx="3976197" cy="1656397"/>
          </a:xfrm>
        </p:grpSpPr>
        <p:sp>
          <p:nvSpPr>
            <p:cNvPr id="21" name="TextBox 21"/>
            <p:cNvSpPr txBox="1"/>
            <p:nvPr/>
          </p:nvSpPr>
          <p:spPr>
            <a:xfrm>
              <a:off x="491490" y="2082165"/>
              <a:ext cx="3976197" cy="1280160"/>
            </a:xfrm>
            <a:prstGeom prst="rect">
              <a:avLst/>
            </a:prstGeom>
            <a:noFill/>
            <a:ln>
              <a:noFill/>
            </a:ln>
          </p:spPr>
          <p:txBody>
            <a:bodyPr wrap="none" lIns="0" tIns="0" rIns="0" bIns="0" anchor="t" anchorCtr="0">
              <a:spAutoFit/>
            </a:bodyPr>
            <a:lstStyle/>
            <a:p>
              <a:pPr algn="l"/>
              <a:r>
                <a:rPr lang="zh-CN" sz="6300" b="1" dirty="0">
                  <a:solidFill>
                    <a:srgbClr val="004C97"/>
                  </a:solidFill>
                  <a:latin typeface="Arial Black"/>
                  <a:ea typeface="Microsoft YaHei"/>
                  <a:cs typeface="Arial Black"/>
                </a:rPr>
                <a:t>RA Skills</a:t>
              </a:r>
            </a:p>
          </p:txBody>
        </p:sp>
        <p:sp>
          <p:nvSpPr>
            <p:cNvPr id="22" name="TextBox 22"/>
            <p:cNvSpPr txBox="1"/>
            <p:nvPr/>
          </p:nvSpPr>
          <p:spPr>
            <a:xfrm>
              <a:off x="550545" y="3117532"/>
              <a:ext cx="2716816" cy="335280"/>
            </a:xfrm>
            <a:prstGeom prst="rect">
              <a:avLst/>
            </a:prstGeom>
            <a:noFill/>
            <a:ln>
              <a:noFill/>
            </a:ln>
          </p:spPr>
          <p:txBody>
            <a:bodyPr wrap="none" lIns="0" tIns="0" rIns="0" bIns="0" anchor="t" anchorCtr="0">
              <a:spAutoFit/>
            </a:bodyPr>
            <a:lstStyle/>
            <a:p>
              <a:pPr algn="l"/>
              <a:r>
                <a:rPr lang="zh-CN" sz="1650" dirty="0">
                  <a:solidFill>
                    <a:srgbClr val="1F2937"/>
                  </a:solidFill>
                  <a:latin typeface="Arial"/>
                  <a:ea typeface="Microsoft YaHei"/>
                  <a:cs typeface="Arial"/>
                </a:rPr>
                <a:t>Local AI agents for IMF</a:t>
              </a:r>
            </a:p>
          </p:txBody>
        </p:sp>
        <p:sp>
          <p:nvSpPr>
            <p:cNvPr id="23" name="TextBox 23"/>
            <p:cNvSpPr txBox="1"/>
            <p:nvPr/>
          </p:nvSpPr>
          <p:spPr>
            <a:xfrm>
              <a:off x="550545" y="3403282"/>
              <a:ext cx="3740991" cy="335280"/>
            </a:xfrm>
            <a:prstGeom prst="rect">
              <a:avLst/>
            </a:prstGeom>
            <a:noFill/>
            <a:ln>
              <a:noFill/>
            </a:ln>
          </p:spPr>
          <p:txBody>
            <a:bodyPr wrap="none" lIns="0" tIns="0" rIns="0" bIns="0" anchor="t" anchorCtr="0">
              <a:spAutoFit/>
            </a:bodyPr>
            <a:lstStyle/>
            <a:p>
              <a:pPr algn="l"/>
              <a:r>
                <a:rPr lang="zh-CN" sz="1650" dirty="0">
                  <a:solidFill>
                    <a:srgbClr val="1F2937"/>
                  </a:solidFill>
                  <a:latin typeface="Arial"/>
                  <a:ea typeface="Microsoft YaHei"/>
                  <a:cs typeface="Arial"/>
                </a:rPr>
                <a:t>Research Assistant workflows.</a:t>
              </a:r>
            </a:p>
          </p:txBody>
        </p:sp>
      </p:grpSp>
      <p:grpSp>
        <p:nvGrpSpPr>
          <p:cNvPr id="26" name="Group 26"/>
          <p:cNvGrpSpPr/>
          <p:nvPr/>
        </p:nvGrpSpPr>
        <p:grpSpPr>
          <a:xfrm>
            <a:off x="580716" y="5157109"/>
            <a:ext cx="5905500" cy="9525"/>
            <a:chOff x="571500" y="4095750"/>
            <a:chExt cx="5905500" cy="9525"/>
          </a:xfrm>
        </p:grpSpPr>
        <p:sp>
          <p:nvSpPr>
            <p:cNvPr id="25" name="Line 25"/>
            <p:cNvSpPr/>
            <p:nvPr/>
          </p:nvSpPr>
          <p:spPr>
            <a:xfrm>
              <a:off x="571500" y="4095750"/>
              <a:ext cx="5905500" cy="9525"/>
            </a:xfrm>
            <a:custGeom>
              <a:avLst/>
              <a:gdLst/>
              <a:ahLst/>
              <a:cxnLst/>
              <a:rect l="l" t="t" r="r" b="b"/>
              <a:pathLst>
                <a:path w="5905500" h="9525">
                  <a:moveTo>
                    <a:pt x="0" y="0"/>
                  </a:moveTo>
                  <a:lnTo>
                    <a:pt x="5905500" y="0"/>
                  </a:lnTo>
                </a:path>
              </a:pathLst>
            </a:custGeom>
            <a:noFill/>
            <a:ln w="9525">
              <a:solidFill>
                <a:srgbClr val="CDD7E2"/>
              </a:solidFill>
            </a:ln>
          </p:spPr>
          <p:txBody>
            <a:bodyPr/>
            <a:lstStyle/>
            <a:p>
              <a:endParaRPr lang="en-US"/>
            </a:p>
          </p:txBody>
        </p:sp>
      </p:grpSp>
      <p:grpSp>
        <p:nvGrpSpPr>
          <p:cNvPr id="52" name="Group 52"/>
          <p:cNvGrpSpPr/>
          <p:nvPr/>
        </p:nvGrpSpPr>
        <p:grpSpPr>
          <a:xfrm>
            <a:off x="838484" y="3259766"/>
            <a:ext cx="3345255" cy="1483541"/>
            <a:chOff x="614362" y="4476274"/>
            <a:chExt cx="3345255" cy="1483541"/>
          </a:xfrm>
        </p:grpSpPr>
        <p:grpSp>
          <p:nvGrpSpPr>
            <p:cNvPr id="33" name="Group 33"/>
            <p:cNvGrpSpPr/>
            <p:nvPr/>
          </p:nvGrpSpPr>
          <p:grpSpPr>
            <a:xfrm>
              <a:off x="614362" y="4476274"/>
              <a:ext cx="2377042" cy="340541"/>
              <a:chOff x="614362" y="4476274"/>
              <a:chExt cx="2377042" cy="340541"/>
            </a:xfrm>
          </p:grpSpPr>
          <p:grpSp>
            <p:nvGrpSpPr>
              <p:cNvPr id="30" name="Group 30"/>
              <p:cNvGrpSpPr/>
              <p:nvPr/>
            </p:nvGrpSpPr>
            <p:grpSpPr>
              <a:xfrm>
                <a:off x="614362" y="4486275"/>
                <a:ext cx="257175" cy="228600"/>
                <a:chOff x="614362" y="4486275"/>
                <a:chExt cx="257175" cy="228600"/>
              </a:xfrm>
            </p:grpSpPr>
            <p:sp>
              <p:nvSpPr>
                <p:cNvPr id="27" name="Freeform 27"/>
                <p:cNvSpPr/>
                <p:nvPr/>
              </p:nvSpPr>
              <p:spPr>
                <a:xfrm>
                  <a:off x="685800" y="4557712"/>
                  <a:ext cx="42862" cy="85725"/>
                </a:xfrm>
                <a:custGeom>
                  <a:avLst/>
                  <a:gdLst/>
                  <a:ahLst/>
                  <a:cxnLst/>
                  <a:rect l="l" t="t" r="r" b="b"/>
                  <a:pathLst>
                    <a:path w="42862" h="85725">
                      <a:moveTo>
                        <a:pt x="0" y="0"/>
                      </a:moveTo>
                      <a:lnTo>
                        <a:pt x="42862" y="42862"/>
                      </a:lnTo>
                      <a:lnTo>
                        <a:pt x="0" y="85725"/>
                      </a:lnTo>
                    </a:path>
                  </a:pathLst>
                </a:custGeom>
                <a:noFill/>
                <a:ln w="19050">
                  <a:solidFill>
                    <a:srgbClr val="009CDE"/>
                  </a:solidFill>
                </a:ln>
              </p:spPr>
              <p:txBody>
                <a:bodyPr/>
                <a:lstStyle/>
                <a:p>
                  <a:endParaRPr lang="en-US"/>
                </a:p>
              </p:txBody>
            </p:sp>
            <p:sp>
              <p:nvSpPr>
                <p:cNvPr id="28" name="Freeform 28"/>
                <p:cNvSpPr/>
                <p:nvPr/>
              </p:nvSpPr>
              <p:spPr>
                <a:xfrm>
                  <a:off x="757238" y="4643438"/>
                  <a:ext cx="42862" cy="9525"/>
                </a:xfrm>
                <a:custGeom>
                  <a:avLst/>
                  <a:gdLst/>
                  <a:ahLst/>
                  <a:cxnLst/>
                  <a:rect l="l" t="t" r="r" b="b"/>
                  <a:pathLst>
                    <a:path w="42862" h="9525">
                      <a:moveTo>
                        <a:pt x="0" y="0"/>
                      </a:moveTo>
                      <a:lnTo>
                        <a:pt x="42862" y="0"/>
                      </a:lnTo>
                    </a:path>
                  </a:pathLst>
                </a:custGeom>
                <a:noFill/>
                <a:ln w="19050">
                  <a:solidFill>
                    <a:srgbClr val="009CDE"/>
                  </a:solidFill>
                </a:ln>
              </p:spPr>
              <p:txBody>
                <a:bodyPr/>
                <a:lstStyle/>
                <a:p>
                  <a:endParaRPr lang="en-US"/>
                </a:p>
              </p:txBody>
            </p:sp>
            <p:sp>
              <p:nvSpPr>
                <p:cNvPr id="29" name="Freeform 29"/>
                <p:cNvSpPr/>
                <p:nvPr/>
              </p:nvSpPr>
              <p:spPr>
                <a:xfrm>
                  <a:off x="614362" y="4486275"/>
                  <a:ext cx="257175" cy="228600"/>
                </a:xfrm>
                <a:custGeom>
                  <a:avLst/>
                  <a:gdLst/>
                  <a:ahLst/>
                  <a:cxnLst/>
                  <a:rect l="l" t="t" r="r" b="b"/>
                  <a:pathLst>
                    <a:path w="257175" h="228600">
                      <a:moveTo>
                        <a:pt x="0" y="28575"/>
                      </a:moveTo>
                      <a:cubicBezTo>
                        <a:pt x="0" y="12793"/>
                        <a:pt x="12793" y="0"/>
                        <a:pt x="28575" y="0"/>
                      </a:cubicBezTo>
                      <a:lnTo>
                        <a:pt x="228600" y="0"/>
                      </a:lnTo>
                      <a:cubicBezTo>
                        <a:pt x="244382" y="0"/>
                        <a:pt x="257175" y="12793"/>
                        <a:pt x="257175" y="28575"/>
                      </a:cubicBezTo>
                      <a:lnTo>
                        <a:pt x="257175" y="200025"/>
                      </a:lnTo>
                      <a:cubicBezTo>
                        <a:pt x="257175" y="215807"/>
                        <a:pt x="244382" y="228600"/>
                        <a:pt x="228600" y="228600"/>
                      </a:cubicBezTo>
                      <a:lnTo>
                        <a:pt x="28575" y="228600"/>
                      </a:lnTo>
                      <a:cubicBezTo>
                        <a:pt x="12793" y="228600"/>
                        <a:pt x="0" y="215807"/>
                        <a:pt x="0" y="200025"/>
                      </a:cubicBezTo>
                      <a:lnTo>
                        <a:pt x="0" y="28575"/>
                      </a:lnTo>
                    </a:path>
                  </a:pathLst>
                </a:custGeom>
                <a:noFill/>
                <a:ln w="19050">
                  <a:solidFill>
                    <a:srgbClr val="009CDE"/>
                  </a:solidFill>
                </a:ln>
              </p:spPr>
              <p:txBody>
                <a:bodyPr/>
                <a:lstStyle/>
                <a:p>
                  <a:endParaRPr lang="en-US"/>
                </a:p>
              </p:txBody>
            </p:sp>
          </p:grpSp>
          <p:sp>
            <p:nvSpPr>
              <p:cNvPr id="31" name="TextBox 31"/>
              <p:cNvSpPr txBox="1"/>
              <p:nvPr/>
            </p:nvSpPr>
            <p:spPr>
              <a:xfrm>
                <a:off x="997268" y="4476274"/>
                <a:ext cx="465845"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LOCAL</a:t>
                </a:r>
              </a:p>
            </p:txBody>
          </p:sp>
          <p:sp>
            <p:nvSpPr>
              <p:cNvPr id="32" name="TextBox 32"/>
              <p:cNvSpPr txBox="1"/>
              <p:nvPr/>
            </p:nvSpPr>
            <p:spPr>
              <a:xfrm>
                <a:off x="997268" y="4666774"/>
                <a:ext cx="1994136" cy="150041"/>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Runs in the analyst</a:t>
                </a:r>
                <a:r>
                  <a:rPr lang="en-US" altLang="zh-CN" sz="975" dirty="0">
                    <a:solidFill>
                      <a:srgbClr val="5B6470"/>
                    </a:solidFill>
                    <a:latin typeface="Arial"/>
                    <a:ea typeface="Microsoft YaHei"/>
                    <a:cs typeface="Arial"/>
                  </a:rPr>
                  <a:t>’s local computer</a:t>
                </a:r>
                <a:endParaRPr lang="zh-CN" sz="975" dirty="0">
                  <a:solidFill>
                    <a:srgbClr val="5B6470"/>
                  </a:solidFill>
                  <a:latin typeface="Arial"/>
                  <a:ea typeface="Microsoft YaHei"/>
                  <a:cs typeface="Arial"/>
                </a:endParaRPr>
              </a:p>
            </p:txBody>
          </p:sp>
        </p:grpSp>
        <p:grpSp>
          <p:nvGrpSpPr>
            <p:cNvPr id="42" name="Group 42"/>
            <p:cNvGrpSpPr/>
            <p:nvPr/>
          </p:nvGrpSpPr>
          <p:grpSpPr>
            <a:xfrm>
              <a:off x="614362" y="5047774"/>
              <a:ext cx="1894538" cy="340541"/>
              <a:chOff x="614362" y="5047774"/>
              <a:chExt cx="1894538" cy="340541"/>
            </a:xfrm>
          </p:grpSpPr>
          <p:grpSp>
            <p:nvGrpSpPr>
              <p:cNvPr id="39" name="Group 39"/>
              <p:cNvGrpSpPr/>
              <p:nvPr/>
            </p:nvGrpSpPr>
            <p:grpSpPr>
              <a:xfrm>
                <a:off x="614362" y="5072062"/>
                <a:ext cx="257175" cy="200025"/>
                <a:chOff x="614362" y="5072062"/>
                <a:chExt cx="257175" cy="200025"/>
              </a:xfrm>
            </p:grpSpPr>
            <p:sp>
              <p:nvSpPr>
                <p:cNvPr id="34" name="Freeform 34"/>
                <p:cNvSpPr/>
                <p:nvPr/>
              </p:nvSpPr>
              <p:spPr>
                <a:xfrm>
                  <a:off x="785812" y="5172075"/>
                  <a:ext cx="9525" cy="9525"/>
                </a:xfrm>
                <a:custGeom>
                  <a:avLst/>
                  <a:gdLst/>
                  <a:ahLst/>
                  <a:cxnLst/>
                  <a:rect l="l" t="t" r="r" b="b"/>
                  <a:pathLst>
                    <a:path w="9525" h="9525">
                      <a:moveTo>
                        <a:pt x="0" y="0"/>
                      </a:moveTo>
                      <a:lnTo>
                        <a:pt x="143" y="0"/>
                      </a:lnTo>
                    </a:path>
                  </a:pathLst>
                </a:custGeom>
                <a:noFill/>
                <a:ln w="19050">
                  <a:solidFill>
                    <a:srgbClr val="009CDE"/>
                  </a:solidFill>
                </a:ln>
              </p:spPr>
              <p:txBody>
                <a:bodyPr/>
                <a:lstStyle/>
                <a:p>
                  <a:endParaRPr lang="en-US"/>
                </a:p>
              </p:txBody>
            </p:sp>
            <p:sp>
              <p:nvSpPr>
                <p:cNvPr id="35" name="Freeform 35"/>
                <p:cNvSpPr/>
                <p:nvPr/>
              </p:nvSpPr>
              <p:spPr>
                <a:xfrm>
                  <a:off x="742950" y="5172075"/>
                  <a:ext cx="9525" cy="9525"/>
                </a:xfrm>
                <a:custGeom>
                  <a:avLst/>
                  <a:gdLst/>
                  <a:ahLst/>
                  <a:cxnLst/>
                  <a:rect l="l" t="t" r="r" b="b"/>
                  <a:pathLst>
                    <a:path w="9525" h="9525">
                      <a:moveTo>
                        <a:pt x="0" y="0"/>
                      </a:moveTo>
                      <a:lnTo>
                        <a:pt x="143" y="0"/>
                      </a:lnTo>
                    </a:path>
                  </a:pathLst>
                </a:custGeom>
                <a:noFill/>
                <a:ln w="19050">
                  <a:solidFill>
                    <a:srgbClr val="009CDE"/>
                  </a:solidFill>
                </a:ln>
              </p:spPr>
              <p:txBody>
                <a:bodyPr/>
                <a:lstStyle/>
                <a:p>
                  <a:endParaRPr lang="en-US"/>
                </a:p>
              </p:txBody>
            </p:sp>
            <p:sp>
              <p:nvSpPr>
                <p:cNvPr id="36" name="Freeform 36"/>
                <p:cNvSpPr/>
                <p:nvPr/>
              </p:nvSpPr>
              <p:spPr>
                <a:xfrm>
                  <a:off x="700088" y="5172075"/>
                  <a:ext cx="9525" cy="9525"/>
                </a:xfrm>
                <a:custGeom>
                  <a:avLst/>
                  <a:gdLst/>
                  <a:ahLst/>
                  <a:cxnLst/>
                  <a:rect l="l" t="t" r="r" b="b"/>
                  <a:pathLst>
                    <a:path w="9525" h="9525">
                      <a:moveTo>
                        <a:pt x="0" y="0"/>
                      </a:moveTo>
                      <a:lnTo>
                        <a:pt x="143" y="0"/>
                      </a:lnTo>
                    </a:path>
                  </a:pathLst>
                </a:custGeom>
                <a:noFill/>
                <a:ln w="19050">
                  <a:solidFill>
                    <a:srgbClr val="009CDE"/>
                  </a:solidFill>
                </a:ln>
              </p:spPr>
              <p:txBody>
                <a:bodyPr/>
                <a:lstStyle/>
                <a:p>
                  <a:endParaRPr lang="en-US"/>
                </a:p>
              </p:txBody>
            </p:sp>
            <p:sp>
              <p:nvSpPr>
                <p:cNvPr id="37" name="Freeform 37"/>
                <p:cNvSpPr/>
                <p:nvPr/>
              </p:nvSpPr>
              <p:spPr>
                <a:xfrm>
                  <a:off x="614362" y="5072062"/>
                  <a:ext cx="42862" cy="200025"/>
                </a:xfrm>
                <a:custGeom>
                  <a:avLst/>
                  <a:gdLst/>
                  <a:ahLst/>
                  <a:cxnLst/>
                  <a:rect l="l" t="t" r="r" b="b"/>
                  <a:pathLst>
                    <a:path w="42862" h="200025">
                      <a:moveTo>
                        <a:pt x="42862" y="200025"/>
                      </a:moveTo>
                      <a:cubicBezTo>
                        <a:pt x="27081" y="200025"/>
                        <a:pt x="14288" y="187232"/>
                        <a:pt x="14288" y="171450"/>
                      </a:cubicBezTo>
                      <a:lnTo>
                        <a:pt x="14288" y="114300"/>
                      </a:lnTo>
                      <a:lnTo>
                        <a:pt x="0" y="100012"/>
                      </a:lnTo>
                      <a:lnTo>
                        <a:pt x="14288" y="85725"/>
                      </a:lnTo>
                      <a:lnTo>
                        <a:pt x="14288" y="28575"/>
                      </a:lnTo>
                      <a:cubicBezTo>
                        <a:pt x="14288" y="12793"/>
                        <a:pt x="27081" y="0"/>
                        <a:pt x="42862" y="0"/>
                      </a:cubicBezTo>
                    </a:path>
                  </a:pathLst>
                </a:custGeom>
                <a:noFill/>
                <a:ln w="19050">
                  <a:solidFill>
                    <a:srgbClr val="009CDE"/>
                  </a:solidFill>
                </a:ln>
              </p:spPr>
              <p:txBody>
                <a:bodyPr/>
                <a:lstStyle/>
                <a:p>
                  <a:endParaRPr lang="en-US"/>
                </a:p>
              </p:txBody>
            </p:sp>
            <p:sp>
              <p:nvSpPr>
                <p:cNvPr id="38" name="Freeform 38"/>
                <p:cNvSpPr/>
                <p:nvPr/>
              </p:nvSpPr>
              <p:spPr>
                <a:xfrm>
                  <a:off x="828675" y="5072062"/>
                  <a:ext cx="42862" cy="200025"/>
                </a:xfrm>
                <a:custGeom>
                  <a:avLst/>
                  <a:gdLst/>
                  <a:ahLst/>
                  <a:cxnLst/>
                  <a:rect l="l" t="t" r="r" b="b"/>
                  <a:pathLst>
                    <a:path w="42862" h="200025">
                      <a:moveTo>
                        <a:pt x="0" y="200025"/>
                      </a:moveTo>
                      <a:cubicBezTo>
                        <a:pt x="15782" y="200025"/>
                        <a:pt x="28575" y="187232"/>
                        <a:pt x="28575" y="171450"/>
                      </a:cubicBezTo>
                      <a:lnTo>
                        <a:pt x="28575" y="114300"/>
                      </a:lnTo>
                      <a:lnTo>
                        <a:pt x="42862" y="100012"/>
                      </a:lnTo>
                      <a:lnTo>
                        <a:pt x="28575" y="85725"/>
                      </a:lnTo>
                      <a:lnTo>
                        <a:pt x="28575" y="28575"/>
                      </a:lnTo>
                      <a:cubicBezTo>
                        <a:pt x="28575" y="12793"/>
                        <a:pt x="15782" y="0"/>
                        <a:pt x="0" y="0"/>
                      </a:cubicBezTo>
                    </a:path>
                  </a:pathLst>
                </a:custGeom>
                <a:noFill/>
                <a:ln w="19050">
                  <a:solidFill>
                    <a:srgbClr val="009CDE"/>
                  </a:solidFill>
                </a:ln>
              </p:spPr>
              <p:txBody>
                <a:bodyPr/>
                <a:lstStyle/>
                <a:p>
                  <a:endParaRPr lang="en-US"/>
                </a:p>
              </p:txBody>
            </p:sp>
          </p:grpSp>
          <p:sp>
            <p:nvSpPr>
              <p:cNvPr id="40" name="TextBox 40"/>
              <p:cNvSpPr txBox="1"/>
              <p:nvPr/>
            </p:nvSpPr>
            <p:spPr>
              <a:xfrm>
                <a:off x="997268" y="5047774"/>
                <a:ext cx="480797"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NATIVE</a:t>
                </a:r>
              </a:p>
            </p:txBody>
          </p:sp>
          <p:sp>
            <p:nvSpPr>
              <p:cNvPr id="41" name="TextBox 41"/>
              <p:cNvSpPr txBox="1"/>
              <p:nvPr/>
            </p:nvSpPr>
            <p:spPr>
              <a:xfrm>
                <a:off x="997268" y="5238274"/>
                <a:ext cx="1511632" cy="150041"/>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Speaks </a:t>
                </a:r>
                <a:r>
                  <a:rPr lang="en-US" altLang="zh-CN" sz="975" dirty="0">
                    <a:solidFill>
                      <a:srgbClr val="5B6470"/>
                    </a:solidFill>
                    <a:latin typeface="Arial"/>
                    <a:ea typeface="Microsoft YaHei"/>
                    <a:cs typeface="Arial"/>
                  </a:rPr>
                  <a:t>direct to</a:t>
                </a:r>
                <a:r>
                  <a:rPr lang="zh-CN" sz="975" dirty="0">
                    <a:solidFill>
                      <a:srgbClr val="5B6470"/>
                    </a:solidFill>
                    <a:latin typeface="Arial"/>
                    <a:ea typeface="Microsoft YaHei"/>
                    <a:cs typeface="Arial"/>
                  </a:rPr>
                  <a:t> iData SDK</a:t>
                </a:r>
              </a:p>
            </p:txBody>
          </p:sp>
        </p:grpSp>
        <p:grpSp>
          <p:nvGrpSpPr>
            <p:cNvPr id="51" name="Group 51"/>
            <p:cNvGrpSpPr/>
            <p:nvPr/>
          </p:nvGrpSpPr>
          <p:grpSpPr>
            <a:xfrm>
              <a:off x="614362" y="5619274"/>
              <a:ext cx="3345255" cy="340541"/>
              <a:chOff x="614362" y="5619274"/>
              <a:chExt cx="3345255" cy="340541"/>
            </a:xfrm>
          </p:grpSpPr>
          <p:grpSp>
            <p:nvGrpSpPr>
              <p:cNvPr id="48" name="Group 48"/>
              <p:cNvGrpSpPr/>
              <p:nvPr/>
            </p:nvGrpSpPr>
            <p:grpSpPr>
              <a:xfrm>
                <a:off x="614362" y="5634880"/>
                <a:ext cx="266701" cy="208708"/>
                <a:chOff x="614362" y="5634880"/>
                <a:chExt cx="266701" cy="208708"/>
              </a:xfrm>
            </p:grpSpPr>
            <p:sp>
              <p:nvSpPr>
                <p:cNvPr id="43" name="Freeform 43"/>
                <p:cNvSpPr/>
                <p:nvPr/>
              </p:nvSpPr>
              <p:spPr>
                <a:xfrm>
                  <a:off x="614362" y="5820618"/>
                  <a:ext cx="257175" cy="22970"/>
                </a:xfrm>
                <a:custGeom>
                  <a:avLst/>
                  <a:gdLst/>
                  <a:ahLst/>
                  <a:cxnLst/>
                  <a:rect l="l" t="t" r="r" b="b"/>
                  <a:pathLst>
                    <a:path w="257175" h="22970">
                      <a:moveTo>
                        <a:pt x="0" y="22970"/>
                      </a:moveTo>
                      <a:cubicBezTo>
                        <a:pt x="39785" y="0"/>
                        <a:pt x="88802" y="0"/>
                        <a:pt x="128588" y="22970"/>
                      </a:cubicBezTo>
                      <a:cubicBezTo>
                        <a:pt x="168373" y="0"/>
                        <a:pt x="217390" y="0"/>
                        <a:pt x="257175" y="22970"/>
                      </a:cubicBezTo>
                    </a:path>
                  </a:pathLst>
                </a:custGeom>
                <a:noFill/>
                <a:ln w="19050">
                  <a:solidFill>
                    <a:srgbClr val="009CDE"/>
                  </a:solidFill>
                </a:ln>
              </p:spPr>
              <p:txBody>
                <a:bodyPr/>
                <a:lstStyle/>
                <a:p>
                  <a:endParaRPr lang="en-US"/>
                </a:p>
              </p:txBody>
            </p:sp>
            <p:sp>
              <p:nvSpPr>
                <p:cNvPr id="44" name="Freeform 44"/>
                <p:cNvSpPr/>
                <p:nvPr/>
              </p:nvSpPr>
              <p:spPr>
                <a:xfrm>
                  <a:off x="614362" y="5634880"/>
                  <a:ext cx="257175" cy="22970"/>
                </a:xfrm>
                <a:custGeom>
                  <a:avLst/>
                  <a:gdLst/>
                  <a:ahLst/>
                  <a:cxnLst/>
                  <a:rect l="l" t="t" r="r" b="b"/>
                  <a:pathLst>
                    <a:path w="257175" h="22970">
                      <a:moveTo>
                        <a:pt x="0" y="22970"/>
                      </a:moveTo>
                      <a:cubicBezTo>
                        <a:pt x="39785" y="0"/>
                        <a:pt x="88802" y="0"/>
                        <a:pt x="128588" y="22970"/>
                      </a:cubicBezTo>
                      <a:cubicBezTo>
                        <a:pt x="168373" y="0"/>
                        <a:pt x="217390" y="0"/>
                        <a:pt x="257175" y="22970"/>
                      </a:cubicBezTo>
                    </a:path>
                  </a:pathLst>
                </a:custGeom>
                <a:noFill/>
                <a:ln w="19050">
                  <a:solidFill>
                    <a:srgbClr val="009CDE"/>
                  </a:solidFill>
                </a:ln>
              </p:spPr>
              <p:txBody>
                <a:bodyPr/>
                <a:lstStyle/>
                <a:p>
                  <a:endParaRPr lang="en-US"/>
                </a:p>
              </p:txBody>
            </p:sp>
            <p:sp>
              <p:nvSpPr>
                <p:cNvPr id="45" name="Freeform 45"/>
                <p:cNvSpPr/>
                <p:nvPr/>
              </p:nvSpPr>
              <p:spPr>
                <a:xfrm>
                  <a:off x="614362" y="5657850"/>
                  <a:ext cx="9525" cy="185738"/>
                </a:xfrm>
                <a:custGeom>
                  <a:avLst/>
                  <a:gdLst/>
                  <a:ahLst/>
                  <a:cxnLst/>
                  <a:rect l="l" t="t" r="r" b="b"/>
                  <a:pathLst>
                    <a:path w="9525" h="185738">
                      <a:moveTo>
                        <a:pt x="0" y="0"/>
                      </a:moveTo>
                      <a:lnTo>
                        <a:pt x="0" y="185738"/>
                      </a:lnTo>
                    </a:path>
                  </a:pathLst>
                </a:custGeom>
                <a:noFill/>
                <a:ln w="19050">
                  <a:solidFill>
                    <a:srgbClr val="009CDE"/>
                  </a:solidFill>
                </a:ln>
              </p:spPr>
              <p:txBody>
                <a:bodyPr/>
                <a:lstStyle/>
                <a:p>
                  <a:endParaRPr lang="en-US"/>
                </a:p>
              </p:txBody>
            </p:sp>
            <p:sp>
              <p:nvSpPr>
                <p:cNvPr id="46" name="Freeform 46"/>
                <p:cNvSpPr/>
                <p:nvPr/>
              </p:nvSpPr>
              <p:spPr>
                <a:xfrm>
                  <a:off x="742950" y="5657850"/>
                  <a:ext cx="9525" cy="185738"/>
                </a:xfrm>
                <a:custGeom>
                  <a:avLst/>
                  <a:gdLst/>
                  <a:ahLst/>
                  <a:cxnLst/>
                  <a:rect l="l" t="t" r="r" b="b"/>
                  <a:pathLst>
                    <a:path w="9525" h="185738">
                      <a:moveTo>
                        <a:pt x="0" y="0"/>
                      </a:moveTo>
                      <a:lnTo>
                        <a:pt x="0" y="185738"/>
                      </a:lnTo>
                    </a:path>
                  </a:pathLst>
                </a:custGeom>
                <a:noFill/>
                <a:ln w="19050">
                  <a:solidFill>
                    <a:srgbClr val="009CDE"/>
                  </a:solidFill>
                </a:ln>
              </p:spPr>
              <p:txBody>
                <a:bodyPr/>
                <a:lstStyle/>
                <a:p>
                  <a:endParaRPr lang="en-US"/>
                </a:p>
              </p:txBody>
            </p:sp>
            <p:sp>
              <p:nvSpPr>
                <p:cNvPr id="47" name="Freeform 47"/>
                <p:cNvSpPr/>
                <p:nvPr/>
              </p:nvSpPr>
              <p:spPr>
                <a:xfrm>
                  <a:off x="871538" y="5657850"/>
                  <a:ext cx="9525" cy="185738"/>
                </a:xfrm>
                <a:custGeom>
                  <a:avLst/>
                  <a:gdLst/>
                  <a:ahLst/>
                  <a:cxnLst/>
                  <a:rect l="l" t="t" r="r" b="b"/>
                  <a:pathLst>
                    <a:path w="9525" h="185738">
                      <a:moveTo>
                        <a:pt x="0" y="0"/>
                      </a:moveTo>
                      <a:lnTo>
                        <a:pt x="0" y="185738"/>
                      </a:lnTo>
                    </a:path>
                  </a:pathLst>
                </a:custGeom>
                <a:noFill/>
                <a:ln w="19050">
                  <a:solidFill>
                    <a:srgbClr val="009CDE"/>
                  </a:solidFill>
                </a:ln>
              </p:spPr>
              <p:txBody>
                <a:bodyPr/>
                <a:lstStyle/>
                <a:p>
                  <a:endParaRPr lang="en-US"/>
                </a:p>
              </p:txBody>
            </p:sp>
          </p:grpSp>
          <p:sp>
            <p:nvSpPr>
              <p:cNvPr id="49" name="TextBox 49"/>
              <p:cNvSpPr txBox="1"/>
              <p:nvPr/>
            </p:nvSpPr>
            <p:spPr>
              <a:xfrm>
                <a:off x="997268" y="5619274"/>
                <a:ext cx="1011588"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INSTITUTIONAL</a:t>
                </a:r>
              </a:p>
            </p:txBody>
          </p:sp>
          <p:sp>
            <p:nvSpPr>
              <p:cNvPr id="50" name="TextBox 50"/>
              <p:cNvSpPr txBox="1"/>
              <p:nvPr/>
            </p:nvSpPr>
            <p:spPr>
              <a:xfrm>
                <a:off x="997268" y="5809774"/>
                <a:ext cx="2962349" cy="150041"/>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Encodes </a:t>
                </a:r>
                <a:r>
                  <a:rPr lang="en-US" altLang="zh-CN" sz="975" dirty="0">
                    <a:solidFill>
                      <a:srgbClr val="5B6470"/>
                    </a:solidFill>
                    <a:latin typeface="Arial"/>
                    <a:ea typeface="Microsoft YaHei"/>
                    <a:cs typeface="Arial"/>
                  </a:rPr>
                  <a:t>general RA knowledge and </a:t>
                </a:r>
                <a:r>
                  <a:rPr lang="zh-CN" sz="975" dirty="0">
                    <a:solidFill>
                      <a:srgbClr val="5B6470"/>
                    </a:solidFill>
                    <a:latin typeface="Arial"/>
                    <a:ea typeface="Microsoft YaHei"/>
                    <a:cs typeface="Arial"/>
                  </a:rPr>
                  <a:t>IMF conventions</a:t>
                </a:r>
              </a:p>
            </p:txBody>
          </p:sp>
        </p:grpSp>
      </p:grpSp>
      <p:sp>
        <p:nvSpPr>
          <p:cNvPr id="53" name="TextBox 53"/>
          <p:cNvSpPr txBox="1"/>
          <p:nvPr/>
        </p:nvSpPr>
        <p:spPr>
          <a:xfrm>
            <a:off x="561022" y="648319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56" name="Text Placeholder 3">
            <a:extLst>
              <a:ext uri="{FF2B5EF4-FFF2-40B4-BE49-F238E27FC236}">
                <a16:creationId xmlns:a16="http://schemas.microsoft.com/office/drawing/2014/main" id="{B604A8FF-4FDA-7B04-DBF8-DBCFBB6CCDE1}"/>
              </a:ext>
            </a:extLst>
          </p:cNvPr>
          <p:cNvSpPr txBox="1">
            <a:spLocks/>
          </p:cNvSpPr>
          <p:nvPr/>
        </p:nvSpPr>
        <p:spPr>
          <a:xfrm>
            <a:off x="524277" y="5078766"/>
            <a:ext cx="5515284" cy="1213338"/>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Chengyu Huang / Bella Hao / Jamie Yang </a:t>
            </a:r>
          </a:p>
          <a:p>
            <a:r>
              <a:rPr lang="en-US" dirty="0"/>
              <a:t>SPR AI</a:t>
            </a:r>
          </a:p>
          <a:p>
            <a:r>
              <a:rPr lang="en-US" dirty="0" err="1"/>
              <a:t>Xx</a:t>
            </a:r>
            <a:r>
              <a:rPr lang="en-US" dirty="0"/>
              <a:t>/xx/xx</a:t>
            </a:r>
          </a:p>
        </p:txBody>
      </p:sp>
      <p:pic>
        <p:nvPicPr>
          <p:cNvPr id="60" name="Picture 59" descr="A diagram of data search&#10;&#10;AI-generated content may be incorrect.">
            <a:extLst>
              <a:ext uri="{FF2B5EF4-FFF2-40B4-BE49-F238E27FC236}">
                <a16:creationId xmlns:a16="http://schemas.microsoft.com/office/drawing/2014/main" id="{66231191-B2E3-404B-93B6-B2413CD6B925}"/>
              </a:ext>
            </a:extLst>
          </p:cNvPr>
          <p:cNvPicPr>
            <a:picLocks noChangeAspect="1"/>
          </p:cNvPicPr>
          <p:nvPr/>
        </p:nvPicPr>
        <p:blipFill>
          <a:blip r:embed="rId3"/>
          <a:stretch>
            <a:fillRect/>
          </a:stretch>
        </p:blipFill>
        <p:spPr>
          <a:xfrm>
            <a:off x="6481991" y="0"/>
            <a:ext cx="5710009"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after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400"/>
                                        <p:tgtEl>
                                          <p:spTgt spid="20"/>
                                        </p:tgtEl>
                                      </p:cBhvr>
                                    </p:animEffect>
                                  </p:childTnLst>
                                </p:cTn>
                              </p:par>
                            </p:childTnLst>
                          </p:cTn>
                        </p:par>
                        <p:par>
                          <p:cTn id="8" fill="hold">
                            <p:stCondLst>
                              <p:cond delay="400"/>
                            </p:stCondLst>
                            <p:childTnLst>
                              <p:par>
                                <p:cTn id="9" presetID="2" presetClass="entr" presetSubtype="4"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slide(fromBottom)">
                                      <p:cBhvr>
                                        <p:cTn id="11" dur="400"/>
                                        <p:tgtEl>
                                          <p:spTgt spid="24"/>
                                        </p:tgtEl>
                                      </p:cBhvr>
                                    </p:animEffect>
                                  </p:childTnLst>
                                </p:cTn>
                              </p:par>
                            </p:childTnLst>
                          </p:cTn>
                        </p:par>
                        <p:par>
                          <p:cTn id="12" fill="hold">
                            <p:stCondLst>
                              <p:cond delay="800"/>
                            </p:stCondLst>
                            <p:childTnLst>
                              <p:par>
                                <p:cTn id="13" presetID="42" presetClass="entr" presetSubtype="8" fill="hold"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slide(fromLeft)">
                                      <p:cBhvr>
                                        <p:cTn id="15" dur="400"/>
                                        <p:tgtEl>
                                          <p:spTgt spid="26"/>
                                        </p:tgtEl>
                                      </p:cBhvr>
                                    </p:animEffect>
                                  </p:childTnLst>
                                </p:cTn>
                              </p:par>
                            </p:childTnLst>
                          </p:cTn>
                        </p:par>
                        <p:par>
                          <p:cTn id="16" fill="hold">
                            <p:stCondLst>
                              <p:cond delay="1200"/>
                            </p:stCondLst>
                            <p:childTnLst>
                              <p:par>
                                <p:cTn id="17" presetID="14" presetClass="entr" presetSubtype="10" fill="hold" nodeType="afterEffect">
                                  <p:stCondLst>
                                    <p:cond delay="0"/>
                                  </p:stCondLst>
                                  <p:childTnLst>
                                    <p:set>
                                      <p:cBhvr>
                                        <p:cTn id="18" dur="1" fill="hold">
                                          <p:stCondLst>
                                            <p:cond delay="0"/>
                                          </p:stCondLst>
                                        </p:cTn>
                                        <p:tgtEl>
                                          <p:spTgt spid="52"/>
                                        </p:tgtEl>
                                        <p:attrNameLst>
                                          <p:attrName>style.visibility</p:attrName>
                                        </p:attrNameLst>
                                      </p:cBhvr>
                                      <p:to>
                                        <p:strVal val="visible"/>
                                      </p:to>
                                    </p:set>
                                    <p:animEffect transition="in" filter="randombar(horizontal)">
                                      <p:cBhvr>
                                        <p:cTn id="1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4" grpId="0"/>
      <p:bldP spid="26" grpId="0"/>
      <p:bldP spid="5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5471236" cy="897255"/>
            <a:chOff x="541020" y="569595"/>
            <a:chExt cx="5471236" cy="897255"/>
          </a:xfrm>
        </p:grpSpPr>
        <p:sp>
          <p:nvSpPr>
            <p:cNvPr id="3" name="TextBox 3"/>
            <p:cNvSpPr txBox="1"/>
            <p:nvPr/>
          </p:nvSpPr>
          <p:spPr>
            <a:xfrm>
              <a:off x="560070" y="569595"/>
              <a:ext cx="1154601"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01 · THE PROBLEM</a:t>
              </a:r>
            </a:p>
          </p:txBody>
        </p:sp>
        <p:sp>
          <p:nvSpPr>
            <p:cNvPr id="4" name="TextBox 4"/>
            <p:cNvSpPr txBox="1"/>
            <p:nvPr/>
          </p:nvSpPr>
          <p:spPr>
            <a:xfrm>
              <a:off x="541020" y="788670"/>
              <a:ext cx="5471236"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AI today lives in a chat window</a:t>
              </a:r>
            </a:p>
          </p:txBody>
        </p:sp>
        <p:sp>
          <p:nvSpPr>
            <p:cNvPr id="5" name="TextBox 5"/>
            <p:cNvSpPr txBox="1"/>
            <p:nvPr/>
          </p:nvSpPr>
          <p:spPr>
            <a:xfrm>
              <a:off x="556260" y="1223010"/>
              <a:ext cx="5270754"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 and the rest of the workflow is stitched together by hand.</a:t>
              </a:r>
            </a:p>
          </p:txBody>
        </p:sp>
      </p:grpSp>
      <p:grpSp>
        <p:nvGrpSpPr>
          <p:cNvPr id="19" name="Group 19"/>
          <p:cNvGrpSpPr/>
          <p:nvPr/>
        </p:nvGrpSpPr>
        <p:grpSpPr>
          <a:xfrm>
            <a:off x="571500" y="1809750"/>
            <a:ext cx="5143500" cy="3048000"/>
            <a:chOff x="571500" y="1809750"/>
            <a:chExt cx="5143500" cy="3048000"/>
          </a:xfrm>
        </p:grpSpPr>
        <p:sp>
          <p:nvSpPr>
            <p:cNvPr id="7" name="Rectangle 7"/>
            <p:cNvSpPr/>
            <p:nvPr/>
          </p:nvSpPr>
          <p:spPr>
            <a:xfrm>
              <a:off x="571500" y="1809750"/>
              <a:ext cx="5143500" cy="3048000"/>
            </a:xfrm>
            <a:prstGeom prst="roundRect">
              <a:avLst>
                <a:gd name="adj" fmla="val 3125"/>
              </a:avLst>
            </a:prstGeom>
            <a:solidFill>
              <a:srgbClr val="EAF6FD"/>
            </a:solidFill>
            <a:ln w="9525">
              <a:solidFill>
                <a:srgbClr val="CDD7E2"/>
              </a:solidFill>
            </a:ln>
          </p:spPr>
          <p:txBody>
            <a:bodyPr/>
            <a:lstStyle/>
            <a:p>
              <a:endParaRPr lang="en-US"/>
            </a:p>
          </p:txBody>
        </p:sp>
        <p:sp>
          <p:nvSpPr>
            <p:cNvPr id="8" name="TextBox 8"/>
            <p:cNvSpPr txBox="1"/>
            <p:nvPr/>
          </p:nvSpPr>
          <p:spPr>
            <a:xfrm>
              <a:off x="807720" y="2055495"/>
              <a:ext cx="595632" cy="182880"/>
            </a:xfrm>
            <a:prstGeom prst="rect">
              <a:avLst/>
            </a:prstGeom>
            <a:noFill/>
            <a:ln>
              <a:noFill/>
            </a:ln>
          </p:spPr>
          <p:txBody>
            <a:bodyPr wrap="none" lIns="0" tIns="0" rIns="0" bIns="0" anchor="t" anchorCtr="0">
              <a:spAutoFit/>
            </a:bodyPr>
            <a:lstStyle/>
            <a:p>
              <a:pPr algn="l"/>
              <a:r>
                <a:rPr lang="zh-CN" sz="900" b="1" dirty="0">
                  <a:solidFill>
                    <a:srgbClr val="5B6470"/>
                  </a:solidFill>
                  <a:latin typeface="Arial"/>
                  <a:ea typeface="Microsoft YaHei"/>
                  <a:cs typeface="Arial"/>
                </a:rPr>
                <a:t>CHAT TAB</a:t>
              </a:r>
            </a:p>
          </p:txBody>
        </p:sp>
        <p:grpSp>
          <p:nvGrpSpPr>
            <p:cNvPr id="11" name="Group 11"/>
            <p:cNvGrpSpPr/>
            <p:nvPr/>
          </p:nvGrpSpPr>
          <p:grpSpPr>
            <a:xfrm>
              <a:off x="866775" y="2447925"/>
              <a:ext cx="285750" cy="285750"/>
              <a:chOff x="866775" y="2447925"/>
              <a:chExt cx="285750" cy="285750"/>
            </a:xfrm>
          </p:grpSpPr>
          <p:sp>
            <p:nvSpPr>
              <p:cNvPr id="9" name="Freeform 9"/>
              <p:cNvSpPr/>
              <p:nvPr/>
            </p:nvSpPr>
            <p:spPr>
              <a:xfrm>
                <a:off x="977900" y="2447925"/>
                <a:ext cx="174625" cy="174625"/>
              </a:xfrm>
              <a:custGeom>
                <a:avLst/>
                <a:gdLst/>
                <a:ahLst/>
                <a:cxnLst/>
                <a:rect l="l" t="t" r="r" b="b"/>
                <a:pathLst>
                  <a:path w="174625" h="174625">
                    <a:moveTo>
                      <a:pt x="174625" y="174625"/>
                    </a:moveTo>
                    <a:lnTo>
                      <a:pt x="127000" y="127000"/>
                    </a:lnTo>
                    <a:lnTo>
                      <a:pt x="15875" y="127000"/>
                    </a:lnTo>
                    <a:cubicBezTo>
                      <a:pt x="7107" y="127000"/>
                      <a:pt x="0" y="119893"/>
                      <a:pt x="0" y="111125"/>
                    </a:cubicBezTo>
                    <a:lnTo>
                      <a:pt x="0" y="15875"/>
                    </a:lnTo>
                    <a:cubicBezTo>
                      <a:pt x="0" y="7107"/>
                      <a:pt x="7107" y="0"/>
                      <a:pt x="15875" y="0"/>
                    </a:cubicBezTo>
                    <a:lnTo>
                      <a:pt x="158750" y="0"/>
                    </a:lnTo>
                    <a:cubicBezTo>
                      <a:pt x="167518" y="0"/>
                      <a:pt x="174625" y="7107"/>
                      <a:pt x="174625" y="15875"/>
                    </a:cubicBezTo>
                    <a:lnTo>
                      <a:pt x="174625" y="174625"/>
                    </a:lnTo>
                  </a:path>
                </a:pathLst>
              </a:custGeom>
              <a:noFill/>
              <a:ln w="19050">
                <a:solidFill>
                  <a:srgbClr val="009CDE"/>
                </a:solidFill>
              </a:ln>
            </p:spPr>
            <p:txBody>
              <a:bodyPr/>
              <a:lstStyle/>
              <a:p>
                <a:endParaRPr lang="en-US"/>
              </a:p>
            </p:txBody>
          </p:sp>
          <p:sp>
            <p:nvSpPr>
              <p:cNvPr id="10" name="Freeform 10"/>
              <p:cNvSpPr/>
              <p:nvPr/>
            </p:nvSpPr>
            <p:spPr>
              <a:xfrm>
                <a:off x="866775" y="2559050"/>
                <a:ext cx="174625" cy="174625"/>
              </a:xfrm>
              <a:custGeom>
                <a:avLst/>
                <a:gdLst/>
                <a:ahLst/>
                <a:cxnLst/>
                <a:rect l="l" t="t" r="r" b="b"/>
                <a:pathLst>
                  <a:path w="174625" h="174625">
                    <a:moveTo>
                      <a:pt x="174625" y="79375"/>
                    </a:moveTo>
                    <a:lnTo>
                      <a:pt x="174625" y="111125"/>
                    </a:lnTo>
                    <a:cubicBezTo>
                      <a:pt x="174625" y="119893"/>
                      <a:pt x="167518" y="127000"/>
                      <a:pt x="158750" y="127000"/>
                    </a:cubicBezTo>
                    <a:lnTo>
                      <a:pt x="47625" y="127000"/>
                    </a:lnTo>
                    <a:lnTo>
                      <a:pt x="0" y="174625"/>
                    </a:lnTo>
                    <a:lnTo>
                      <a:pt x="0" y="15875"/>
                    </a:lnTo>
                    <a:cubicBezTo>
                      <a:pt x="0" y="7107"/>
                      <a:pt x="7107" y="0"/>
                      <a:pt x="15875" y="0"/>
                    </a:cubicBezTo>
                    <a:lnTo>
                      <a:pt x="47625" y="0"/>
                    </a:lnTo>
                  </a:path>
                </a:pathLst>
              </a:custGeom>
              <a:noFill/>
              <a:ln w="19050">
                <a:solidFill>
                  <a:srgbClr val="009CDE"/>
                </a:solidFill>
              </a:ln>
            </p:spPr>
            <p:txBody>
              <a:bodyPr/>
              <a:lstStyle/>
              <a:p>
                <a:endParaRPr lang="en-US"/>
              </a:p>
            </p:txBody>
          </p:sp>
        </p:grpSp>
        <p:sp>
          <p:nvSpPr>
            <p:cNvPr id="12" name="TextBox 12"/>
            <p:cNvSpPr txBox="1"/>
            <p:nvPr/>
          </p:nvSpPr>
          <p:spPr>
            <a:xfrm>
              <a:off x="1274445" y="2507932"/>
              <a:ext cx="2572226" cy="335280"/>
            </a:xfrm>
            <a:prstGeom prst="rect">
              <a:avLst/>
            </a:prstGeom>
            <a:noFill/>
            <a:ln>
              <a:noFill/>
            </a:ln>
          </p:spPr>
          <p:txBody>
            <a:bodyPr wrap="none" lIns="0" tIns="0" rIns="0" bIns="0" anchor="t" anchorCtr="0">
              <a:spAutoFit/>
            </a:bodyPr>
            <a:lstStyle/>
            <a:p>
              <a:pPr algn="l"/>
              <a:r>
                <a:rPr lang="zh-CN" sz="1650" b="1" dirty="0">
                  <a:solidFill>
                    <a:srgbClr val="004C97"/>
                  </a:solidFill>
                  <a:latin typeface="Arial Black"/>
                  <a:ea typeface="Microsoft YaHei"/>
                  <a:cs typeface="Arial Black"/>
                </a:rPr>
                <a:t>Ask Claude / ChatGPT</a:t>
              </a:r>
            </a:p>
          </p:txBody>
        </p:sp>
        <p:sp>
          <p:nvSpPr>
            <p:cNvPr id="13" name="Rectangle 13"/>
            <p:cNvSpPr/>
            <p:nvPr/>
          </p:nvSpPr>
          <p:spPr>
            <a:xfrm>
              <a:off x="819150" y="3048000"/>
              <a:ext cx="4648200" cy="419100"/>
            </a:xfrm>
            <a:prstGeom prst="roundRect">
              <a:avLst>
                <a:gd name="adj" fmla="val 13636"/>
              </a:avLst>
            </a:prstGeom>
            <a:solidFill>
              <a:srgbClr val="FFFFFF"/>
            </a:solidFill>
            <a:ln w="9525">
              <a:solidFill>
                <a:srgbClr val="CDD7E2"/>
              </a:solidFill>
            </a:ln>
          </p:spPr>
          <p:txBody>
            <a:bodyPr/>
            <a:lstStyle/>
            <a:p>
              <a:endParaRPr lang="en-US"/>
            </a:p>
          </p:txBody>
        </p:sp>
        <p:sp>
          <p:nvSpPr>
            <p:cNvPr id="14" name="TextBox 14"/>
            <p:cNvSpPr txBox="1"/>
            <p:nvPr/>
          </p:nvSpPr>
          <p:spPr>
            <a:xfrm>
              <a:off x="959168" y="3209449"/>
              <a:ext cx="3819692" cy="198120"/>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"What's the indicator code for WEO real GDP growth?"</a:t>
              </a:r>
            </a:p>
          </p:txBody>
        </p:sp>
        <p:sp>
          <p:nvSpPr>
            <p:cNvPr id="15" name="Rectangle 15"/>
            <p:cNvSpPr/>
            <p:nvPr/>
          </p:nvSpPr>
          <p:spPr>
            <a:xfrm>
              <a:off x="819150" y="3600450"/>
              <a:ext cx="4648200" cy="419100"/>
            </a:xfrm>
            <a:prstGeom prst="roundRect">
              <a:avLst>
                <a:gd name="adj" fmla="val 13636"/>
              </a:avLst>
            </a:prstGeom>
            <a:solidFill>
              <a:srgbClr val="FFFFFF"/>
            </a:solidFill>
            <a:ln w="9525">
              <a:solidFill>
                <a:srgbClr val="CDD7E2"/>
              </a:solidFill>
            </a:ln>
          </p:spPr>
          <p:txBody>
            <a:bodyPr/>
            <a:lstStyle/>
            <a:p>
              <a:endParaRPr lang="en-US"/>
            </a:p>
          </p:txBody>
        </p:sp>
        <p:sp>
          <p:nvSpPr>
            <p:cNvPr id="16" name="TextBox 16"/>
            <p:cNvSpPr txBox="1"/>
            <p:nvPr/>
          </p:nvSpPr>
          <p:spPr>
            <a:xfrm>
              <a:off x="959168" y="3761899"/>
              <a:ext cx="2352985" cy="198120"/>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"Which countries are in the G20?"</a:t>
              </a:r>
            </a:p>
          </p:txBody>
        </p:sp>
        <p:sp>
          <p:nvSpPr>
            <p:cNvPr id="17" name="Rectangle 17"/>
            <p:cNvSpPr/>
            <p:nvPr/>
          </p:nvSpPr>
          <p:spPr>
            <a:xfrm>
              <a:off x="819150" y="4152900"/>
              <a:ext cx="4648200" cy="419100"/>
            </a:xfrm>
            <a:prstGeom prst="roundRect">
              <a:avLst>
                <a:gd name="adj" fmla="val 13636"/>
              </a:avLst>
            </a:prstGeom>
            <a:solidFill>
              <a:srgbClr val="FFFFFF"/>
            </a:solidFill>
            <a:ln w="9525">
              <a:solidFill>
                <a:srgbClr val="CDD7E2"/>
              </a:solidFill>
            </a:ln>
          </p:spPr>
          <p:txBody>
            <a:bodyPr/>
            <a:lstStyle/>
            <a:p>
              <a:endParaRPr lang="en-US"/>
            </a:p>
          </p:txBody>
        </p:sp>
        <p:sp>
          <p:nvSpPr>
            <p:cNvPr id="18" name="TextBox 18"/>
            <p:cNvSpPr txBox="1"/>
            <p:nvPr/>
          </p:nvSpPr>
          <p:spPr>
            <a:xfrm>
              <a:off x="959168" y="4314349"/>
              <a:ext cx="2730341" cy="198120"/>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"Show me sample Python to call iData…"</a:t>
              </a:r>
            </a:p>
          </p:txBody>
        </p:sp>
      </p:grpSp>
      <p:grpSp>
        <p:nvGrpSpPr>
          <p:cNvPr id="27" name="Group 27"/>
          <p:cNvGrpSpPr/>
          <p:nvPr/>
        </p:nvGrpSpPr>
        <p:grpSpPr>
          <a:xfrm>
            <a:off x="5810250" y="2819400"/>
            <a:ext cx="571500" cy="1088231"/>
            <a:chOff x="5810250" y="2819400"/>
            <a:chExt cx="571500" cy="1088231"/>
          </a:xfrm>
        </p:grpSpPr>
        <p:sp>
          <p:nvSpPr>
            <p:cNvPr id="20" name="Line 20"/>
            <p:cNvSpPr/>
            <p:nvPr/>
          </p:nvSpPr>
          <p:spPr>
            <a:xfrm>
              <a:off x="5810250" y="3333750"/>
              <a:ext cx="571500" cy="9525"/>
            </a:xfrm>
            <a:custGeom>
              <a:avLst/>
              <a:gdLst/>
              <a:ahLst/>
              <a:cxnLst/>
              <a:rect l="l" t="t" r="r" b="b"/>
              <a:pathLst>
                <a:path w="571500" h="9525">
                  <a:moveTo>
                    <a:pt x="0" y="0"/>
                  </a:moveTo>
                  <a:lnTo>
                    <a:pt x="571500" y="0"/>
                  </a:lnTo>
                </a:path>
              </a:pathLst>
            </a:custGeom>
            <a:noFill/>
            <a:ln w="19050">
              <a:solidFill>
                <a:srgbClr val="707372"/>
              </a:solidFill>
              <a:custDash>
                <a:ds d="300000" sp="200000"/>
              </a:custDash>
            </a:ln>
          </p:spPr>
          <p:txBody>
            <a:bodyPr/>
            <a:lstStyle/>
            <a:p>
              <a:endParaRPr lang="en-US"/>
            </a:p>
          </p:txBody>
        </p:sp>
        <p:grpSp>
          <p:nvGrpSpPr>
            <p:cNvPr id="23" name="Group 23"/>
            <p:cNvGrpSpPr/>
            <p:nvPr/>
          </p:nvGrpSpPr>
          <p:grpSpPr>
            <a:xfrm>
              <a:off x="5924550" y="2819400"/>
              <a:ext cx="342900" cy="342900"/>
              <a:chOff x="5924550" y="2819400"/>
              <a:chExt cx="342900" cy="342900"/>
            </a:xfrm>
          </p:grpSpPr>
          <p:sp>
            <p:nvSpPr>
              <p:cNvPr id="21" name="Freeform 21"/>
              <p:cNvSpPr/>
              <p:nvPr/>
            </p:nvSpPr>
            <p:spPr>
              <a:xfrm>
                <a:off x="6000750" y="2895600"/>
                <a:ext cx="266700" cy="266700"/>
              </a:xfrm>
              <a:custGeom>
                <a:avLst/>
                <a:gdLst/>
                <a:ahLst/>
                <a:cxnLst/>
                <a:rect l="l" t="t" r="r" b="b"/>
                <a:pathLst>
                  <a:path w="266700" h="266700">
                    <a:moveTo>
                      <a:pt x="0" y="50806"/>
                    </a:moveTo>
                    <a:cubicBezTo>
                      <a:pt x="0" y="22747"/>
                      <a:pt x="22747" y="0"/>
                      <a:pt x="50806" y="0"/>
                    </a:cubicBezTo>
                    <a:lnTo>
                      <a:pt x="215894" y="0"/>
                    </a:lnTo>
                    <a:cubicBezTo>
                      <a:pt x="229368" y="0"/>
                      <a:pt x="242291" y="5353"/>
                      <a:pt x="251819" y="14881"/>
                    </a:cubicBezTo>
                    <a:cubicBezTo>
                      <a:pt x="261347" y="24409"/>
                      <a:pt x="266700" y="37332"/>
                      <a:pt x="266700" y="50806"/>
                    </a:cubicBezTo>
                    <a:lnTo>
                      <a:pt x="266700" y="215894"/>
                    </a:lnTo>
                    <a:cubicBezTo>
                      <a:pt x="266700" y="229368"/>
                      <a:pt x="261347" y="242291"/>
                      <a:pt x="251819" y="251819"/>
                    </a:cubicBezTo>
                    <a:cubicBezTo>
                      <a:pt x="242291" y="261347"/>
                      <a:pt x="229368" y="266700"/>
                      <a:pt x="215894" y="266700"/>
                    </a:cubicBezTo>
                    <a:lnTo>
                      <a:pt x="50806" y="266700"/>
                    </a:lnTo>
                    <a:cubicBezTo>
                      <a:pt x="37332" y="266700"/>
                      <a:pt x="24409" y="261347"/>
                      <a:pt x="14881" y="251819"/>
                    </a:cubicBezTo>
                    <a:cubicBezTo>
                      <a:pt x="5353" y="242291"/>
                      <a:pt x="0" y="229368"/>
                      <a:pt x="0" y="215894"/>
                    </a:cubicBezTo>
                    <a:lnTo>
                      <a:pt x="0" y="50806"/>
                    </a:lnTo>
                  </a:path>
                </a:pathLst>
              </a:custGeom>
              <a:noFill/>
              <a:ln w="19050">
                <a:solidFill>
                  <a:srgbClr val="707372"/>
                </a:solidFill>
              </a:ln>
            </p:spPr>
            <p:txBody>
              <a:bodyPr/>
              <a:lstStyle/>
              <a:p>
                <a:endParaRPr lang="en-US"/>
              </a:p>
            </p:txBody>
          </p:sp>
          <p:sp>
            <p:nvSpPr>
              <p:cNvPr id="22" name="Freeform 22"/>
              <p:cNvSpPr/>
              <p:nvPr/>
            </p:nvSpPr>
            <p:spPr>
              <a:xfrm>
                <a:off x="5924550" y="2819400"/>
                <a:ext cx="257175" cy="261690"/>
              </a:xfrm>
              <a:custGeom>
                <a:avLst/>
                <a:gdLst/>
                <a:ahLst/>
                <a:cxnLst/>
                <a:rect l="l" t="t" r="r" b="b"/>
                <a:pathLst>
                  <a:path w="257175" h="261690">
                    <a:moveTo>
                      <a:pt x="19279" y="261690"/>
                    </a:moveTo>
                    <a:cubicBezTo>
                      <a:pt x="7388" y="254911"/>
                      <a:pt x="33" y="242288"/>
                      <a:pt x="0" y="228600"/>
                    </a:cubicBezTo>
                    <a:lnTo>
                      <a:pt x="0" y="38100"/>
                    </a:lnTo>
                    <a:cubicBezTo>
                      <a:pt x="0" y="17145"/>
                      <a:pt x="17145" y="0"/>
                      <a:pt x="38100" y="0"/>
                    </a:cubicBezTo>
                    <a:lnTo>
                      <a:pt x="228600" y="0"/>
                    </a:lnTo>
                    <a:cubicBezTo>
                      <a:pt x="242888" y="0"/>
                      <a:pt x="250660" y="7334"/>
                      <a:pt x="257175" y="19050"/>
                    </a:cubicBezTo>
                  </a:path>
                </a:pathLst>
              </a:custGeom>
              <a:noFill/>
              <a:ln w="19050">
                <a:solidFill>
                  <a:srgbClr val="707372"/>
                </a:solidFill>
              </a:ln>
            </p:spPr>
            <p:txBody>
              <a:bodyPr/>
              <a:lstStyle/>
              <a:p>
                <a:endParaRPr lang="en-US"/>
              </a:p>
            </p:txBody>
          </p:sp>
        </p:grpSp>
        <p:sp>
          <p:nvSpPr>
            <p:cNvPr id="24" name="TextBox 24"/>
            <p:cNvSpPr txBox="1"/>
            <p:nvPr/>
          </p:nvSpPr>
          <p:spPr>
            <a:xfrm>
              <a:off x="5879934" y="3435191"/>
              <a:ext cx="432131" cy="167640"/>
            </a:xfrm>
            <a:prstGeom prst="rect">
              <a:avLst/>
            </a:prstGeom>
            <a:noFill/>
            <a:ln>
              <a:noFill/>
            </a:ln>
          </p:spPr>
          <p:txBody>
            <a:bodyPr wrap="none" lIns="0" tIns="0" rIns="0" bIns="0" anchor="t" anchorCtr="0">
              <a:spAutoFit/>
            </a:bodyPr>
            <a:lstStyle/>
            <a:p>
              <a:pPr algn="ctr"/>
              <a:r>
                <a:rPr lang="zh-CN" sz="825" b="1" dirty="0">
                  <a:solidFill>
                    <a:srgbClr val="707372"/>
                  </a:solidFill>
                  <a:latin typeface="Arial"/>
                  <a:ea typeface="Microsoft YaHei"/>
                  <a:cs typeface="Arial"/>
                </a:rPr>
                <a:t>COPY ·</a:t>
              </a:r>
            </a:p>
          </p:txBody>
        </p:sp>
        <p:sp>
          <p:nvSpPr>
            <p:cNvPr id="25" name="TextBox 25"/>
            <p:cNvSpPr txBox="1"/>
            <p:nvPr/>
          </p:nvSpPr>
          <p:spPr>
            <a:xfrm>
              <a:off x="5857794" y="3587591"/>
              <a:ext cx="476412" cy="167640"/>
            </a:xfrm>
            <a:prstGeom prst="rect">
              <a:avLst/>
            </a:prstGeom>
            <a:noFill/>
            <a:ln>
              <a:noFill/>
            </a:ln>
          </p:spPr>
          <p:txBody>
            <a:bodyPr wrap="none" lIns="0" tIns="0" rIns="0" bIns="0" anchor="t" anchorCtr="0">
              <a:spAutoFit/>
            </a:bodyPr>
            <a:lstStyle/>
            <a:p>
              <a:pPr algn="ctr"/>
              <a:r>
                <a:rPr lang="zh-CN" sz="825" b="1" dirty="0">
                  <a:solidFill>
                    <a:srgbClr val="707372"/>
                  </a:solidFill>
                  <a:latin typeface="Arial"/>
                  <a:ea typeface="Microsoft YaHei"/>
                  <a:cs typeface="Arial"/>
                </a:rPr>
                <a:t>PASTE ·</a:t>
              </a:r>
            </a:p>
          </p:txBody>
        </p:sp>
        <p:sp>
          <p:nvSpPr>
            <p:cNvPr id="26" name="TextBox 26"/>
            <p:cNvSpPr txBox="1"/>
            <p:nvPr/>
          </p:nvSpPr>
          <p:spPr>
            <a:xfrm>
              <a:off x="5876771" y="3739991"/>
              <a:ext cx="438457" cy="167640"/>
            </a:xfrm>
            <a:prstGeom prst="rect">
              <a:avLst/>
            </a:prstGeom>
            <a:noFill/>
            <a:ln>
              <a:noFill/>
            </a:ln>
          </p:spPr>
          <p:txBody>
            <a:bodyPr wrap="none" lIns="0" tIns="0" rIns="0" bIns="0" anchor="t" anchorCtr="0">
              <a:spAutoFit/>
            </a:bodyPr>
            <a:lstStyle/>
            <a:p>
              <a:pPr algn="ctr"/>
              <a:r>
                <a:rPr lang="zh-CN" sz="825" b="1" dirty="0">
                  <a:solidFill>
                    <a:srgbClr val="707372"/>
                  </a:solidFill>
                  <a:latin typeface="Arial"/>
                  <a:ea typeface="Microsoft YaHei"/>
                  <a:cs typeface="Arial"/>
                </a:rPr>
                <a:t>RETYPE</a:t>
              </a:r>
            </a:p>
          </p:txBody>
        </p:sp>
      </p:grpSp>
      <p:grpSp>
        <p:nvGrpSpPr>
          <p:cNvPr id="47" name="Group 47"/>
          <p:cNvGrpSpPr/>
          <p:nvPr/>
        </p:nvGrpSpPr>
        <p:grpSpPr>
          <a:xfrm>
            <a:off x="6477000" y="1809750"/>
            <a:ext cx="5143500" cy="3048000"/>
            <a:chOff x="6477000" y="1809750"/>
            <a:chExt cx="5143500" cy="3048000"/>
          </a:xfrm>
        </p:grpSpPr>
        <p:sp>
          <p:nvSpPr>
            <p:cNvPr id="28" name="Rectangle 28"/>
            <p:cNvSpPr/>
            <p:nvPr/>
          </p:nvSpPr>
          <p:spPr>
            <a:xfrm>
              <a:off x="6477000" y="1809750"/>
              <a:ext cx="5143500" cy="3048000"/>
            </a:xfrm>
            <a:prstGeom prst="roundRect">
              <a:avLst>
                <a:gd name="adj" fmla="val 3125"/>
              </a:avLst>
            </a:prstGeom>
            <a:solidFill>
              <a:srgbClr val="004C97"/>
            </a:solidFill>
            <a:ln>
              <a:noFill/>
            </a:ln>
          </p:spPr>
          <p:txBody>
            <a:bodyPr/>
            <a:lstStyle/>
            <a:p>
              <a:endParaRPr lang="en-US"/>
            </a:p>
          </p:txBody>
        </p:sp>
        <p:sp>
          <p:nvSpPr>
            <p:cNvPr id="29" name="TextBox 29"/>
            <p:cNvSpPr txBox="1"/>
            <p:nvPr/>
          </p:nvSpPr>
          <p:spPr>
            <a:xfrm>
              <a:off x="6713220" y="2055495"/>
              <a:ext cx="1085593" cy="182880"/>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REAL WORKFLOW</a:t>
              </a:r>
            </a:p>
          </p:txBody>
        </p:sp>
        <p:grpSp>
          <p:nvGrpSpPr>
            <p:cNvPr id="33" name="Group 33"/>
            <p:cNvGrpSpPr/>
            <p:nvPr/>
          </p:nvGrpSpPr>
          <p:grpSpPr>
            <a:xfrm>
              <a:off x="6788150" y="2447925"/>
              <a:ext cx="254000" cy="285750"/>
              <a:chOff x="6788150" y="2447925"/>
              <a:chExt cx="254000" cy="285750"/>
            </a:xfrm>
          </p:grpSpPr>
          <p:sp>
            <p:nvSpPr>
              <p:cNvPr id="30" name="Freeform 30"/>
              <p:cNvSpPr/>
              <p:nvPr/>
            </p:nvSpPr>
            <p:spPr>
              <a:xfrm>
                <a:off x="6788150" y="2447925"/>
                <a:ext cx="254000" cy="95250"/>
              </a:xfrm>
              <a:custGeom>
                <a:avLst/>
                <a:gdLst/>
                <a:ahLst/>
                <a:cxnLst/>
                <a:rect l="l" t="t" r="r" b="b"/>
                <a:pathLst>
                  <a:path w="254000" h="95250">
                    <a:moveTo>
                      <a:pt x="0" y="47625"/>
                    </a:moveTo>
                    <a:cubicBezTo>
                      <a:pt x="0" y="73928"/>
                      <a:pt x="56860" y="95250"/>
                      <a:pt x="127000" y="95250"/>
                    </a:cubicBezTo>
                    <a:cubicBezTo>
                      <a:pt x="197140" y="95250"/>
                      <a:pt x="254000" y="73928"/>
                      <a:pt x="254000" y="47625"/>
                    </a:cubicBezTo>
                    <a:cubicBezTo>
                      <a:pt x="254000" y="21322"/>
                      <a:pt x="197140" y="0"/>
                      <a:pt x="127000" y="0"/>
                    </a:cubicBezTo>
                    <a:cubicBezTo>
                      <a:pt x="56860" y="0"/>
                      <a:pt x="0" y="21322"/>
                      <a:pt x="0" y="47625"/>
                    </a:cubicBezTo>
                  </a:path>
                </a:pathLst>
              </a:custGeom>
              <a:noFill/>
              <a:ln w="19050">
                <a:solidFill>
                  <a:srgbClr val="FFFFFF"/>
                </a:solidFill>
              </a:ln>
            </p:spPr>
            <p:txBody>
              <a:bodyPr/>
              <a:lstStyle/>
              <a:p>
                <a:endParaRPr lang="en-US"/>
              </a:p>
            </p:txBody>
          </p:sp>
          <p:sp>
            <p:nvSpPr>
              <p:cNvPr id="31" name="Freeform 31"/>
              <p:cNvSpPr/>
              <p:nvPr/>
            </p:nvSpPr>
            <p:spPr>
              <a:xfrm>
                <a:off x="6788150" y="2495550"/>
                <a:ext cx="254000" cy="142875"/>
              </a:xfrm>
              <a:custGeom>
                <a:avLst/>
                <a:gdLst/>
                <a:ahLst/>
                <a:cxnLst/>
                <a:rect l="l" t="t" r="r" b="b"/>
                <a:pathLst>
                  <a:path w="254000" h="142875">
                    <a:moveTo>
                      <a:pt x="0" y="0"/>
                    </a:moveTo>
                    <a:lnTo>
                      <a:pt x="0" y="95250"/>
                    </a:lnTo>
                    <a:cubicBezTo>
                      <a:pt x="0" y="121553"/>
                      <a:pt x="56860" y="142875"/>
                      <a:pt x="127000" y="142875"/>
                    </a:cubicBezTo>
                    <a:cubicBezTo>
                      <a:pt x="197140" y="142875"/>
                      <a:pt x="254000" y="121553"/>
                      <a:pt x="254000" y="95250"/>
                    </a:cubicBezTo>
                    <a:lnTo>
                      <a:pt x="254000" y="0"/>
                    </a:lnTo>
                  </a:path>
                </a:pathLst>
              </a:custGeom>
              <a:noFill/>
              <a:ln w="19050">
                <a:solidFill>
                  <a:srgbClr val="FFFFFF"/>
                </a:solidFill>
              </a:ln>
            </p:spPr>
            <p:txBody>
              <a:bodyPr/>
              <a:lstStyle/>
              <a:p>
                <a:endParaRPr lang="en-US"/>
              </a:p>
            </p:txBody>
          </p:sp>
          <p:sp>
            <p:nvSpPr>
              <p:cNvPr id="32" name="Freeform 32"/>
              <p:cNvSpPr/>
              <p:nvPr/>
            </p:nvSpPr>
            <p:spPr>
              <a:xfrm>
                <a:off x="6788150" y="2590800"/>
                <a:ext cx="254000" cy="142875"/>
              </a:xfrm>
              <a:custGeom>
                <a:avLst/>
                <a:gdLst/>
                <a:ahLst/>
                <a:cxnLst/>
                <a:rect l="l" t="t" r="r" b="b"/>
                <a:pathLst>
                  <a:path w="254000" h="142875">
                    <a:moveTo>
                      <a:pt x="0" y="0"/>
                    </a:moveTo>
                    <a:lnTo>
                      <a:pt x="0" y="95250"/>
                    </a:lnTo>
                    <a:cubicBezTo>
                      <a:pt x="0" y="121553"/>
                      <a:pt x="56860" y="142875"/>
                      <a:pt x="127000" y="142875"/>
                    </a:cubicBezTo>
                    <a:cubicBezTo>
                      <a:pt x="197140" y="142875"/>
                      <a:pt x="254000" y="121553"/>
                      <a:pt x="254000" y="95250"/>
                    </a:cubicBezTo>
                    <a:lnTo>
                      <a:pt x="254000" y="0"/>
                    </a:lnTo>
                  </a:path>
                </a:pathLst>
              </a:custGeom>
              <a:noFill/>
              <a:ln w="19050">
                <a:solidFill>
                  <a:srgbClr val="FFFFFF"/>
                </a:solidFill>
              </a:ln>
            </p:spPr>
            <p:txBody>
              <a:bodyPr/>
              <a:lstStyle/>
              <a:p>
                <a:endParaRPr lang="en-US"/>
              </a:p>
            </p:txBody>
          </p:sp>
        </p:grpSp>
        <p:sp>
          <p:nvSpPr>
            <p:cNvPr id="34" name="TextBox 34"/>
            <p:cNvSpPr txBox="1"/>
            <p:nvPr/>
          </p:nvSpPr>
          <p:spPr>
            <a:xfrm>
              <a:off x="7179945" y="2507932"/>
              <a:ext cx="3015032" cy="335280"/>
            </a:xfrm>
            <a:prstGeom prst="rect">
              <a:avLst/>
            </a:prstGeom>
            <a:noFill/>
            <a:ln>
              <a:noFill/>
            </a:ln>
          </p:spPr>
          <p:txBody>
            <a:bodyPr wrap="none" lIns="0" tIns="0" rIns="0" bIns="0" anchor="t" anchorCtr="0">
              <a:spAutoFit/>
            </a:bodyPr>
            <a:lstStyle/>
            <a:p>
              <a:pPr algn="l"/>
              <a:r>
                <a:rPr lang="zh-CN" sz="1650" b="1" dirty="0">
                  <a:solidFill>
                    <a:srgbClr val="FFFFFF"/>
                  </a:solidFill>
                  <a:latin typeface="Arial Black"/>
                  <a:ea typeface="Microsoft YaHei"/>
                  <a:cs typeface="Arial Black"/>
                </a:rPr>
                <a:t>Where the work happens</a:t>
              </a:r>
            </a:p>
          </p:txBody>
        </p:sp>
        <p:grpSp>
          <p:nvGrpSpPr>
            <p:cNvPr id="43" name="Group 43"/>
            <p:cNvGrpSpPr/>
            <p:nvPr/>
          </p:nvGrpSpPr>
          <p:grpSpPr>
            <a:xfrm>
              <a:off x="6724650" y="3086100"/>
              <a:ext cx="4648200" cy="419100"/>
              <a:chOff x="6724650" y="3086100"/>
              <a:chExt cx="4648200" cy="419100"/>
            </a:xfrm>
          </p:grpSpPr>
          <p:sp>
            <p:nvSpPr>
              <p:cNvPr id="35" name="Rectangle 35"/>
              <p:cNvSpPr/>
              <p:nvPr/>
            </p:nvSpPr>
            <p:spPr>
              <a:xfrm>
                <a:off x="67246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36" name="TextBox 36"/>
              <p:cNvSpPr txBox="1"/>
              <p:nvPr/>
            </p:nvSpPr>
            <p:spPr>
              <a:xfrm>
                <a:off x="7092755" y="3239452"/>
                <a:ext cx="368691" cy="161583"/>
              </a:xfrm>
              <a:prstGeom prst="rect">
                <a:avLst/>
              </a:prstGeom>
              <a:noFill/>
              <a:ln>
                <a:noFill/>
              </a:ln>
            </p:spPr>
            <p:txBody>
              <a:bodyPr wrap="none" lIns="0" tIns="0" rIns="0" bIns="0" anchor="t" anchorCtr="0">
                <a:spAutoFit/>
              </a:bodyPr>
              <a:lstStyle/>
              <a:p>
                <a:pPr algn="ctr"/>
                <a:r>
                  <a:rPr lang="en-US" altLang="zh-CN" sz="1050" b="1" dirty="0">
                    <a:solidFill>
                      <a:srgbClr val="FFFFFF"/>
                    </a:solidFill>
                    <a:latin typeface="Consolas"/>
                    <a:ea typeface="Microsoft YaHei"/>
                    <a:cs typeface="Consolas"/>
                  </a:rPr>
                  <a:t>Excel</a:t>
                </a:r>
                <a:endParaRPr lang="zh-CN" sz="1050" b="1" dirty="0">
                  <a:solidFill>
                    <a:srgbClr val="FFFFFF"/>
                  </a:solidFill>
                  <a:latin typeface="Consolas"/>
                  <a:ea typeface="Microsoft YaHei"/>
                  <a:cs typeface="Consolas"/>
                </a:endParaRPr>
              </a:p>
            </p:txBody>
          </p:sp>
          <p:sp>
            <p:nvSpPr>
              <p:cNvPr id="37" name="Rectangle 37"/>
              <p:cNvSpPr/>
              <p:nvPr/>
            </p:nvSpPr>
            <p:spPr>
              <a:xfrm>
                <a:off x="79057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38" name="TextBox 38"/>
              <p:cNvSpPr txBox="1"/>
              <p:nvPr/>
            </p:nvSpPr>
            <p:spPr>
              <a:xfrm>
                <a:off x="8273855" y="3239452"/>
                <a:ext cx="368691" cy="161583"/>
              </a:xfrm>
              <a:prstGeom prst="rect">
                <a:avLst/>
              </a:prstGeom>
              <a:noFill/>
              <a:ln>
                <a:noFill/>
              </a:ln>
            </p:spPr>
            <p:txBody>
              <a:bodyPr wrap="none" lIns="0" tIns="0" rIns="0" bIns="0" anchor="t" anchorCtr="0">
                <a:spAutoFit/>
              </a:bodyPr>
              <a:lstStyle/>
              <a:p>
                <a:pPr algn="ctr"/>
                <a:r>
                  <a:rPr lang="en-US" altLang="zh-CN" sz="1050" b="1" dirty="0">
                    <a:solidFill>
                      <a:srgbClr val="FFFFFF"/>
                    </a:solidFill>
                    <a:latin typeface="Consolas"/>
                    <a:ea typeface="Microsoft YaHei"/>
                    <a:cs typeface="Consolas"/>
                  </a:rPr>
                  <a:t>Stata</a:t>
                </a:r>
                <a:endParaRPr lang="zh-CN" sz="1050" b="1" dirty="0">
                  <a:solidFill>
                    <a:srgbClr val="FFFFFF"/>
                  </a:solidFill>
                  <a:latin typeface="Consolas"/>
                  <a:ea typeface="Microsoft YaHei"/>
                  <a:cs typeface="Consolas"/>
                </a:endParaRPr>
              </a:p>
            </p:txBody>
          </p:sp>
          <p:sp>
            <p:nvSpPr>
              <p:cNvPr id="39" name="Rectangle 39"/>
              <p:cNvSpPr/>
              <p:nvPr/>
            </p:nvSpPr>
            <p:spPr>
              <a:xfrm>
                <a:off x="90868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40" name="TextBox 40"/>
              <p:cNvSpPr txBox="1"/>
              <p:nvPr/>
            </p:nvSpPr>
            <p:spPr>
              <a:xfrm>
                <a:off x="9346413" y="3239452"/>
                <a:ext cx="572731" cy="161583"/>
              </a:xfrm>
              <a:prstGeom prst="rect">
                <a:avLst/>
              </a:prstGeom>
              <a:noFill/>
              <a:ln>
                <a:noFill/>
              </a:ln>
            </p:spPr>
            <p:txBody>
              <a:bodyPr wrap="square" lIns="0" tIns="0" rIns="0" bIns="0" anchor="t" anchorCtr="0">
                <a:spAutoFit/>
              </a:bodyPr>
              <a:lstStyle/>
              <a:p>
                <a:pPr algn="ctr"/>
                <a:r>
                  <a:rPr lang="en-US" altLang="zh-CN" sz="1050" b="1" dirty="0">
                    <a:solidFill>
                      <a:srgbClr val="FFFFFF"/>
                    </a:solidFill>
                    <a:latin typeface="Consolas"/>
                    <a:ea typeface="Microsoft YaHei"/>
                    <a:cs typeface="Consolas"/>
                  </a:rPr>
                  <a:t>Python</a:t>
                </a:r>
                <a:endParaRPr lang="zh-CN" sz="1050" b="1" dirty="0">
                  <a:solidFill>
                    <a:srgbClr val="FFFFFF"/>
                  </a:solidFill>
                  <a:latin typeface="Consolas"/>
                  <a:ea typeface="Microsoft YaHei"/>
                  <a:cs typeface="Consolas"/>
                </a:endParaRPr>
              </a:p>
            </p:txBody>
          </p:sp>
          <p:sp>
            <p:nvSpPr>
              <p:cNvPr id="41" name="Rectangle 41"/>
              <p:cNvSpPr/>
              <p:nvPr/>
            </p:nvSpPr>
            <p:spPr>
              <a:xfrm>
                <a:off x="10267950" y="3086100"/>
                <a:ext cx="1104900" cy="419100"/>
              </a:xfrm>
              <a:prstGeom prst="roundRect">
                <a:avLst>
                  <a:gd name="adj" fmla="val 13636"/>
                </a:avLst>
              </a:prstGeom>
              <a:solidFill>
                <a:srgbClr val="FFFFFF">
                  <a:alpha val="8000"/>
                </a:srgbClr>
              </a:solidFill>
              <a:ln w="9525">
                <a:solidFill>
                  <a:srgbClr val="FFFFFF">
                    <a:alpha val="25000"/>
                  </a:srgbClr>
                </a:solidFill>
              </a:ln>
            </p:spPr>
            <p:txBody>
              <a:bodyPr/>
              <a:lstStyle/>
              <a:p>
                <a:endParaRPr lang="en-US"/>
              </a:p>
            </p:txBody>
          </p:sp>
          <p:sp>
            <p:nvSpPr>
              <p:cNvPr id="42" name="TextBox 42"/>
              <p:cNvSpPr txBox="1"/>
              <p:nvPr/>
            </p:nvSpPr>
            <p:spPr>
              <a:xfrm>
                <a:off x="10783530" y="3239452"/>
                <a:ext cx="73739" cy="161583"/>
              </a:xfrm>
              <a:prstGeom prst="rect">
                <a:avLst/>
              </a:prstGeom>
              <a:noFill/>
              <a:ln>
                <a:noFill/>
              </a:ln>
            </p:spPr>
            <p:txBody>
              <a:bodyPr wrap="none" lIns="0" tIns="0" rIns="0" bIns="0" anchor="t" anchorCtr="0">
                <a:spAutoFit/>
              </a:bodyPr>
              <a:lstStyle/>
              <a:p>
                <a:pPr algn="ctr"/>
                <a:r>
                  <a:rPr lang="en-US" altLang="zh-CN" sz="1050" b="1" dirty="0">
                    <a:solidFill>
                      <a:srgbClr val="FFFFFF"/>
                    </a:solidFill>
                    <a:latin typeface="Consolas"/>
                    <a:ea typeface="Microsoft YaHei"/>
                    <a:cs typeface="Consolas"/>
                  </a:rPr>
                  <a:t>R</a:t>
                </a:r>
                <a:endParaRPr lang="zh-CN" sz="1050" b="1" dirty="0">
                  <a:solidFill>
                    <a:srgbClr val="FFFFFF"/>
                  </a:solidFill>
                  <a:latin typeface="Consolas"/>
                  <a:ea typeface="Microsoft YaHei"/>
                  <a:cs typeface="Consolas"/>
                </a:endParaRPr>
              </a:p>
            </p:txBody>
          </p:sp>
        </p:grpSp>
        <p:sp>
          <p:nvSpPr>
            <p:cNvPr id="44" name="TextBox 44"/>
            <p:cNvSpPr txBox="1"/>
            <p:nvPr/>
          </p:nvSpPr>
          <p:spPr>
            <a:xfrm>
              <a:off x="6712268" y="3780949"/>
              <a:ext cx="2125147" cy="198120"/>
            </a:xfrm>
            <a:prstGeom prst="rect">
              <a:avLst/>
            </a:prstGeom>
            <a:noFill/>
            <a:ln>
              <a:noFill/>
            </a:ln>
          </p:spPr>
          <p:txBody>
            <a:bodyPr wrap="none" lIns="0" tIns="0" rIns="0" bIns="0" anchor="t" anchorCtr="0">
              <a:spAutoFit/>
            </a:bodyPr>
            <a:lstStyle/>
            <a:p>
              <a:pPr algn="l"/>
              <a:r>
                <a:rPr lang="zh-CN" sz="975" dirty="0">
                  <a:solidFill>
                    <a:srgbClr val="FFFFFF">
                      <a:alpha val="75000"/>
                    </a:srgbClr>
                  </a:solidFill>
                  <a:latin typeface="Arial"/>
                  <a:ea typeface="Microsoft YaHei"/>
                  <a:cs typeface="Arial"/>
                </a:rPr>
                <a:t>No SDK access. No file access.</a:t>
              </a:r>
            </a:p>
          </p:txBody>
        </p:sp>
        <p:sp>
          <p:nvSpPr>
            <p:cNvPr id="45" name="TextBox 45"/>
            <p:cNvSpPr txBox="1"/>
            <p:nvPr/>
          </p:nvSpPr>
          <p:spPr>
            <a:xfrm>
              <a:off x="6712268" y="3990499"/>
              <a:ext cx="2701862" cy="198120"/>
            </a:xfrm>
            <a:prstGeom prst="rect">
              <a:avLst/>
            </a:prstGeom>
            <a:noFill/>
            <a:ln>
              <a:noFill/>
            </a:ln>
          </p:spPr>
          <p:txBody>
            <a:bodyPr wrap="none" lIns="0" tIns="0" rIns="0" bIns="0" anchor="t" anchorCtr="0">
              <a:spAutoFit/>
            </a:bodyPr>
            <a:lstStyle/>
            <a:p>
              <a:pPr algn="l"/>
              <a:r>
                <a:rPr lang="zh-CN" sz="975" dirty="0">
                  <a:solidFill>
                    <a:srgbClr val="FFFFFF">
                      <a:alpha val="75000"/>
                    </a:srgbClr>
                  </a:solidFill>
                  <a:latin typeface="Arial"/>
                  <a:ea typeface="Microsoft YaHei"/>
                  <a:cs typeface="Arial"/>
                </a:rPr>
                <a:t>No memory of what worked yesterday.</a:t>
              </a:r>
            </a:p>
          </p:txBody>
        </p:sp>
        <p:sp>
          <p:nvSpPr>
            <p:cNvPr id="46" name="TextBox 46"/>
            <p:cNvSpPr txBox="1"/>
            <p:nvPr/>
          </p:nvSpPr>
          <p:spPr>
            <a:xfrm>
              <a:off x="6712268" y="4200049"/>
              <a:ext cx="2046827" cy="198120"/>
            </a:xfrm>
            <a:prstGeom prst="rect">
              <a:avLst/>
            </a:prstGeom>
            <a:noFill/>
            <a:ln>
              <a:noFill/>
            </a:ln>
          </p:spPr>
          <p:txBody>
            <a:bodyPr wrap="none" lIns="0" tIns="0" rIns="0" bIns="0" anchor="t" anchorCtr="0">
              <a:spAutoFit/>
            </a:bodyPr>
            <a:lstStyle/>
            <a:p>
              <a:pPr algn="l"/>
              <a:r>
                <a:rPr lang="zh-CN" sz="975" dirty="0">
                  <a:solidFill>
                    <a:srgbClr val="FFFFFF">
                      <a:alpha val="75000"/>
                    </a:srgbClr>
                  </a:solidFill>
                  <a:latin typeface="Arial"/>
                  <a:ea typeface="Microsoft YaHei"/>
                  <a:cs typeface="Arial"/>
                </a:rPr>
                <a:t>No institutional conventions.</a:t>
              </a:r>
            </a:p>
          </p:txBody>
        </p:sp>
      </p:grpSp>
      <p:grpSp>
        <p:nvGrpSpPr>
          <p:cNvPr id="62" name="Group 62"/>
          <p:cNvGrpSpPr/>
          <p:nvPr/>
        </p:nvGrpSpPr>
        <p:grpSpPr>
          <a:xfrm>
            <a:off x="571500" y="5286375"/>
            <a:ext cx="11049000" cy="1047750"/>
            <a:chOff x="571500" y="5286375"/>
            <a:chExt cx="11049000" cy="1047750"/>
          </a:xfrm>
        </p:grpSpPr>
        <p:sp>
          <p:nvSpPr>
            <p:cNvPr id="48" name="Rectangle 48"/>
            <p:cNvSpPr/>
            <p:nvPr/>
          </p:nvSpPr>
          <p:spPr>
            <a:xfrm>
              <a:off x="571500" y="5286375"/>
              <a:ext cx="11049000" cy="1047750"/>
            </a:xfrm>
            <a:prstGeom prst="roundRect">
              <a:avLst>
                <a:gd name="adj" fmla="val 9091"/>
              </a:avLst>
            </a:prstGeom>
            <a:solidFill>
              <a:srgbClr val="EAF6FD"/>
            </a:solidFill>
            <a:ln>
              <a:noFill/>
            </a:ln>
          </p:spPr>
          <p:txBody>
            <a:bodyPr/>
            <a:lstStyle/>
            <a:p>
              <a:endParaRPr lang="en-US"/>
            </a:p>
          </p:txBody>
        </p:sp>
        <p:sp>
          <p:nvSpPr>
            <p:cNvPr id="49" name="TextBox 49"/>
            <p:cNvSpPr txBox="1"/>
            <p:nvPr/>
          </p:nvSpPr>
          <p:spPr>
            <a:xfrm>
              <a:off x="807720" y="5541645"/>
              <a:ext cx="1409933" cy="182880"/>
            </a:xfrm>
            <a:prstGeom prst="rect">
              <a:avLst/>
            </a:prstGeom>
            <a:noFill/>
            <a:ln>
              <a:noFill/>
            </a:ln>
          </p:spPr>
          <p:txBody>
            <a:bodyPr wrap="none" lIns="0" tIns="0" rIns="0" bIns="0" anchor="t" anchorCtr="0">
              <a:spAutoFit/>
            </a:bodyPr>
            <a:lstStyle/>
            <a:p>
              <a:pPr algn="l"/>
              <a:r>
                <a:rPr lang="zh-CN" sz="900" b="1" dirty="0">
                  <a:solidFill>
                    <a:srgbClr val="004C97"/>
                  </a:solidFill>
                  <a:latin typeface="Arial"/>
                  <a:ea typeface="Microsoft YaHei"/>
                  <a:cs typeface="Arial"/>
                </a:rPr>
                <a:t>THREE CONSEQUENCES</a:t>
              </a:r>
            </a:p>
          </p:txBody>
        </p:sp>
        <p:grpSp>
          <p:nvGrpSpPr>
            <p:cNvPr id="53" name="Group 53"/>
            <p:cNvGrpSpPr/>
            <p:nvPr/>
          </p:nvGrpSpPr>
          <p:grpSpPr>
            <a:xfrm>
              <a:off x="819150" y="5791200"/>
              <a:ext cx="2993899" cy="435769"/>
              <a:chOff x="819150" y="5791200"/>
              <a:chExt cx="2993899" cy="435769"/>
            </a:xfrm>
          </p:grpSpPr>
          <p:sp>
            <p:nvSpPr>
              <p:cNvPr id="50" name="Rectangle 50"/>
              <p:cNvSpPr/>
              <p:nvPr/>
            </p:nvSpPr>
            <p:spPr>
              <a:xfrm>
                <a:off x="819150" y="5791200"/>
                <a:ext cx="38100" cy="342900"/>
              </a:xfrm>
              <a:prstGeom prst="rect">
                <a:avLst/>
              </a:prstGeom>
              <a:solidFill>
                <a:srgbClr val="707372"/>
              </a:solidFill>
              <a:ln>
                <a:noFill/>
              </a:ln>
            </p:spPr>
            <p:txBody>
              <a:bodyPr/>
              <a:lstStyle/>
              <a:p>
                <a:endParaRPr lang="en-US"/>
              </a:p>
            </p:txBody>
          </p:sp>
          <p:sp>
            <p:nvSpPr>
              <p:cNvPr id="51" name="TextBox 51"/>
              <p:cNvSpPr txBox="1"/>
              <p:nvPr/>
            </p:nvSpPr>
            <p:spPr>
              <a:xfrm>
                <a:off x="995362" y="5822156"/>
                <a:ext cx="1848677" cy="228600"/>
              </a:xfrm>
              <a:prstGeom prst="rect">
                <a:avLst/>
              </a:prstGeom>
              <a:noFill/>
              <a:ln>
                <a:noFill/>
              </a:ln>
            </p:spPr>
            <p:txBody>
              <a:bodyPr wrap="none" lIns="0" tIns="0" rIns="0" bIns="0" anchor="t" anchorCtr="0">
                <a:spAutoFit/>
              </a:bodyPr>
              <a:lstStyle/>
              <a:p>
                <a:pPr algn="l"/>
                <a:r>
                  <a:rPr lang="zh-CN" sz="1125" b="1" dirty="0">
                    <a:solidFill>
                      <a:srgbClr val="004C97"/>
                    </a:solidFill>
                    <a:latin typeface="Arial"/>
                    <a:ea typeface="Microsoft YaHei"/>
                    <a:cs typeface="Arial"/>
                  </a:rPr>
                  <a:t>Fragmented workflow</a:t>
                </a:r>
              </a:p>
            </p:txBody>
          </p:sp>
          <p:sp>
            <p:nvSpPr>
              <p:cNvPr id="52" name="TextBox 52"/>
              <p:cNvSpPr txBox="1"/>
              <p:nvPr/>
            </p:nvSpPr>
            <p:spPr>
              <a:xfrm>
                <a:off x="997268" y="6028849"/>
                <a:ext cx="281578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Every query becomes a copy-paste loop.</a:t>
                </a:r>
              </a:p>
            </p:txBody>
          </p:sp>
        </p:grpSp>
        <p:grpSp>
          <p:nvGrpSpPr>
            <p:cNvPr id="57" name="Group 57"/>
            <p:cNvGrpSpPr/>
            <p:nvPr/>
          </p:nvGrpSpPr>
          <p:grpSpPr>
            <a:xfrm>
              <a:off x="4438650" y="5791200"/>
              <a:ext cx="3492294" cy="435769"/>
              <a:chOff x="4438650" y="5791200"/>
              <a:chExt cx="3492294" cy="435769"/>
            </a:xfrm>
          </p:grpSpPr>
          <p:sp>
            <p:nvSpPr>
              <p:cNvPr id="54" name="Rectangle 54"/>
              <p:cNvSpPr/>
              <p:nvPr/>
            </p:nvSpPr>
            <p:spPr>
              <a:xfrm>
                <a:off x="4438650" y="5791200"/>
                <a:ext cx="38100" cy="342900"/>
              </a:xfrm>
              <a:prstGeom prst="rect">
                <a:avLst/>
              </a:prstGeom>
              <a:solidFill>
                <a:srgbClr val="707372"/>
              </a:solidFill>
              <a:ln>
                <a:noFill/>
              </a:ln>
            </p:spPr>
            <p:txBody>
              <a:bodyPr/>
              <a:lstStyle/>
              <a:p>
                <a:endParaRPr lang="en-US"/>
              </a:p>
            </p:txBody>
          </p:sp>
          <p:sp>
            <p:nvSpPr>
              <p:cNvPr id="55" name="TextBox 55"/>
              <p:cNvSpPr txBox="1"/>
              <p:nvPr/>
            </p:nvSpPr>
            <p:spPr>
              <a:xfrm>
                <a:off x="4614862" y="5822156"/>
                <a:ext cx="1175843" cy="228600"/>
              </a:xfrm>
              <a:prstGeom prst="rect">
                <a:avLst/>
              </a:prstGeom>
              <a:noFill/>
              <a:ln>
                <a:noFill/>
              </a:ln>
            </p:spPr>
            <p:txBody>
              <a:bodyPr wrap="none" lIns="0" tIns="0" rIns="0" bIns="0" anchor="t" anchorCtr="0">
                <a:spAutoFit/>
              </a:bodyPr>
              <a:lstStyle/>
              <a:p>
                <a:pPr algn="l"/>
                <a:r>
                  <a:rPr lang="zh-CN" sz="1125" b="1" dirty="0">
                    <a:solidFill>
                      <a:srgbClr val="004C97"/>
                    </a:solidFill>
                    <a:latin typeface="Arial"/>
                    <a:ea typeface="Microsoft YaHei"/>
                    <a:cs typeface="Arial"/>
                  </a:rPr>
                  <a:t>No SDK access</a:t>
                </a:r>
              </a:p>
            </p:txBody>
          </p:sp>
          <p:sp>
            <p:nvSpPr>
              <p:cNvPr id="56" name="TextBox 56"/>
              <p:cNvSpPr txBox="1"/>
              <p:nvPr/>
            </p:nvSpPr>
            <p:spPr>
              <a:xfrm>
                <a:off x="4616768" y="6028849"/>
                <a:ext cx="3314176"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Chatbot can't see your data or call your tools.</a:t>
                </a:r>
              </a:p>
            </p:txBody>
          </p:sp>
        </p:grpSp>
        <p:grpSp>
          <p:nvGrpSpPr>
            <p:cNvPr id="61" name="Group 61"/>
            <p:cNvGrpSpPr/>
            <p:nvPr/>
          </p:nvGrpSpPr>
          <p:grpSpPr>
            <a:xfrm>
              <a:off x="8058150" y="5791200"/>
              <a:ext cx="2929819" cy="435769"/>
              <a:chOff x="8058150" y="5791200"/>
              <a:chExt cx="2929819" cy="435769"/>
            </a:xfrm>
          </p:grpSpPr>
          <p:sp>
            <p:nvSpPr>
              <p:cNvPr id="58" name="Rectangle 58"/>
              <p:cNvSpPr/>
              <p:nvPr/>
            </p:nvSpPr>
            <p:spPr>
              <a:xfrm>
                <a:off x="8058150" y="5791200"/>
                <a:ext cx="38100" cy="342900"/>
              </a:xfrm>
              <a:prstGeom prst="rect">
                <a:avLst/>
              </a:prstGeom>
              <a:solidFill>
                <a:srgbClr val="707372"/>
              </a:solidFill>
              <a:ln>
                <a:noFill/>
              </a:ln>
            </p:spPr>
            <p:txBody>
              <a:bodyPr/>
              <a:lstStyle/>
              <a:p>
                <a:endParaRPr lang="en-US"/>
              </a:p>
            </p:txBody>
          </p:sp>
          <p:sp>
            <p:nvSpPr>
              <p:cNvPr id="59" name="TextBox 59"/>
              <p:cNvSpPr txBox="1"/>
              <p:nvPr/>
            </p:nvSpPr>
            <p:spPr>
              <a:xfrm>
                <a:off x="8234362" y="5822156"/>
                <a:ext cx="1684782" cy="228600"/>
              </a:xfrm>
              <a:prstGeom prst="rect">
                <a:avLst/>
              </a:prstGeom>
              <a:noFill/>
              <a:ln>
                <a:noFill/>
              </a:ln>
            </p:spPr>
            <p:txBody>
              <a:bodyPr wrap="none" lIns="0" tIns="0" rIns="0" bIns="0" anchor="t" anchorCtr="0">
                <a:spAutoFit/>
              </a:bodyPr>
              <a:lstStyle/>
              <a:p>
                <a:pPr algn="l"/>
                <a:r>
                  <a:rPr lang="zh-CN" sz="1125" b="1" dirty="0">
                    <a:solidFill>
                      <a:srgbClr val="004C97"/>
                    </a:solidFill>
                    <a:latin typeface="Arial"/>
                    <a:ea typeface="Microsoft YaHei"/>
                    <a:cs typeface="Arial"/>
                  </a:rPr>
                  <a:t>Knowledge stranded</a:t>
                </a:r>
              </a:p>
            </p:txBody>
          </p:sp>
          <p:sp>
            <p:nvSpPr>
              <p:cNvPr id="60" name="TextBox 60"/>
              <p:cNvSpPr txBox="1"/>
              <p:nvPr/>
            </p:nvSpPr>
            <p:spPr>
              <a:xfrm>
                <a:off x="8236268" y="6028849"/>
                <a:ext cx="275170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IMF conventions live in heads and email.</a:t>
                </a:r>
              </a:p>
            </p:txBody>
          </p:sp>
        </p:grpSp>
      </p:grpSp>
      <p:grpSp>
        <p:nvGrpSpPr>
          <p:cNvPr id="65" name="Group 65"/>
          <p:cNvGrpSpPr/>
          <p:nvPr/>
        </p:nvGrpSpPr>
        <p:grpSpPr>
          <a:xfrm>
            <a:off x="561022" y="6530816"/>
            <a:ext cx="11069956" cy="167640"/>
            <a:chOff x="561022" y="6530816"/>
            <a:chExt cx="11069956" cy="167640"/>
          </a:xfrm>
        </p:grpSpPr>
        <p:sp>
          <p:nvSpPr>
            <p:cNvPr id="63" name="TextBox 63"/>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64" name="TextBox 64"/>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02 / 10</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par>
                          <p:cTn id="8" fill="hold">
                            <p:stCondLst>
                              <p:cond delay="900"/>
                            </p:stCondLst>
                            <p:childTnLst>
                              <p:par>
                                <p:cTn id="9" presetID="4" presetClass="entr" presetSubtype="0" fill="hold" nodeType="after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box(in)">
                                      <p:cBhvr>
                                        <p:cTn id="11" dur="400"/>
                                        <p:tgtEl>
                                          <p:spTgt spid="27"/>
                                        </p:tgtEl>
                                      </p:cBhvr>
                                    </p:animEffect>
                                  </p:childTnLst>
                                </p:cTn>
                              </p:par>
                            </p:childTnLst>
                          </p:cTn>
                        </p:par>
                        <p:par>
                          <p:cTn id="12" fill="hold">
                            <p:stCondLst>
                              <p:cond delay="1800"/>
                            </p:stCondLst>
                            <p:childTnLst>
                              <p:par>
                                <p:cTn id="13" presetID="16" presetClass="entr" presetSubtype="21" fill="hold" nodeType="afterEffect">
                                  <p:stCondLst>
                                    <p:cond delay="0"/>
                                  </p:stCondLst>
                                  <p:childTnLst>
                                    <p:set>
                                      <p:cBhvr>
                                        <p:cTn id="14" dur="1" fill="hold">
                                          <p:stCondLst>
                                            <p:cond delay="0"/>
                                          </p:stCondLst>
                                        </p:cTn>
                                        <p:tgtEl>
                                          <p:spTgt spid="47"/>
                                        </p:tgtEl>
                                        <p:attrNameLst>
                                          <p:attrName>style.visibility</p:attrName>
                                        </p:attrNameLst>
                                      </p:cBhvr>
                                      <p:to>
                                        <p:strVal val="visible"/>
                                      </p:to>
                                    </p:set>
                                    <p:animEffect transition="in" filter="barn(inVertical)">
                                      <p:cBhvr>
                                        <p:cTn id="15" dur="400"/>
                                        <p:tgtEl>
                                          <p:spTgt spid="47"/>
                                        </p:tgtEl>
                                      </p:cBhvr>
                                    </p:animEffect>
                                  </p:childTnLst>
                                </p:cTn>
                              </p:par>
                            </p:childTnLst>
                          </p:cTn>
                        </p:par>
                        <p:par>
                          <p:cTn id="16" fill="hold">
                            <p:stCondLst>
                              <p:cond delay="2700"/>
                            </p:stCondLst>
                            <p:childTnLst>
                              <p:par>
                                <p:cTn id="17" presetID="18" presetClass="entr" presetSubtype="12" fill="hold" nodeType="after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strips(downRight)">
                                      <p:cBhvr>
                                        <p:cTn id="19"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7" grpId="0"/>
      <p:bldP spid="47" grpId="0"/>
      <p:bldP spid="6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4789503" cy="1063943"/>
            <a:chOff x="541020" y="569595"/>
            <a:chExt cx="4789503" cy="1063943"/>
          </a:xfrm>
        </p:grpSpPr>
        <p:sp>
          <p:nvSpPr>
            <p:cNvPr id="3" name="TextBox 3"/>
            <p:cNvSpPr txBox="1"/>
            <p:nvPr/>
          </p:nvSpPr>
          <p:spPr>
            <a:xfrm>
              <a:off x="560070" y="569595"/>
              <a:ext cx="1016584"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02 · THE VISION</a:t>
              </a:r>
            </a:p>
          </p:txBody>
        </p:sp>
        <p:sp>
          <p:nvSpPr>
            <p:cNvPr id="4" name="TextBox 4"/>
            <p:cNvSpPr txBox="1"/>
            <p:nvPr/>
          </p:nvSpPr>
          <p:spPr>
            <a:xfrm>
              <a:off x="541020" y="883920"/>
              <a:ext cx="4735144"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From chatbot to colleague</a:t>
              </a:r>
            </a:p>
          </p:txBody>
        </p:sp>
        <p:sp>
          <p:nvSpPr>
            <p:cNvPr id="5" name="TextBox 5"/>
            <p:cNvSpPr txBox="1"/>
            <p:nvPr/>
          </p:nvSpPr>
          <p:spPr>
            <a:xfrm>
              <a:off x="554355" y="1359218"/>
              <a:ext cx="4776168" cy="274320"/>
            </a:xfrm>
            <a:prstGeom prst="rect">
              <a:avLst/>
            </a:prstGeom>
            <a:noFill/>
            <a:ln>
              <a:noFill/>
            </a:ln>
          </p:spPr>
          <p:txBody>
            <a:bodyPr wrap="none" lIns="0" tIns="0" rIns="0" bIns="0" anchor="t" anchorCtr="0">
              <a:spAutoFit/>
            </a:bodyPr>
            <a:lstStyle/>
            <a:p>
              <a:pPr algn="l"/>
              <a:r>
                <a:rPr lang="zh-CN" sz="1350" dirty="0">
                  <a:solidFill>
                    <a:srgbClr val="5B6470"/>
                  </a:solidFill>
                  <a:latin typeface="Arial"/>
                  <a:ea typeface="Microsoft YaHei"/>
                  <a:cs typeface="Arial"/>
                </a:rPr>
                <a:t>Move from </a:t>
              </a:r>
              <a:r>
                <a:rPr lang="zh-CN" sz="1350" i="1" dirty="0">
                  <a:solidFill>
                    <a:srgbClr val="5B6470"/>
                  </a:solidFill>
                  <a:latin typeface="Arial"/>
                  <a:ea typeface="Microsoft YaHei"/>
                  <a:cs typeface="Arial"/>
                </a:rPr>
                <a:t>AI you talk to</a:t>
              </a:r>
              <a:r>
                <a:rPr lang="zh-CN" sz="1350" dirty="0">
                  <a:solidFill>
                    <a:srgbClr val="5B6470"/>
                  </a:solidFill>
                  <a:latin typeface="Arial"/>
                  <a:ea typeface="Microsoft YaHei"/>
                  <a:cs typeface="Arial"/>
                </a:rPr>
                <a:t> </a:t>
              </a:r>
              <a:r>
                <a:rPr lang="zh-CN" sz="1350" b="1" dirty="0">
                  <a:solidFill>
                    <a:srgbClr val="004C97"/>
                  </a:solidFill>
                  <a:latin typeface="Arial"/>
                  <a:ea typeface="Microsoft YaHei"/>
                  <a:cs typeface="Arial"/>
                </a:rPr>
                <a:t>→</a:t>
              </a:r>
              <a:r>
                <a:rPr lang="zh-CN" sz="1350" dirty="0">
                  <a:solidFill>
                    <a:srgbClr val="5B6470"/>
                  </a:solidFill>
                  <a:latin typeface="Arial"/>
                  <a:ea typeface="Microsoft YaHei"/>
                  <a:cs typeface="Arial"/>
                </a:rPr>
                <a:t> </a:t>
              </a:r>
              <a:r>
                <a:rPr lang="zh-CN" sz="1350" b="1" dirty="0">
                  <a:solidFill>
                    <a:srgbClr val="004C97"/>
                  </a:solidFill>
                  <a:latin typeface="Arial"/>
                  <a:ea typeface="Microsoft YaHei"/>
                  <a:cs typeface="Arial"/>
                </a:rPr>
                <a:t>AI that does the work</a:t>
              </a:r>
              <a:r>
                <a:rPr lang="zh-CN" sz="1350" dirty="0">
                  <a:solidFill>
                    <a:srgbClr val="5B6470"/>
                  </a:solidFill>
                  <a:latin typeface="Arial"/>
                  <a:ea typeface="Microsoft YaHei"/>
                  <a:cs typeface="Arial"/>
                </a:rPr>
                <a:t>.</a:t>
              </a:r>
            </a:p>
          </p:txBody>
        </p:sp>
      </p:grpSp>
      <p:grpSp>
        <p:nvGrpSpPr>
          <p:cNvPr id="8" name="Group 8"/>
          <p:cNvGrpSpPr/>
          <p:nvPr/>
        </p:nvGrpSpPr>
        <p:grpSpPr>
          <a:xfrm>
            <a:off x="571500" y="2000250"/>
            <a:ext cx="1143000" cy="9525"/>
            <a:chOff x="571500" y="2000250"/>
            <a:chExt cx="1143000" cy="9525"/>
          </a:xfrm>
        </p:grpSpPr>
        <p:sp>
          <p:nvSpPr>
            <p:cNvPr id="7" name="Line 7"/>
            <p:cNvSpPr/>
            <p:nvPr/>
          </p:nvSpPr>
          <p:spPr>
            <a:xfrm>
              <a:off x="571500" y="2000250"/>
              <a:ext cx="1143000" cy="9525"/>
            </a:xfrm>
            <a:custGeom>
              <a:avLst/>
              <a:gdLst/>
              <a:ahLst/>
              <a:cxnLst/>
              <a:rect l="l" t="t" r="r" b="b"/>
              <a:pathLst>
                <a:path w="1143000" h="9525">
                  <a:moveTo>
                    <a:pt x="0" y="0"/>
                  </a:moveTo>
                  <a:lnTo>
                    <a:pt x="1143000" y="0"/>
                  </a:lnTo>
                </a:path>
              </a:pathLst>
            </a:custGeom>
            <a:noFill/>
            <a:ln w="19050">
              <a:solidFill>
                <a:srgbClr val="707372"/>
              </a:solidFill>
            </a:ln>
          </p:spPr>
          <p:txBody>
            <a:bodyPr/>
            <a:lstStyle/>
            <a:p>
              <a:endParaRPr lang="en-US"/>
            </a:p>
          </p:txBody>
        </p:sp>
      </p:grpSp>
      <p:grpSp>
        <p:nvGrpSpPr>
          <p:cNvPr id="21" name="Group 21"/>
          <p:cNvGrpSpPr/>
          <p:nvPr/>
        </p:nvGrpSpPr>
        <p:grpSpPr>
          <a:xfrm>
            <a:off x="1118235" y="2673350"/>
            <a:ext cx="2224325" cy="2867819"/>
            <a:chOff x="1118235" y="2673350"/>
            <a:chExt cx="2224325" cy="2867819"/>
          </a:xfrm>
        </p:grpSpPr>
        <p:grpSp>
          <p:nvGrpSpPr>
            <p:cNvPr id="12" name="Group 12"/>
            <p:cNvGrpSpPr/>
            <p:nvPr/>
          </p:nvGrpSpPr>
          <p:grpSpPr>
            <a:xfrm>
              <a:off x="1219200" y="2673350"/>
              <a:ext cx="457200" cy="406400"/>
              <a:chOff x="1219200" y="2673350"/>
              <a:chExt cx="457200" cy="406400"/>
            </a:xfrm>
          </p:grpSpPr>
          <p:sp>
            <p:nvSpPr>
              <p:cNvPr id="9" name="Freeform 9"/>
              <p:cNvSpPr/>
              <p:nvPr/>
            </p:nvSpPr>
            <p:spPr>
              <a:xfrm>
                <a:off x="1346200" y="2800350"/>
                <a:ext cx="76200" cy="152400"/>
              </a:xfrm>
              <a:custGeom>
                <a:avLst/>
                <a:gdLst/>
                <a:ahLst/>
                <a:cxnLst/>
                <a:rect l="l" t="t" r="r" b="b"/>
                <a:pathLst>
                  <a:path w="76200" h="152400">
                    <a:moveTo>
                      <a:pt x="0" y="0"/>
                    </a:moveTo>
                    <a:lnTo>
                      <a:pt x="76200" y="76200"/>
                    </a:lnTo>
                    <a:lnTo>
                      <a:pt x="0" y="152400"/>
                    </a:lnTo>
                  </a:path>
                </a:pathLst>
              </a:custGeom>
              <a:noFill/>
              <a:ln w="19050">
                <a:solidFill>
                  <a:srgbClr val="004C97"/>
                </a:solidFill>
              </a:ln>
            </p:spPr>
            <p:txBody>
              <a:bodyPr/>
              <a:lstStyle/>
              <a:p>
                <a:endParaRPr lang="en-US"/>
              </a:p>
            </p:txBody>
          </p:sp>
          <p:sp>
            <p:nvSpPr>
              <p:cNvPr id="10" name="Freeform 10"/>
              <p:cNvSpPr/>
              <p:nvPr/>
            </p:nvSpPr>
            <p:spPr>
              <a:xfrm>
                <a:off x="1473200" y="2952750"/>
                <a:ext cx="76200" cy="9525"/>
              </a:xfrm>
              <a:custGeom>
                <a:avLst/>
                <a:gdLst/>
                <a:ahLst/>
                <a:cxnLst/>
                <a:rect l="l" t="t" r="r" b="b"/>
                <a:pathLst>
                  <a:path w="76200" h="9525">
                    <a:moveTo>
                      <a:pt x="0" y="0"/>
                    </a:moveTo>
                    <a:lnTo>
                      <a:pt x="76200" y="0"/>
                    </a:lnTo>
                  </a:path>
                </a:pathLst>
              </a:custGeom>
              <a:noFill/>
              <a:ln w="19050">
                <a:solidFill>
                  <a:srgbClr val="004C97"/>
                </a:solidFill>
              </a:ln>
            </p:spPr>
            <p:txBody>
              <a:bodyPr/>
              <a:lstStyle/>
              <a:p>
                <a:endParaRPr lang="en-US"/>
              </a:p>
            </p:txBody>
          </p:sp>
          <p:sp>
            <p:nvSpPr>
              <p:cNvPr id="11" name="Freeform 11"/>
              <p:cNvSpPr/>
              <p:nvPr/>
            </p:nvSpPr>
            <p:spPr>
              <a:xfrm>
                <a:off x="1219200" y="2673350"/>
                <a:ext cx="457200" cy="406400"/>
              </a:xfrm>
              <a:custGeom>
                <a:avLst/>
                <a:gdLst/>
                <a:ahLst/>
                <a:cxnLst/>
                <a:rect l="l" t="t" r="r" b="b"/>
                <a:pathLst>
                  <a:path w="457200" h="406400">
                    <a:moveTo>
                      <a:pt x="0" y="50800"/>
                    </a:moveTo>
                    <a:cubicBezTo>
                      <a:pt x="0" y="22744"/>
                      <a:pt x="22744" y="0"/>
                      <a:pt x="50800" y="0"/>
                    </a:cubicBezTo>
                    <a:lnTo>
                      <a:pt x="406400" y="0"/>
                    </a:lnTo>
                    <a:cubicBezTo>
                      <a:pt x="434456" y="0"/>
                      <a:pt x="457200" y="22744"/>
                      <a:pt x="457200" y="50800"/>
                    </a:cubicBezTo>
                    <a:lnTo>
                      <a:pt x="457200" y="355600"/>
                    </a:lnTo>
                    <a:cubicBezTo>
                      <a:pt x="457200" y="383656"/>
                      <a:pt x="434456" y="406400"/>
                      <a:pt x="406400" y="406400"/>
                    </a:cubicBezTo>
                    <a:lnTo>
                      <a:pt x="50800" y="406400"/>
                    </a:lnTo>
                    <a:cubicBezTo>
                      <a:pt x="22744" y="406400"/>
                      <a:pt x="0" y="383656"/>
                      <a:pt x="0" y="355600"/>
                    </a:cubicBezTo>
                    <a:lnTo>
                      <a:pt x="0" y="50800"/>
                    </a:lnTo>
                  </a:path>
                </a:pathLst>
              </a:custGeom>
              <a:noFill/>
              <a:ln w="19050">
                <a:solidFill>
                  <a:srgbClr val="004C97"/>
                </a:solidFill>
              </a:ln>
            </p:spPr>
            <p:txBody>
              <a:bodyPr/>
              <a:lstStyle/>
              <a:p>
                <a:endParaRPr lang="en-US"/>
              </a:p>
            </p:txBody>
          </p:sp>
        </p:grpSp>
        <p:sp>
          <p:nvSpPr>
            <p:cNvPr id="13" name="TextBox 13"/>
            <p:cNvSpPr txBox="1"/>
            <p:nvPr/>
          </p:nvSpPr>
          <p:spPr>
            <a:xfrm>
              <a:off x="1132522" y="3530441"/>
              <a:ext cx="482738"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PILLAR 1</a:t>
              </a:r>
            </a:p>
          </p:txBody>
        </p:sp>
        <p:sp>
          <p:nvSpPr>
            <p:cNvPr id="14" name="TextBox 14"/>
            <p:cNvSpPr txBox="1"/>
            <p:nvPr/>
          </p:nvSpPr>
          <p:spPr>
            <a:xfrm>
              <a:off x="1118235" y="3713798"/>
              <a:ext cx="797123" cy="396240"/>
            </a:xfrm>
            <a:prstGeom prst="rect">
              <a:avLst/>
            </a:prstGeom>
            <a:noFill/>
            <a:ln>
              <a:noFill/>
            </a:ln>
          </p:spPr>
          <p:txBody>
            <a:bodyPr wrap="none" lIns="0" tIns="0" rIns="0" bIns="0" anchor="t" anchorCtr="0">
              <a:spAutoFit/>
            </a:bodyPr>
            <a:lstStyle/>
            <a:p>
              <a:pPr algn="l"/>
              <a:r>
                <a:rPr lang="zh-CN" sz="1950" b="1" dirty="0">
                  <a:solidFill>
                    <a:srgbClr val="004C97"/>
                  </a:solidFill>
                  <a:latin typeface="Arial Black"/>
                  <a:ea typeface="Microsoft YaHei"/>
                  <a:cs typeface="Arial Black"/>
                </a:rPr>
                <a:t>Local</a:t>
              </a:r>
            </a:p>
          </p:txBody>
        </p:sp>
        <p:sp>
          <p:nvSpPr>
            <p:cNvPr id="15" name="Line 15"/>
            <p:cNvSpPr/>
            <p:nvPr/>
          </p:nvSpPr>
          <p:spPr>
            <a:xfrm>
              <a:off x="1143000" y="41148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16" name="TextBox 16"/>
            <p:cNvSpPr txBox="1"/>
            <p:nvPr/>
          </p:nvSpPr>
          <p:spPr>
            <a:xfrm>
              <a:off x="1128712" y="4336256"/>
              <a:ext cx="2041327"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Runs inside the analyst's</a:t>
              </a:r>
            </a:p>
          </p:txBody>
        </p:sp>
        <p:sp>
          <p:nvSpPr>
            <p:cNvPr id="17" name="TextBox 17"/>
            <p:cNvSpPr txBox="1"/>
            <p:nvPr/>
          </p:nvSpPr>
          <p:spPr>
            <a:xfrm>
              <a:off x="1128712" y="4526756"/>
              <a:ext cx="2041327"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repo — alongside the SDK,</a:t>
              </a:r>
            </a:p>
          </p:txBody>
        </p:sp>
        <p:sp>
          <p:nvSpPr>
            <p:cNvPr id="18" name="TextBox 18"/>
            <p:cNvSpPr txBox="1"/>
            <p:nvPr/>
          </p:nvSpPr>
          <p:spPr>
            <a:xfrm>
              <a:off x="1128712" y="4717256"/>
              <a:ext cx="2213848"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catalogs, and conventions.</a:t>
              </a:r>
            </a:p>
          </p:txBody>
        </p:sp>
        <p:sp>
          <p:nvSpPr>
            <p:cNvPr id="19" name="TextBox 19"/>
            <p:cNvSpPr txBox="1"/>
            <p:nvPr/>
          </p:nvSpPr>
          <p:spPr>
            <a:xfrm>
              <a:off x="1130618" y="5152549"/>
              <a:ext cx="1448753"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No cloud round-trip.</a:t>
              </a:r>
            </a:p>
          </p:txBody>
        </p:sp>
        <p:sp>
          <p:nvSpPr>
            <p:cNvPr id="20" name="TextBox 20"/>
            <p:cNvSpPr txBox="1"/>
            <p:nvPr/>
          </p:nvSpPr>
          <p:spPr>
            <a:xfrm>
              <a:off x="1130618" y="5343049"/>
              <a:ext cx="1847469"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No data leaves the laptop.</a:t>
              </a:r>
            </a:p>
          </p:txBody>
        </p:sp>
      </p:grpSp>
      <p:grpSp>
        <p:nvGrpSpPr>
          <p:cNvPr id="36" name="Group 36"/>
          <p:cNvGrpSpPr/>
          <p:nvPr/>
        </p:nvGrpSpPr>
        <p:grpSpPr>
          <a:xfrm>
            <a:off x="5118735" y="2698750"/>
            <a:ext cx="2080570" cy="2842419"/>
            <a:chOff x="5118735" y="2698750"/>
            <a:chExt cx="2080570" cy="2842419"/>
          </a:xfrm>
        </p:grpSpPr>
        <p:grpSp>
          <p:nvGrpSpPr>
            <p:cNvPr id="27" name="Group 27"/>
            <p:cNvGrpSpPr/>
            <p:nvPr/>
          </p:nvGrpSpPr>
          <p:grpSpPr>
            <a:xfrm>
              <a:off x="5219700" y="2698750"/>
              <a:ext cx="457200" cy="355600"/>
              <a:chOff x="5219700" y="2698750"/>
              <a:chExt cx="457200" cy="355600"/>
            </a:xfrm>
          </p:grpSpPr>
          <p:sp>
            <p:nvSpPr>
              <p:cNvPr id="22" name="Freeform 22"/>
              <p:cNvSpPr/>
              <p:nvPr/>
            </p:nvSpPr>
            <p:spPr>
              <a:xfrm>
                <a:off x="5524500" y="2876550"/>
                <a:ext cx="9525" cy="9525"/>
              </a:xfrm>
              <a:custGeom>
                <a:avLst/>
                <a:gdLst/>
                <a:ahLst/>
                <a:cxnLst/>
                <a:rect l="l" t="t" r="r" b="b"/>
                <a:pathLst>
                  <a:path w="9525" h="9525">
                    <a:moveTo>
                      <a:pt x="0" y="0"/>
                    </a:moveTo>
                    <a:lnTo>
                      <a:pt x="254" y="0"/>
                    </a:lnTo>
                  </a:path>
                </a:pathLst>
              </a:custGeom>
              <a:noFill/>
              <a:ln w="19050">
                <a:solidFill>
                  <a:srgbClr val="004C97"/>
                </a:solidFill>
              </a:ln>
            </p:spPr>
            <p:txBody>
              <a:bodyPr/>
              <a:lstStyle/>
              <a:p>
                <a:endParaRPr lang="en-US"/>
              </a:p>
            </p:txBody>
          </p:sp>
          <p:sp>
            <p:nvSpPr>
              <p:cNvPr id="23" name="Freeform 23"/>
              <p:cNvSpPr/>
              <p:nvPr/>
            </p:nvSpPr>
            <p:spPr>
              <a:xfrm>
                <a:off x="5448300" y="2876550"/>
                <a:ext cx="9525" cy="9525"/>
              </a:xfrm>
              <a:custGeom>
                <a:avLst/>
                <a:gdLst/>
                <a:ahLst/>
                <a:cxnLst/>
                <a:rect l="l" t="t" r="r" b="b"/>
                <a:pathLst>
                  <a:path w="9525" h="9525">
                    <a:moveTo>
                      <a:pt x="0" y="0"/>
                    </a:moveTo>
                    <a:lnTo>
                      <a:pt x="254" y="0"/>
                    </a:lnTo>
                  </a:path>
                </a:pathLst>
              </a:custGeom>
              <a:noFill/>
              <a:ln w="19050">
                <a:solidFill>
                  <a:srgbClr val="004C97"/>
                </a:solidFill>
              </a:ln>
            </p:spPr>
            <p:txBody>
              <a:bodyPr/>
              <a:lstStyle/>
              <a:p>
                <a:endParaRPr lang="en-US"/>
              </a:p>
            </p:txBody>
          </p:sp>
          <p:sp>
            <p:nvSpPr>
              <p:cNvPr id="24" name="Freeform 24"/>
              <p:cNvSpPr/>
              <p:nvPr/>
            </p:nvSpPr>
            <p:spPr>
              <a:xfrm>
                <a:off x="5372100" y="2876550"/>
                <a:ext cx="9525" cy="9525"/>
              </a:xfrm>
              <a:custGeom>
                <a:avLst/>
                <a:gdLst/>
                <a:ahLst/>
                <a:cxnLst/>
                <a:rect l="l" t="t" r="r" b="b"/>
                <a:pathLst>
                  <a:path w="9525" h="9525">
                    <a:moveTo>
                      <a:pt x="0" y="0"/>
                    </a:moveTo>
                    <a:lnTo>
                      <a:pt x="254" y="0"/>
                    </a:lnTo>
                  </a:path>
                </a:pathLst>
              </a:custGeom>
              <a:noFill/>
              <a:ln w="19050">
                <a:solidFill>
                  <a:srgbClr val="004C97"/>
                </a:solidFill>
              </a:ln>
            </p:spPr>
            <p:txBody>
              <a:bodyPr/>
              <a:lstStyle/>
              <a:p>
                <a:endParaRPr lang="en-US"/>
              </a:p>
            </p:txBody>
          </p:sp>
          <p:sp>
            <p:nvSpPr>
              <p:cNvPr id="25" name="Freeform 25"/>
              <p:cNvSpPr/>
              <p:nvPr/>
            </p:nvSpPr>
            <p:spPr>
              <a:xfrm>
                <a:off x="5219700" y="2698750"/>
                <a:ext cx="76200" cy="355600"/>
              </a:xfrm>
              <a:custGeom>
                <a:avLst/>
                <a:gdLst/>
                <a:ahLst/>
                <a:cxnLst/>
                <a:rect l="l" t="t" r="r" b="b"/>
                <a:pathLst>
                  <a:path w="76200" h="355600">
                    <a:moveTo>
                      <a:pt x="76200" y="355600"/>
                    </a:moveTo>
                    <a:cubicBezTo>
                      <a:pt x="48144" y="355600"/>
                      <a:pt x="25400" y="332856"/>
                      <a:pt x="25400" y="304800"/>
                    </a:cubicBezTo>
                    <a:lnTo>
                      <a:pt x="25400" y="203200"/>
                    </a:lnTo>
                    <a:lnTo>
                      <a:pt x="0" y="177800"/>
                    </a:lnTo>
                    <a:lnTo>
                      <a:pt x="25400" y="152400"/>
                    </a:lnTo>
                    <a:lnTo>
                      <a:pt x="25400" y="50800"/>
                    </a:lnTo>
                    <a:cubicBezTo>
                      <a:pt x="25400" y="22744"/>
                      <a:pt x="48144" y="0"/>
                      <a:pt x="76200" y="0"/>
                    </a:cubicBezTo>
                  </a:path>
                </a:pathLst>
              </a:custGeom>
              <a:noFill/>
              <a:ln w="19050">
                <a:solidFill>
                  <a:srgbClr val="004C97"/>
                </a:solidFill>
              </a:ln>
            </p:spPr>
            <p:txBody>
              <a:bodyPr/>
              <a:lstStyle/>
              <a:p>
                <a:endParaRPr lang="en-US"/>
              </a:p>
            </p:txBody>
          </p:sp>
          <p:sp>
            <p:nvSpPr>
              <p:cNvPr id="26" name="Freeform 26"/>
              <p:cNvSpPr/>
              <p:nvPr/>
            </p:nvSpPr>
            <p:spPr>
              <a:xfrm>
                <a:off x="5600700" y="2698750"/>
                <a:ext cx="76200" cy="355600"/>
              </a:xfrm>
              <a:custGeom>
                <a:avLst/>
                <a:gdLst/>
                <a:ahLst/>
                <a:cxnLst/>
                <a:rect l="l" t="t" r="r" b="b"/>
                <a:pathLst>
                  <a:path w="76200" h="355600">
                    <a:moveTo>
                      <a:pt x="0" y="355600"/>
                    </a:moveTo>
                    <a:cubicBezTo>
                      <a:pt x="28056" y="355600"/>
                      <a:pt x="50800" y="332856"/>
                      <a:pt x="50800" y="304800"/>
                    </a:cubicBezTo>
                    <a:lnTo>
                      <a:pt x="50800" y="203200"/>
                    </a:lnTo>
                    <a:lnTo>
                      <a:pt x="76200" y="177800"/>
                    </a:lnTo>
                    <a:lnTo>
                      <a:pt x="50800" y="152400"/>
                    </a:lnTo>
                    <a:lnTo>
                      <a:pt x="50800" y="50800"/>
                    </a:lnTo>
                    <a:cubicBezTo>
                      <a:pt x="50800" y="22744"/>
                      <a:pt x="28056" y="0"/>
                      <a:pt x="0" y="0"/>
                    </a:cubicBezTo>
                  </a:path>
                </a:pathLst>
              </a:custGeom>
              <a:noFill/>
              <a:ln w="19050">
                <a:solidFill>
                  <a:srgbClr val="004C97"/>
                </a:solidFill>
              </a:ln>
            </p:spPr>
            <p:txBody>
              <a:bodyPr/>
              <a:lstStyle/>
              <a:p>
                <a:endParaRPr lang="en-US"/>
              </a:p>
            </p:txBody>
          </p:sp>
        </p:grpSp>
        <p:sp>
          <p:nvSpPr>
            <p:cNvPr id="28" name="TextBox 28"/>
            <p:cNvSpPr txBox="1"/>
            <p:nvPr/>
          </p:nvSpPr>
          <p:spPr>
            <a:xfrm>
              <a:off x="5133022" y="3530441"/>
              <a:ext cx="514367"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PILLAR 2</a:t>
              </a:r>
            </a:p>
          </p:txBody>
        </p:sp>
        <p:sp>
          <p:nvSpPr>
            <p:cNvPr id="29" name="TextBox 29"/>
            <p:cNvSpPr txBox="1"/>
            <p:nvPr/>
          </p:nvSpPr>
          <p:spPr>
            <a:xfrm>
              <a:off x="5118735" y="3713798"/>
              <a:ext cx="961594" cy="396240"/>
            </a:xfrm>
            <a:prstGeom prst="rect">
              <a:avLst/>
            </a:prstGeom>
            <a:noFill/>
            <a:ln>
              <a:noFill/>
            </a:ln>
          </p:spPr>
          <p:txBody>
            <a:bodyPr wrap="none" lIns="0" tIns="0" rIns="0" bIns="0" anchor="t" anchorCtr="0">
              <a:spAutoFit/>
            </a:bodyPr>
            <a:lstStyle/>
            <a:p>
              <a:pPr algn="l"/>
              <a:r>
                <a:rPr lang="zh-CN" sz="1950" b="1" dirty="0">
                  <a:solidFill>
                    <a:srgbClr val="004C97"/>
                  </a:solidFill>
                  <a:latin typeface="Arial Black"/>
                  <a:ea typeface="Microsoft YaHei"/>
                  <a:cs typeface="Arial Black"/>
                </a:rPr>
                <a:t>Native</a:t>
              </a:r>
            </a:p>
          </p:txBody>
        </p:sp>
        <p:sp>
          <p:nvSpPr>
            <p:cNvPr id="30" name="Line 30"/>
            <p:cNvSpPr/>
            <p:nvPr/>
          </p:nvSpPr>
          <p:spPr>
            <a:xfrm>
              <a:off x="5143500" y="41148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31" name="TextBox 31"/>
            <p:cNvSpPr txBox="1"/>
            <p:nvPr/>
          </p:nvSpPr>
          <p:spPr>
            <a:xfrm>
              <a:off x="5129212" y="4336256"/>
              <a:ext cx="1671638"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Speaks the iData SDK</a:t>
              </a:r>
            </a:p>
          </p:txBody>
        </p:sp>
        <p:sp>
          <p:nvSpPr>
            <p:cNvPr id="32" name="TextBox 32"/>
            <p:cNvSpPr txBox="1"/>
            <p:nvPr/>
          </p:nvSpPr>
          <p:spPr>
            <a:xfrm>
              <a:off x="5129212" y="4526756"/>
              <a:ext cx="1992035"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directly — no copy-paste</a:t>
              </a:r>
            </a:p>
          </p:txBody>
        </p:sp>
        <p:sp>
          <p:nvSpPr>
            <p:cNvPr id="33" name="TextBox 33"/>
            <p:cNvSpPr txBox="1"/>
            <p:nvPr/>
          </p:nvSpPr>
          <p:spPr>
            <a:xfrm>
              <a:off x="5129212" y="4717256"/>
              <a:ext cx="1811298"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code, no API guessing.</a:t>
              </a:r>
            </a:p>
          </p:txBody>
        </p:sp>
        <p:sp>
          <p:nvSpPr>
            <p:cNvPr id="34" name="TextBox 34"/>
            <p:cNvSpPr txBox="1"/>
            <p:nvPr/>
          </p:nvSpPr>
          <p:spPr>
            <a:xfrm>
              <a:off x="5131118" y="5152549"/>
              <a:ext cx="1954268"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Same tools you already use.</a:t>
              </a:r>
            </a:p>
          </p:txBody>
        </p:sp>
        <p:sp>
          <p:nvSpPr>
            <p:cNvPr id="35" name="TextBox 35"/>
            <p:cNvSpPr txBox="1"/>
            <p:nvPr/>
          </p:nvSpPr>
          <p:spPr>
            <a:xfrm>
              <a:off x="5131118" y="5343049"/>
              <a:ext cx="2068187"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Output drops into your repo.</a:t>
              </a:r>
            </a:p>
          </p:txBody>
        </p:sp>
      </p:grpSp>
      <p:grpSp>
        <p:nvGrpSpPr>
          <p:cNvPr id="51" name="Group 51"/>
          <p:cNvGrpSpPr/>
          <p:nvPr/>
        </p:nvGrpSpPr>
        <p:grpSpPr>
          <a:xfrm>
            <a:off x="9119235" y="2683315"/>
            <a:ext cx="2856904" cy="2857854"/>
            <a:chOff x="9119235" y="2683315"/>
            <a:chExt cx="2856904" cy="2857854"/>
          </a:xfrm>
        </p:grpSpPr>
        <p:grpSp>
          <p:nvGrpSpPr>
            <p:cNvPr id="42" name="Group 42"/>
            <p:cNvGrpSpPr/>
            <p:nvPr/>
          </p:nvGrpSpPr>
          <p:grpSpPr>
            <a:xfrm>
              <a:off x="9220200" y="2683315"/>
              <a:ext cx="466725" cy="371035"/>
              <a:chOff x="9220200" y="2683315"/>
              <a:chExt cx="466725" cy="371035"/>
            </a:xfrm>
          </p:grpSpPr>
          <p:sp>
            <p:nvSpPr>
              <p:cNvPr id="37" name="Freeform 37"/>
              <p:cNvSpPr/>
              <p:nvPr/>
            </p:nvSpPr>
            <p:spPr>
              <a:xfrm>
                <a:off x="9220200" y="3013515"/>
                <a:ext cx="457200" cy="40835"/>
              </a:xfrm>
              <a:custGeom>
                <a:avLst/>
                <a:gdLst/>
                <a:ahLst/>
                <a:cxnLst/>
                <a:rect l="l" t="t" r="r" b="b"/>
                <a:pathLst>
                  <a:path w="457200" h="40835">
                    <a:moveTo>
                      <a:pt x="0" y="40835"/>
                    </a:moveTo>
                    <a:cubicBezTo>
                      <a:pt x="70729" y="0"/>
                      <a:pt x="157871" y="0"/>
                      <a:pt x="228600" y="40835"/>
                    </a:cubicBezTo>
                    <a:cubicBezTo>
                      <a:pt x="299329" y="0"/>
                      <a:pt x="386471" y="0"/>
                      <a:pt x="457200" y="40835"/>
                    </a:cubicBezTo>
                  </a:path>
                </a:pathLst>
              </a:custGeom>
              <a:noFill/>
              <a:ln w="19050">
                <a:solidFill>
                  <a:srgbClr val="004C97"/>
                </a:solidFill>
              </a:ln>
            </p:spPr>
            <p:txBody>
              <a:bodyPr/>
              <a:lstStyle/>
              <a:p>
                <a:endParaRPr lang="en-US"/>
              </a:p>
            </p:txBody>
          </p:sp>
          <p:sp>
            <p:nvSpPr>
              <p:cNvPr id="38" name="Freeform 38"/>
              <p:cNvSpPr/>
              <p:nvPr/>
            </p:nvSpPr>
            <p:spPr>
              <a:xfrm>
                <a:off x="9220200" y="2683315"/>
                <a:ext cx="457200" cy="40835"/>
              </a:xfrm>
              <a:custGeom>
                <a:avLst/>
                <a:gdLst/>
                <a:ahLst/>
                <a:cxnLst/>
                <a:rect l="l" t="t" r="r" b="b"/>
                <a:pathLst>
                  <a:path w="457200" h="40835">
                    <a:moveTo>
                      <a:pt x="0" y="40835"/>
                    </a:moveTo>
                    <a:cubicBezTo>
                      <a:pt x="70729" y="0"/>
                      <a:pt x="157871" y="0"/>
                      <a:pt x="228600" y="40835"/>
                    </a:cubicBezTo>
                    <a:cubicBezTo>
                      <a:pt x="299329" y="0"/>
                      <a:pt x="386471" y="0"/>
                      <a:pt x="457200" y="40835"/>
                    </a:cubicBezTo>
                  </a:path>
                </a:pathLst>
              </a:custGeom>
              <a:noFill/>
              <a:ln w="19050">
                <a:solidFill>
                  <a:srgbClr val="004C97"/>
                </a:solidFill>
              </a:ln>
            </p:spPr>
            <p:txBody>
              <a:bodyPr/>
              <a:lstStyle/>
              <a:p>
                <a:endParaRPr lang="en-US"/>
              </a:p>
            </p:txBody>
          </p:sp>
          <p:sp>
            <p:nvSpPr>
              <p:cNvPr id="39" name="Freeform 39"/>
              <p:cNvSpPr/>
              <p:nvPr/>
            </p:nvSpPr>
            <p:spPr>
              <a:xfrm>
                <a:off x="9220200" y="2724150"/>
                <a:ext cx="9525" cy="330200"/>
              </a:xfrm>
              <a:custGeom>
                <a:avLst/>
                <a:gdLst/>
                <a:ahLst/>
                <a:cxnLst/>
                <a:rect l="l" t="t" r="r" b="b"/>
                <a:pathLst>
                  <a:path w="9525" h="330200">
                    <a:moveTo>
                      <a:pt x="0" y="0"/>
                    </a:moveTo>
                    <a:lnTo>
                      <a:pt x="0" y="330200"/>
                    </a:lnTo>
                  </a:path>
                </a:pathLst>
              </a:custGeom>
              <a:noFill/>
              <a:ln w="19050">
                <a:solidFill>
                  <a:srgbClr val="004C97"/>
                </a:solidFill>
              </a:ln>
            </p:spPr>
            <p:txBody>
              <a:bodyPr/>
              <a:lstStyle/>
              <a:p>
                <a:endParaRPr lang="en-US"/>
              </a:p>
            </p:txBody>
          </p:sp>
          <p:sp>
            <p:nvSpPr>
              <p:cNvPr id="40" name="Freeform 40"/>
              <p:cNvSpPr/>
              <p:nvPr/>
            </p:nvSpPr>
            <p:spPr>
              <a:xfrm>
                <a:off x="9448800" y="2724150"/>
                <a:ext cx="9525" cy="330200"/>
              </a:xfrm>
              <a:custGeom>
                <a:avLst/>
                <a:gdLst/>
                <a:ahLst/>
                <a:cxnLst/>
                <a:rect l="l" t="t" r="r" b="b"/>
                <a:pathLst>
                  <a:path w="9525" h="330200">
                    <a:moveTo>
                      <a:pt x="0" y="0"/>
                    </a:moveTo>
                    <a:lnTo>
                      <a:pt x="0" y="330200"/>
                    </a:lnTo>
                  </a:path>
                </a:pathLst>
              </a:custGeom>
              <a:noFill/>
              <a:ln w="19050">
                <a:solidFill>
                  <a:srgbClr val="004C97"/>
                </a:solidFill>
              </a:ln>
            </p:spPr>
            <p:txBody>
              <a:bodyPr/>
              <a:lstStyle/>
              <a:p>
                <a:endParaRPr lang="en-US"/>
              </a:p>
            </p:txBody>
          </p:sp>
          <p:sp>
            <p:nvSpPr>
              <p:cNvPr id="41" name="Freeform 41"/>
              <p:cNvSpPr/>
              <p:nvPr/>
            </p:nvSpPr>
            <p:spPr>
              <a:xfrm>
                <a:off x="9677400" y="2724150"/>
                <a:ext cx="9525" cy="330200"/>
              </a:xfrm>
              <a:custGeom>
                <a:avLst/>
                <a:gdLst/>
                <a:ahLst/>
                <a:cxnLst/>
                <a:rect l="l" t="t" r="r" b="b"/>
                <a:pathLst>
                  <a:path w="9525" h="330200">
                    <a:moveTo>
                      <a:pt x="0" y="0"/>
                    </a:moveTo>
                    <a:lnTo>
                      <a:pt x="0" y="330200"/>
                    </a:lnTo>
                  </a:path>
                </a:pathLst>
              </a:custGeom>
              <a:noFill/>
              <a:ln w="19050">
                <a:solidFill>
                  <a:srgbClr val="004C97"/>
                </a:solidFill>
              </a:ln>
            </p:spPr>
            <p:txBody>
              <a:bodyPr/>
              <a:lstStyle/>
              <a:p>
                <a:endParaRPr lang="en-US"/>
              </a:p>
            </p:txBody>
          </p:sp>
        </p:grpSp>
        <p:sp>
          <p:nvSpPr>
            <p:cNvPr id="43" name="TextBox 43"/>
            <p:cNvSpPr txBox="1"/>
            <p:nvPr/>
          </p:nvSpPr>
          <p:spPr>
            <a:xfrm>
              <a:off x="9133522" y="3530441"/>
              <a:ext cx="514367"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PILLAR 3</a:t>
              </a:r>
            </a:p>
          </p:txBody>
        </p:sp>
        <p:sp>
          <p:nvSpPr>
            <p:cNvPr id="44" name="TextBox 44"/>
            <p:cNvSpPr txBox="1"/>
            <p:nvPr/>
          </p:nvSpPr>
          <p:spPr>
            <a:xfrm>
              <a:off x="9119235" y="3713798"/>
              <a:ext cx="1888610" cy="396240"/>
            </a:xfrm>
            <a:prstGeom prst="rect">
              <a:avLst/>
            </a:prstGeom>
            <a:noFill/>
            <a:ln>
              <a:noFill/>
            </a:ln>
          </p:spPr>
          <p:txBody>
            <a:bodyPr wrap="none" lIns="0" tIns="0" rIns="0" bIns="0" anchor="t" anchorCtr="0">
              <a:spAutoFit/>
            </a:bodyPr>
            <a:lstStyle/>
            <a:p>
              <a:pPr algn="l"/>
              <a:r>
                <a:rPr lang="zh-CN" sz="1950" b="1" dirty="0">
                  <a:solidFill>
                    <a:srgbClr val="004C97"/>
                  </a:solidFill>
                  <a:latin typeface="Arial Black"/>
                  <a:ea typeface="Microsoft YaHei"/>
                  <a:cs typeface="Arial Black"/>
                </a:rPr>
                <a:t>Institutional</a:t>
              </a:r>
            </a:p>
          </p:txBody>
        </p:sp>
        <p:sp>
          <p:nvSpPr>
            <p:cNvPr id="45" name="Line 45"/>
            <p:cNvSpPr/>
            <p:nvPr/>
          </p:nvSpPr>
          <p:spPr>
            <a:xfrm>
              <a:off x="9144000" y="41148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46" name="TextBox 46"/>
            <p:cNvSpPr txBox="1"/>
            <p:nvPr/>
          </p:nvSpPr>
          <p:spPr>
            <a:xfrm>
              <a:off x="9129712" y="4336256"/>
              <a:ext cx="2098834"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Encodes WEO group rules,</a:t>
              </a:r>
            </a:p>
          </p:txBody>
        </p:sp>
        <p:sp>
          <p:nvSpPr>
            <p:cNvPr id="47" name="TextBox 47"/>
            <p:cNvSpPr txBox="1"/>
            <p:nvPr/>
          </p:nvSpPr>
          <p:spPr>
            <a:xfrm>
              <a:off x="9129712" y="4526756"/>
              <a:ext cx="2452092"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LIVE-vs-vintage logic, retired</a:t>
              </a:r>
            </a:p>
          </p:txBody>
        </p:sp>
        <p:sp>
          <p:nvSpPr>
            <p:cNvPr id="48" name="TextBox 48"/>
            <p:cNvSpPr txBox="1"/>
            <p:nvPr/>
          </p:nvSpPr>
          <p:spPr>
            <a:xfrm>
              <a:off x="9129712" y="4717256"/>
              <a:ext cx="2846427"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endpoints, frequency conventions.</a:t>
              </a:r>
            </a:p>
          </p:txBody>
        </p:sp>
        <p:sp>
          <p:nvSpPr>
            <p:cNvPr id="49" name="TextBox 49"/>
            <p:cNvSpPr txBox="1"/>
            <p:nvPr/>
          </p:nvSpPr>
          <p:spPr>
            <a:xfrm>
              <a:off x="9131618" y="5152549"/>
              <a:ext cx="1826109"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Knowledge captured once.</a:t>
              </a:r>
            </a:p>
          </p:txBody>
        </p:sp>
        <p:sp>
          <p:nvSpPr>
            <p:cNvPr id="50" name="TextBox 50"/>
            <p:cNvSpPr txBox="1"/>
            <p:nvPr/>
          </p:nvSpPr>
          <p:spPr>
            <a:xfrm>
              <a:off x="9131618" y="5343049"/>
              <a:ext cx="1705070"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Never re-asked Monday.</a:t>
              </a:r>
            </a:p>
          </p:txBody>
        </p:sp>
      </p:grpSp>
      <p:grpSp>
        <p:nvGrpSpPr>
          <p:cNvPr id="54" name="Group 54"/>
          <p:cNvGrpSpPr/>
          <p:nvPr/>
        </p:nvGrpSpPr>
        <p:grpSpPr>
          <a:xfrm>
            <a:off x="571500" y="6048375"/>
            <a:ext cx="11049000" cy="552450"/>
            <a:chOff x="571500" y="6048375"/>
            <a:chExt cx="11049000" cy="552450"/>
          </a:xfrm>
        </p:grpSpPr>
        <p:sp>
          <p:nvSpPr>
            <p:cNvPr id="52" name="Line 52"/>
            <p:cNvSpPr/>
            <p:nvPr/>
          </p:nvSpPr>
          <p:spPr>
            <a:xfrm>
              <a:off x="571500" y="6048375"/>
              <a:ext cx="11049000" cy="9525"/>
            </a:xfrm>
            <a:custGeom>
              <a:avLst/>
              <a:gdLst/>
              <a:ahLst/>
              <a:cxnLst/>
              <a:rect l="l" t="t" r="r" b="b"/>
              <a:pathLst>
                <a:path w="11049000" h="9525">
                  <a:moveTo>
                    <a:pt x="0" y="0"/>
                  </a:moveTo>
                  <a:lnTo>
                    <a:pt x="11049000" y="0"/>
                  </a:lnTo>
                </a:path>
              </a:pathLst>
            </a:custGeom>
            <a:noFill/>
            <a:ln w="9525">
              <a:solidFill>
                <a:srgbClr val="CDD7E2"/>
              </a:solidFill>
            </a:ln>
          </p:spPr>
          <p:txBody>
            <a:bodyPr/>
            <a:lstStyle/>
            <a:p>
              <a:endParaRPr lang="en-US"/>
            </a:p>
          </p:txBody>
        </p:sp>
        <p:sp>
          <p:nvSpPr>
            <p:cNvPr id="53" name="TextBox 53"/>
            <p:cNvSpPr txBox="1"/>
            <p:nvPr/>
          </p:nvSpPr>
          <p:spPr>
            <a:xfrm>
              <a:off x="3059192" y="6296025"/>
              <a:ext cx="6073616" cy="304800"/>
            </a:xfrm>
            <a:prstGeom prst="rect">
              <a:avLst/>
            </a:prstGeom>
            <a:noFill/>
            <a:ln>
              <a:noFill/>
            </a:ln>
          </p:spPr>
          <p:txBody>
            <a:bodyPr wrap="none" lIns="0" tIns="0" rIns="0" bIns="0" anchor="t" anchorCtr="0">
              <a:spAutoFit/>
            </a:bodyPr>
            <a:lstStyle/>
            <a:p>
              <a:pPr algn="ctr"/>
              <a:r>
                <a:rPr lang="zh-CN" sz="1500" i="1" dirty="0">
                  <a:solidFill>
                    <a:srgbClr val="004C97"/>
                  </a:solidFill>
                  <a:latin typeface="Arial Black"/>
                  <a:ea typeface="Microsoft YaHei"/>
                  <a:cs typeface="Arial Black"/>
                </a:rPr>
                <a:t>Discovery </a:t>
              </a:r>
              <a:r>
                <a:rPr lang="zh-CN" sz="1500" b="1" i="1" dirty="0">
                  <a:solidFill>
                    <a:srgbClr val="707372"/>
                  </a:solidFill>
                  <a:latin typeface="Arial Black"/>
                  <a:ea typeface="Microsoft YaHei"/>
                  <a:cs typeface="Arial Black"/>
                </a:rPr>
                <a:t>→</a:t>
              </a:r>
              <a:r>
                <a:rPr lang="zh-CN" sz="1500" i="1" dirty="0">
                  <a:solidFill>
                    <a:srgbClr val="004C97"/>
                  </a:solidFill>
                  <a:latin typeface="Arial Black"/>
                  <a:ea typeface="Microsoft YaHei"/>
                  <a:cs typeface="Arial Black"/>
                </a:rPr>
                <a:t> fetch </a:t>
              </a:r>
              <a:r>
                <a:rPr lang="zh-CN" sz="1500" b="1" i="1" dirty="0">
                  <a:solidFill>
                    <a:srgbClr val="707372"/>
                  </a:solidFill>
                  <a:latin typeface="Arial Black"/>
                  <a:ea typeface="Microsoft YaHei"/>
                  <a:cs typeface="Arial Black"/>
                </a:rPr>
                <a:t>→</a:t>
              </a:r>
              <a:r>
                <a:rPr lang="zh-CN" sz="1500" i="1" dirty="0">
                  <a:solidFill>
                    <a:srgbClr val="004C97"/>
                  </a:solidFill>
                  <a:latin typeface="Arial Black"/>
                  <a:ea typeface="Microsoft YaHei"/>
                  <a:cs typeface="Arial Black"/>
                </a:rPr>
                <a:t> tidy </a:t>
              </a:r>
              <a:r>
                <a:rPr lang="zh-CN" sz="1500" b="1" i="1" dirty="0">
                  <a:solidFill>
                    <a:srgbClr val="707372"/>
                  </a:solidFill>
                  <a:latin typeface="Arial Black"/>
                  <a:ea typeface="Microsoft YaHei"/>
                  <a:cs typeface="Arial Black"/>
                </a:rPr>
                <a:t>→</a:t>
              </a:r>
              <a:r>
                <a:rPr lang="zh-CN" sz="1500" i="1" dirty="0">
                  <a:solidFill>
                    <a:srgbClr val="004C97"/>
                  </a:solidFill>
                  <a:latin typeface="Arial Black"/>
                  <a:ea typeface="Microsoft YaHei"/>
                  <a:cs typeface="Arial Black"/>
                </a:rPr>
                <a:t> chart. Chained, not stitched.</a:t>
              </a:r>
            </a:p>
          </p:txBody>
        </p:sp>
      </p:grpSp>
      <p:grpSp>
        <p:nvGrpSpPr>
          <p:cNvPr id="57" name="Group 57"/>
          <p:cNvGrpSpPr/>
          <p:nvPr/>
        </p:nvGrpSpPr>
        <p:grpSpPr>
          <a:xfrm>
            <a:off x="561022" y="6654641"/>
            <a:ext cx="11069956" cy="167640"/>
            <a:chOff x="561022" y="6654641"/>
            <a:chExt cx="11069956" cy="167640"/>
          </a:xfrm>
        </p:grpSpPr>
        <p:sp>
          <p:nvSpPr>
            <p:cNvPr id="55" name="TextBox 55"/>
            <p:cNvSpPr txBox="1"/>
            <p:nvPr/>
          </p:nvSpPr>
          <p:spPr>
            <a:xfrm>
              <a:off x="561022" y="66546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56" name="TextBox 56"/>
            <p:cNvSpPr txBox="1"/>
            <p:nvPr/>
          </p:nvSpPr>
          <p:spPr>
            <a:xfrm>
              <a:off x="11236500" y="6654641"/>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03 / 10</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900"/>
                            </p:stCondLst>
                            <p:childTnLst>
                              <p:par>
                                <p:cTn id="9" presetID="20" presetClass="entr" presetSubtype="0" fill="hold" nodeType="after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wedge">
                                      <p:cBhvr>
                                        <p:cTn id="11" dur="400"/>
                                        <p:tgtEl>
                                          <p:spTgt spid="21"/>
                                        </p:tgtEl>
                                      </p:cBhvr>
                                    </p:animEffect>
                                  </p:childTnLst>
                                </p:cTn>
                              </p:par>
                            </p:childTnLst>
                          </p:cTn>
                        </p:par>
                        <p:par>
                          <p:cTn id="12" fill="hold">
                            <p:stCondLst>
                              <p:cond delay="1800"/>
                            </p:stCondLst>
                            <p:childTnLst>
                              <p:par>
                                <p:cTn id="13" presetID="21" presetClass="entr" presetSubtype="0" fill="hold" nodeType="afterEffect">
                                  <p:stCondLst>
                                    <p:cond delay="0"/>
                                  </p:stCondLst>
                                  <p:childTnLst>
                                    <p:set>
                                      <p:cBhvr>
                                        <p:cTn id="14" dur="1" fill="hold">
                                          <p:stCondLst>
                                            <p:cond delay="0"/>
                                          </p:stCondLst>
                                        </p:cTn>
                                        <p:tgtEl>
                                          <p:spTgt spid="36"/>
                                        </p:tgtEl>
                                        <p:attrNameLst>
                                          <p:attrName>style.visibility</p:attrName>
                                        </p:attrNameLst>
                                      </p:cBhvr>
                                      <p:to>
                                        <p:strVal val="visible"/>
                                      </p:to>
                                    </p:set>
                                    <p:animEffect transition="in" filter="wheel(4)">
                                      <p:cBhvr>
                                        <p:cTn id="15" dur="400"/>
                                        <p:tgtEl>
                                          <p:spTgt spid="36"/>
                                        </p:tgtEl>
                                      </p:cBhvr>
                                    </p:animEffect>
                                  </p:childTnLst>
                                </p:cTn>
                              </p:par>
                            </p:childTnLst>
                          </p:cTn>
                        </p:par>
                        <p:par>
                          <p:cTn id="16" fill="hold">
                            <p:stCondLst>
                              <p:cond delay="2700"/>
                            </p:stCondLst>
                            <p:childTnLst>
                              <p:par>
                                <p:cTn id="17" presetID="22" presetClass="entr" presetSubtype="1"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wipe(left)">
                                      <p:cBhvr>
                                        <p:cTn id="19" dur="400"/>
                                        <p:tgtEl>
                                          <p:spTgt spid="51"/>
                                        </p:tgtEl>
                                      </p:cBhvr>
                                    </p:animEffect>
                                  </p:childTnLst>
                                </p:cTn>
                              </p:par>
                            </p:childTnLst>
                          </p:cTn>
                        </p:par>
                        <p:par>
                          <p:cTn id="20" fill="hold">
                            <p:stCondLst>
                              <p:cond delay="3600"/>
                            </p:stCondLst>
                            <p:childTnLst>
                              <p:par>
                                <p:cTn id="21" presetID="50" presetClass="entr" presetSubtype="0" fill="hold" nodeType="afterEffect">
                                  <p:stCondLst>
                                    <p:cond delay="0"/>
                                  </p:stCondLst>
                                  <p:childTnLst>
                                    <p:set>
                                      <p:cBhvr>
                                        <p:cTn id="22" dur="1" fill="hold">
                                          <p:stCondLst>
                                            <p:cond delay="0"/>
                                          </p:stCondLst>
                                        </p:cTn>
                                        <p:tgtEl>
                                          <p:spTgt spid="54"/>
                                        </p:tgtEl>
                                        <p:attrNameLst>
                                          <p:attrName>style.visibility</p:attrName>
                                        </p:attrNameLst>
                                      </p:cBhvr>
                                      <p:to>
                                        <p:strVal val="visible"/>
                                      </p:to>
                                    </p:set>
                                    <p:animEffect transition="in" filter="stretch(across)">
                                      <p:cBhvr>
                                        <p:cTn id="23"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1" grpId="0"/>
      <p:bldP spid="36" grpId="0"/>
      <p:bldP spid="51" grpId="0"/>
      <p:bldP spid="5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3667811" cy="954405"/>
            <a:chOff x="541020" y="569595"/>
            <a:chExt cx="3667811" cy="954405"/>
          </a:xfrm>
        </p:grpSpPr>
        <p:sp>
          <p:nvSpPr>
            <p:cNvPr id="3" name="TextBox 3"/>
            <p:cNvSpPr txBox="1"/>
            <p:nvPr/>
          </p:nvSpPr>
          <p:spPr>
            <a:xfrm>
              <a:off x="560070" y="569595"/>
              <a:ext cx="1161502"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03 · THE PROJECT</a:t>
              </a:r>
            </a:p>
          </p:txBody>
        </p:sp>
        <p:sp>
          <p:nvSpPr>
            <p:cNvPr id="4" name="TextBox 4"/>
            <p:cNvSpPr txBox="1"/>
            <p:nvPr/>
          </p:nvSpPr>
          <p:spPr>
            <a:xfrm>
              <a:off x="541020" y="836295"/>
              <a:ext cx="3667811"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Introducing RA Skills</a:t>
              </a:r>
            </a:p>
          </p:txBody>
        </p:sp>
        <p:sp>
          <p:nvSpPr>
            <p:cNvPr id="5" name="TextBox 5"/>
            <p:cNvSpPr txBox="1"/>
            <p:nvPr/>
          </p:nvSpPr>
          <p:spPr>
            <a:xfrm>
              <a:off x="556260" y="1280160"/>
              <a:ext cx="2685669"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Plain English in. Real iData out.</a:t>
              </a:r>
            </a:p>
          </p:txBody>
        </p:sp>
      </p:grpSp>
      <p:grpSp>
        <p:nvGrpSpPr>
          <p:cNvPr id="22" name="Group 22"/>
          <p:cNvGrpSpPr/>
          <p:nvPr/>
        </p:nvGrpSpPr>
        <p:grpSpPr>
          <a:xfrm>
            <a:off x="571500" y="1857375"/>
            <a:ext cx="4286250" cy="4095750"/>
            <a:chOff x="571500" y="1857375"/>
            <a:chExt cx="4286250" cy="4095750"/>
          </a:xfrm>
        </p:grpSpPr>
        <p:sp>
          <p:nvSpPr>
            <p:cNvPr id="7" name="Rectangle 7"/>
            <p:cNvSpPr/>
            <p:nvPr/>
          </p:nvSpPr>
          <p:spPr>
            <a:xfrm>
              <a:off x="571500" y="1857375"/>
              <a:ext cx="4286250" cy="4095750"/>
            </a:xfrm>
            <a:prstGeom prst="roundRect">
              <a:avLst>
                <a:gd name="adj" fmla="val 2326"/>
              </a:avLst>
            </a:prstGeom>
            <a:solidFill>
              <a:srgbClr val="EAF6FD"/>
            </a:solidFill>
            <a:ln>
              <a:noFill/>
            </a:ln>
          </p:spPr>
          <p:txBody>
            <a:bodyPr/>
            <a:lstStyle/>
            <a:p>
              <a:endParaRPr lang="en-US"/>
            </a:p>
          </p:txBody>
        </p:sp>
        <p:sp>
          <p:nvSpPr>
            <p:cNvPr id="8" name="TextBox 8"/>
            <p:cNvSpPr txBox="1"/>
            <p:nvPr/>
          </p:nvSpPr>
          <p:spPr>
            <a:xfrm>
              <a:off x="808672" y="2139791"/>
              <a:ext cx="615579"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WHAT IT IS</a:t>
              </a:r>
            </a:p>
          </p:txBody>
        </p:sp>
        <p:sp>
          <p:nvSpPr>
            <p:cNvPr id="9" name="TextBox 9"/>
            <p:cNvSpPr txBox="1"/>
            <p:nvPr/>
          </p:nvSpPr>
          <p:spPr>
            <a:xfrm>
              <a:off x="804862" y="2450306"/>
              <a:ext cx="2953226"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A family of project-local Claude Code</a:t>
              </a:r>
            </a:p>
          </p:txBody>
        </p:sp>
        <p:sp>
          <p:nvSpPr>
            <p:cNvPr id="10" name="TextBox 10"/>
            <p:cNvSpPr txBox="1"/>
            <p:nvPr/>
          </p:nvSpPr>
          <p:spPr>
            <a:xfrm>
              <a:off x="804862" y="2659856"/>
              <a:ext cx="2854642" cy="228600"/>
            </a:xfrm>
            <a:prstGeom prst="rect">
              <a:avLst/>
            </a:prstGeom>
            <a:noFill/>
            <a:ln>
              <a:noFill/>
            </a:ln>
          </p:spPr>
          <p:txBody>
            <a:bodyPr wrap="none" lIns="0" tIns="0" rIns="0" bIns="0" anchor="t" anchorCtr="0">
              <a:spAutoFit/>
            </a:bodyPr>
            <a:lstStyle/>
            <a:p>
              <a:pPr algn="l"/>
              <a:r>
                <a:rPr lang="zh-CN" sz="1125" dirty="0">
                  <a:solidFill>
                    <a:srgbClr val="1F2937"/>
                  </a:solidFill>
                  <a:latin typeface="Arial"/>
                  <a:ea typeface="Microsoft YaHei"/>
                  <a:cs typeface="Arial"/>
                </a:rPr>
                <a:t>skills for IMF Research Assistants.</a:t>
              </a:r>
            </a:p>
          </p:txBody>
        </p:sp>
        <p:sp>
          <p:nvSpPr>
            <p:cNvPr id="11" name="Line 11"/>
            <p:cNvSpPr/>
            <p:nvPr/>
          </p:nvSpPr>
          <p:spPr>
            <a:xfrm>
              <a:off x="819150" y="3124200"/>
              <a:ext cx="381000" cy="9525"/>
            </a:xfrm>
            <a:custGeom>
              <a:avLst/>
              <a:gdLst/>
              <a:ahLst/>
              <a:cxnLst/>
              <a:rect l="l" t="t" r="r" b="b"/>
              <a:pathLst>
                <a:path w="381000" h="9525">
                  <a:moveTo>
                    <a:pt x="0" y="0"/>
                  </a:moveTo>
                  <a:lnTo>
                    <a:pt x="381000" y="0"/>
                  </a:lnTo>
                </a:path>
              </a:pathLst>
            </a:custGeom>
            <a:noFill/>
            <a:ln w="19050">
              <a:solidFill>
                <a:srgbClr val="004C97"/>
              </a:solidFill>
            </a:ln>
          </p:spPr>
          <p:txBody>
            <a:bodyPr/>
            <a:lstStyle/>
            <a:p>
              <a:endParaRPr lang="en-US"/>
            </a:p>
          </p:txBody>
        </p:sp>
        <p:sp>
          <p:nvSpPr>
            <p:cNvPr id="12" name="TextBox 12"/>
            <p:cNvSpPr txBox="1"/>
            <p:nvPr/>
          </p:nvSpPr>
          <p:spPr>
            <a:xfrm>
              <a:off x="806768" y="3323749"/>
              <a:ext cx="1019064"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Where it lives</a:t>
              </a:r>
            </a:p>
          </p:txBody>
        </p:sp>
        <p:sp>
          <p:nvSpPr>
            <p:cNvPr id="13" name="TextBox 13"/>
            <p:cNvSpPr txBox="1"/>
            <p:nvPr/>
          </p:nvSpPr>
          <p:spPr>
            <a:xfrm>
              <a:off x="806768" y="3533299"/>
              <a:ext cx="1057156" cy="198120"/>
            </a:xfrm>
            <a:prstGeom prst="rect">
              <a:avLst/>
            </a:prstGeom>
            <a:noFill/>
            <a:ln>
              <a:noFill/>
            </a:ln>
          </p:spPr>
          <p:txBody>
            <a:bodyPr wrap="none" lIns="0" tIns="0" rIns="0" bIns="0" anchor="t" anchorCtr="0">
              <a:spAutoFit/>
            </a:bodyPr>
            <a:lstStyle/>
            <a:p>
              <a:pPr algn="l"/>
              <a:r>
                <a:rPr lang="zh-CN" sz="975" dirty="0">
                  <a:solidFill>
                    <a:srgbClr val="009CDE"/>
                  </a:solidFill>
                  <a:latin typeface="Consolas"/>
                  <a:ea typeface="Microsoft YaHei"/>
                  <a:cs typeface="Consolas"/>
                </a:rPr>
                <a:t>.claude/skills/</a:t>
              </a:r>
            </a:p>
          </p:txBody>
        </p:sp>
        <p:sp>
          <p:nvSpPr>
            <p:cNvPr id="14" name="TextBox 14"/>
            <p:cNvSpPr txBox="1"/>
            <p:nvPr/>
          </p:nvSpPr>
          <p:spPr>
            <a:xfrm>
              <a:off x="806768" y="3723799"/>
              <a:ext cx="2516743"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in the analyst's repo. Auto-loaded.</a:t>
              </a:r>
            </a:p>
          </p:txBody>
        </p:sp>
        <p:sp>
          <p:nvSpPr>
            <p:cNvPr id="15" name="TextBox 15"/>
            <p:cNvSpPr txBox="1"/>
            <p:nvPr/>
          </p:nvSpPr>
          <p:spPr>
            <a:xfrm>
              <a:off x="806768" y="4142899"/>
              <a:ext cx="398562"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Input</a:t>
              </a:r>
            </a:p>
          </p:txBody>
        </p:sp>
        <p:sp>
          <p:nvSpPr>
            <p:cNvPr id="16" name="TextBox 16"/>
            <p:cNvSpPr txBox="1"/>
            <p:nvPr/>
          </p:nvSpPr>
          <p:spPr>
            <a:xfrm>
              <a:off x="806768" y="4352449"/>
              <a:ext cx="1249394" cy="198120"/>
            </a:xfrm>
            <a:prstGeom prst="rect">
              <a:avLst/>
            </a:prstGeom>
            <a:noFill/>
            <a:ln>
              <a:noFill/>
            </a:ln>
          </p:spPr>
          <p:txBody>
            <a:bodyPr wrap="none" lIns="0" tIns="0" rIns="0" bIns="0" anchor="t" anchorCtr="0">
              <a:spAutoFit/>
            </a:bodyPr>
            <a:lstStyle/>
            <a:p>
              <a:pPr algn="l"/>
              <a:r>
                <a:rPr lang="zh-CN" sz="975" i="1" dirty="0">
                  <a:solidFill>
                    <a:srgbClr val="5B6470"/>
                  </a:solidFill>
                  <a:latin typeface="Arial"/>
                  <a:ea typeface="Microsoft YaHei"/>
                  <a:cs typeface="Arial"/>
                </a:rPr>
                <a:t>Natural language.</a:t>
              </a:r>
            </a:p>
          </p:txBody>
        </p:sp>
        <p:sp>
          <p:nvSpPr>
            <p:cNvPr id="17" name="TextBox 17"/>
            <p:cNvSpPr txBox="1"/>
            <p:nvPr/>
          </p:nvSpPr>
          <p:spPr>
            <a:xfrm>
              <a:off x="806768" y="4752499"/>
              <a:ext cx="548080"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Output</a:t>
              </a:r>
            </a:p>
          </p:txBody>
        </p:sp>
        <p:sp>
          <p:nvSpPr>
            <p:cNvPr id="18" name="TextBox 18"/>
            <p:cNvSpPr txBox="1"/>
            <p:nvPr/>
          </p:nvSpPr>
          <p:spPr>
            <a:xfrm>
              <a:off x="806768" y="4962049"/>
              <a:ext cx="2118027"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Refreshable Excel · wide CSV ·</a:t>
              </a:r>
            </a:p>
          </p:txBody>
        </p:sp>
        <p:sp>
          <p:nvSpPr>
            <p:cNvPr id="19" name="TextBox 19"/>
            <p:cNvSpPr txBox="1"/>
            <p:nvPr/>
          </p:nvSpPr>
          <p:spPr>
            <a:xfrm>
              <a:off x="806768" y="5152549"/>
              <a:ext cx="172643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long CSV · </a:t>
              </a:r>
              <a:r>
                <a:rPr lang="zh-CN" sz="975" b="1" dirty="0">
                  <a:solidFill>
                    <a:srgbClr val="707372"/>
                  </a:solidFill>
                  <a:latin typeface="Arial"/>
                  <a:ea typeface="Microsoft YaHei"/>
                  <a:cs typeface="Arial"/>
                </a:rPr>
                <a:t>(soon) chart</a:t>
              </a:r>
              <a:r>
                <a:rPr lang="zh-CN" sz="975" dirty="0">
                  <a:solidFill>
                    <a:srgbClr val="5B6470"/>
                  </a:solidFill>
                  <a:latin typeface="Arial"/>
                  <a:ea typeface="Microsoft YaHei"/>
                  <a:cs typeface="Arial"/>
                </a:rPr>
                <a:t>.</a:t>
              </a:r>
            </a:p>
          </p:txBody>
        </p:sp>
        <p:sp>
          <p:nvSpPr>
            <p:cNvPr id="20" name="Line 20"/>
            <p:cNvSpPr/>
            <p:nvPr/>
          </p:nvSpPr>
          <p:spPr>
            <a:xfrm>
              <a:off x="819150" y="5572125"/>
              <a:ext cx="3467100" cy="9525"/>
            </a:xfrm>
            <a:custGeom>
              <a:avLst/>
              <a:gdLst/>
              <a:ahLst/>
              <a:cxnLst/>
              <a:rect l="l" t="t" r="r" b="b"/>
              <a:pathLst>
                <a:path w="3467100" h="9525">
                  <a:moveTo>
                    <a:pt x="0" y="0"/>
                  </a:moveTo>
                  <a:lnTo>
                    <a:pt x="3467100" y="0"/>
                  </a:lnTo>
                </a:path>
              </a:pathLst>
            </a:custGeom>
            <a:noFill/>
            <a:ln w="9525">
              <a:solidFill>
                <a:srgbClr val="CDD7E2"/>
              </a:solidFill>
            </a:ln>
          </p:spPr>
          <p:txBody>
            <a:bodyPr/>
            <a:lstStyle/>
            <a:p>
              <a:endParaRPr lang="en-US"/>
            </a:p>
          </p:txBody>
        </p:sp>
        <p:sp>
          <p:nvSpPr>
            <p:cNvPr id="21" name="TextBox 21"/>
            <p:cNvSpPr txBox="1"/>
            <p:nvPr/>
          </p:nvSpPr>
          <p:spPr>
            <a:xfrm>
              <a:off x="807720" y="5713095"/>
              <a:ext cx="2487454" cy="182880"/>
            </a:xfrm>
            <a:prstGeom prst="rect">
              <a:avLst/>
            </a:prstGeom>
            <a:noFill/>
            <a:ln>
              <a:noFill/>
            </a:ln>
          </p:spPr>
          <p:txBody>
            <a:bodyPr wrap="none" lIns="0" tIns="0" rIns="0" bIns="0" anchor="t" anchorCtr="0">
              <a:spAutoFit/>
            </a:bodyPr>
            <a:lstStyle/>
            <a:p>
              <a:pPr algn="l"/>
              <a:r>
                <a:rPr lang="zh-CN" sz="900" i="1" dirty="0">
                  <a:solidFill>
                    <a:srgbClr val="5B6470"/>
                  </a:solidFill>
                  <a:latin typeface="Arial"/>
                  <a:ea typeface="Microsoft YaHei"/>
                  <a:cs typeface="Arial"/>
                </a:rPr>
                <a:t>Built on Anthropic Claude Code + Skills.</a:t>
              </a:r>
            </a:p>
          </p:txBody>
        </p:sp>
      </p:grpSp>
      <p:grpSp>
        <p:nvGrpSpPr>
          <p:cNvPr id="84" name="Group 84"/>
          <p:cNvGrpSpPr/>
          <p:nvPr/>
        </p:nvGrpSpPr>
        <p:grpSpPr>
          <a:xfrm>
            <a:off x="5334000" y="2139791"/>
            <a:ext cx="6096000" cy="3994309"/>
            <a:chOff x="5334000" y="2139791"/>
            <a:chExt cx="6096000" cy="3994309"/>
          </a:xfrm>
        </p:grpSpPr>
        <p:sp>
          <p:nvSpPr>
            <p:cNvPr id="23" name="TextBox 23"/>
            <p:cNvSpPr txBox="1"/>
            <p:nvPr/>
          </p:nvSpPr>
          <p:spPr>
            <a:xfrm>
              <a:off x="6180772" y="2139791"/>
              <a:ext cx="862285"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HOW IT FLOWS</a:t>
              </a:r>
            </a:p>
          </p:txBody>
        </p:sp>
        <p:grpSp>
          <p:nvGrpSpPr>
            <p:cNvPr id="27" name="Group 27"/>
            <p:cNvGrpSpPr/>
            <p:nvPr/>
          </p:nvGrpSpPr>
          <p:grpSpPr>
            <a:xfrm>
              <a:off x="5334000" y="2571750"/>
              <a:ext cx="2667000" cy="762000"/>
              <a:chOff x="5334000" y="2571750"/>
              <a:chExt cx="2667000" cy="762000"/>
            </a:xfrm>
          </p:grpSpPr>
          <p:sp>
            <p:nvSpPr>
              <p:cNvPr id="24" name="Rectangle 24"/>
              <p:cNvSpPr/>
              <p:nvPr/>
            </p:nvSpPr>
            <p:spPr>
              <a:xfrm>
                <a:off x="5334000" y="2571750"/>
                <a:ext cx="2667000" cy="762000"/>
              </a:xfrm>
              <a:prstGeom prst="roundRect">
                <a:avLst>
                  <a:gd name="adj" fmla="val 12500"/>
                </a:avLst>
              </a:prstGeom>
              <a:solidFill>
                <a:srgbClr val="FFFFFF"/>
              </a:solidFill>
              <a:ln w="14288">
                <a:solidFill>
                  <a:srgbClr val="CDD7E2"/>
                </a:solidFill>
              </a:ln>
            </p:spPr>
            <p:txBody>
              <a:bodyPr/>
              <a:lstStyle/>
              <a:p>
                <a:endParaRPr lang="en-US"/>
              </a:p>
            </p:txBody>
          </p:sp>
          <p:sp>
            <p:nvSpPr>
              <p:cNvPr id="25" name="TextBox 25"/>
              <p:cNvSpPr txBox="1"/>
              <p:nvPr/>
            </p:nvSpPr>
            <p:spPr>
              <a:xfrm>
                <a:off x="5977000" y="2749391"/>
                <a:ext cx="1381000" cy="167640"/>
              </a:xfrm>
              <a:prstGeom prst="rect">
                <a:avLst/>
              </a:prstGeom>
              <a:noFill/>
              <a:ln>
                <a:noFill/>
              </a:ln>
            </p:spPr>
            <p:txBody>
              <a:bodyPr wrap="none" lIns="0" tIns="0" rIns="0" bIns="0" anchor="t" anchorCtr="0">
                <a:spAutoFit/>
              </a:bodyPr>
              <a:lstStyle/>
              <a:p>
                <a:pPr algn="ctr"/>
                <a:r>
                  <a:rPr lang="zh-CN" sz="825" b="1" dirty="0">
                    <a:solidFill>
                      <a:srgbClr val="5B6470"/>
                    </a:solidFill>
                    <a:latin typeface="Arial"/>
                    <a:ea typeface="Microsoft YaHei"/>
                    <a:cs typeface="Arial"/>
                  </a:rPr>
                  <a:t>PLAIN ENGLISH REQUEST</a:t>
                </a:r>
              </a:p>
            </p:txBody>
          </p:sp>
          <p:sp>
            <p:nvSpPr>
              <p:cNvPr id="26" name="TextBox 26"/>
              <p:cNvSpPr txBox="1"/>
              <p:nvPr/>
            </p:nvSpPr>
            <p:spPr>
              <a:xfrm>
                <a:off x="5603700" y="3010852"/>
                <a:ext cx="2127599" cy="213360"/>
              </a:xfrm>
              <a:prstGeom prst="rect">
                <a:avLst/>
              </a:prstGeom>
              <a:noFill/>
              <a:ln>
                <a:noFill/>
              </a:ln>
            </p:spPr>
            <p:txBody>
              <a:bodyPr wrap="none" lIns="0" tIns="0" rIns="0" bIns="0" anchor="t" anchorCtr="0">
                <a:spAutoFit/>
              </a:bodyPr>
              <a:lstStyle/>
              <a:p>
                <a:pPr algn="ctr"/>
                <a:r>
                  <a:rPr lang="zh-CN" sz="1050" i="1" dirty="0">
                    <a:solidFill>
                      <a:srgbClr val="004C97"/>
                    </a:solidFill>
                    <a:latin typeface="Arial"/>
                    <a:ea typeface="Microsoft YaHei"/>
                    <a:cs typeface="Arial"/>
                  </a:rPr>
                  <a:t>"Pull WEO real GDP growth…"</a:t>
                </a:r>
              </a:p>
            </p:txBody>
          </p:sp>
        </p:grpSp>
        <p:sp>
          <p:nvSpPr>
            <p:cNvPr id="28" name="Line 28"/>
            <p:cNvSpPr/>
            <p:nvPr/>
          </p:nvSpPr>
          <p:spPr>
            <a:xfrm>
              <a:off x="6667500" y="3409950"/>
              <a:ext cx="1" cy="352425"/>
            </a:xfrm>
            <a:prstGeom prst="line">
              <a:avLst/>
            </a:prstGeom>
            <a:noFill/>
            <a:ln w="23812">
              <a:solidFill>
                <a:srgbClr val="707372"/>
              </a:solidFill>
              <a:tailEnd type="triangle" w="lg" len="lg"/>
            </a:ln>
          </p:spPr>
          <p:txBody>
            <a:bodyPr/>
            <a:lstStyle/>
            <a:p>
              <a:endParaRPr lang="en-US"/>
            </a:p>
          </p:txBody>
        </p:sp>
        <p:grpSp>
          <p:nvGrpSpPr>
            <p:cNvPr id="55" name="Group 55"/>
            <p:cNvGrpSpPr/>
            <p:nvPr/>
          </p:nvGrpSpPr>
          <p:grpSpPr>
            <a:xfrm>
              <a:off x="5334000" y="3857625"/>
              <a:ext cx="6096000" cy="1143000"/>
              <a:chOff x="5334000" y="3857625"/>
              <a:chExt cx="6096000" cy="1143000"/>
            </a:xfrm>
          </p:grpSpPr>
          <p:sp>
            <p:nvSpPr>
              <p:cNvPr id="29" name="Rectangle 29"/>
              <p:cNvSpPr/>
              <p:nvPr/>
            </p:nvSpPr>
            <p:spPr>
              <a:xfrm>
                <a:off x="5334000" y="3857625"/>
                <a:ext cx="6096000" cy="1143000"/>
              </a:xfrm>
              <a:prstGeom prst="roundRect">
                <a:avLst>
                  <a:gd name="adj" fmla="val 8333"/>
                </a:avLst>
              </a:prstGeom>
              <a:solidFill>
                <a:srgbClr val="004C97"/>
              </a:solidFill>
              <a:ln>
                <a:noFill/>
              </a:ln>
            </p:spPr>
            <p:txBody>
              <a:bodyPr/>
              <a:lstStyle/>
              <a:p>
                <a:endParaRPr lang="en-US"/>
              </a:p>
            </p:txBody>
          </p:sp>
          <p:grpSp>
            <p:nvGrpSpPr>
              <p:cNvPr id="40" name="Group 40"/>
              <p:cNvGrpSpPr/>
              <p:nvPr/>
            </p:nvGrpSpPr>
            <p:grpSpPr>
              <a:xfrm>
                <a:off x="5638800" y="4171950"/>
                <a:ext cx="342900" cy="342900"/>
                <a:chOff x="5638800" y="4171950"/>
                <a:chExt cx="342900" cy="342900"/>
              </a:xfrm>
            </p:grpSpPr>
            <p:sp>
              <p:nvSpPr>
                <p:cNvPr id="30" name="Freeform 30"/>
                <p:cNvSpPr/>
                <p:nvPr/>
              </p:nvSpPr>
              <p:spPr>
                <a:xfrm>
                  <a:off x="5676900" y="4210050"/>
                  <a:ext cx="266700" cy="266700"/>
                </a:xfrm>
                <a:custGeom>
                  <a:avLst/>
                  <a:gdLst/>
                  <a:ahLst/>
                  <a:cxnLst/>
                  <a:rect l="l" t="t" r="r" b="b"/>
                  <a:pathLst>
                    <a:path w="266700" h="266700">
                      <a:moveTo>
                        <a:pt x="0" y="19050"/>
                      </a:moveTo>
                      <a:cubicBezTo>
                        <a:pt x="0" y="8529"/>
                        <a:pt x="8529" y="0"/>
                        <a:pt x="19050" y="0"/>
                      </a:cubicBezTo>
                      <a:lnTo>
                        <a:pt x="247650" y="0"/>
                      </a:lnTo>
                      <a:cubicBezTo>
                        <a:pt x="258171" y="0"/>
                        <a:pt x="266700" y="8529"/>
                        <a:pt x="266700" y="19050"/>
                      </a:cubicBezTo>
                      <a:lnTo>
                        <a:pt x="266700" y="247650"/>
                      </a:lnTo>
                      <a:cubicBezTo>
                        <a:pt x="266700" y="258171"/>
                        <a:pt x="258171" y="266700"/>
                        <a:pt x="247650" y="266700"/>
                      </a:cubicBezTo>
                      <a:lnTo>
                        <a:pt x="19050" y="266700"/>
                      </a:lnTo>
                      <a:cubicBezTo>
                        <a:pt x="8529" y="266700"/>
                        <a:pt x="0" y="258171"/>
                        <a:pt x="0" y="247650"/>
                      </a:cubicBezTo>
                      <a:lnTo>
                        <a:pt x="0" y="19050"/>
                      </a:lnTo>
                    </a:path>
                  </a:pathLst>
                </a:custGeom>
                <a:noFill/>
                <a:ln w="19050">
                  <a:solidFill>
                    <a:srgbClr val="FFFFFF"/>
                  </a:solidFill>
                </a:ln>
              </p:spPr>
              <p:txBody>
                <a:bodyPr/>
                <a:lstStyle/>
                <a:p>
                  <a:endParaRPr lang="en-US"/>
                </a:p>
              </p:txBody>
            </p:sp>
            <p:sp>
              <p:nvSpPr>
                <p:cNvPr id="31" name="Freeform 31"/>
                <p:cNvSpPr/>
                <p:nvPr/>
              </p:nvSpPr>
              <p:spPr>
                <a:xfrm>
                  <a:off x="5753100" y="4286250"/>
                  <a:ext cx="114300" cy="114300"/>
                </a:xfrm>
                <a:custGeom>
                  <a:avLst/>
                  <a:gdLst/>
                  <a:ahLst/>
                  <a:cxnLst/>
                  <a:rect l="l" t="t" r="r" b="b"/>
                  <a:pathLst>
                    <a:path w="114300" h="114300">
                      <a:moveTo>
                        <a:pt x="0" y="0"/>
                      </a:moveTo>
                      <a:lnTo>
                        <a:pt x="114300" y="0"/>
                      </a:lnTo>
                      <a:lnTo>
                        <a:pt x="114300" y="114300"/>
                      </a:lnTo>
                      <a:lnTo>
                        <a:pt x="0" y="114300"/>
                      </a:lnTo>
                      <a:lnTo>
                        <a:pt x="0" y="0"/>
                      </a:lnTo>
                    </a:path>
                  </a:pathLst>
                </a:custGeom>
                <a:noFill/>
                <a:ln w="19050">
                  <a:solidFill>
                    <a:srgbClr val="FFFFFF"/>
                  </a:solidFill>
                </a:ln>
              </p:spPr>
              <p:txBody>
                <a:bodyPr/>
                <a:lstStyle/>
                <a:p>
                  <a:endParaRPr lang="en-US"/>
                </a:p>
              </p:txBody>
            </p:sp>
            <p:sp>
              <p:nvSpPr>
                <p:cNvPr id="32" name="Freeform 32"/>
                <p:cNvSpPr/>
                <p:nvPr/>
              </p:nvSpPr>
              <p:spPr>
                <a:xfrm>
                  <a:off x="5638800" y="4305300"/>
                  <a:ext cx="38100" cy="9525"/>
                </a:xfrm>
                <a:custGeom>
                  <a:avLst/>
                  <a:gdLst/>
                  <a:ahLst/>
                  <a:cxnLst/>
                  <a:rect l="l" t="t" r="r" b="b"/>
                  <a:pathLst>
                    <a:path w="38100" h="9525">
                      <a:moveTo>
                        <a:pt x="0" y="0"/>
                      </a:moveTo>
                      <a:lnTo>
                        <a:pt x="38100" y="0"/>
                      </a:lnTo>
                    </a:path>
                  </a:pathLst>
                </a:custGeom>
                <a:noFill/>
                <a:ln w="19050">
                  <a:solidFill>
                    <a:srgbClr val="FFFFFF"/>
                  </a:solidFill>
                </a:ln>
              </p:spPr>
              <p:txBody>
                <a:bodyPr/>
                <a:lstStyle/>
                <a:p>
                  <a:endParaRPr lang="en-US"/>
                </a:p>
              </p:txBody>
            </p:sp>
            <p:sp>
              <p:nvSpPr>
                <p:cNvPr id="33" name="Freeform 33"/>
                <p:cNvSpPr/>
                <p:nvPr/>
              </p:nvSpPr>
              <p:spPr>
                <a:xfrm>
                  <a:off x="5638800" y="4381500"/>
                  <a:ext cx="38100" cy="9525"/>
                </a:xfrm>
                <a:custGeom>
                  <a:avLst/>
                  <a:gdLst/>
                  <a:ahLst/>
                  <a:cxnLst/>
                  <a:rect l="l" t="t" r="r" b="b"/>
                  <a:pathLst>
                    <a:path w="38100" h="9525">
                      <a:moveTo>
                        <a:pt x="0" y="0"/>
                      </a:moveTo>
                      <a:lnTo>
                        <a:pt x="38100" y="0"/>
                      </a:lnTo>
                    </a:path>
                  </a:pathLst>
                </a:custGeom>
                <a:noFill/>
                <a:ln w="19050">
                  <a:solidFill>
                    <a:srgbClr val="FFFFFF"/>
                  </a:solidFill>
                </a:ln>
              </p:spPr>
              <p:txBody>
                <a:bodyPr/>
                <a:lstStyle/>
                <a:p>
                  <a:endParaRPr lang="en-US"/>
                </a:p>
              </p:txBody>
            </p:sp>
            <p:sp>
              <p:nvSpPr>
                <p:cNvPr id="34" name="Freeform 34"/>
                <p:cNvSpPr/>
                <p:nvPr/>
              </p:nvSpPr>
              <p:spPr>
                <a:xfrm>
                  <a:off x="5772150" y="4171950"/>
                  <a:ext cx="9525" cy="38100"/>
                </a:xfrm>
                <a:custGeom>
                  <a:avLst/>
                  <a:gdLst/>
                  <a:ahLst/>
                  <a:cxnLst/>
                  <a:rect l="l" t="t" r="r" b="b"/>
                  <a:pathLst>
                    <a:path w="9525" h="38100">
                      <a:moveTo>
                        <a:pt x="0" y="0"/>
                      </a:moveTo>
                      <a:lnTo>
                        <a:pt x="0" y="38100"/>
                      </a:lnTo>
                    </a:path>
                  </a:pathLst>
                </a:custGeom>
                <a:noFill/>
                <a:ln w="19050">
                  <a:solidFill>
                    <a:srgbClr val="FFFFFF"/>
                  </a:solidFill>
                </a:ln>
              </p:spPr>
              <p:txBody>
                <a:bodyPr/>
                <a:lstStyle/>
                <a:p>
                  <a:endParaRPr lang="en-US"/>
                </a:p>
              </p:txBody>
            </p:sp>
            <p:sp>
              <p:nvSpPr>
                <p:cNvPr id="35" name="Freeform 35"/>
                <p:cNvSpPr/>
                <p:nvPr/>
              </p:nvSpPr>
              <p:spPr>
                <a:xfrm>
                  <a:off x="5848350" y="4171950"/>
                  <a:ext cx="9525" cy="38100"/>
                </a:xfrm>
                <a:custGeom>
                  <a:avLst/>
                  <a:gdLst/>
                  <a:ahLst/>
                  <a:cxnLst/>
                  <a:rect l="l" t="t" r="r" b="b"/>
                  <a:pathLst>
                    <a:path w="9525" h="38100">
                      <a:moveTo>
                        <a:pt x="0" y="0"/>
                      </a:moveTo>
                      <a:lnTo>
                        <a:pt x="0" y="38100"/>
                      </a:lnTo>
                    </a:path>
                  </a:pathLst>
                </a:custGeom>
                <a:noFill/>
                <a:ln w="19050">
                  <a:solidFill>
                    <a:srgbClr val="FFFFFF"/>
                  </a:solidFill>
                </a:ln>
              </p:spPr>
              <p:txBody>
                <a:bodyPr/>
                <a:lstStyle/>
                <a:p>
                  <a:endParaRPr lang="en-US"/>
                </a:p>
              </p:txBody>
            </p:sp>
            <p:sp>
              <p:nvSpPr>
                <p:cNvPr id="36" name="Freeform 36"/>
                <p:cNvSpPr/>
                <p:nvPr/>
              </p:nvSpPr>
              <p:spPr>
                <a:xfrm>
                  <a:off x="5943600" y="4305300"/>
                  <a:ext cx="38100" cy="9525"/>
                </a:xfrm>
                <a:custGeom>
                  <a:avLst/>
                  <a:gdLst/>
                  <a:ahLst/>
                  <a:cxnLst/>
                  <a:rect l="l" t="t" r="r" b="b"/>
                  <a:pathLst>
                    <a:path w="38100" h="9525">
                      <a:moveTo>
                        <a:pt x="38100" y="0"/>
                      </a:moveTo>
                      <a:lnTo>
                        <a:pt x="0" y="0"/>
                      </a:lnTo>
                    </a:path>
                  </a:pathLst>
                </a:custGeom>
                <a:noFill/>
                <a:ln w="19050">
                  <a:solidFill>
                    <a:srgbClr val="FFFFFF"/>
                  </a:solidFill>
                </a:ln>
              </p:spPr>
              <p:txBody>
                <a:bodyPr/>
                <a:lstStyle/>
                <a:p>
                  <a:endParaRPr lang="en-US"/>
                </a:p>
              </p:txBody>
            </p:sp>
            <p:sp>
              <p:nvSpPr>
                <p:cNvPr id="37" name="Freeform 37"/>
                <p:cNvSpPr/>
                <p:nvPr/>
              </p:nvSpPr>
              <p:spPr>
                <a:xfrm>
                  <a:off x="5943600" y="4381500"/>
                  <a:ext cx="38100" cy="9525"/>
                </a:xfrm>
                <a:custGeom>
                  <a:avLst/>
                  <a:gdLst/>
                  <a:ahLst/>
                  <a:cxnLst/>
                  <a:rect l="l" t="t" r="r" b="b"/>
                  <a:pathLst>
                    <a:path w="38100" h="9525">
                      <a:moveTo>
                        <a:pt x="38100" y="0"/>
                      </a:moveTo>
                      <a:lnTo>
                        <a:pt x="0" y="0"/>
                      </a:lnTo>
                    </a:path>
                  </a:pathLst>
                </a:custGeom>
                <a:noFill/>
                <a:ln w="19050">
                  <a:solidFill>
                    <a:srgbClr val="FFFFFF"/>
                  </a:solidFill>
                </a:ln>
              </p:spPr>
              <p:txBody>
                <a:bodyPr/>
                <a:lstStyle/>
                <a:p>
                  <a:endParaRPr lang="en-US"/>
                </a:p>
              </p:txBody>
            </p:sp>
            <p:sp>
              <p:nvSpPr>
                <p:cNvPr id="38" name="Freeform 38"/>
                <p:cNvSpPr/>
                <p:nvPr/>
              </p:nvSpPr>
              <p:spPr>
                <a:xfrm>
                  <a:off x="5848350" y="4476750"/>
                  <a:ext cx="9525" cy="38100"/>
                </a:xfrm>
                <a:custGeom>
                  <a:avLst/>
                  <a:gdLst/>
                  <a:ahLst/>
                  <a:cxnLst/>
                  <a:rect l="l" t="t" r="r" b="b"/>
                  <a:pathLst>
                    <a:path w="9525" h="38100">
                      <a:moveTo>
                        <a:pt x="0" y="38100"/>
                      </a:moveTo>
                      <a:lnTo>
                        <a:pt x="0" y="0"/>
                      </a:lnTo>
                    </a:path>
                  </a:pathLst>
                </a:custGeom>
                <a:noFill/>
                <a:ln w="19050">
                  <a:solidFill>
                    <a:srgbClr val="FFFFFF"/>
                  </a:solidFill>
                </a:ln>
              </p:spPr>
              <p:txBody>
                <a:bodyPr/>
                <a:lstStyle/>
                <a:p>
                  <a:endParaRPr lang="en-US"/>
                </a:p>
              </p:txBody>
            </p:sp>
            <p:sp>
              <p:nvSpPr>
                <p:cNvPr id="39" name="Freeform 39"/>
                <p:cNvSpPr/>
                <p:nvPr/>
              </p:nvSpPr>
              <p:spPr>
                <a:xfrm>
                  <a:off x="5772150" y="4476750"/>
                  <a:ext cx="9525" cy="38100"/>
                </a:xfrm>
                <a:custGeom>
                  <a:avLst/>
                  <a:gdLst/>
                  <a:ahLst/>
                  <a:cxnLst/>
                  <a:rect l="l" t="t" r="r" b="b"/>
                  <a:pathLst>
                    <a:path w="9525" h="38100">
                      <a:moveTo>
                        <a:pt x="0" y="38100"/>
                      </a:moveTo>
                      <a:lnTo>
                        <a:pt x="0" y="0"/>
                      </a:lnTo>
                    </a:path>
                  </a:pathLst>
                </a:custGeom>
                <a:noFill/>
                <a:ln w="19050">
                  <a:solidFill>
                    <a:srgbClr val="FFFFFF"/>
                  </a:solidFill>
                </a:ln>
              </p:spPr>
              <p:txBody>
                <a:bodyPr/>
                <a:lstStyle/>
                <a:p>
                  <a:endParaRPr lang="en-US"/>
                </a:p>
              </p:txBody>
            </p:sp>
          </p:grpSp>
          <p:sp>
            <p:nvSpPr>
              <p:cNvPr id="41" name="TextBox 41"/>
              <p:cNvSpPr txBox="1"/>
              <p:nvPr/>
            </p:nvSpPr>
            <p:spPr>
              <a:xfrm>
                <a:off x="6180772" y="4197191"/>
                <a:ext cx="969824" cy="167640"/>
              </a:xfrm>
              <a:prstGeom prst="rect">
                <a:avLst/>
              </a:prstGeom>
              <a:noFill/>
              <a:ln>
                <a:noFill/>
              </a:ln>
            </p:spPr>
            <p:txBody>
              <a:bodyPr wrap="none" lIns="0" tIns="0" rIns="0" bIns="0" anchor="t" anchorCtr="0">
                <a:spAutoFit/>
              </a:bodyPr>
              <a:lstStyle/>
              <a:p>
                <a:pPr algn="l"/>
                <a:r>
                  <a:rPr lang="zh-CN" sz="825" b="1" dirty="0">
                    <a:solidFill>
                      <a:srgbClr val="FFFFFF"/>
                    </a:solidFill>
                    <a:latin typeface="Arial"/>
                    <a:ea typeface="Microsoft YaHei"/>
                    <a:cs typeface="Arial"/>
                  </a:rPr>
                  <a:t>RA SKILLS AGENT</a:t>
                </a:r>
              </a:p>
            </p:txBody>
          </p:sp>
          <p:sp>
            <p:nvSpPr>
              <p:cNvPr id="42" name="TextBox 42"/>
              <p:cNvSpPr txBox="1"/>
              <p:nvPr/>
            </p:nvSpPr>
            <p:spPr>
              <a:xfrm>
                <a:off x="6172200" y="4429125"/>
                <a:ext cx="3672554" cy="304800"/>
              </a:xfrm>
              <a:prstGeom prst="rect">
                <a:avLst/>
              </a:prstGeom>
              <a:noFill/>
              <a:ln>
                <a:noFill/>
              </a:ln>
            </p:spPr>
            <p:txBody>
              <a:bodyPr wrap="none" lIns="0" tIns="0" rIns="0" bIns="0" anchor="t" anchorCtr="0">
                <a:spAutoFit/>
              </a:bodyPr>
              <a:lstStyle/>
              <a:p>
                <a:pPr algn="l"/>
                <a:r>
                  <a:rPr lang="zh-CN" sz="1500" b="1" dirty="0">
                    <a:solidFill>
                      <a:srgbClr val="FFFFFF"/>
                    </a:solidFill>
                    <a:latin typeface="Arial Black"/>
                    <a:ea typeface="Microsoft YaHei"/>
                    <a:cs typeface="Arial Black"/>
                  </a:rPr>
                  <a:t>imf-ra · catalog · data · charts</a:t>
                </a:r>
              </a:p>
            </p:txBody>
          </p:sp>
          <p:grpSp>
            <p:nvGrpSpPr>
              <p:cNvPr id="45" name="Group 45"/>
              <p:cNvGrpSpPr/>
              <p:nvPr/>
            </p:nvGrpSpPr>
            <p:grpSpPr>
              <a:xfrm>
                <a:off x="5581650" y="4667250"/>
                <a:ext cx="1314450" cy="230981"/>
                <a:chOff x="5581650" y="4667250"/>
                <a:chExt cx="1314450" cy="230981"/>
              </a:xfrm>
            </p:grpSpPr>
            <p:sp>
              <p:nvSpPr>
                <p:cNvPr id="43" name="Rectangle 43"/>
                <p:cNvSpPr/>
                <p:nvPr/>
              </p:nvSpPr>
              <p:spPr>
                <a:xfrm>
                  <a:off x="5581650" y="4667250"/>
                  <a:ext cx="1314450" cy="209550"/>
                </a:xfrm>
                <a:prstGeom prst="roundRect">
                  <a:avLst>
                    <a:gd name="adj" fmla="val 18182"/>
                  </a:avLst>
                </a:prstGeom>
                <a:solidFill>
                  <a:srgbClr val="FFFFFF">
                    <a:alpha val="10000"/>
                  </a:srgbClr>
                </a:solidFill>
                <a:ln>
                  <a:noFill/>
                </a:ln>
              </p:spPr>
              <p:txBody>
                <a:bodyPr/>
                <a:lstStyle/>
                <a:p>
                  <a:endParaRPr lang="en-US"/>
                </a:p>
              </p:txBody>
            </p:sp>
            <p:sp>
              <p:nvSpPr>
                <p:cNvPr id="44" name="TextBox 44"/>
                <p:cNvSpPr txBox="1"/>
                <p:nvPr/>
              </p:nvSpPr>
              <p:spPr>
                <a:xfrm>
                  <a:off x="6032599" y="4730591"/>
                  <a:ext cx="412552"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a:t>
                  </a:r>
                </a:p>
              </p:txBody>
            </p:sp>
          </p:grpSp>
          <p:grpSp>
            <p:nvGrpSpPr>
              <p:cNvPr id="48" name="Group 48"/>
              <p:cNvGrpSpPr/>
              <p:nvPr/>
            </p:nvGrpSpPr>
            <p:grpSpPr>
              <a:xfrm>
                <a:off x="6991350" y="4667250"/>
                <a:ext cx="1314450" cy="230981"/>
                <a:chOff x="6991350" y="4667250"/>
                <a:chExt cx="1314450" cy="230981"/>
              </a:xfrm>
            </p:grpSpPr>
            <p:sp>
              <p:nvSpPr>
                <p:cNvPr id="46" name="Rectangle 46"/>
                <p:cNvSpPr/>
                <p:nvPr/>
              </p:nvSpPr>
              <p:spPr>
                <a:xfrm>
                  <a:off x="6991350" y="4667250"/>
                  <a:ext cx="1314450" cy="209550"/>
                </a:xfrm>
                <a:prstGeom prst="roundRect">
                  <a:avLst>
                    <a:gd name="adj" fmla="val 18182"/>
                  </a:avLst>
                </a:prstGeom>
                <a:solidFill>
                  <a:srgbClr val="FFFFFF">
                    <a:alpha val="10000"/>
                  </a:srgbClr>
                </a:solidFill>
                <a:ln>
                  <a:noFill/>
                </a:ln>
              </p:spPr>
              <p:txBody>
                <a:bodyPr/>
                <a:lstStyle/>
                <a:p>
                  <a:endParaRPr lang="en-US"/>
                </a:p>
              </p:txBody>
            </p:sp>
            <p:sp>
              <p:nvSpPr>
                <p:cNvPr id="47" name="TextBox 47"/>
                <p:cNvSpPr txBox="1"/>
                <p:nvPr/>
              </p:nvSpPr>
              <p:spPr>
                <a:xfrm>
                  <a:off x="7192280" y="4730591"/>
                  <a:ext cx="912590"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imf-ra-catalog</a:t>
                  </a:r>
                </a:p>
              </p:txBody>
            </p:sp>
          </p:grpSp>
          <p:grpSp>
            <p:nvGrpSpPr>
              <p:cNvPr id="51" name="Group 51"/>
              <p:cNvGrpSpPr/>
              <p:nvPr/>
            </p:nvGrpSpPr>
            <p:grpSpPr>
              <a:xfrm>
                <a:off x="8401050" y="4667250"/>
                <a:ext cx="1314450" cy="230981"/>
                <a:chOff x="8401050" y="4667250"/>
                <a:chExt cx="1314450" cy="230981"/>
              </a:xfrm>
            </p:grpSpPr>
            <p:sp>
              <p:nvSpPr>
                <p:cNvPr id="49" name="Rectangle 49"/>
                <p:cNvSpPr/>
                <p:nvPr/>
              </p:nvSpPr>
              <p:spPr>
                <a:xfrm>
                  <a:off x="8401050" y="4667250"/>
                  <a:ext cx="1314450" cy="209550"/>
                </a:xfrm>
                <a:prstGeom prst="roundRect">
                  <a:avLst>
                    <a:gd name="adj" fmla="val 18182"/>
                  </a:avLst>
                </a:prstGeom>
                <a:solidFill>
                  <a:srgbClr val="FFFFFF">
                    <a:alpha val="10000"/>
                  </a:srgbClr>
                </a:solidFill>
                <a:ln>
                  <a:noFill/>
                </a:ln>
              </p:spPr>
              <p:txBody>
                <a:bodyPr/>
                <a:lstStyle/>
                <a:p>
                  <a:endParaRPr lang="en-US"/>
                </a:p>
              </p:txBody>
            </p:sp>
            <p:sp>
              <p:nvSpPr>
                <p:cNvPr id="50" name="TextBox 50"/>
                <p:cNvSpPr txBox="1"/>
                <p:nvPr/>
              </p:nvSpPr>
              <p:spPr>
                <a:xfrm>
                  <a:off x="8686324" y="4730591"/>
                  <a:ext cx="743902"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imf-ra-data</a:t>
                  </a:r>
                </a:p>
              </p:txBody>
            </p:sp>
          </p:grpSp>
          <p:grpSp>
            <p:nvGrpSpPr>
              <p:cNvPr id="54" name="Group 54"/>
              <p:cNvGrpSpPr/>
              <p:nvPr/>
            </p:nvGrpSpPr>
            <p:grpSpPr>
              <a:xfrm>
                <a:off x="9810750" y="4667250"/>
                <a:ext cx="1314450" cy="230981"/>
                <a:chOff x="9810750" y="4667250"/>
                <a:chExt cx="1314450" cy="230981"/>
              </a:xfrm>
            </p:grpSpPr>
            <p:sp>
              <p:nvSpPr>
                <p:cNvPr id="52" name="Rectangle 52"/>
                <p:cNvSpPr/>
                <p:nvPr/>
              </p:nvSpPr>
              <p:spPr>
                <a:xfrm>
                  <a:off x="9810750" y="4667250"/>
                  <a:ext cx="1314450" cy="209550"/>
                </a:xfrm>
                <a:prstGeom prst="roundRect">
                  <a:avLst>
                    <a:gd name="adj" fmla="val 18182"/>
                  </a:avLst>
                </a:prstGeom>
                <a:solidFill>
                  <a:srgbClr val="FFFFFF">
                    <a:alpha val="10000"/>
                  </a:srgbClr>
                </a:solidFill>
                <a:ln w="9525">
                  <a:solidFill>
                    <a:srgbClr val="DA281C"/>
                  </a:solidFill>
                  <a:custDash>
                    <a:ds d="300000" sp="200000"/>
                  </a:custDash>
                </a:ln>
              </p:spPr>
              <p:txBody>
                <a:bodyPr/>
                <a:lstStyle/>
                <a:p>
                  <a:endParaRPr lang="en-US"/>
                </a:p>
              </p:txBody>
            </p:sp>
            <p:sp>
              <p:nvSpPr>
                <p:cNvPr id="53" name="TextBox 53"/>
                <p:cNvSpPr txBox="1"/>
                <p:nvPr/>
              </p:nvSpPr>
              <p:spPr>
                <a:xfrm>
                  <a:off x="10029754" y="4730591"/>
                  <a:ext cx="876443" cy="167640"/>
                </a:xfrm>
                <a:prstGeom prst="rect">
                  <a:avLst/>
                </a:prstGeom>
                <a:noFill/>
                <a:ln>
                  <a:noFill/>
                </a:ln>
              </p:spPr>
              <p:txBody>
                <a:bodyPr wrap="none" lIns="0" tIns="0" rIns="0" bIns="0" anchor="t" anchorCtr="0">
                  <a:spAutoFit/>
                </a:bodyPr>
                <a:lstStyle/>
                <a:p>
                  <a:pPr algn="ctr"/>
                  <a:r>
                    <a:rPr lang="zh-CN" sz="825" dirty="0">
                      <a:solidFill>
                        <a:srgbClr val="FFFFFF"/>
                      </a:solidFill>
                      <a:latin typeface="Consolas"/>
                      <a:ea typeface="Microsoft YaHei"/>
                      <a:cs typeface="Consolas"/>
                    </a:rPr>
                    <a:t>imf-ra-charts</a:t>
                  </a:r>
                </a:p>
              </p:txBody>
            </p:sp>
          </p:grpSp>
        </p:grpSp>
        <p:sp>
          <p:nvSpPr>
            <p:cNvPr id="56" name="Line 56"/>
            <p:cNvSpPr/>
            <p:nvPr/>
          </p:nvSpPr>
          <p:spPr>
            <a:xfrm>
              <a:off x="6667500" y="5095875"/>
              <a:ext cx="1" cy="352425"/>
            </a:xfrm>
            <a:prstGeom prst="line">
              <a:avLst/>
            </a:prstGeom>
            <a:noFill/>
            <a:ln w="23812">
              <a:solidFill>
                <a:srgbClr val="707372"/>
              </a:solidFill>
              <a:tailEnd type="triangle" w="lg" len="lg"/>
            </a:ln>
          </p:spPr>
          <p:txBody>
            <a:bodyPr/>
            <a:lstStyle/>
            <a:p>
              <a:endParaRPr lang="en-US"/>
            </a:p>
          </p:txBody>
        </p:sp>
        <p:grpSp>
          <p:nvGrpSpPr>
            <p:cNvPr id="83" name="Group 83"/>
            <p:cNvGrpSpPr/>
            <p:nvPr/>
          </p:nvGrpSpPr>
          <p:grpSpPr>
            <a:xfrm>
              <a:off x="5334000" y="5543550"/>
              <a:ext cx="6096000" cy="590550"/>
              <a:chOff x="5334000" y="5543550"/>
              <a:chExt cx="6096000" cy="590550"/>
            </a:xfrm>
          </p:grpSpPr>
          <p:sp>
            <p:nvSpPr>
              <p:cNvPr id="57" name="Rectangle 57"/>
              <p:cNvSpPr/>
              <p:nvPr/>
            </p:nvSpPr>
            <p:spPr>
              <a:xfrm>
                <a:off x="5334000" y="5543550"/>
                <a:ext cx="1905000" cy="590550"/>
              </a:xfrm>
              <a:prstGeom prst="roundRect">
                <a:avLst>
                  <a:gd name="adj" fmla="val 12903"/>
                </a:avLst>
              </a:prstGeom>
              <a:solidFill>
                <a:srgbClr val="FFFFFF"/>
              </a:solidFill>
              <a:ln w="14288">
                <a:solidFill>
                  <a:srgbClr val="CDD7E2"/>
                </a:solidFill>
              </a:ln>
            </p:spPr>
            <p:txBody>
              <a:bodyPr/>
              <a:lstStyle/>
              <a:p>
                <a:endParaRPr lang="en-US"/>
              </a:p>
            </p:txBody>
          </p:sp>
          <p:grpSp>
            <p:nvGrpSpPr>
              <p:cNvPr id="63" name="Group 63"/>
              <p:cNvGrpSpPr/>
              <p:nvPr/>
            </p:nvGrpSpPr>
            <p:grpSpPr>
              <a:xfrm>
                <a:off x="5553869" y="5717381"/>
                <a:ext cx="188912" cy="242888"/>
                <a:chOff x="5553869" y="5717381"/>
                <a:chExt cx="188912" cy="242888"/>
              </a:xfrm>
            </p:grpSpPr>
            <p:sp>
              <p:nvSpPr>
                <p:cNvPr id="58" name="Freeform 58"/>
                <p:cNvSpPr/>
                <p:nvPr/>
              </p:nvSpPr>
              <p:spPr>
                <a:xfrm>
                  <a:off x="5675312" y="5717381"/>
                  <a:ext cx="67469" cy="67469"/>
                </a:xfrm>
                <a:custGeom>
                  <a:avLst/>
                  <a:gdLst/>
                  <a:ahLst/>
                  <a:cxnLst/>
                  <a:rect l="l" t="t" r="r" b="b"/>
                  <a:pathLst>
                    <a:path w="67469" h="67469">
                      <a:moveTo>
                        <a:pt x="0" y="0"/>
                      </a:moveTo>
                      <a:lnTo>
                        <a:pt x="0" y="53975"/>
                      </a:lnTo>
                      <a:cubicBezTo>
                        <a:pt x="0" y="61427"/>
                        <a:pt x="6041" y="67469"/>
                        <a:pt x="13494" y="67469"/>
                      </a:cubicBezTo>
                      <a:lnTo>
                        <a:pt x="67469" y="67469"/>
                      </a:lnTo>
                    </a:path>
                  </a:pathLst>
                </a:custGeom>
                <a:noFill/>
                <a:ln w="19050">
                  <a:solidFill>
                    <a:srgbClr val="004C97"/>
                  </a:solidFill>
                </a:ln>
              </p:spPr>
              <p:txBody>
                <a:bodyPr/>
                <a:lstStyle/>
                <a:p>
                  <a:endParaRPr lang="en-US"/>
                </a:p>
              </p:txBody>
            </p:sp>
            <p:sp>
              <p:nvSpPr>
                <p:cNvPr id="59" name="Freeform 59"/>
                <p:cNvSpPr/>
                <p:nvPr/>
              </p:nvSpPr>
              <p:spPr>
                <a:xfrm>
                  <a:off x="5553869" y="5717381"/>
                  <a:ext cx="188912" cy="242888"/>
                </a:xfrm>
                <a:custGeom>
                  <a:avLst/>
                  <a:gdLst/>
                  <a:ahLst/>
                  <a:cxnLst/>
                  <a:rect l="l" t="t" r="r" b="b"/>
                  <a:pathLst>
                    <a:path w="188912" h="242888">
                      <a:moveTo>
                        <a:pt x="161925" y="242888"/>
                      </a:moveTo>
                      <a:lnTo>
                        <a:pt x="26987" y="242888"/>
                      </a:lnTo>
                      <a:cubicBezTo>
                        <a:pt x="12083" y="242888"/>
                        <a:pt x="0" y="230805"/>
                        <a:pt x="0" y="215900"/>
                      </a:cubicBezTo>
                      <a:lnTo>
                        <a:pt x="0" y="26988"/>
                      </a:lnTo>
                      <a:cubicBezTo>
                        <a:pt x="0" y="12083"/>
                        <a:pt x="12083" y="0"/>
                        <a:pt x="26987" y="0"/>
                      </a:cubicBezTo>
                      <a:lnTo>
                        <a:pt x="121444" y="0"/>
                      </a:lnTo>
                      <a:lnTo>
                        <a:pt x="188912" y="67469"/>
                      </a:lnTo>
                      <a:lnTo>
                        <a:pt x="188912" y="215900"/>
                      </a:lnTo>
                      <a:cubicBezTo>
                        <a:pt x="188912" y="230805"/>
                        <a:pt x="176830" y="242888"/>
                        <a:pt x="161925" y="242888"/>
                      </a:cubicBezTo>
                    </a:path>
                  </a:pathLst>
                </a:custGeom>
                <a:noFill/>
                <a:ln w="19050">
                  <a:solidFill>
                    <a:srgbClr val="004C97"/>
                  </a:solidFill>
                </a:ln>
              </p:spPr>
              <p:txBody>
                <a:bodyPr/>
                <a:lstStyle/>
                <a:p>
                  <a:endParaRPr lang="en-US"/>
                </a:p>
              </p:txBody>
            </p:sp>
            <p:sp>
              <p:nvSpPr>
                <p:cNvPr id="60" name="Freeform 60"/>
                <p:cNvSpPr/>
                <p:nvPr/>
              </p:nvSpPr>
              <p:spPr>
                <a:xfrm>
                  <a:off x="5594350" y="5825331"/>
                  <a:ext cx="107950" cy="94456"/>
                </a:xfrm>
                <a:custGeom>
                  <a:avLst/>
                  <a:gdLst/>
                  <a:ahLst/>
                  <a:cxnLst/>
                  <a:rect l="l" t="t" r="r" b="b"/>
                  <a:pathLst>
                    <a:path w="107950" h="94456">
                      <a:moveTo>
                        <a:pt x="0" y="0"/>
                      </a:moveTo>
                      <a:lnTo>
                        <a:pt x="107950" y="0"/>
                      </a:lnTo>
                      <a:lnTo>
                        <a:pt x="107950" y="94456"/>
                      </a:lnTo>
                      <a:lnTo>
                        <a:pt x="0" y="94456"/>
                      </a:lnTo>
                      <a:lnTo>
                        <a:pt x="0" y="0"/>
                      </a:lnTo>
                    </a:path>
                  </a:pathLst>
                </a:custGeom>
                <a:noFill/>
                <a:ln w="19050">
                  <a:solidFill>
                    <a:srgbClr val="004C97"/>
                  </a:solidFill>
                </a:ln>
              </p:spPr>
              <p:txBody>
                <a:bodyPr/>
                <a:lstStyle/>
                <a:p>
                  <a:endParaRPr lang="en-US"/>
                </a:p>
              </p:txBody>
            </p:sp>
            <p:sp>
              <p:nvSpPr>
                <p:cNvPr id="61" name="Freeform 61"/>
                <p:cNvSpPr/>
                <p:nvPr/>
              </p:nvSpPr>
              <p:spPr>
                <a:xfrm>
                  <a:off x="5594350" y="5879306"/>
                  <a:ext cx="107950" cy="9525"/>
                </a:xfrm>
                <a:custGeom>
                  <a:avLst/>
                  <a:gdLst/>
                  <a:ahLst/>
                  <a:cxnLst/>
                  <a:rect l="l" t="t" r="r" b="b"/>
                  <a:pathLst>
                    <a:path w="107950" h="9525">
                      <a:moveTo>
                        <a:pt x="0" y="0"/>
                      </a:moveTo>
                      <a:lnTo>
                        <a:pt x="107950" y="0"/>
                      </a:lnTo>
                    </a:path>
                  </a:pathLst>
                </a:custGeom>
                <a:noFill/>
                <a:ln w="19050">
                  <a:solidFill>
                    <a:srgbClr val="004C97"/>
                  </a:solidFill>
                </a:ln>
              </p:spPr>
              <p:txBody>
                <a:bodyPr/>
                <a:lstStyle/>
                <a:p>
                  <a:endParaRPr lang="en-US"/>
                </a:p>
              </p:txBody>
            </p:sp>
            <p:sp>
              <p:nvSpPr>
                <p:cNvPr id="62" name="Freeform 62"/>
                <p:cNvSpPr/>
                <p:nvPr/>
              </p:nvSpPr>
              <p:spPr>
                <a:xfrm>
                  <a:off x="5634831" y="5825331"/>
                  <a:ext cx="9525" cy="94456"/>
                </a:xfrm>
                <a:custGeom>
                  <a:avLst/>
                  <a:gdLst/>
                  <a:ahLst/>
                  <a:cxnLst/>
                  <a:rect l="l" t="t" r="r" b="b"/>
                  <a:pathLst>
                    <a:path w="9525" h="94456">
                      <a:moveTo>
                        <a:pt x="0" y="0"/>
                      </a:moveTo>
                      <a:lnTo>
                        <a:pt x="0" y="94456"/>
                      </a:lnTo>
                    </a:path>
                  </a:pathLst>
                </a:custGeom>
                <a:noFill/>
                <a:ln w="19050">
                  <a:solidFill>
                    <a:srgbClr val="004C97"/>
                  </a:solidFill>
                </a:ln>
              </p:spPr>
              <p:txBody>
                <a:bodyPr/>
                <a:lstStyle/>
                <a:p>
                  <a:endParaRPr lang="en-US"/>
                </a:p>
              </p:txBody>
            </p:sp>
          </p:grpSp>
          <p:sp>
            <p:nvSpPr>
              <p:cNvPr id="64" name="TextBox 64"/>
              <p:cNvSpPr txBox="1"/>
              <p:nvPr/>
            </p:nvSpPr>
            <p:spPr>
              <a:xfrm>
                <a:off x="5913120" y="5732145"/>
                <a:ext cx="823360" cy="182880"/>
              </a:xfrm>
              <a:prstGeom prst="rect">
                <a:avLst/>
              </a:prstGeom>
              <a:noFill/>
              <a:ln>
                <a:noFill/>
              </a:ln>
            </p:spPr>
            <p:txBody>
              <a:bodyPr wrap="none" lIns="0" tIns="0" rIns="0" bIns="0" anchor="t" anchorCtr="0">
                <a:spAutoFit/>
              </a:bodyPr>
              <a:lstStyle/>
              <a:p>
                <a:pPr algn="l"/>
                <a:r>
                  <a:rPr lang="zh-CN" sz="900" b="1" dirty="0">
                    <a:solidFill>
                      <a:srgbClr val="004C97"/>
                    </a:solidFill>
                    <a:latin typeface="Arial"/>
                    <a:ea typeface="Microsoft YaHei"/>
                    <a:cs typeface="Arial"/>
                  </a:rPr>
                  <a:t>Refreshable</a:t>
                </a:r>
              </a:p>
            </p:txBody>
          </p:sp>
          <p:sp>
            <p:nvSpPr>
              <p:cNvPr id="65" name="TextBox 65"/>
              <p:cNvSpPr txBox="1"/>
              <p:nvPr/>
            </p:nvSpPr>
            <p:spPr>
              <a:xfrm>
                <a:off x="5913120" y="5903595"/>
                <a:ext cx="351472"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Excel</a:t>
                </a:r>
              </a:p>
            </p:txBody>
          </p:sp>
          <p:sp>
            <p:nvSpPr>
              <p:cNvPr id="66" name="Rectangle 66"/>
              <p:cNvSpPr/>
              <p:nvPr/>
            </p:nvSpPr>
            <p:spPr>
              <a:xfrm>
                <a:off x="7429500" y="5543550"/>
                <a:ext cx="1905000" cy="590550"/>
              </a:xfrm>
              <a:prstGeom prst="roundRect">
                <a:avLst>
                  <a:gd name="adj" fmla="val 12903"/>
                </a:avLst>
              </a:prstGeom>
              <a:solidFill>
                <a:srgbClr val="FFFFFF"/>
              </a:solidFill>
              <a:ln w="14288">
                <a:solidFill>
                  <a:srgbClr val="CDD7E2"/>
                </a:solidFill>
              </a:ln>
            </p:spPr>
            <p:txBody>
              <a:bodyPr/>
              <a:lstStyle/>
              <a:p>
                <a:endParaRPr lang="en-US"/>
              </a:p>
            </p:txBody>
          </p:sp>
          <p:grpSp>
            <p:nvGrpSpPr>
              <p:cNvPr id="72" name="Group 72"/>
              <p:cNvGrpSpPr/>
              <p:nvPr/>
            </p:nvGrpSpPr>
            <p:grpSpPr>
              <a:xfrm>
                <a:off x="7649369" y="5717381"/>
                <a:ext cx="188912" cy="242888"/>
                <a:chOff x="7649369" y="5717381"/>
                <a:chExt cx="188912" cy="242888"/>
              </a:xfrm>
            </p:grpSpPr>
            <p:sp>
              <p:nvSpPr>
                <p:cNvPr id="67" name="Freeform 67"/>
                <p:cNvSpPr/>
                <p:nvPr/>
              </p:nvSpPr>
              <p:spPr>
                <a:xfrm>
                  <a:off x="7770812" y="5717381"/>
                  <a:ext cx="67469" cy="67469"/>
                </a:xfrm>
                <a:custGeom>
                  <a:avLst/>
                  <a:gdLst/>
                  <a:ahLst/>
                  <a:cxnLst/>
                  <a:rect l="l" t="t" r="r" b="b"/>
                  <a:pathLst>
                    <a:path w="67469" h="67469">
                      <a:moveTo>
                        <a:pt x="0" y="0"/>
                      </a:moveTo>
                      <a:lnTo>
                        <a:pt x="0" y="53975"/>
                      </a:lnTo>
                      <a:cubicBezTo>
                        <a:pt x="0" y="61427"/>
                        <a:pt x="6041" y="67469"/>
                        <a:pt x="13494" y="67469"/>
                      </a:cubicBezTo>
                      <a:lnTo>
                        <a:pt x="67469" y="67469"/>
                      </a:lnTo>
                    </a:path>
                  </a:pathLst>
                </a:custGeom>
                <a:noFill/>
                <a:ln w="19050">
                  <a:solidFill>
                    <a:srgbClr val="004C97"/>
                  </a:solidFill>
                </a:ln>
              </p:spPr>
              <p:txBody>
                <a:bodyPr/>
                <a:lstStyle/>
                <a:p>
                  <a:endParaRPr lang="en-US"/>
                </a:p>
              </p:txBody>
            </p:sp>
            <p:sp>
              <p:nvSpPr>
                <p:cNvPr id="68" name="Freeform 68"/>
                <p:cNvSpPr/>
                <p:nvPr/>
              </p:nvSpPr>
              <p:spPr>
                <a:xfrm>
                  <a:off x="7649369" y="5717381"/>
                  <a:ext cx="188912" cy="242888"/>
                </a:xfrm>
                <a:custGeom>
                  <a:avLst/>
                  <a:gdLst/>
                  <a:ahLst/>
                  <a:cxnLst/>
                  <a:rect l="l" t="t" r="r" b="b"/>
                  <a:pathLst>
                    <a:path w="188912" h="242888">
                      <a:moveTo>
                        <a:pt x="161925" y="242888"/>
                      </a:moveTo>
                      <a:lnTo>
                        <a:pt x="26987" y="242888"/>
                      </a:lnTo>
                      <a:cubicBezTo>
                        <a:pt x="12083" y="242888"/>
                        <a:pt x="0" y="230805"/>
                        <a:pt x="0" y="215900"/>
                      </a:cubicBezTo>
                      <a:lnTo>
                        <a:pt x="0" y="26988"/>
                      </a:lnTo>
                      <a:cubicBezTo>
                        <a:pt x="0" y="12083"/>
                        <a:pt x="12083" y="0"/>
                        <a:pt x="26987" y="0"/>
                      </a:cubicBezTo>
                      <a:lnTo>
                        <a:pt x="121444" y="0"/>
                      </a:lnTo>
                      <a:lnTo>
                        <a:pt x="188912" y="67469"/>
                      </a:lnTo>
                      <a:lnTo>
                        <a:pt x="188912" y="215900"/>
                      </a:lnTo>
                      <a:cubicBezTo>
                        <a:pt x="188912" y="230805"/>
                        <a:pt x="176830" y="242888"/>
                        <a:pt x="161925" y="242888"/>
                      </a:cubicBezTo>
                    </a:path>
                  </a:pathLst>
                </a:custGeom>
                <a:noFill/>
                <a:ln w="19050">
                  <a:solidFill>
                    <a:srgbClr val="004C97"/>
                  </a:solidFill>
                </a:ln>
              </p:spPr>
              <p:txBody>
                <a:bodyPr/>
                <a:lstStyle/>
                <a:p>
                  <a:endParaRPr lang="en-US"/>
                </a:p>
              </p:txBody>
            </p:sp>
            <p:sp>
              <p:nvSpPr>
                <p:cNvPr id="69" name="Freeform 69"/>
                <p:cNvSpPr/>
                <p:nvPr/>
              </p:nvSpPr>
              <p:spPr>
                <a:xfrm>
                  <a:off x="7703344" y="5798344"/>
                  <a:ext cx="13494" cy="9525"/>
                </a:xfrm>
                <a:custGeom>
                  <a:avLst/>
                  <a:gdLst/>
                  <a:ahLst/>
                  <a:cxnLst/>
                  <a:rect l="l" t="t" r="r" b="b"/>
                  <a:pathLst>
                    <a:path w="13494" h="9525">
                      <a:moveTo>
                        <a:pt x="0" y="0"/>
                      </a:moveTo>
                      <a:lnTo>
                        <a:pt x="13494" y="0"/>
                      </a:lnTo>
                    </a:path>
                  </a:pathLst>
                </a:custGeom>
                <a:noFill/>
                <a:ln w="19050">
                  <a:solidFill>
                    <a:srgbClr val="004C97"/>
                  </a:solidFill>
                </a:ln>
              </p:spPr>
              <p:txBody>
                <a:bodyPr/>
                <a:lstStyle/>
                <a:p>
                  <a:endParaRPr lang="en-US"/>
                </a:p>
              </p:txBody>
            </p:sp>
            <p:sp>
              <p:nvSpPr>
                <p:cNvPr id="70" name="Freeform 70"/>
                <p:cNvSpPr/>
                <p:nvPr/>
              </p:nvSpPr>
              <p:spPr>
                <a:xfrm>
                  <a:off x="7703344" y="5852319"/>
                  <a:ext cx="80962" cy="9525"/>
                </a:xfrm>
                <a:custGeom>
                  <a:avLst/>
                  <a:gdLst/>
                  <a:ahLst/>
                  <a:cxnLst/>
                  <a:rect l="l" t="t" r="r" b="b"/>
                  <a:pathLst>
                    <a:path w="80962" h="9525">
                      <a:moveTo>
                        <a:pt x="0" y="0"/>
                      </a:moveTo>
                      <a:lnTo>
                        <a:pt x="80962" y="0"/>
                      </a:lnTo>
                    </a:path>
                  </a:pathLst>
                </a:custGeom>
                <a:noFill/>
                <a:ln w="19050">
                  <a:solidFill>
                    <a:srgbClr val="004C97"/>
                  </a:solidFill>
                </a:ln>
              </p:spPr>
              <p:txBody>
                <a:bodyPr/>
                <a:lstStyle/>
                <a:p>
                  <a:endParaRPr lang="en-US"/>
                </a:p>
              </p:txBody>
            </p:sp>
            <p:sp>
              <p:nvSpPr>
                <p:cNvPr id="71" name="Freeform 71"/>
                <p:cNvSpPr/>
                <p:nvPr/>
              </p:nvSpPr>
              <p:spPr>
                <a:xfrm>
                  <a:off x="7703344" y="5906294"/>
                  <a:ext cx="80962" cy="9525"/>
                </a:xfrm>
                <a:custGeom>
                  <a:avLst/>
                  <a:gdLst/>
                  <a:ahLst/>
                  <a:cxnLst/>
                  <a:rect l="l" t="t" r="r" b="b"/>
                  <a:pathLst>
                    <a:path w="80962" h="9525">
                      <a:moveTo>
                        <a:pt x="0" y="0"/>
                      </a:moveTo>
                      <a:lnTo>
                        <a:pt x="80962" y="0"/>
                      </a:lnTo>
                    </a:path>
                  </a:pathLst>
                </a:custGeom>
                <a:noFill/>
                <a:ln w="19050">
                  <a:solidFill>
                    <a:srgbClr val="004C97"/>
                  </a:solidFill>
                </a:ln>
              </p:spPr>
              <p:txBody>
                <a:bodyPr/>
                <a:lstStyle/>
                <a:p>
                  <a:endParaRPr lang="en-US"/>
                </a:p>
              </p:txBody>
            </p:sp>
          </p:grpSp>
          <p:sp>
            <p:nvSpPr>
              <p:cNvPr id="73" name="TextBox 73"/>
              <p:cNvSpPr txBox="1"/>
              <p:nvPr/>
            </p:nvSpPr>
            <p:spPr>
              <a:xfrm>
                <a:off x="8008620" y="5732145"/>
                <a:ext cx="747451" cy="182880"/>
              </a:xfrm>
              <a:prstGeom prst="rect">
                <a:avLst/>
              </a:prstGeom>
              <a:noFill/>
              <a:ln>
                <a:noFill/>
              </a:ln>
            </p:spPr>
            <p:txBody>
              <a:bodyPr wrap="none" lIns="0" tIns="0" rIns="0" bIns="0" anchor="t" anchorCtr="0">
                <a:spAutoFit/>
              </a:bodyPr>
              <a:lstStyle/>
              <a:p>
                <a:pPr algn="l"/>
                <a:r>
                  <a:rPr lang="zh-CN" sz="900" b="1" dirty="0">
                    <a:solidFill>
                      <a:srgbClr val="004C97"/>
                    </a:solidFill>
                    <a:latin typeface="Arial"/>
                    <a:ea typeface="Microsoft YaHei"/>
                    <a:cs typeface="Arial"/>
                  </a:rPr>
                  <a:t>Wide / long</a:t>
                </a:r>
              </a:p>
            </p:txBody>
          </p:sp>
          <p:sp>
            <p:nvSpPr>
              <p:cNvPr id="74" name="TextBox 74"/>
              <p:cNvSpPr txBox="1"/>
              <p:nvPr/>
            </p:nvSpPr>
            <p:spPr>
              <a:xfrm>
                <a:off x="8008620" y="5903595"/>
                <a:ext cx="239744"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CSV</a:t>
                </a:r>
              </a:p>
            </p:txBody>
          </p:sp>
          <p:sp>
            <p:nvSpPr>
              <p:cNvPr id="75" name="Rectangle 75"/>
              <p:cNvSpPr/>
              <p:nvPr/>
            </p:nvSpPr>
            <p:spPr>
              <a:xfrm>
                <a:off x="9525000" y="5543550"/>
                <a:ext cx="1905000" cy="590550"/>
              </a:xfrm>
              <a:prstGeom prst="roundRect">
                <a:avLst>
                  <a:gd name="adj" fmla="val 12903"/>
                </a:avLst>
              </a:prstGeom>
              <a:solidFill>
                <a:srgbClr val="FFFFFF"/>
              </a:solidFill>
              <a:ln w="14288">
                <a:solidFill>
                  <a:srgbClr val="DA281C"/>
                </a:solidFill>
                <a:prstDash val="dash"/>
              </a:ln>
            </p:spPr>
            <p:txBody>
              <a:bodyPr/>
              <a:lstStyle/>
              <a:p>
                <a:endParaRPr lang="en-US"/>
              </a:p>
            </p:txBody>
          </p:sp>
          <p:grpSp>
            <p:nvGrpSpPr>
              <p:cNvPr id="80" name="Group 80"/>
              <p:cNvGrpSpPr/>
              <p:nvPr/>
            </p:nvGrpSpPr>
            <p:grpSpPr>
              <a:xfrm>
                <a:off x="9717881" y="5730875"/>
                <a:ext cx="242887" cy="225425"/>
                <a:chOff x="9717881" y="5730875"/>
                <a:chExt cx="242887" cy="225425"/>
              </a:xfrm>
            </p:grpSpPr>
            <p:sp>
              <p:nvSpPr>
                <p:cNvPr id="76" name="Freeform 76"/>
                <p:cNvSpPr/>
                <p:nvPr/>
              </p:nvSpPr>
              <p:spPr>
                <a:xfrm>
                  <a:off x="9717881" y="5838825"/>
                  <a:ext cx="80962" cy="107950"/>
                </a:xfrm>
                <a:custGeom>
                  <a:avLst/>
                  <a:gdLst/>
                  <a:ahLst/>
                  <a:cxnLst/>
                  <a:rect l="l" t="t" r="r" b="b"/>
                  <a:pathLst>
                    <a:path w="80962" h="107950">
                      <a:moveTo>
                        <a:pt x="0" y="13494"/>
                      </a:moveTo>
                      <a:cubicBezTo>
                        <a:pt x="0" y="6041"/>
                        <a:pt x="6041" y="0"/>
                        <a:pt x="13494" y="0"/>
                      </a:cubicBezTo>
                      <a:lnTo>
                        <a:pt x="67469" y="0"/>
                      </a:lnTo>
                      <a:cubicBezTo>
                        <a:pt x="74921" y="0"/>
                        <a:pt x="80962" y="6041"/>
                        <a:pt x="80962" y="13494"/>
                      </a:cubicBezTo>
                      <a:lnTo>
                        <a:pt x="80962" y="94456"/>
                      </a:lnTo>
                      <a:cubicBezTo>
                        <a:pt x="80962" y="101909"/>
                        <a:pt x="74921" y="107950"/>
                        <a:pt x="67469" y="107950"/>
                      </a:cubicBezTo>
                      <a:lnTo>
                        <a:pt x="13494" y="107950"/>
                      </a:lnTo>
                      <a:cubicBezTo>
                        <a:pt x="6041" y="107950"/>
                        <a:pt x="0" y="101909"/>
                        <a:pt x="0" y="94456"/>
                      </a:cubicBezTo>
                      <a:lnTo>
                        <a:pt x="0" y="13494"/>
                      </a:lnTo>
                    </a:path>
                  </a:pathLst>
                </a:custGeom>
                <a:noFill/>
                <a:ln w="19050">
                  <a:solidFill>
                    <a:srgbClr val="DA281C"/>
                  </a:solidFill>
                </a:ln>
              </p:spPr>
              <p:txBody>
                <a:bodyPr/>
                <a:lstStyle/>
                <a:p>
                  <a:endParaRPr lang="en-US"/>
                </a:p>
              </p:txBody>
            </p:sp>
            <p:sp>
              <p:nvSpPr>
                <p:cNvPr id="77" name="Freeform 77"/>
                <p:cNvSpPr/>
                <p:nvPr/>
              </p:nvSpPr>
              <p:spPr>
                <a:xfrm>
                  <a:off x="9879806" y="5784850"/>
                  <a:ext cx="80962" cy="161925"/>
                </a:xfrm>
                <a:custGeom>
                  <a:avLst/>
                  <a:gdLst/>
                  <a:ahLst/>
                  <a:cxnLst/>
                  <a:rect l="l" t="t" r="r" b="b"/>
                  <a:pathLst>
                    <a:path w="80962" h="161925">
                      <a:moveTo>
                        <a:pt x="0" y="13494"/>
                      </a:moveTo>
                      <a:cubicBezTo>
                        <a:pt x="0" y="6041"/>
                        <a:pt x="6041" y="0"/>
                        <a:pt x="13494" y="0"/>
                      </a:cubicBezTo>
                      <a:lnTo>
                        <a:pt x="67469" y="0"/>
                      </a:lnTo>
                      <a:cubicBezTo>
                        <a:pt x="74921" y="0"/>
                        <a:pt x="80962" y="6041"/>
                        <a:pt x="80962" y="13494"/>
                      </a:cubicBezTo>
                      <a:lnTo>
                        <a:pt x="80962" y="148431"/>
                      </a:lnTo>
                      <a:cubicBezTo>
                        <a:pt x="80962" y="155884"/>
                        <a:pt x="74921" y="161925"/>
                        <a:pt x="67469" y="161925"/>
                      </a:cubicBezTo>
                      <a:lnTo>
                        <a:pt x="13494" y="161925"/>
                      </a:lnTo>
                      <a:cubicBezTo>
                        <a:pt x="6041" y="161925"/>
                        <a:pt x="0" y="155884"/>
                        <a:pt x="0" y="148431"/>
                      </a:cubicBezTo>
                      <a:lnTo>
                        <a:pt x="0" y="13494"/>
                      </a:lnTo>
                    </a:path>
                  </a:pathLst>
                </a:custGeom>
                <a:noFill/>
                <a:ln w="19050">
                  <a:solidFill>
                    <a:srgbClr val="DA281C"/>
                  </a:solidFill>
                </a:ln>
              </p:spPr>
              <p:txBody>
                <a:bodyPr/>
                <a:lstStyle/>
                <a:p>
                  <a:endParaRPr lang="en-US"/>
                </a:p>
              </p:txBody>
            </p:sp>
            <p:sp>
              <p:nvSpPr>
                <p:cNvPr id="78" name="Freeform 78"/>
                <p:cNvSpPr/>
                <p:nvPr/>
              </p:nvSpPr>
              <p:spPr>
                <a:xfrm>
                  <a:off x="9798844" y="5730875"/>
                  <a:ext cx="80962" cy="215900"/>
                </a:xfrm>
                <a:custGeom>
                  <a:avLst/>
                  <a:gdLst/>
                  <a:ahLst/>
                  <a:cxnLst/>
                  <a:rect l="l" t="t" r="r" b="b"/>
                  <a:pathLst>
                    <a:path w="80962" h="215900">
                      <a:moveTo>
                        <a:pt x="0" y="13494"/>
                      </a:moveTo>
                      <a:cubicBezTo>
                        <a:pt x="0" y="6041"/>
                        <a:pt x="6041" y="0"/>
                        <a:pt x="13494" y="0"/>
                      </a:cubicBezTo>
                      <a:lnTo>
                        <a:pt x="67469" y="0"/>
                      </a:lnTo>
                      <a:cubicBezTo>
                        <a:pt x="74921" y="0"/>
                        <a:pt x="80962" y="6041"/>
                        <a:pt x="80962" y="13494"/>
                      </a:cubicBezTo>
                      <a:lnTo>
                        <a:pt x="80962" y="202406"/>
                      </a:lnTo>
                      <a:cubicBezTo>
                        <a:pt x="80962" y="209859"/>
                        <a:pt x="74921" y="215900"/>
                        <a:pt x="67469" y="215900"/>
                      </a:cubicBezTo>
                      <a:lnTo>
                        <a:pt x="13494" y="215900"/>
                      </a:lnTo>
                      <a:cubicBezTo>
                        <a:pt x="6041" y="215900"/>
                        <a:pt x="0" y="209859"/>
                        <a:pt x="0" y="202406"/>
                      </a:cubicBezTo>
                      <a:lnTo>
                        <a:pt x="0" y="13494"/>
                      </a:lnTo>
                    </a:path>
                  </a:pathLst>
                </a:custGeom>
                <a:noFill/>
                <a:ln w="19050">
                  <a:solidFill>
                    <a:srgbClr val="DA281C"/>
                  </a:solidFill>
                </a:ln>
              </p:spPr>
              <p:txBody>
                <a:bodyPr/>
                <a:lstStyle/>
                <a:p>
                  <a:endParaRPr lang="en-US"/>
                </a:p>
              </p:txBody>
            </p:sp>
            <p:sp>
              <p:nvSpPr>
                <p:cNvPr id="79" name="Freeform 79"/>
                <p:cNvSpPr/>
                <p:nvPr/>
              </p:nvSpPr>
              <p:spPr>
                <a:xfrm>
                  <a:off x="9731375" y="5946775"/>
                  <a:ext cx="188913" cy="9525"/>
                </a:xfrm>
                <a:custGeom>
                  <a:avLst/>
                  <a:gdLst/>
                  <a:ahLst/>
                  <a:cxnLst/>
                  <a:rect l="l" t="t" r="r" b="b"/>
                  <a:pathLst>
                    <a:path w="188913" h="9525">
                      <a:moveTo>
                        <a:pt x="0" y="0"/>
                      </a:moveTo>
                      <a:lnTo>
                        <a:pt x="188913" y="0"/>
                      </a:lnTo>
                    </a:path>
                  </a:pathLst>
                </a:custGeom>
                <a:noFill/>
                <a:ln w="19050">
                  <a:solidFill>
                    <a:srgbClr val="DA281C"/>
                  </a:solidFill>
                </a:ln>
              </p:spPr>
              <p:txBody>
                <a:bodyPr/>
                <a:lstStyle/>
                <a:p>
                  <a:endParaRPr lang="en-US"/>
                </a:p>
              </p:txBody>
            </p:sp>
          </p:grpSp>
          <p:sp>
            <p:nvSpPr>
              <p:cNvPr id="81" name="TextBox 81"/>
              <p:cNvSpPr txBox="1"/>
              <p:nvPr/>
            </p:nvSpPr>
            <p:spPr>
              <a:xfrm>
                <a:off x="10104120" y="5732145"/>
                <a:ext cx="402407" cy="182880"/>
              </a:xfrm>
              <a:prstGeom prst="rect">
                <a:avLst/>
              </a:prstGeom>
              <a:noFill/>
              <a:ln>
                <a:noFill/>
              </a:ln>
            </p:spPr>
            <p:txBody>
              <a:bodyPr wrap="none" lIns="0" tIns="0" rIns="0" bIns="0" anchor="t" anchorCtr="0">
                <a:spAutoFit/>
              </a:bodyPr>
              <a:lstStyle/>
              <a:p>
                <a:pPr algn="l"/>
                <a:r>
                  <a:rPr lang="zh-CN" sz="900" b="1" dirty="0">
                    <a:solidFill>
                      <a:srgbClr val="DA281C"/>
                    </a:solidFill>
                    <a:latin typeface="Arial"/>
                    <a:ea typeface="Microsoft YaHei"/>
                    <a:cs typeface="Arial"/>
                  </a:rPr>
                  <a:t>Chart</a:t>
                </a:r>
              </a:p>
            </p:txBody>
          </p:sp>
          <p:sp>
            <p:nvSpPr>
              <p:cNvPr id="82" name="TextBox 82"/>
              <p:cNvSpPr txBox="1"/>
              <p:nvPr/>
            </p:nvSpPr>
            <p:spPr>
              <a:xfrm>
                <a:off x="10104120" y="5903595"/>
                <a:ext cx="312039"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soon</a:t>
                </a:r>
              </a:p>
            </p:txBody>
          </p:sp>
        </p:grpSp>
      </p:grpSp>
      <p:grpSp>
        <p:nvGrpSpPr>
          <p:cNvPr id="87" name="Group 87"/>
          <p:cNvGrpSpPr/>
          <p:nvPr/>
        </p:nvGrpSpPr>
        <p:grpSpPr>
          <a:xfrm>
            <a:off x="561022" y="6530816"/>
            <a:ext cx="11069956" cy="167640"/>
            <a:chOff x="561022" y="6530816"/>
            <a:chExt cx="11069956" cy="167640"/>
          </a:xfrm>
        </p:grpSpPr>
        <p:sp>
          <p:nvSpPr>
            <p:cNvPr id="85" name="TextBox 85"/>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86" name="TextBox 86"/>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04 / 10</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10" presetClass="entr" presetSubtype="0" fill="hold" nodeType="afterEffect">
                                  <p:stCondLst>
                                    <p:cond delay="0"/>
                                  </p:stCondLst>
                                  <p:childTnLst>
                                    <p:set>
                                      <p:cBhvr>
                                        <p:cTn id="10" dur="1" fill="hold">
                                          <p:stCondLst>
                                            <p:cond delay="0"/>
                                          </p:stCondLst>
                                        </p:cTn>
                                        <p:tgtEl>
                                          <p:spTgt spid="84"/>
                                        </p:tgtEl>
                                        <p:attrNameLst>
                                          <p:attrName>style.visibility</p:attrName>
                                        </p:attrNameLst>
                                      </p:cBhvr>
                                      <p:to>
                                        <p:strVal val="visible"/>
                                      </p:to>
                                    </p:set>
                                    <p:animEffect transition="in" filter="fade">
                                      <p:cBhvr>
                                        <p:cTn id="11" dur="4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8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8249984" cy="954405"/>
            <a:chOff x="541020" y="569595"/>
            <a:chExt cx="8249984" cy="954405"/>
          </a:xfrm>
        </p:grpSpPr>
        <p:sp>
          <p:nvSpPr>
            <p:cNvPr id="3" name="TextBox 3"/>
            <p:cNvSpPr txBox="1"/>
            <p:nvPr/>
          </p:nvSpPr>
          <p:spPr>
            <a:xfrm>
              <a:off x="560070" y="569595"/>
              <a:ext cx="1209808"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04 · ARCHITECTURE</a:t>
              </a:r>
            </a:p>
          </p:txBody>
        </p:sp>
        <p:sp>
          <p:nvSpPr>
            <p:cNvPr id="4" name="TextBox 4"/>
            <p:cNvSpPr txBox="1"/>
            <p:nvPr/>
          </p:nvSpPr>
          <p:spPr>
            <a:xfrm>
              <a:off x="541020" y="836295"/>
              <a:ext cx="8249984"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Four small skills that chain — not one monolith</a:t>
              </a:r>
            </a:p>
          </p:txBody>
        </p:sp>
        <p:sp>
          <p:nvSpPr>
            <p:cNvPr id="5" name="TextBox 5"/>
            <p:cNvSpPr txBox="1"/>
            <p:nvPr/>
          </p:nvSpPr>
          <p:spPr>
            <a:xfrm>
              <a:off x="556260" y="1280160"/>
              <a:ext cx="6515100"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Each skill is one folder + one SKILL.md. They reference each other directly.</a:t>
              </a:r>
            </a:p>
          </p:txBody>
        </p:sp>
      </p:grpSp>
      <p:grpSp>
        <p:nvGrpSpPr>
          <p:cNvPr id="61" name="Group 61"/>
          <p:cNvGrpSpPr/>
          <p:nvPr/>
        </p:nvGrpSpPr>
        <p:grpSpPr>
          <a:xfrm>
            <a:off x="571500" y="2190750"/>
            <a:ext cx="11049000" cy="1714500"/>
            <a:chOff x="571500" y="2190750"/>
            <a:chExt cx="11049000" cy="1714500"/>
          </a:xfrm>
        </p:grpSpPr>
        <p:sp>
          <p:nvSpPr>
            <p:cNvPr id="7" name="Line 7"/>
            <p:cNvSpPr/>
            <p:nvPr/>
          </p:nvSpPr>
          <p:spPr>
            <a:xfrm>
              <a:off x="571500" y="3048000"/>
              <a:ext cx="11049000" cy="9525"/>
            </a:xfrm>
            <a:custGeom>
              <a:avLst/>
              <a:gdLst/>
              <a:ahLst/>
              <a:cxnLst/>
              <a:rect l="l" t="t" r="r" b="b"/>
              <a:pathLst>
                <a:path w="11049000" h="9525">
                  <a:moveTo>
                    <a:pt x="0" y="0"/>
                  </a:moveTo>
                  <a:lnTo>
                    <a:pt x="11049000" y="0"/>
                  </a:lnTo>
                </a:path>
              </a:pathLst>
            </a:custGeom>
            <a:noFill/>
            <a:ln w="19050" cap="rnd">
              <a:solidFill>
                <a:srgbClr val="CDD7E2"/>
              </a:solidFill>
            </a:ln>
          </p:spPr>
          <p:txBody>
            <a:bodyPr/>
            <a:lstStyle/>
            <a:p>
              <a:endParaRPr lang="en-US"/>
            </a:p>
          </p:txBody>
        </p:sp>
        <p:grpSp>
          <p:nvGrpSpPr>
            <p:cNvPr id="21" name="Group 21"/>
            <p:cNvGrpSpPr/>
            <p:nvPr/>
          </p:nvGrpSpPr>
          <p:grpSpPr>
            <a:xfrm>
              <a:off x="762000" y="2190750"/>
              <a:ext cx="2286000" cy="1714500"/>
              <a:chOff x="762000" y="2190750"/>
              <a:chExt cx="2286000" cy="1714500"/>
            </a:xfrm>
          </p:grpSpPr>
          <p:sp>
            <p:nvSpPr>
              <p:cNvPr id="8" name="Rectangle 8"/>
              <p:cNvSpPr/>
              <p:nvPr/>
            </p:nvSpPr>
            <p:spPr>
              <a:xfrm>
                <a:off x="762000" y="2190750"/>
                <a:ext cx="2286000" cy="1714500"/>
              </a:xfrm>
              <a:prstGeom prst="roundRect">
                <a:avLst>
                  <a:gd name="adj" fmla="val 5556"/>
                </a:avLst>
              </a:prstGeom>
              <a:solidFill>
                <a:srgbClr val="FFFFFF"/>
              </a:solidFill>
              <a:ln w="19050">
                <a:solidFill>
                  <a:srgbClr val="004C97"/>
                </a:solidFill>
              </a:ln>
            </p:spPr>
            <p:txBody>
              <a:bodyPr/>
              <a:lstStyle/>
              <a:p>
                <a:endParaRPr lang="en-US"/>
              </a:p>
            </p:txBody>
          </p:sp>
          <p:sp>
            <p:nvSpPr>
              <p:cNvPr id="9" name="Rectangle 9"/>
              <p:cNvSpPr/>
              <p:nvPr/>
            </p:nvSpPr>
            <p:spPr>
              <a:xfrm>
                <a:off x="762000" y="2190750"/>
                <a:ext cx="2286000" cy="381000"/>
              </a:xfrm>
              <a:prstGeom prst="roundRect">
                <a:avLst>
                  <a:gd name="adj" fmla="val 25000"/>
                </a:avLst>
              </a:prstGeom>
              <a:solidFill>
                <a:srgbClr val="004C97"/>
              </a:solidFill>
              <a:ln>
                <a:noFill/>
              </a:ln>
            </p:spPr>
            <p:txBody>
              <a:bodyPr/>
              <a:lstStyle/>
              <a:p>
                <a:endParaRPr lang="en-US"/>
              </a:p>
            </p:txBody>
          </p:sp>
          <p:sp>
            <p:nvSpPr>
              <p:cNvPr id="10" name="Rectangle 10"/>
              <p:cNvSpPr/>
              <p:nvPr/>
            </p:nvSpPr>
            <p:spPr>
              <a:xfrm>
                <a:off x="762000" y="2476500"/>
                <a:ext cx="2286000" cy="95250"/>
              </a:xfrm>
              <a:prstGeom prst="rect">
                <a:avLst/>
              </a:prstGeom>
              <a:solidFill>
                <a:srgbClr val="004C97"/>
              </a:solidFill>
              <a:ln>
                <a:noFill/>
              </a:ln>
            </p:spPr>
            <p:txBody>
              <a:bodyPr/>
              <a:lstStyle/>
              <a:p>
                <a:endParaRPr lang="en-US"/>
              </a:p>
            </p:txBody>
          </p:sp>
          <p:sp>
            <p:nvSpPr>
              <p:cNvPr id="11" name="TextBox 11"/>
              <p:cNvSpPr txBox="1"/>
              <p:nvPr/>
            </p:nvSpPr>
            <p:spPr>
              <a:xfrm>
                <a:off x="1682609" y="2349341"/>
                <a:ext cx="444783"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01</a:t>
                </a:r>
              </a:p>
            </p:txBody>
          </p:sp>
          <p:grpSp>
            <p:nvGrpSpPr>
              <p:cNvPr id="17" name="Group 17"/>
              <p:cNvGrpSpPr/>
              <p:nvPr/>
            </p:nvGrpSpPr>
            <p:grpSpPr>
              <a:xfrm>
                <a:off x="1733550" y="2800350"/>
                <a:ext cx="342900" cy="342900"/>
                <a:chOff x="1733550" y="2800350"/>
                <a:chExt cx="342900" cy="342900"/>
              </a:xfrm>
            </p:grpSpPr>
            <p:sp>
              <p:nvSpPr>
                <p:cNvPr id="12" name="Freeform 12"/>
                <p:cNvSpPr/>
                <p:nvPr/>
              </p:nvSpPr>
              <p:spPr>
                <a:xfrm>
                  <a:off x="1866900" y="2800350"/>
                  <a:ext cx="76200" cy="76200"/>
                </a:xfrm>
                <a:custGeom>
                  <a:avLst/>
                  <a:gdLst/>
                  <a:ahLst/>
                  <a:cxnLst/>
                  <a:rect l="l" t="t" r="r" b="b"/>
                  <a:pathLst>
                    <a:path w="76200" h="76200">
                      <a:moveTo>
                        <a:pt x="0" y="0"/>
                      </a:moveTo>
                      <a:lnTo>
                        <a:pt x="76200" y="0"/>
                      </a:lnTo>
                      <a:lnTo>
                        <a:pt x="76200" y="76200"/>
                      </a:lnTo>
                      <a:lnTo>
                        <a:pt x="0" y="76200"/>
                      </a:lnTo>
                      <a:lnTo>
                        <a:pt x="0" y="0"/>
                      </a:lnTo>
                    </a:path>
                  </a:pathLst>
                </a:custGeom>
                <a:noFill/>
                <a:ln w="19050">
                  <a:solidFill>
                    <a:srgbClr val="004C97"/>
                  </a:solidFill>
                </a:ln>
              </p:spPr>
              <p:txBody>
                <a:bodyPr/>
                <a:lstStyle/>
                <a:p>
                  <a:endParaRPr lang="en-US"/>
                </a:p>
              </p:txBody>
            </p:sp>
            <p:sp>
              <p:nvSpPr>
                <p:cNvPr id="13" name="Freeform 13"/>
                <p:cNvSpPr/>
                <p:nvPr/>
              </p:nvSpPr>
              <p:spPr>
                <a:xfrm>
                  <a:off x="1733550" y="3067050"/>
                  <a:ext cx="76200" cy="76200"/>
                </a:xfrm>
                <a:custGeom>
                  <a:avLst/>
                  <a:gdLst/>
                  <a:ahLst/>
                  <a:cxnLst/>
                  <a:rect l="l" t="t" r="r" b="b"/>
                  <a:pathLst>
                    <a:path w="76200" h="76200">
                      <a:moveTo>
                        <a:pt x="0" y="0"/>
                      </a:moveTo>
                      <a:lnTo>
                        <a:pt x="76200" y="0"/>
                      </a:lnTo>
                      <a:lnTo>
                        <a:pt x="76200" y="76200"/>
                      </a:lnTo>
                      <a:lnTo>
                        <a:pt x="0" y="76200"/>
                      </a:lnTo>
                      <a:lnTo>
                        <a:pt x="0" y="0"/>
                      </a:lnTo>
                    </a:path>
                  </a:pathLst>
                </a:custGeom>
                <a:noFill/>
                <a:ln w="19050">
                  <a:solidFill>
                    <a:srgbClr val="004C97"/>
                  </a:solidFill>
                </a:ln>
              </p:spPr>
              <p:txBody>
                <a:bodyPr/>
                <a:lstStyle/>
                <a:p>
                  <a:endParaRPr lang="en-US"/>
                </a:p>
              </p:txBody>
            </p:sp>
            <p:sp>
              <p:nvSpPr>
                <p:cNvPr id="14" name="Freeform 14"/>
                <p:cNvSpPr/>
                <p:nvPr/>
              </p:nvSpPr>
              <p:spPr>
                <a:xfrm>
                  <a:off x="2000250" y="3067050"/>
                  <a:ext cx="76200" cy="76200"/>
                </a:xfrm>
                <a:custGeom>
                  <a:avLst/>
                  <a:gdLst/>
                  <a:ahLst/>
                  <a:cxnLst/>
                  <a:rect l="l" t="t" r="r" b="b"/>
                  <a:pathLst>
                    <a:path w="76200" h="76200">
                      <a:moveTo>
                        <a:pt x="0" y="0"/>
                      </a:moveTo>
                      <a:lnTo>
                        <a:pt x="76200" y="0"/>
                      </a:lnTo>
                      <a:lnTo>
                        <a:pt x="76200" y="76200"/>
                      </a:lnTo>
                      <a:lnTo>
                        <a:pt x="0" y="76200"/>
                      </a:lnTo>
                      <a:lnTo>
                        <a:pt x="0" y="0"/>
                      </a:lnTo>
                    </a:path>
                  </a:pathLst>
                </a:custGeom>
                <a:noFill/>
                <a:ln w="19050">
                  <a:solidFill>
                    <a:srgbClr val="004C97"/>
                  </a:solidFill>
                </a:ln>
              </p:spPr>
              <p:txBody>
                <a:bodyPr/>
                <a:lstStyle/>
                <a:p>
                  <a:endParaRPr lang="en-US"/>
                </a:p>
              </p:txBody>
            </p:sp>
            <p:sp>
              <p:nvSpPr>
                <p:cNvPr id="15" name="Freeform 15"/>
                <p:cNvSpPr/>
                <p:nvPr/>
              </p:nvSpPr>
              <p:spPr>
                <a:xfrm>
                  <a:off x="1809750" y="2990850"/>
                  <a:ext cx="190500" cy="76200"/>
                </a:xfrm>
                <a:custGeom>
                  <a:avLst/>
                  <a:gdLst/>
                  <a:ahLst/>
                  <a:cxnLst/>
                  <a:rect l="l" t="t" r="r" b="b"/>
                  <a:pathLst>
                    <a:path w="190500" h="76200">
                      <a:moveTo>
                        <a:pt x="0" y="76200"/>
                      </a:moveTo>
                      <a:lnTo>
                        <a:pt x="95250" y="0"/>
                      </a:lnTo>
                      <a:lnTo>
                        <a:pt x="190500" y="76200"/>
                      </a:lnTo>
                    </a:path>
                  </a:pathLst>
                </a:custGeom>
                <a:noFill/>
                <a:ln w="19050">
                  <a:solidFill>
                    <a:srgbClr val="004C97"/>
                  </a:solidFill>
                </a:ln>
              </p:spPr>
              <p:txBody>
                <a:bodyPr/>
                <a:lstStyle/>
                <a:p>
                  <a:endParaRPr lang="en-US"/>
                </a:p>
              </p:txBody>
            </p:sp>
            <p:sp>
              <p:nvSpPr>
                <p:cNvPr id="16" name="Freeform 16"/>
                <p:cNvSpPr/>
                <p:nvPr/>
              </p:nvSpPr>
              <p:spPr>
                <a:xfrm>
                  <a:off x="1905000" y="2876550"/>
                  <a:ext cx="9525" cy="114300"/>
                </a:xfrm>
                <a:custGeom>
                  <a:avLst/>
                  <a:gdLst/>
                  <a:ahLst/>
                  <a:cxnLst/>
                  <a:rect l="l" t="t" r="r" b="b"/>
                  <a:pathLst>
                    <a:path w="9525" h="114300">
                      <a:moveTo>
                        <a:pt x="0" y="0"/>
                      </a:moveTo>
                      <a:lnTo>
                        <a:pt x="0" y="114300"/>
                      </a:lnTo>
                    </a:path>
                  </a:pathLst>
                </a:custGeom>
                <a:noFill/>
                <a:ln w="19050">
                  <a:solidFill>
                    <a:srgbClr val="004C97"/>
                  </a:solidFill>
                </a:ln>
              </p:spPr>
              <p:txBody>
                <a:bodyPr/>
                <a:lstStyle/>
                <a:p>
                  <a:endParaRPr lang="en-US"/>
                </a:p>
              </p:txBody>
            </p:sp>
          </p:grpSp>
          <p:sp>
            <p:nvSpPr>
              <p:cNvPr id="18" name="TextBox 18"/>
              <p:cNvSpPr txBox="1"/>
              <p:nvPr/>
            </p:nvSpPr>
            <p:spPr>
              <a:xfrm>
                <a:off x="1630007" y="3334702"/>
                <a:ext cx="549985" cy="213360"/>
              </a:xfrm>
              <a:prstGeom prst="rect">
                <a:avLst/>
              </a:prstGeom>
              <a:noFill/>
              <a:ln>
                <a:noFill/>
              </a:ln>
            </p:spPr>
            <p:txBody>
              <a:bodyPr wrap="none" lIns="0" tIns="0" rIns="0" bIns="0" anchor="t" anchorCtr="0">
                <a:spAutoFit/>
              </a:bodyPr>
              <a:lstStyle/>
              <a:p>
                <a:pPr algn="ctr"/>
                <a:r>
                  <a:rPr lang="zh-CN" sz="1050" b="1" dirty="0">
                    <a:solidFill>
                      <a:srgbClr val="004C97"/>
                    </a:solidFill>
                    <a:latin typeface="Consolas"/>
                    <a:ea typeface="Microsoft YaHei"/>
                    <a:cs typeface="Consolas"/>
                  </a:rPr>
                  <a:t>imf-ra</a:t>
                </a:r>
              </a:p>
            </p:txBody>
          </p:sp>
          <p:sp>
            <p:nvSpPr>
              <p:cNvPr id="19" name="TextBox 19"/>
              <p:cNvSpPr txBox="1"/>
              <p:nvPr/>
            </p:nvSpPr>
            <p:spPr>
              <a:xfrm>
                <a:off x="1568244" y="3560445"/>
                <a:ext cx="673513"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Umbrella +</a:t>
                </a:r>
              </a:p>
            </p:txBody>
          </p:sp>
          <p:sp>
            <p:nvSpPr>
              <p:cNvPr id="20" name="TextBox 20"/>
              <p:cNvSpPr txBox="1"/>
              <p:nvPr/>
            </p:nvSpPr>
            <p:spPr>
              <a:xfrm>
                <a:off x="1275779" y="3712845"/>
                <a:ext cx="1258443"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shared conventions</a:t>
                </a:r>
              </a:p>
            </p:txBody>
          </p:sp>
        </p:grpSp>
        <p:sp>
          <p:nvSpPr>
            <p:cNvPr id="22" name="Line 22"/>
            <p:cNvSpPr/>
            <p:nvPr/>
          </p:nvSpPr>
          <p:spPr>
            <a:xfrm>
              <a:off x="3124200" y="3048000"/>
              <a:ext cx="381000" cy="1"/>
            </a:xfrm>
            <a:prstGeom prst="line">
              <a:avLst/>
            </a:prstGeom>
            <a:noFill/>
            <a:ln w="23812">
              <a:solidFill>
                <a:srgbClr val="707372"/>
              </a:solidFill>
              <a:tailEnd type="triangle" w="lg" len="lg"/>
            </a:ln>
          </p:spPr>
          <p:txBody>
            <a:bodyPr/>
            <a:lstStyle/>
            <a:p>
              <a:endParaRPr lang="en-US"/>
            </a:p>
          </p:txBody>
        </p:sp>
        <p:grpSp>
          <p:nvGrpSpPr>
            <p:cNvPr id="33" name="Group 33"/>
            <p:cNvGrpSpPr/>
            <p:nvPr/>
          </p:nvGrpSpPr>
          <p:grpSpPr>
            <a:xfrm>
              <a:off x="3619500" y="2190750"/>
              <a:ext cx="2286000" cy="1714500"/>
              <a:chOff x="3619500" y="2190750"/>
              <a:chExt cx="2286000" cy="1714500"/>
            </a:xfrm>
          </p:grpSpPr>
          <p:sp>
            <p:nvSpPr>
              <p:cNvPr id="23" name="Rectangle 23"/>
              <p:cNvSpPr/>
              <p:nvPr/>
            </p:nvSpPr>
            <p:spPr>
              <a:xfrm>
                <a:off x="3619500" y="2190750"/>
                <a:ext cx="2286000" cy="1714500"/>
              </a:xfrm>
              <a:prstGeom prst="roundRect">
                <a:avLst>
                  <a:gd name="adj" fmla="val 5556"/>
                </a:avLst>
              </a:prstGeom>
              <a:solidFill>
                <a:srgbClr val="FFFFFF"/>
              </a:solidFill>
              <a:ln w="19050">
                <a:solidFill>
                  <a:srgbClr val="004C97"/>
                </a:solidFill>
              </a:ln>
            </p:spPr>
            <p:txBody>
              <a:bodyPr/>
              <a:lstStyle/>
              <a:p>
                <a:endParaRPr lang="en-US"/>
              </a:p>
            </p:txBody>
          </p:sp>
          <p:sp>
            <p:nvSpPr>
              <p:cNvPr id="24" name="Rectangle 24"/>
              <p:cNvSpPr/>
              <p:nvPr/>
            </p:nvSpPr>
            <p:spPr>
              <a:xfrm>
                <a:off x="3619500" y="2190750"/>
                <a:ext cx="2286000" cy="381000"/>
              </a:xfrm>
              <a:prstGeom prst="roundRect">
                <a:avLst>
                  <a:gd name="adj" fmla="val 25000"/>
                </a:avLst>
              </a:prstGeom>
              <a:solidFill>
                <a:srgbClr val="004C97"/>
              </a:solidFill>
              <a:ln>
                <a:noFill/>
              </a:ln>
            </p:spPr>
            <p:txBody>
              <a:bodyPr/>
              <a:lstStyle/>
              <a:p>
                <a:endParaRPr lang="en-US"/>
              </a:p>
            </p:txBody>
          </p:sp>
          <p:sp>
            <p:nvSpPr>
              <p:cNvPr id="25" name="Rectangle 25"/>
              <p:cNvSpPr/>
              <p:nvPr/>
            </p:nvSpPr>
            <p:spPr>
              <a:xfrm>
                <a:off x="3619500" y="2476500"/>
                <a:ext cx="2286000" cy="95250"/>
              </a:xfrm>
              <a:prstGeom prst="rect">
                <a:avLst/>
              </a:prstGeom>
              <a:solidFill>
                <a:srgbClr val="004C97"/>
              </a:solidFill>
              <a:ln>
                <a:noFill/>
              </a:ln>
            </p:spPr>
            <p:txBody>
              <a:bodyPr/>
              <a:lstStyle/>
              <a:p>
                <a:endParaRPr lang="en-US"/>
              </a:p>
            </p:txBody>
          </p:sp>
          <p:sp>
            <p:nvSpPr>
              <p:cNvPr id="26" name="TextBox 26"/>
              <p:cNvSpPr txBox="1"/>
              <p:nvPr/>
            </p:nvSpPr>
            <p:spPr>
              <a:xfrm>
                <a:off x="4524294" y="2349341"/>
                <a:ext cx="476412"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02</a:t>
                </a:r>
              </a:p>
            </p:txBody>
          </p:sp>
          <p:grpSp>
            <p:nvGrpSpPr>
              <p:cNvPr id="29" name="Group 29"/>
              <p:cNvGrpSpPr/>
              <p:nvPr/>
            </p:nvGrpSpPr>
            <p:grpSpPr>
              <a:xfrm>
                <a:off x="4591050" y="2800350"/>
                <a:ext cx="342900" cy="342900"/>
                <a:chOff x="4591050" y="2800350"/>
                <a:chExt cx="342900" cy="342900"/>
              </a:xfrm>
            </p:grpSpPr>
            <p:sp>
              <p:nvSpPr>
                <p:cNvPr id="27" name="Freeform 27"/>
                <p:cNvSpPr/>
                <p:nvPr/>
              </p:nvSpPr>
              <p:spPr>
                <a:xfrm>
                  <a:off x="4591050" y="2800350"/>
                  <a:ext cx="266700" cy="266700"/>
                </a:xfrm>
                <a:custGeom>
                  <a:avLst/>
                  <a:gdLst/>
                  <a:ahLst/>
                  <a:cxnLst/>
                  <a:rect l="l" t="t" r="r" b="b"/>
                  <a:pathLst>
                    <a:path w="266700" h="266700">
                      <a:moveTo>
                        <a:pt x="0" y="133350"/>
                      </a:moveTo>
                      <a:cubicBezTo>
                        <a:pt x="0" y="206997"/>
                        <a:pt x="59703" y="266700"/>
                        <a:pt x="133350" y="266700"/>
                      </a:cubicBezTo>
                      <a:cubicBezTo>
                        <a:pt x="206997" y="266700"/>
                        <a:pt x="266700" y="206997"/>
                        <a:pt x="266700" y="133350"/>
                      </a:cubicBezTo>
                      <a:cubicBezTo>
                        <a:pt x="266700" y="59703"/>
                        <a:pt x="206997" y="0"/>
                        <a:pt x="133350" y="0"/>
                      </a:cubicBezTo>
                      <a:cubicBezTo>
                        <a:pt x="59703" y="0"/>
                        <a:pt x="0" y="59703"/>
                        <a:pt x="0" y="133350"/>
                      </a:cubicBezTo>
                    </a:path>
                  </a:pathLst>
                </a:custGeom>
                <a:noFill/>
                <a:ln w="19050">
                  <a:solidFill>
                    <a:srgbClr val="004C97"/>
                  </a:solidFill>
                </a:ln>
              </p:spPr>
              <p:txBody>
                <a:bodyPr/>
                <a:lstStyle/>
                <a:p>
                  <a:endParaRPr lang="en-US"/>
                </a:p>
              </p:txBody>
            </p:sp>
            <p:sp>
              <p:nvSpPr>
                <p:cNvPr id="28" name="Freeform 28"/>
                <p:cNvSpPr/>
                <p:nvPr/>
              </p:nvSpPr>
              <p:spPr>
                <a:xfrm>
                  <a:off x="4819650" y="3028950"/>
                  <a:ext cx="114300" cy="114300"/>
                </a:xfrm>
                <a:custGeom>
                  <a:avLst/>
                  <a:gdLst/>
                  <a:ahLst/>
                  <a:cxnLst/>
                  <a:rect l="l" t="t" r="r" b="b"/>
                  <a:pathLst>
                    <a:path w="114300" h="114300">
                      <a:moveTo>
                        <a:pt x="114300" y="114300"/>
                      </a:moveTo>
                      <a:lnTo>
                        <a:pt x="0" y="0"/>
                      </a:lnTo>
                    </a:path>
                  </a:pathLst>
                </a:custGeom>
                <a:noFill/>
                <a:ln w="19050">
                  <a:solidFill>
                    <a:srgbClr val="004C97"/>
                  </a:solidFill>
                </a:ln>
              </p:spPr>
              <p:txBody>
                <a:bodyPr/>
                <a:lstStyle/>
                <a:p>
                  <a:endParaRPr lang="en-US"/>
                </a:p>
              </p:txBody>
            </p:sp>
          </p:grpSp>
          <p:sp>
            <p:nvSpPr>
              <p:cNvPr id="30" name="TextBox 30"/>
              <p:cNvSpPr txBox="1"/>
              <p:nvPr/>
            </p:nvSpPr>
            <p:spPr>
              <a:xfrm>
                <a:off x="4153391" y="3334702"/>
                <a:ext cx="1218219" cy="213360"/>
              </a:xfrm>
              <a:prstGeom prst="rect">
                <a:avLst/>
              </a:prstGeom>
              <a:noFill/>
              <a:ln>
                <a:noFill/>
              </a:ln>
            </p:spPr>
            <p:txBody>
              <a:bodyPr wrap="none" lIns="0" tIns="0" rIns="0" bIns="0" anchor="t" anchorCtr="0">
                <a:spAutoFit/>
              </a:bodyPr>
              <a:lstStyle/>
              <a:p>
                <a:pPr algn="ctr"/>
                <a:r>
                  <a:rPr lang="zh-CN" sz="1050" b="1" dirty="0">
                    <a:solidFill>
                      <a:srgbClr val="004C97"/>
                    </a:solidFill>
                    <a:latin typeface="Consolas"/>
                    <a:ea typeface="Microsoft YaHei"/>
                    <a:cs typeface="Consolas"/>
                  </a:rPr>
                  <a:t>imf-ra-catalog</a:t>
                </a:r>
              </a:p>
            </p:txBody>
          </p:sp>
          <p:sp>
            <p:nvSpPr>
              <p:cNvPr id="31" name="TextBox 31"/>
              <p:cNvSpPr txBox="1"/>
              <p:nvPr/>
            </p:nvSpPr>
            <p:spPr>
              <a:xfrm>
                <a:off x="4166140" y="3560445"/>
                <a:ext cx="1192720"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Natural language →</a:t>
                </a:r>
              </a:p>
            </p:txBody>
          </p:sp>
          <p:sp>
            <p:nvSpPr>
              <p:cNvPr id="32" name="TextBox 32"/>
              <p:cNvSpPr txBox="1"/>
              <p:nvPr/>
            </p:nvSpPr>
            <p:spPr>
              <a:xfrm>
                <a:off x="4438888" y="3712845"/>
                <a:ext cx="647224"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identifier</a:t>
                </a:r>
              </a:p>
            </p:txBody>
          </p:sp>
        </p:grpSp>
        <p:sp>
          <p:nvSpPr>
            <p:cNvPr id="34" name="Line 34"/>
            <p:cNvSpPr/>
            <p:nvPr/>
          </p:nvSpPr>
          <p:spPr>
            <a:xfrm>
              <a:off x="5981700" y="3048000"/>
              <a:ext cx="381000" cy="1"/>
            </a:xfrm>
            <a:prstGeom prst="line">
              <a:avLst/>
            </a:prstGeom>
            <a:noFill/>
            <a:ln w="23812">
              <a:solidFill>
                <a:srgbClr val="707372"/>
              </a:solidFill>
              <a:tailEnd type="triangle" w="lg" len="lg"/>
            </a:ln>
          </p:spPr>
          <p:txBody>
            <a:bodyPr/>
            <a:lstStyle/>
            <a:p>
              <a:endParaRPr lang="en-US"/>
            </a:p>
          </p:txBody>
        </p:sp>
        <p:grpSp>
          <p:nvGrpSpPr>
            <p:cNvPr id="46" name="Group 46"/>
            <p:cNvGrpSpPr/>
            <p:nvPr/>
          </p:nvGrpSpPr>
          <p:grpSpPr>
            <a:xfrm>
              <a:off x="6477000" y="2190750"/>
              <a:ext cx="2286000" cy="1714500"/>
              <a:chOff x="6477000" y="2190750"/>
              <a:chExt cx="2286000" cy="1714500"/>
            </a:xfrm>
          </p:grpSpPr>
          <p:sp>
            <p:nvSpPr>
              <p:cNvPr id="35" name="Rectangle 35"/>
              <p:cNvSpPr/>
              <p:nvPr/>
            </p:nvSpPr>
            <p:spPr>
              <a:xfrm>
                <a:off x="6477000" y="2190750"/>
                <a:ext cx="2286000" cy="1714500"/>
              </a:xfrm>
              <a:prstGeom prst="roundRect">
                <a:avLst>
                  <a:gd name="adj" fmla="val 5556"/>
                </a:avLst>
              </a:prstGeom>
              <a:solidFill>
                <a:srgbClr val="FFFFFF"/>
              </a:solidFill>
              <a:ln w="19050">
                <a:solidFill>
                  <a:srgbClr val="004C97"/>
                </a:solidFill>
              </a:ln>
            </p:spPr>
            <p:txBody>
              <a:bodyPr/>
              <a:lstStyle/>
              <a:p>
                <a:endParaRPr lang="en-US"/>
              </a:p>
            </p:txBody>
          </p:sp>
          <p:sp>
            <p:nvSpPr>
              <p:cNvPr id="36" name="Rectangle 36"/>
              <p:cNvSpPr/>
              <p:nvPr/>
            </p:nvSpPr>
            <p:spPr>
              <a:xfrm>
                <a:off x="6477000" y="2190750"/>
                <a:ext cx="2286000" cy="381000"/>
              </a:xfrm>
              <a:prstGeom prst="roundRect">
                <a:avLst>
                  <a:gd name="adj" fmla="val 25000"/>
                </a:avLst>
              </a:prstGeom>
              <a:solidFill>
                <a:srgbClr val="004C97"/>
              </a:solidFill>
              <a:ln>
                <a:noFill/>
              </a:ln>
            </p:spPr>
            <p:txBody>
              <a:bodyPr/>
              <a:lstStyle/>
              <a:p>
                <a:endParaRPr lang="en-US"/>
              </a:p>
            </p:txBody>
          </p:sp>
          <p:sp>
            <p:nvSpPr>
              <p:cNvPr id="37" name="Rectangle 37"/>
              <p:cNvSpPr/>
              <p:nvPr/>
            </p:nvSpPr>
            <p:spPr>
              <a:xfrm>
                <a:off x="6477000" y="2476500"/>
                <a:ext cx="2286000" cy="95250"/>
              </a:xfrm>
              <a:prstGeom prst="rect">
                <a:avLst/>
              </a:prstGeom>
              <a:solidFill>
                <a:srgbClr val="004C97"/>
              </a:solidFill>
              <a:ln>
                <a:noFill/>
              </a:ln>
            </p:spPr>
            <p:txBody>
              <a:bodyPr/>
              <a:lstStyle/>
              <a:p>
                <a:endParaRPr lang="en-US"/>
              </a:p>
            </p:txBody>
          </p:sp>
          <p:sp>
            <p:nvSpPr>
              <p:cNvPr id="38" name="TextBox 38"/>
              <p:cNvSpPr txBox="1"/>
              <p:nvPr/>
            </p:nvSpPr>
            <p:spPr>
              <a:xfrm>
                <a:off x="7381794" y="2349341"/>
                <a:ext cx="476412"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03</a:t>
                </a:r>
              </a:p>
            </p:txBody>
          </p:sp>
          <p:grpSp>
            <p:nvGrpSpPr>
              <p:cNvPr id="42" name="Group 42"/>
              <p:cNvGrpSpPr/>
              <p:nvPr/>
            </p:nvGrpSpPr>
            <p:grpSpPr>
              <a:xfrm>
                <a:off x="7467600" y="2800350"/>
                <a:ext cx="304800" cy="342900"/>
                <a:chOff x="7467600" y="2800350"/>
                <a:chExt cx="304800" cy="342900"/>
              </a:xfrm>
            </p:grpSpPr>
            <p:sp>
              <p:nvSpPr>
                <p:cNvPr id="39" name="Freeform 39"/>
                <p:cNvSpPr/>
                <p:nvPr/>
              </p:nvSpPr>
              <p:spPr>
                <a:xfrm>
                  <a:off x="7467600" y="2800350"/>
                  <a:ext cx="304800" cy="114300"/>
                </a:xfrm>
                <a:custGeom>
                  <a:avLst/>
                  <a:gdLst/>
                  <a:ahLst/>
                  <a:cxnLst/>
                  <a:rect l="l" t="t" r="r" b="b"/>
                  <a:pathLst>
                    <a:path w="304800" h="114300">
                      <a:moveTo>
                        <a:pt x="0" y="57150"/>
                      </a:moveTo>
                      <a:cubicBezTo>
                        <a:pt x="0" y="88713"/>
                        <a:pt x="68232" y="114300"/>
                        <a:pt x="152400" y="114300"/>
                      </a:cubicBezTo>
                      <a:cubicBezTo>
                        <a:pt x="236568" y="114300"/>
                        <a:pt x="304800" y="88713"/>
                        <a:pt x="304800" y="57150"/>
                      </a:cubicBezTo>
                      <a:cubicBezTo>
                        <a:pt x="304800" y="25587"/>
                        <a:pt x="236568" y="0"/>
                        <a:pt x="152400" y="0"/>
                      </a:cubicBezTo>
                      <a:cubicBezTo>
                        <a:pt x="68232" y="0"/>
                        <a:pt x="0" y="25587"/>
                        <a:pt x="0" y="57150"/>
                      </a:cubicBezTo>
                    </a:path>
                  </a:pathLst>
                </a:custGeom>
                <a:noFill/>
                <a:ln w="19050">
                  <a:solidFill>
                    <a:srgbClr val="004C97"/>
                  </a:solidFill>
                </a:ln>
              </p:spPr>
              <p:txBody>
                <a:bodyPr/>
                <a:lstStyle/>
                <a:p>
                  <a:endParaRPr lang="en-US"/>
                </a:p>
              </p:txBody>
            </p:sp>
            <p:sp>
              <p:nvSpPr>
                <p:cNvPr id="40" name="Freeform 40"/>
                <p:cNvSpPr/>
                <p:nvPr/>
              </p:nvSpPr>
              <p:spPr>
                <a:xfrm>
                  <a:off x="7467600" y="2857500"/>
                  <a:ext cx="304800" cy="171450"/>
                </a:xfrm>
                <a:custGeom>
                  <a:avLst/>
                  <a:gdLst/>
                  <a:ahLst/>
                  <a:cxnLst/>
                  <a:rect l="l" t="t" r="r" b="b"/>
                  <a:pathLst>
                    <a:path w="304800" h="171450">
                      <a:moveTo>
                        <a:pt x="0" y="0"/>
                      </a:moveTo>
                      <a:lnTo>
                        <a:pt x="0" y="114300"/>
                      </a:lnTo>
                      <a:cubicBezTo>
                        <a:pt x="0" y="145863"/>
                        <a:pt x="68232" y="171450"/>
                        <a:pt x="152400" y="171450"/>
                      </a:cubicBezTo>
                      <a:cubicBezTo>
                        <a:pt x="236568" y="171450"/>
                        <a:pt x="304800" y="145863"/>
                        <a:pt x="304800" y="114300"/>
                      </a:cubicBezTo>
                      <a:lnTo>
                        <a:pt x="304800" y="0"/>
                      </a:lnTo>
                    </a:path>
                  </a:pathLst>
                </a:custGeom>
                <a:noFill/>
                <a:ln w="19050">
                  <a:solidFill>
                    <a:srgbClr val="004C97"/>
                  </a:solidFill>
                </a:ln>
              </p:spPr>
              <p:txBody>
                <a:bodyPr/>
                <a:lstStyle/>
                <a:p>
                  <a:endParaRPr lang="en-US"/>
                </a:p>
              </p:txBody>
            </p:sp>
            <p:sp>
              <p:nvSpPr>
                <p:cNvPr id="41" name="Freeform 41"/>
                <p:cNvSpPr/>
                <p:nvPr/>
              </p:nvSpPr>
              <p:spPr>
                <a:xfrm>
                  <a:off x="7467600" y="2971800"/>
                  <a:ext cx="304800" cy="171450"/>
                </a:xfrm>
                <a:custGeom>
                  <a:avLst/>
                  <a:gdLst/>
                  <a:ahLst/>
                  <a:cxnLst/>
                  <a:rect l="l" t="t" r="r" b="b"/>
                  <a:pathLst>
                    <a:path w="304800" h="171450">
                      <a:moveTo>
                        <a:pt x="0" y="0"/>
                      </a:moveTo>
                      <a:lnTo>
                        <a:pt x="0" y="114300"/>
                      </a:lnTo>
                      <a:cubicBezTo>
                        <a:pt x="0" y="145863"/>
                        <a:pt x="68232" y="171450"/>
                        <a:pt x="152400" y="171450"/>
                      </a:cubicBezTo>
                      <a:cubicBezTo>
                        <a:pt x="236568" y="171450"/>
                        <a:pt x="304800" y="145863"/>
                        <a:pt x="304800" y="114300"/>
                      </a:cubicBezTo>
                      <a:lnTo>
                        <a:pt x="304800" y="0"/>
                      </a:lnTo>
                    </a:path>
                  </a:pathLst>
                </a:custGeom>
                <a:noFill/>
                <a:ln w="19050">
                  <a:solidFill>
                    <a:srgbClr val="004C97"/>
                  </a:solidFill>
                </a:ln>
              </p:spPr>
              <p:txBody>
                <a:bodyPr/>
                <a:lstStyle/>
                <a:p>
                  <a:endParaRPr lang="en-US"/>
                </a:p>
              </p:txBody>
            </p:sp>
          </p:grpSp>
          <p:sp>
            <p:nvSpPr>
              <p:cNvPr id="43" name="TextBox 43"/>
              <p:cNvSpPr txBox="1"/>
              <p:nvPr/>
            </p:nvSpPr>
            <p:spPr>
              <a:xfrm>
                <a:off x="7123605" y="3334702"/>
                <a:ext cx="992791" cy="213360"/>
              </a:xfrm>
              <a:prstGeom prst="rect">
                <a:avLst/>
              </a:prstGeom>
              <a:noFill/>
              <a:ln>
                <a:noFill/>
              </a:ln>
            </p:spPr>
            <p:txBody>
              <a:bodyPr wrap="none" lIns="0" tIns="0" rIns="0" bIns="0" anchor="t" anchorCtr="0">
                <a:spAutoFit/>
              </a:bodyPr>
              <a:lstStyle/>
              <a:p>
                <a:pPr algn="ctr"/>
                <a:r>
                  <a:rPr lang="zh-CN" sz="1050" b="1" dirty="0">
                    <a:solidFill>
                      <a:srgbClr val="004C97"/>
                    </a:solidFill>
                    <a:latin typeface="Consolas"/>
                    <a:ea typeface="Microsoft YaHei"/>
                    <a:cs typeface="Consolas"/>
                  </a:rPr>
                  <a:t>imf-ra-data</a:t>
                </a:r>
              </a:p>
            </p:txBody>
          </p:sp>
          <p:sp>
            <p:nvSpPr>
              <p:cNvPr id="44" name="TextBox 44"/>
              <p:cNvSpPr txBox="1"/>
              <p:nvPr/>
            </p:nvSpPr>
            <p:spPr>
              <a:xfrm>
                <a:off x="7003923" y="3560445"/>
                <a:ext cx="1232154"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SDK fetch · LIVE vs</a:t>
                </a:r>
              </a:p>
            </p:txBody>
          </p:sp>
          <p:sp>
            <p:nvSpPr>
              <p:cNvPr id="45" name="TextBox 45"/>
              <p:cNvSpPr txBox="1"/>
              <p:nvPr/>
            </p:nvSpPr>
            <p:spPr>
              <a:xfrm>
                <a:off x="7095934" y="3712845"/>
                <a:ext cx="1048131"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vintage handling</a:t>
                </a:r>
              </a:p>
            </p:txBody>
          </p:sp>
        </p:grpSp>
        <p:sp>
          <p:nvSpPr>
            <p:cNvPr id="47" name="Line 47"/>
            <p:cNvSpPr/>
            <p:nvPr/>
          </p:nvSpPr>
          <p:spPr>
            <a:xfrm>
              <a:off x="8839200" y="3048000"/>
              <a:ext cx="381000" cy="1"/>
            </a:xfrm>
            <a:prstGeom prst="line">
              <a:avLst/>
            </a:prstGeom>
            <a:noFill/>
            <a:ln w="23812">
              <a:solidFill>
                <a:srgbClr val="DA281C"/>
              </a:solidFill>
              <a:prstDash val="dash"/>
              <a:tailEnd type="triangle" w="lg" len="lg"/>
            </a:ln>
          </p:spPr>
          <p:txBody>
            <a:bodyPr/>
            <a:lstStyle/>
            <a:p>
              <a:endParaRPr lang="en-US"/>
            </a:p>
          </p:txBody>
        </p:sp>
        <p:grpSp>
          <p:nvGrpSpPr>
            <p:cNvPr id="60" name="Group 60"/>
            <p:cNvGrpSpPr/>
            <p:nvPr/>
          </p:nvGrpSpPr>
          <p:grpSpPr>
            <a:xfrm>
              <a:off x="9334500" y="2190750"/>
              <a:ext cx="2286000" cy="1714500"/>
              <a:chOff x="9334500" y="2190750"/>
              <a:chExt cx="2286000" cy="1714500"/>
            </a:xfrm>
          </p:grpSpPr>
          <p:sp>
            <p:nvSpPr>
              <p:cNvPr id="48" name="Rectangle 48"/>
              <p:cNvSpPr/>
              <p:nvPr/>
            </p:nvSpPr>
            <p:spPr>
              <a:xfrm>
                <a:off x="9334500" y="2190750"/>
                <a:ext cx="2286000" cy="1714500"/>
              </a:xfrm>
              <a:prstGeom prst="roundRect">
                <a:avLst>
                  <a:gd name="adj" fmla="val 5556"/>
                </a:avLst>
              </a:prstGeom>
              <a:solidFill>
                <a:srgbClr val="FFFFFF"/>
              </a:solidFill>
              <a:ln w="19050">
                <a:solidFill>
                  <a:srgbClr val="DA281C"/>
                </a:solidFill>
                <a:prstDash val="lgDash"/>
              </a:ln>
            </p:spPr>
            <p:txBody>
              <a:bodyPr/>
              <a:lstStyle/>
              <a:p>
                <a:endParaRPr lang="en-US"/>
              </a:p>
            </p:txBody>
          </p:sp>
          <p:sp>
            <p:nvSpPr>
              <p:cNvPr id="49" name="Rectangle 49"/>
              <p:cNvSpPr/>
              <p:nvPr/>
            </p:nvSpPr>
            <p:spPr>
              <a:xfrm>
                <a:off x="9334500" y="2190750"/>
                <a:ext cx="2286000" cy="381000"/>
              </a:xfrm>
              <a:prstGeom prst="roundRect">
                <a:avLst>
                  <a:gd name="adj" fmla="val 25000"/>
                </a:avLst>
              </a:prstGeom>
              <a:solidFill>
                <a:srgbClr val="DA281C"/>
              </a:solidFill>
              <a:ln>
                <a:noFill/>
              </a:ln>
            </p:spPr>
            <p:txBody>
              <a:bodyPr/>
              <a:lstStyle/>
              <a:p>
                <a:endParaRPr lang="en-US"/>
              </a:p>
            </p:txBody>
          </p:sp>
          <p:sp>
            <p:nvSpPr>
              <p:cNvPr id="50" name="Rectangle 50"/>
              <p:cNvSpPr/>
              <p:nvPr/>
            </p:nvSpPr>
            <p:spPr>
              <a:xfrm>
                <a:off x="9334500" y="2476500"/>
                <a:ext cx="2286000" cy="95250"/>
              </a:xfrm>
              <a:prstGeom prst="rect">
                <a:avLst/>
              </a:prstGeom>
              <a:solidFill>
                <a:srgbClr val="DA281C"/>
              </a:solidFill>
              <a:ln>
                <a:noFill/>
              </a:ln>
            </p:spPr>
            <p:txBody>
              <a:bodyPr/>
              <a:lstStyle/>
              <a:p>
                <a:endParaRPr lang="en-US"/>
              </a:p>
            </p:txBody>
          </p:sp>
          <p:sp>
            <p:nvSpPr>
              <p:cNvPr id="51" name="TextBox 51"/>
              <p:cNvSpPr txBox="1"/>
              <p:nvPr/>
            </p:nvSpPr>
            <p:spPr>
              <a:xfrm>
                <a:off x="10065335" y="2349341"/>
                <a:ext cx="824330"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STEP 04 · WIP</a:t>
                </a:r>
              </a:p>
            </p:txBody>
          </p:sp>
          <p:grpSp>
            <p:nvGrpSpPr>
              <p:cNvPr id="56" name="Group 56"/>
              <p:cNvGrpSpPr/>
              <p:nvPr/>
            </p:nvGrpSpPr>
            <p:grpSpPr>
              <a:xfrm>
                <a:off x="10306050" y="2819400"/>
                <a:ext cx="342900" cy="314325"/>
                <a:chOff x="10306050" y="2819400"/>
                <a:chExt cx="342900" cy="314325"/>
              </a:xfrm>
            </p:grpSpPr>
            <p:sp>
              <p:nvSpPr>
                <p:cNvPr id="52" name="Freeform 52"/>
                <p:cNvSpPr/>
                <p:nvPr/>
              </p:nvSpPr>
              <p:spPr>
                <a:xfrm>
                  <a:off x="10306050" y="2971800"/>
                  <a:ext cx="114300" cy="152400"/>
                </a:xfrm>
                <a:custGeom>
                  <a:avLst/>
                  <a:gdLst/>
                  <a:ahLst/>
                  <a:cxnLst/>
                  <a:rect l="l" t="t" r="r" b="b"/>
                  <a:pathLst>
                    <a:path w="114300" h="152400">
                      <a:moveTo>
                        <a:pt x="0" y="19050"/>
                      </a:moveTo>
                      <a:cubicBezTo>
                        <a:pt x="0" y="8529"/>
                        <a:pt x="8529" y="0"/>
                        <a:pt x="19050" y="0"/>
                      </a:cubicBezTo>
                      <a:lnTo>
                        <a:pt x="95250" y="0"/>
                      </a:lnTo>
                      <a:cubicBezTo>
                        <a:pt x="105771" y="0"/>
                        <a:pt x="114300" y="8529"/>
                        <a:pt x="114300" y="19050"/>
                      </a:cubicBezTo>
                      <a:lnTo>
                        <a:pt x="114300" y="133350"/>
                      </a:lnTo>
                      <a:cubicBezTo>
                        <a:pt x="114300" y="143871"/>
                        <a:pt x="105771" y="152400"/>
                        <a:pt x="95250" y="152400"/>
                      </a:cubicBezTo>
                      <a:lnTo>
                        <a:pt x="19050" y="152400"/>
                      </a:lnTo>
                      <a:cubicBezTo>
                        <a:pt x="8529" y="152400"/>
                        <a:pt x="0" y="143871"/>
                        <a:pt x="0" y="133350"/>
                      </a:cubicBezTo>
                      <a:lnTo>
                        <a:pt x="0" y="19050"/>
                      </a:lnTo>
                    </a:path>
                  </a:pathLst>
                </a:custGeom>
                <a:noFill/>
                <a:ln w="19050">
                  <a:solidFill>
                    <a:srgbClr val="DA281C"/>
                  </a:solidFill>
                </a:ln>
              </p:spPr>
              <p:txBody>
                <a:bodyPr/>
                <a:lstStyle/>
                <a:p>
                  <a:endParaRPr lang="en-US"/>
                </a:p>
              </p:txBody>
            </p:sp>
            <p:sp>
              <p:nvSpPr>
                <p:cNvPr id="53" name="Freeform 53"/>
                <p:cNvSpPr/>
                <p:nvPr/>
              </p:nvSpPr>
              <p:spPr>
                <a:xfrm>
                  <a:off x="10534650" y="2895600"/>
                  <a:ext cx="114300" cy="228600"/>
                </a:xfrm>
                <a:custGeom>
                  <a:avLst/>
                  <a:gdLst/>
                  <a:ahLst/>
                  <a:cxnLst/>
                  <a:rect l="l" t="t" r="r" b="b"/>
                  <a:pathLst>
                    <a:path w="114300" h="228600">
                      <a:moveTo>
                        <a:pt x="0" y="19050"/>
                      </a:moveTo>
                      <a:cubicBezTo>
                        <a:pt x="0" y="8529"/>
                        <a:pt x="8529" y="0"/>
                        <a:pt x="19050" y="0"/>
                      </a:cubicBezTo>
                      <a:lnTo>
                        <a:pt x="95250" y="0"/>
                      </a:lnTo>
                      <a:cubicBezTo>
                        <a:pt x="105771" y="0"/>
                        <a:pt x="114300" y="8529"/>
                        <a:pt x="114300" y="19050"/>
                      </a:cubicBezTo>
                      <a:lnTo>
                        <a:pt x="114300" y="209550"/>
                      </a:lnTo>
                      <a:cubicBezTo>
                        <a:pt x="114300" y="220071"/>
                        <a:pt x="105771" y="228600"/>
                        <a:pt x="95250" y="228600"/>
                      </a:cubicBezTo>
                      <a:lnTo>
                        <a:pt x="19050" y="228600"/>
                      </a:lnTo>
                      <a:cubicBezTo>
                        <a:pt x="8529" y="228600"/>
                        <a:pt x="0" y="220071"/>
                        <a:pt x="0" y="209550"/>
                      </a:cubicBezTo>
                      <a:lnTo>
                        <a:pt x="0" y="19050"/>
                      </a:lnTo>
                    </a:path>
                  </a:pathLst>
                </a:custGeom>
                <a:noFill/>
                <a:ln w="19050">
                  <a:solidFill>
                    <a:srgbClr val="DA281C"/>
                  </a:solidFill>
                </a:ln>
              </p:spPr>
              <p:txBody>
                <a:bodyPr/>
                <a:lstStyle/>
                <a:p>
                  <a:endParaRPr lang="en-US"/>
                </a:p>
              </p:txBody>
            </p:sp>
            <p:sp>
              <p:nvSpPr>
                <p:cNvPr id="54" name="Freeform 54"/>
                <p:cNvSpPr/>
                <p:nvPr/>
              </p:nvSpPr>
              <p:spPr>
                <a:xfrm>
                  <a:off x="10420350" y="2819400"/>
                  <a:ext cx="114300" cy="304800"/>
                </a:xfrm>
                <a:custGeom>
                  <a:avLst/>
                  <a:gdLst/>
                  <a:ahLst/>
                  <a:cxnLst/>
                  <a:rect l="l" t="t" r="r" b="b"/>
                  <a:pathLst>
                    <a:path w="114300" h="304800">
                      <a:moveTo>
                        <a:pt x="0" y="19050"/>
                      </a:moveTo>
                      <a:cubicBezTo>
                        <a:pt x="0" y="8529"/>
                        <a:pt x="8529" y="0"/>
                        <a:pt x="19050" y="0"/>
                      </a:cubicBezTo>
                      <a:lnTo>
                        <a:pt x="95250" y="0"/>
                      </a:lnTo>
                      <a:cubicBezTo>
                        <a:pt x="105771" y="0"/>
                        <a:pt x="114300" y="8529"/>
                        <a:pt x="114300" y="19050"/>
                      </a:cubicBezTo>
                      <a:lnTo>
                        <a:pt x="114300" y="285750"/>
                      </a:lnTo>
                      <a:cubicBezTo>
                        <a:pt x="114300" y="296271"/>
                        <a:pt x="105771" y="304800"/>
                        <a:pt x="95250" y="304800"/>
                      </a:cubicBezTo>
                      <a:lnTo>
                        <a:pt x="19050" y="304800"/>
                      </a:lnTo>
                      <a:cubicBezTo>
                        <a:pt x="8529" y="304800"/>
                        <a:pt x="0" y="296271"/>
                        <a:pt x="0" y="285750"/>
                      </a:cubicBezTo>
                      <a:lnTo>
                        <a:pt x="0" y="19050"/>
                      </a:lnTo>
                    </a:path>
                  </a:pathLst>
                </a:custGeom>
                <a:noFill/>
                <a:ln w="19050">
                  <a:solidFill>
                    <a:srgbClr val="DA281C"/>
                  </a:solidFill>
                </a:ln>
              </p:spPr>
              <p:txBody>
                <a:bodyPr/>
                <a:lstStyle/>
                <a:p>
                  <a:endParaRPr lang="en-US"/>
                </a:p>
              </p:txBody>
            </p:sp>
            <p:sp>
              <p:nvSpPr>
                <p:cNvPr id="55" name="Freeform 55"/>
                <p:cNvSpPr/>
                <p:nvPr/>
              </p:nvSpPr>
              <p:spPr>
                <a:xfrm>
                  <a:off x="10325100" y="3124200"/>
                  <a:ext cx="266700" cy="9525"/>
                </a:xfrm>
                <a:custGeom>
                  <a:avLst/>
                  <a:gdLst/>
                  <a:ahLst/>
                  <a:cxnLst/>
                  <a:rect l="l" t="t" r="r" b="b"/>
                  <a:pathLst>
                    <a:path w="266700" h="9525">
                      <a:moveTo>
                        <a:pt x="0" y="0"/>
                      </a:moveTo>
                      <a:lnTo>
                        <a:pt x="266700" y="0"/>
                      </a:lnTo>
                    </a:path>
                  </a:pathLst>
                </a:custGeom>
                <a:noFill/>
                <a:ln w="19050">
                  <a:solidFill>
                    <a:srgbClr val="DA281C"/>
                  </a:solidFill>
                </a:ln>
              </p:spPr>
              <p:txBody>
                <a:bodyPr/>
                <a:lstStyle/>
                <a:p>
                  <a:endParaRPr lang="en-US"/>
                </a:p>
              </p:txBody>
            </p:sp>
          </p:grpSp>
          <p:sp>
            <p:nvSpPr>
              <p:cNvPr id="57" name="TextBox 57"/>
              <p:cNvSpPr txBox="1"/>
              <p:nvPr/>
            </p:nvSpPr>
            <p:spPr>
              <a:xfrm>
                <a:off x="9892544" y="3334702"/>
                <a:ext cx="1169913" cy="213360"/>
              </a:xfrm>
              <a:prstGeom prst="rect">
                <a:avLst/>
              </a:prstGeom>
              <a:noFill/>
              <a:ln>
                <a:noFill/>
              </a:ln>
            </p:spPr>
            <p:txBody>
              <a:bodyPr wrap="none" lIns="0" tIns="0" rIns="0" bIns="0" anchor="t" anchorCtr="0">
                <a:spAutoFit/>
              </a:bodyPr>
              <a:lstStyle/>
              <a:p>
                <a:pPr algn="ctr"/>
                <a:r>
                  <a:rPr lang="zh-CN" sz="1050" b="1" dirty="0">
                    <a:solidFill>
                      <a:srgbClr val="DA281C"/>
                    </a:solidFill>
                    <a:latin typeface="Consolas"/>
                    <a:ea typeface="Microsoft YaHei"/>
                    <a:cs typeface="Consolas"/>
                  </a:rPr>
                  <a:t>imf-ra-charts</a:t>
                </a:r>
              </a:p>
            </p:txBody>
          </p:sp>
          <p:sp>
            <p:nvSpPr>
              <p:cNvPr id="58" name="TextBox 58"/>
              <p:cNvSpPr txBox="1"/>
              <p:nvPr/>
            </p:nvSpPr>
            <p:spPr>
              <a:xfrm>
                <a:off x="9956721" y="3560445"/>
                <a:ext cx="1041559"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Chart handoff —</a:t>
                </a:r>
              </a:p>
            </p:txBody>
          </p:sp>
          <p:sp>
            <p:nvSpPr>
              <p:cNvPr id="59" name="TextBox 59"/>
              <p:cNvSpPr txBox="1"/>
              <p:nvPr/>
            </p:nvSpPr>
            <p:spPr>
              <a:xfrm>
                <a:off x="9759553" y="3712845"/>
                <a:ext cx="1435894" cy="182880"/>
              </a:xfrm>
              <a:prstGeom prst="rect">
                <a:avLst/>
              </a:prstGeom>
              <a:noFill/>
              <a:ln>
                <a:noFill/>
              </a:ln>
            </p:spPr>
            <p:txBody>
              <a:bodyPr wrap="none" lIns="0" tIns="0" rIns="0" bIns="0" anchor="t" anchorCtr="0">
                <a:spAutoFit/>
              </a:bodyPr>
              <a:lstStyle/>
              <a:p>
                <a:pPr algn="ctr"/>
                <a:r>
                  <a:rPr lang="zh-CN" sz="900" dirty="0">
                    <a:solidFill>
                      <a:srgbClr val="5B6470"/>
                    </a:solidFill>
                    <a:latin typeface="Arial"/>
                    <a:ea typeface="Microsoft YaHei"/>
                    <a:cs typeface="Arial"/>
                  </a:rPr>
                  <a:t>scaffolded, not wired</a:t>
                </a:r>
              </a:p>
            </p:txBody>
          </p:sp>
        </p:grpSp>
      </p:grpSp>
      <p:grpSp>
        <p:nvGrpSpPr>
          <p:cNvPr id="77" name="Group 77"/>
          <p:cNvGrpSpPr/>
          <p:nvPr/>
        </p:nvGrpSpPr>
        <p:grpSpPr>
          <a:xfrm>
            <a:off x="571500" y="4429125"/>
            <a:ext cx="11049000" cy="1714500"/>
            <a:chOff x="571500" y="4429125"/>
            <a:chExt cx="11049000" cy="1714500"/>
          </a:xfrm>
        </p:grpSpPr>
        <p:sp>
          <p:nvSpPr>
            <p:cNvPr id="62" name="Rectangle 62"/>
            <p:cNvSpPr/>
            <p:nvPr/>
          </p:nvSpPr>
          <p:spPr>
            <a:xfrm>
              <a:off x="571500" y="4429125"/>
              <a:ext cx="11049000" cy="1714500"/>
            </a:xfrm>
            <a:prstGeom prst="roundRect">
              <a:avLst>
                <a:gd name="adj" fmla="val 5556"/>
              </a:avLst>
            </a:prstGeom>
            <a:solidFill>
              <a:srgbClr val="EAF6FD"/>
            </a:solidFill>
            <a:ln>
              <a:noFill/>
            </a:ln>
          </p:spPr>
          <p:txBody>
            <a:bodyPr/>
            <a:lstStyle/>
            <a:p>
              <a:endParaRPr lang="en-US"/>
            </a:p>
          </p:txBody>
        </p:sp>
        <p:sp>
          <p:nvSpPr>
            <p:cNvPr id="63" name="TextBox 63"/>
            <p:cNvSpPr txBox="1"/>
            <p:nvPr/>
          </p:nvSpPr>
          <p:spPr>
            <a:xfrm>
              <a:off x="808672" y="4673441"/>
              <a:ext cx="1007778"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DESIGN PRINCIPLE</a:t>
              </a:r>
            </a:p>
          </p:txBody>
        </p:sp>
        <p:sp>
          <p:nvSpPr>
            <p:cNvPr id="64" name="TextBox 64"/>
            <p:cNvSpPr txBox="1"/>
            <p:nvPr/>
          </p:nvSpPr>
          <p:spPr>
            <a:xfrm>
              <a:off x="798195" y="4908232"/>
              <a:ext cx="8657034" cy="335280"/>
            </a:xfrm>
            <a:prstGeom prst="rect">
              <a:avLst/>
            </a:prstGeom>
            <a:noFill/>
            <a:ln>
              <a:noFill/>
            </a:ln>
          </p:spPr>
          <p:txBody>
            <a:bodyPr wrap="none" lIns="0" tIns="0" rIns="0" bIns="0" anchor="t" anchorCtr="0">
              <a:spAutoFit/>
            </a:bodyPr>
            <a:lstStyle/>
            <a:p>
              <a:pPr algn="l"/>
              <a:r>
                <a:rPr lang="zh-CN" sz="1650" i="1" dirty="0">
                  <a:solidFill>
                    <a:srgbClr val="004C97"/>
                  </a:solidFill>
                  <a:latin typeface="Arial Black"/>
                  <a:ea typeface="Microsoft YaHei"/>
                  <a:cs typeface="Arial Black"/>
                </a:rPr>
                <a:t>Siblings, not nested. DRY through cross-references, not orchestration.</a:t>
              </a:r>
            </a:p>
          </p:txBody>
        </p:sp>
        <p:grpSp>
          <p:nvGrpSpPr>
            <p:cNvPr id="68" name="Group 68"/>
            <p:cNvGrpSpPr/>
            <p:nvPr/>
          </p:nvGrpSpPr>
          <p:grpSpPr>
            <a:xfrm>
              <a:off x="819150" y="5410200"/>
              <a:ext cx="2858620" cy="533400"/>
              <a:chOff x="819150" y="5410200"/>
              <a:chExt cx="2858620" cy="533400"/>
            </a:xfrm>
          </p:grpSpPr>
          <p:sp>
            <p:nvSpPr>
              <p:cNvPr id="65" name="Rectangle 65"/>
              <p:cNvSpPr/>
              <p:nvPr/>
            </p:nvSpPr>
            <p:spPr>
              <a:xfrm>
                <a:off x="819150" y="5410200"/>
                <a:ext cx="38100" cy="533400"/>
              </a:xfrm>
              <a:prstGeom prst="rect">
                <a:avLst/>
              </a:prstGeom>
              <a:solidFill>
                <a:srgbClr val="707372"/>
              </a:solidFill>
              <a:ln>
                <a:noFill/>
              </a:ln>
            </p:spPr>
            <p:txBody>
              <a:bodyPr/>
              <a:lstStyle/>
              <a:p>
                <a:endParaRPr lang="en-US"/>
              </a:p>
            </p:txBody>
          </p:sp>
          <p:sp>
            <p:nvSpPr>
              <p:cNvPr id="66" name="TextBox 66"/>
              <p:cNvSpPr txBox="1"/>
              <p:nvPr/>
            </p:nvSpPr>
            <p:spPr>
              <a:xfrm>
                <a:off x="996315" y="5487352"/>
                <a:ext cx="2063575"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One folder + one SKILL.md</a:t>
                </a:r>
              </a:p>
            </p:txBody>
          </p:sp>
          <p:sp>
            <p:nvSpPr>
              <p:cNvPr id="67" name="TextBox 67"/>
              <p:cNvSpPr txBox="1"/>
              <p:nvPr/>
            </p:nvSpPr>
            <p:spPr>
              <a:xfrm>
                <a:off x="997268" y="5704999"/>
                <a:ext cx="2680502"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Each skill stays small and inspectable.</a:t>
                </a:r>
              </a:p>
            </p:txBody>
          </p:sp>
        </p:grpSp>
        <p:grpSp>
          <p:nvGrpSpPr>
            <p:cNvPr id="72" name="Group 72"/>
            <p:cNvGrpSpPr/>
            <p:nvPr/>
          </p:nvGrpSpPr>
          <p:grpSpPr>
            <a:xfrm>
              <a:off x="4438650" y="5410200"/>
              <a:ext cx="2972539" cy="533400"/>
              <a:chOff x="4438650" y="5410200"/>
              <a:chExt cx="2972539" cy="533400"/>
            </a:xfrm>
          </p:grpSpPr>
          <p:sp>
            <p:nvSpPr>
              <p:cNvPr id="69" name="Rectangle 69"/>
              <p:cNvSpPr/>
              <p:nvPr/>
            </p:nvSpPr>
            <p:spPr>
              <a:xfrm>
                <a:off x="4438650" y="5410200"/>
                <a:ext cx="38100" cy="533400"/>
              </a:xfrm>
              <a:prstGeom prst="rect">
                <a:avLst/>
              </a:prstGeom>
              <a:solidFill>
                <a:srgbClr val="707372"/>
              </a:solidFill>
              <a:ln>
                <a:noFill/>
              </a:ln>
            </p:spPr>
            <p:txBody>
              <a:bodyPr/>
              <a:lstStyle/>
              <a:p>
                <a:endParaRPr lang="en-US"/>
              </a:p>
            </p:txBody>
          </p:sp>
          <p:sp>
            <p:nvSpPr>
              <p:cNvPr id="70" name="TextBox 70"/>
              <p:cNvSpPr txBox="1"/>
              <p:nvPr/>
            </p:nvSpPr>
            <p:spPr>
              <a:xfrm>
                <a:off x="4615815" y="5487352"/>
                <a:ext cx="2417819"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Workers reference each other</a:t>
                </a:r>
              </a:p>
            </p:txBody>
          </p:sp>
          <p:sp>
            <p:nvSpPr>
              <p:cNvPr id="71" name="TextBox 71"/>
              <p:cNvSpPr txBox="1"/>
              <p:nvPr/>
            </p:nvSpPr>
            <p:spPr>
              <a:xfrm>
                <a:off x="4616768" y="5704999"/>
                <a:ext cx="279442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No central orchestrator. No glue layer.</a:t>
                </a:r>
              </a:p>
            </p:txBody>
          </p:sp>
        </p:grpSp>
        <p:grpSp>
          <p:nvGrpSpPr>
            <p:cNvPr id="76" name="Group 76"/>
            <p:cNvGrpSpPr/>
            <p:nvPr/>
          </p:nvGrpSpPr>
          <p:grpSpPr>
            <a:xfrm>
              <a:off x="8058150" y="5410200"/>
              <a:ext cx="2595182" cy="533400"/>
              <a:chOff x="8058150" y="5410200"/>
              <a:chExt cx="2595182" cy="533400"/>
            </a:xfrm>
          </p:grpSpPr>
          <p:sp>
            <p:nvSpPr>
              <p:cNvPr id="73" name="Rectangle 73"/>
              <p:cNvSpPr/>
              <p:nvPr/>
            </p:nvSpPr>
            <p:spPr>
              <a:xfrm>
                <a:off x="8058150" y="5410200"/>
                <a:ext cx="38100" cy="533400"/>
              </a:xfrm>
              <a:prstGeom prst="rect">
                <a:avLst/>
              </a:prstGeom>
              <a:solidFill>
                <a:srgbClr val="707372"/>
              </a:solidFill>
              <a:ln>
                <a:noFill/>
              </a:ln>
            </p:spPr>
            <p:txBody>
              <a:bodyPr/>
              <a:lstStyle/>
              <a:p>
                <a:endParaRPr lang="en-US"/>
              </a:p>
            </p:txBody>
          </p:sp>
          <p:sp>
            <p:nvSpPr>
              <p:cNvPr id="74" name="TextBox 74"/>
              <p:cNvSpPr txBox="1"/>
              <p:nvPr/>
            </p:nvSpPr>
            <p:spPr>
              <a:xfrm>
                <a:off x="8235315" y="5487352"/>
                <a:ext cx="2119932"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Umbrella loads conventions</a:t>
                </a:r>
              </a:p>
            </p:txBody>
          </p:sp>
          <p:sp>
            <p:nvSpPr>
              <p:cNvPr id="75" name="TextBox 75"/>
              <p:cNvSpPr txBox="1"/>
              <p:nvPr/>
            </p:nvSpPr>
            <p:spPr>
              <a:xfrm>
                <a:off x="8236268" y="5704999"/>
                <a:ext cx="2417064"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No pillar-specific logic at the top.</a:t>
                </a:r>
              </a:p>
            </p:txBody>
          </p:sp>
        </p:grpSp>
      </p:grpSp>
      <p:grpSp>
        <p:nvGrpSpPr>
          <p:cNvPr id="80" name="Group 80"/>
          <p:cNvGrpSpPr/>
          <p:nvPr/>
        </p:nvGrpSpPr>
        <p:grpSpPr>
          <a:xfrm>
            <a:off x="561022" y="6530816"/>
            <a:ext cx="11069956" cy="167640"/>
            <a:chOff x="561022" y="6530816"/>
            <a:chExt cx="11069956" cy="167640"/>
          </a:xfrm>
        </p:grpSpPr>
        <p:sp>
          <p:nvSpPr>
            <p:cNvPr id="78" name="TextBox 78"/>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79" name="TextBox 79"/>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05 / 10</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par>
                          <p:cTn id="8" fill="hold">
                            <p:stCondLst>
                              <p:cond delay="900"/>
                            </p:stCondLst>
                            <p:childTnLst>
                              <p:par>
                                <p:cTn id="9" presetID="19" presetClass="entr" presetSubtype="0" fill="hold" nodeType="after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wheel(1)">
                                      <p:cBhvr>
                                        <p:cTn id="11"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P spid="7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5268811" cy="954405"/>
            <a:chOff x="541020" y="569595"/>
            <a:chExt cx="5268811" cy="954405"/>
          </a:xfrm>
        </p:grpSpPr>
        <p:sp>
          <p:nvSpPr>
            <p:cNvPr id="3" name="TextBox 3"/>
            <p:cNvSpPr txBox="1"/>
            <p:nvPr/>
          </p:nvSpPr>
          <p:spPr>
            <a:xfrm>
              <a:off x="560070" y="569595"/>
              <a:ext cx="1409933"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05 · DESIGN PRINCIPLE</a:t>
              </a:r>
            </a:p>
          </p:txBody>
        </p:sp>
        <p:sp>
          <p:nvSpPr>
            <p:cNvPr id="4" name="TextBox 4"/>
            <p:cNvSpPr txBox="1"/>
            <p:nvPr/>
          </p:nvSpPr>
          <p:spPr>
            <a:xfrm>
              <a:off x="541020" y="836295"/>
              <a:ext cx="5268811"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CSVs are the source of truth</a:t>
              </a:r>
            </a:p>
          </p:txBody>
        </p:sp>
        <p:sp>
          <p:nvSpPr>
            <p:cNvPr id="5" name="TextBox 5"/>
            <p:cNvSpPr txBox="1"/>
            <p:nvPr/>
          </p:nvSpPr>
          <p:spPr>
            <a:xfrm>
              <a:off x="556260" y="1280160"/>
              <a:ext cx="4245483"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The agent answers from files, not from memory.</a:t>
              </a:r>
            </a:p>
          </p:txBody>
        </p:sp>
      </p:grpSp>
      <p:grpSp>
        <p:nvGrpSpPr>
          <p:cNvPr id="12" name="Group 12"/>
          <p:cNvGrpSpPr/>
          <p:nvPr/>
        </p:nvGrpSpPr>
        <p:grpSpPr>
          <a:xfrm>
            <a:off x="10540964" y="619125"/>
            <a:ext cx="1090014" cy="285750"/>
            <a:chOff x="10540964" y="619125"/>
            <a:chExt cx="1090014" cy="285750"/>
          </a:xfrm>
        </p:grpSpPr>
        <p:grpSp>
          <p:nvGrpSpPr>
            <p:cNvPr id="10" name="Group 10"/>
            <p:cNvGrpSpPr/>
            <p:nvPr/>
          </p:nvGrpSpPr>
          <p:grpSpPr>
            <a:xfrm>
              <a:off x="10937875" y="619125"/>
              <a:ext cx="222250" cy="285750"/>
              <a:chOff x="10937875" y="619125"/>
              <a:chExt cx="222250" cy="285750"/>
            </a:xfrm>
          </p:grpSpPr>
          <p:sp>
            <p:nvSpPr>
              <p:cNvPr id="7" name="Freeform 7"/>
              <p:cNvSpPr/>
              <p:nvPr/>
            </p:nvSpPr>
            <p:spPr>
              <a:xfrm>
                <a:off x="10937875" y="746125"/>
                <a:ext cx="222250" cy="158750"/>
              </a:xfrm>
              <a:custGeom>
                <a:avLst/>
                <a:gdLst/>
                <a:ahLst/>
                <a:cxnLst/>
                <a:rect l="l" t="t" r="r" b="b"/>
                <a:pathLst>
                  <a:path w="222250" h="158750">
                    <a:moveTo>
                      <a:pt x="0" y="31750"/>
                    </a:moveTo>
                    <a:cubicBezTo>
                      <a:pt x="0" y="14215"/>
                      <a:pt x="14215" y="0"/>
                      <a:pt x="31750" y="0"/>
                    </a:cubicBezTo>
                    <a:lnTo>
                      <a:pt x="190500" y="0"/>
                    </a:lnTo>
                    <a:cubicBezTo>
                      <a:pt x="208035" y="0"/>
                      <a:pt x="222250" y="14215"/>
                      <a:pt x="222250" y="31750"/>
                    </a:cubicBezTo>
                    <a:lnTo>
                      <a:pt x="222250" y="127000"/>
                    </a:lnTo>
                    <a:cubicBezTo>
                      <a:pt x="222250" y="144535"/>
                      <a:pt x="208035" y="158750"/>
                      <a:pt x="190500" y="158750"/>
                    </a:cubicBezTo>
                    <a:lnTo>
                      <a:pt x="31750" y="158750"/>
                    </a:lnTo>
                    <a:cubicBezTo>
                      <a:pt x="14215" y="158750"/>
                      <a:pt x="0" y="144535"/>
                      <a:pt x="0" y="127000"/>
                    </a:cubicBezTo>
                    <a:lnTo>
                      <a:pt x="0" y="31750"/>
                    </a:lnTo>
                  </a:path>
                </a:pathLst>
              </a:custGeom>
              <a:noFill/>
              <a:ln w="19050">
                <a:solidFill>
                  <a:srgbClr val="707372"/>
                </a:solidFill>
              </a:ln>
            </p:spPr>
            <p:txBody>
              <a:bodyPr/>
              <a:lstStyle/>
              <a:p>
                <a:endParaRPr lang="en-US"/>
              </a:p>
            </p:txBody>
          </p:sp>
          <p:sp>
            <p:nvSpPr>
              <p:cNvPr id="8" name="Freeform 8"/>
              <p:cNvSpPr/>
              <p:nvPr/>
            </p:nvSpPr>
            <p:spPr>
              <a:xfrm>
                <a:off x="11033125" y="809625"/>
                <a:ext cx="31750" cy="31750"/>
              </a:xfrm>
              <a:custGeom>
                <a:avLst/>
                <a:gdLst/>
                <a:ahLst/>
                <a:cxnLst/>
                <a:rect l="l" t="t" r="r" b="b"/>
                <a:pathLst>
                  <a:path w="31750" h="31750">
                    <a:moveTo>
                      <a:pt x="0" y="15875"/>
                    </a:moveTo>
                    <a:cubicBezTo>
                      <a:pt x="0" y="24643"/>
                      <a:pt x="7107" y="31750"/>
                      <a:pt x="15875" y="31750"/>
                    </a:cubicBezTo>
                    <a:cubicBezTo>
                      <a:pt x="24643" y="31750"/>
                      <a:pt x="31750" y="24643"/>
                      <a:pt x="31750" y="15875"/>
                    </a:cubicBezTo>
                    <a:cubicBezTo>
                      <a:pt x="31750" y="7107"/>
                      <a:pt x="24643" y="0"/>
                      <a:pt x="15875" y="0"/>
                    </a:cubicBezTo>
                    <a:cubicBezTo>
                      <a:pt x="7107" y="0"/>
                      <a:pt x="0" y="7107"/>
                      <a:pt x="0" y="15875"/>
                    </a:cubicBezTo>
                  </a:path>
                </a:pathLst>
              </a:custGeom>
              <a:noFill/>
              <a:ln w="19050">
                <a:solidFill>
                  <a:srgbClr val="707372"/>
                </a:solidFill>
              </a:ln>
            </p:spPr>
            <p:txBody>
              <a:bodyPr/>
              <a:lstStyle/>
              <a:p>
                <a:endParaRPr lang="en-US"/>
              </a:p>
            </p:txBody>
          </p:sp>
          <p:sp>
            <p:nvSpPr>
              <p:cNvPr id="9" name="Freeform 9"/>
              <p:cNvSpPr/>
              <p:nvPr/>
            </p:nvSpPr>
            <p:spPr>
              <a:xfrm>
                <a:off x="10985500" y="619125"/>
                <a:ext cx="127000" cy="127000"/>
              </a:xfrm>
              <a:custGeom>
                <a:avLst/>
                <a:gdLst/>
                <a:ahLst/>
                <a:cxnLst/>
                <a:rect l="l" t="t" r="r" b="b"/>
                <a:pathLst>
                  <a:path w="127000" h="127000">
                    <a:moveTo>
                      <a:pt x="0" y="127000"/>
                    </a:moveTo>
                    <a:lnTo>
                      <a:pt x="0" y="63500"/>
                    </a:lnTo>
                    <a:cubicBezTo>
                      <a:pt x="0" y="28430"/>
                      <a:pt x="28430" y="0"/>
                      <a:pt x="63500" y="0"/>
                    </a:cubicBezTo>
                    <a:cubicBezTo>
                      <a:pt x="98570" y="0"/>
                      <a:pt x="127000" y="28430"/>
                      <a:pt x="127000" y="63500"/>
                    </a:cubicBezTo>
                    <a:lnTo>
                      <a:pt x="127000" y="127000"/>
                    </a:lnTo>
                  </a:path>
                </a:pathLst>
              </a:custGeom>
              <a:noFill/>
              <a:ln w="19050">
                <a:solidFill>
                  <a:srgbClr val="707372"/>
                </a:solidFill>
              </a:ln>
            </p:spPr>
            <p:txBody>
              <a:bodyPr/>
              <a:lstStyle/>
              <a:p>
                <a:endParaRPr lang="en-US"/>
              </a:p>
            </p:txBody>
          </p:sp>
        </p:grpSp>
        <p:sp>
          <p:nvSpPr>
            <p:cNvPr id="11" name="TextBox 11"/>
            <p:cNvSpPr txBox="1"/>
            <p:nvPr/>
          </p:nvSpPr>
          <p:spPr>
            <a:xfrm>
              <a:off x="10540964" y="730091"/>
              <a:ext cx="1090014" cy="167640"/>
            </a:xfrm>
            <a:prstGeom prst="rect">
              <a:avLst/>
            </a:prstGeom>
            <a:noFill/>
            <a:ln>
              <a:noFill/>
            </a:ln>
          </p:spPr>
          <p:txBody>
            <a:bodyPr wrap="none" lIns="0" tIns="0" rIns="0" bIns="0" anchor="t" anchorCtr="0">
              <a:spAutoFit/>
            </a:bodyPr>
            <a:lstStyle/>
            <a:p>
              <a:pPr algn="r"/>
              <a:r>
                <a:rPr lang="zh-CN" sz="825" b="1" dirty="0">
                  <a:solidFill>
                    <a:srgbClr val="707372"/>
                  </a:solidFill>
                  <a:latin typeface="Arial"/>
                  <a:ea typeface="Microsoft YaHei"/>
                  <a:cs typeface="Arial"/>
                </a:rPr>
                <a:t>NO HALLUCINATION</a:t>
              </a:r>
            </a:p>
          </p:txBody>
        </p:sp>
      </p:grpSp>
      <p:grpSp>
        <p:nvGrpSpPr>
          <p:cNvPr id="22" name="Group 22"/>
          <p:cNvGrpSpPr/>
          <p:nvPr/>
        </p:nvGrpSpPr>
        <p:grpSpPr>
          <a:xfrm>
            <a:off x="571500" y="2042160"/>
            <a:ext cx="5158860" cy="1005840"/>
            <a:chOff x="571500" y="2042160"/>
            <a:chExt cx="5158860" cy="1005840"/>
          </a:xfrm>
        </p:grpSpPr>
        <p:sp>
          <p:nvSpPr>
            <p:cNvPr id="13" name="Line 13"/>
            <p:cNvSpPr/>
            <p:nvPr/>
          </p:nvSpPr>
          <p:spPr>
            <a:xfrm>
              <a:off x="571500" y="2095500"/>
              <a:ext cx="9525" cy="952500"/>
            </a:xfrm>
            <a:custGeom>
              <a:avLst/>
              <a:gdLst/>
              <a:ahLst/>
              <a:cxnLst/>
              <a:rect l="l" t="t" r="r" b="b"/>
              <a:pathLst>
                <a:path w="9525" h="952500">
                  <a:moveTo>
                    <a:pt x="0" y="0"/>
                  </a:moveTo>
                  <a:lnTo>
                    <a:pt x="0" y="952500"/>
                  </a:lnTo>
                </a:path>
              </a:pathLst>
            </a:custGeom>
            <a:noFill/>
            <a:ln w="28575">
              <a:solidFill>
                <a:srgbClr val="707372"/>
              </a:solidFill>
            </a:ln>
          </p:spPr>
          <p:txBody>
            <a:bodyPr/>
            <a:lstStyle/>
            <a:p>
              <a:endParaRPr lang="en-US"/>
            </a:p>
          </p:txBody>
        </p:sp>
        <p:grpSp>
          <p:nvGrpSpPr>
            <p:cNvPr id="17" name="Group 17"/>
            <p:cNvGrpSpPr/>
            <p:nvPr/>
          </p:nvGrpSpPr>
          <p:grpSpPr>
            <a:xfrm>
              <a:off x="885825" y="2387600"/>
              <a:ext cx="400050" cy="177800"/>
              <a:chOff x="885825" y="2387600"/>
              <a:chExt cx="400050" cy="177800"/>
            </a:xfrm>
          </p:grpSpPr>
          <p:sp>
            <p:nvSpPr>
              <p:cNvPr id="14" name="Freeform 14"/>
              <p:cNvSpPr/>
              <p:nvPr/>
            </p:nvSpPr>
            <p:spPr>
              <a:xfrm>
                <a:off x="1041400" y="2387600"/>
                <a:ext cx="88900" cy="177800"/>
              </a:xfrm>
              <a:custGeom>
                <a:avLst/>
                <a:gdLst/>
                <a:ahLst/>
                <a:cxnLst/>
                <a:rect l="l" t="t" r="r" b="b"/>
                <a:pathLst>
                  <a:path w="88900" h="177800">
                    <a:moveTo>
                      <a:pt x="0" y="155575"/>
                    </a:moveTo>
                    <a:cubicBezTo>
                      <a:pt x="0" y="167850"/>
                      <a:pt x="9950" y="177800"/>
                      <a:pt x="22225" y="177800"/>
                    </a:cubicBezTo>
                    <a:lnTo>
                      <a:pt x="66675" y="177800"/>
                    </a:lnTo>
                    <a:cubicBezTo>
                      <a:pt x="78950" y="177800"/>
                      <a:pt x="88900" y="167850"/>
                      <a:pt x="88900" y="155575"/>
                    </a:cubicBezTo>
                    <a:lnTo>
                      <a:pt x="88900" y="111125"/>
                    </a:lnTo>
                    <a:cubicBezTo>
                      <a:pt x="88900" y="98850"/>
                      <a:pt x="78950" y="88900"/>
                      <a:pt x="66675" y="88900"/>
                    </a:cubicBezTo>
                    <a:lnTo>
                      <a:pt x="22225" y="88900"/>
                    </a:lnTo>
                    <a:cubicBezTo>
                      <a:pt x="9950" y="88900"/>
                      <a:pt x="0" y="78950"/>
                      <a:pt x="0" y="66675"/>
                    </a:cubicBezTo>
                    <a:lnTo>
                      <a:pt x="0" y="22225"/>
                    </a:lnTo>
                    <a:cubicBezTo>
                      <a:pt x="0" y="9950"/>
                      <a:pt x="9950" y="0"/>
                      <a:pt x="22225" y="0"/>
                    </a:cubicBezTo>
                    <a:lnTo>
                      <a:pt x="66675" y="0"/>
                    </a:lnTo>
                    <a:cubicBezTo>
                      <a:pt x="78950" y="0"/>
                      <a:pt x="88900" y="9950"/>
                      <a:pt x="88900" y="22225"/>
                    </a:cubicBezTo>
                  </a:path>
                </a:pathLst>
              </a:custGeom>
              <a:noFill/>
              <a:ln w="19050">
                <a:solidFill>
                  <a:srgbClr val="004C97"/>
                </a:solidFill>
              </a:ln>
            </p:spPr>
            <p:txBody>
              <a:bodyPr/>
              <a:lstStyle/>
              <a:p>
                <a:endParaRPr lang="en-US"/>
              </a:p>
            </p:txBody>
          </p:sp>
          <p:sp>
            <p:nvSpPr>
              <p:cNvPr id="15" name="Freeform 15"/>
              <p:cNvSpPr/>
              <p:nvPr/>
            </p:nvSpPr>
            <p:spPr>
              <a:xfrm>
                <a:off x="1196975" y="2387600"/>
                <a:ext cx="88900" cy="177800"/>
              </a:xfrm>
              <a:custGeom>
                <a:avLst/>
                <a:gdLst/>
                <a:ahLst/>
                <a:cxnLst/>
                <a:rect l="l" t="t" r="r" b="b"/>
                <a:pathLst>
                  <a:path w="88900" h="177800">
                    <a:moveTo>
                      <a:pt x="0" y="0"/>
                    </a:moveTo>
                    <a:lnTo>
                      <a:pt x="44450" y="177800"/>
                    </a:lnTo>
                    <a:lnTo>
                      <a:pt x="88900" y="0"/>
                    </a:lnTo>
                  </a:path>
                </a:pathLst>
              </a:custGeom>
              <a:noFill/>
              <a:ln w="19050">
                <a:solidFill>
                  <a:srgbClr val="004C97"/>
                </a:solidFill>
              </a:ln>
            </p:spPr>
            <p:txBody>
              <a:bodyPr/>
              <a:lstStyle/>
              <a:p>
                <a:endParaRPr lang="en-US"/>
              </a:p>
            </p:txBody>
          </p:sp>
          <p:sp>
            <p:nvSpPr>
              <p:cNvPr id="16" name="Freeform 16"/>
              <p:cNvSpPr/>
              <p:nvPr/>
            </p:nvSpPr>
            <p:spPr>
              <a:xfrm>
                <a:off x="885825" y="2387600"/>
                <a:ext cx="88900" cy="177800"/>
              </a:xfrm>
              <a:custGeom>
                <a:avLst/>
                <a:gdLst/>
                <a:ahLst/>
                <a:cxnLst/>
                <a:rect l="l" t="t" r="r" b="b"/>
                <a:pathLst>
                  <a:path w="88900" h="177800">
                    <a:moveTo>
                      <a:pt x="88900" y="44450"/>
                    </a:moveTo>
                    <a:cubicBezTo>
                      <a:pt x="88900" y="19901"/>
                      <a:pt x="68999" y="0"/>
                      <a:pt x="44450" y="0"/>
                    </a:cubicBezTo>
                    <a:cubicBezTo>
                      <a:pt x="19901" y="0"/>
                      <a:pt x="0" y="19901"/>
                      <a:pt x="0" y="44450"/>
                    </a:cubicBezTo>
                    <a:lnTo>
                      <a:pt x="0" y="133350"/>
                    </a:lnTo>
                    <a:cubicBezTo>
                      <a:pt x="0" y="157899"/>
                      <a:pt x="19901" y="177800"/>
                      <a:pt x="44450" y="177800"/>
                    </a:cubicBezTo>
                    <a:cubicBezTo>
                      <a:pt x="68999" y="177800"/>
                      <a:pt x="88900" y="157899"/>
                      <a:pt x="88900" y="133350"/>
                    </a:cubicBezTo>
                  </a:path>
                </a:pathLst>
              </a:custGeom>
              <a:noFill/>
              <a:ln w="19050">
                <a:solidFill>
                  <a:srgbClr val="004C97"/>
                </a:solidFill>
              </a:ln>
            </p:spPr>
            <p:txBody>
              <a:bodyPr/>
              <a:lstStyle/>
              <a:p>
                <a:endParaRPr lang="en-US"/>
              </a:p>
            </p:txBody>
          </p:sp>
        </p:grpSp>
        <p:sp>
          <p:nvSpPr>
            <p:cNvPr id="18" name="TextBox 18"/>
            <p:cNvSpPr txBox="1"/>
            <p:nvPr/>
          </p:nvSpPr>
          <p:spPr>
            <a:xfrm>
              <a:off x="1470660" y="2042160"/>
              <a:ext cx="1169413" cy="853440"/>
            </a:xfrm>
            <a:prstGeom prst="rect">
              <a:avLst/>
            </a:prstGeom>
            <a:noFill/>
            <a:ln>
              <a:noFill/>
            </a:ln>
          </p:spPr>
          <p:txBody>
            <a:bodyPr wrap="none" lIns="0" tIns="0" rIns="0" bIns="0" anchor="t" anchorCtr="0">
              <a:spAutoFit/>
            </a:bodyPr>
            <a:lstStyle/>
            <a:p>
              <a:pPr algn="l"/>
              <a:r>
                <a:rPr lang="zh-CN" sz="4200" b="1" dirty="0">
                  <a:solidFill>
                    <a:srgbClr val="004C97"/>
                  </a:solidFill>
                  <a:latin typeface="Arial Black"/>
                  <a:ea typeface="Microsoft YaHei"/>
                  <a:cs typeface="Arial Black"/>
                </a:rPr>
                <a:t>669</a:t>
              </a:r>
            </a:p>
          </p:txBody>
        </p:sp>
        <p:sp>
          <p:nvSpPr>
            <p:cNvPr id="19" name="TextBox 19"/>
            <p:cNvSpPr txBox="1"/>
            <p:nvPr/>
          </p:nvSpPr>
          <p:spPr>
            <a:xfrm>
              <a:off x="3028950" y="2333625"/>
              <a:ext cx="1050226"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a:ea typeface="Microsoft YaHei"/>
                  <a:cs typeface="Arial"/>
                </a:rPr>
                <a:t>datasets</a:t>
              </a:r>
            </a:p>
          </p:txBody>
        </p:sp>
        <p:sp>
          <p:nvSpPr>
            <p:cNvPr id="20" name="TextBox 20"/>
            <p:cNvSpPr txBox="1"/>
            <p:nvPr/>
          </p:nvSpPr>
          <p:spPr>
            <a:xfrm>
              <a:off x="1511618" y="2695099"/>
              <a:ext cx="2039707" cy="198120"/>
            </a:xfrm>
            <a:prstGeom prst="rect">
              <a:avLst/>
            </a:prstGeom>
            <a:noFill/>
            <a:ln>
              <a:noFill/>
            </a:ln>
          </p:spPr>
          <p:txBody>
            <a:bodyPr wrap="none" lIns="0" tIns="0" rIns="0" bIns="0" anchor="t" anchorCtr="0">
              <a:spAutoFit/>
            </a:bodyPr>
            <a:lstStyle/>
            <a:p>
              <a:pPr algn="l"/>
              <a:r>
                <a:rPr lang="zh-CN" sz="975" dirty="0">
                  <a:solidFill>
                    <a:srgbClr val="009CDE"/>
                  </a:solidFill>
                  <a:latin typeface="Consolas"/>
                  <a:ea typeface="Microsoft YaHei"/>
                  <a:cs typeface="Consolas"/>
                </a:rPr>
                <a:t>idata_full_datasets_list.csv</a:t>
              </a:r>
            </a:p>
          </p:txBody>
        </p:sp>
        <p:sp>
          <p:nvSpPr>
            <p:cNvPr id="21" name="TextBox 21"/>
            <p:cNvSpPr txBox="1"/>
            <p:nvPr/>
          </p:nvSpPr>
          <p:spPr>
            <a:xfrm>
              <a:off x="3035618" y="2695099"/>
              <a:ext cx="2694742"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 consulted directly. Not summarized.</a:t>
              </a:r>
            </a:p>
          </p:txBody>
        </p:sp>
      </p:grpSp>
      <p:grpSp>
        <p:nvGrpSpPr>
          <p:cNvPr id="32" name="Group 32"/>
          <p:cNvGrpSpPr/>
          <p:nvPr/>
        </p:nvGrpSpPr>
        <p:grpSpPr>
          <a:xfrm>
            <a:off x="571500" y="3232785"/>
            <a:ext cx="5765959" cy="1005840"/>
            <a:chOff x="571500" y="3232785"/>
            <a:chExt cx="5765959" cy="1005840"/>
          </a:xfrm>
        </p:grpSpPr>
        <p:sp>
          <p:nvSpPr>
            <p:cNvPr id="23" name="Line 23"/>
            <p:cNvSpPr/>
            <p:nvPr/>
          </p:nvSpPr>
          <p:spPr>
            <a:xfrm>
              <a:off x="571500" y="3286125"/>
              <a:ext cx="9525" cy="952500"/>
            </a:xfrm>
            <a:custGeom>
              <a:avLst/>
              <a:gdLst/>
              <a:ahLst/>
              <a:cxnLst/>
              <a:rect l="l" t="t" r="r" b="b"/>
              <a:pathLst>
                <a:path w="9525" h="952500">
                  <a:moveTo>
                    <a:pt x="0" y="0"/>
                  </a:moveTo>
                  <a:lnTo>
                    <a:pt x="0" y="952500"/>
                  </a:lnTo>
                </a:path>
              </a:pathLst>
            </a:custGeom>
            <a:noFill/>
            <a:ln w="28575">
              <a:solidFill>
                <a:srgbClr val="707372"/>
              </a:solidFill>
            </a:ln>
          </p:spPr>
          <p:txBody>
            <a:bodyPr/>
            <a:lstStyle/>
            <a:p>
              <a:endParaRPr lang="en-US"/>
            </a:p>
          </p:txBody>
        </p:sp>
        <p:grpSp>
          <p:nvGrpSpPr>
            <p:cNvPr id="27" name="Group 27"/>
            <p:cNvGrpSpPr/>
            <p:nvPr/>
          </p:nvGrpSpPr>
          <p:grpSpPr>
            <a:xfrm>
              <a:off x="885825" y="3578225"/>
              <a:ext cx="400050" cy="177800"/>
              <a:chOff x="885825" y="3578225"/>
              <a:chExt cx="400050" cy="177800"/>
            </a:xfrm>
          </p:grpSpPr>
          <p:sp>
            <p:nvSpPr>
              <p:cNvPr id="24" name="Freeform 24"/>
              <p:cNvSpPr/>
              <p:nvPr/>
            </p:nvSpPr>
            <p:spPr>
              <a:xfrm>
                <a:off x="1041400" y="3578225"/>
                <a:ext cx="88900" cy="177800"/>
              </a:xfrm>
              <a:custGeom>
                <a:avLst/>
                <a:gdLst/>
                <a:ahLst/>
                <a:cxnLst/>
                <a:rect l="l" t="t" r="r" b="b"/>
                <a:pathLst>
                  <a:path w="88900" h="177800">
                    <a:moveTo>
                      <a:pt x="0" y="155575"/>
                    </a:moveTo>
                    <a:cubicBezTo>
                      <a:pt x="0" y="167850"/>
                      <a:pt x="9950" y="177800"/>
                      <a:pt x="22225" y="177800"/>
                    </a:cubicBezTo>
                    <a:lnTo>
                      <a:pt x="66675" y="177800"/>
                    </a:lnTo>
                    <a:cubicBezTo>
                      <a:pt x="78950" y="177800"/>
                      <a:pt x="88900" y="167850"/>
                      <a:pt x="88900" y="155575"/>
                    </a:cubicBezTo>
                    <a:lnTo>
                      <a:pt x="88900" y="111125"/>
                    </a:lnTo>
                    <a:cubicBezTo>
                      <a:pt x="88900" y="98850"/>
                      <a:pt x="78950" y="88900"/>
                      <a:pt x="66675" y="88900"/>
                    </a:cubicBezTo>
                    <a:lnTo>
                      <a:pt x="22225" y="88900"/>
                    </a:lnTo>
                    <a:cubicBezTo>
                      <a:pt x="9950" y="88900"/>
                      <a:pt x="0" y="78950"/>
                      <a:pt x="0" y="66675"/>
                    </a:cubicBezTo>
                    <a:lnTo>
                      <a:pt x="0" y="22225"/>
                    </a:lnTo>
                    <a:cubicBezTo>
                      <a:pt x="0" y="9950"/>
                      <a:pt x="9950" y="0"/>
                      <a:pt x="22225" y="0"/>
                    </a:cubicBezTo>
                    <a:lnTo>
                      <a:pt x="66675" y="0"/>
                    </a:lnTo>
                    <a:cubicBezTo>
                      <a:pt x="78950" y="0"/>
                      <a:pt x="88900" y="9950"/>
                      <a:pt x="88900" y="22225"/>
                    </a:cubicBezTo>
                  </a:path>
                </a:pathLst>
              </a:custGeom>
              <a:noFill/>
              <a:ln w="19050">
                <a:solidFill>
                  <a:srgbClr val="004C97"/>
                </a:solidFill>
              </a:ln>
            </p:spPr>
            <p:txBody>
              <a:bodyPr/>
              <a:lstStyle/>
              <a:p>
                <a:endParaRPr lang="en-US"/>
              </a:p>
            </p:txBody>
          </p:sp>
          <p:sp>
            <p:nvSpPr>
              <p:cNvPr id="25" name="Freeform 25"/>
              <p:cNvSpPr/>
              <p:nvPr/>
            </p:nvSpPr>
            <p:spPr>
              <a:xfrm>
                <a:off x="1196975" y="3578225"/>
                <a:ext cx="88900" cy="177800"/>
              </a:xfrm>
              <a:custGeom>
                <a:avLst/>
                <a:gdLst/>
                <a:ahLst/>
                <a:cxnLst/>
                <a:rect l="l" t="t" r="r" b="b"/>
                <a:pathLst>
                  <a:path w="88900" h="177800">
                    <a:moveTo>
                      <a:pt x="0" y="0"/>
                    </a:moveTo>
                    <a:lnTo>
                      <a:pt x="44450" y="177800"/>
                    </a:lnTo>
                    <a:lnTo>
                      <a:pt x="88900" y="0"/>
                    </a:lnTo>
                  </a:path>
                </a:pathLst>
              </a:custGeom>
              <a:noFill/>
              <a:ln w="19050">
                <a:solidFill>
                  <a:srgbClr val="004C97"/>
                </a:solidFill>
              </a:ln>
            </p:spPr>
            <p:txBody>
              <a:bodyPr/>
              <a:lstStyle/>
              <a:p>
                <a:endParaRPr lang="en-US"/>
              </a:p>
            </p:txBody>
          </p:sp>
          <p:sp>
            <p:nvSpPr>
              <p:cNvPr id="26" name="Freeform 26"/>
              <p:cNvSpPr/>
              <p:nvPr/>
            </p:nvSpPr>
            <p:spPr>
              <a:xfrm>
                <a:off x="885825" y="3578225"/>
                <a:ext cx="88900" cy="177800"/>
              </a:xfrm>
              <a:custGeom>
                <a:avLst/>
                <a:gdLst/>
                <a:ahLst/>
                <a:cxnLst/>
                <a:rect l="l" t="t" r="r" b="b"/>
                <a:pathLst>
                  <a:path w="88900" h="177800">
                    <a:moveTo>
                      <a:pt x="88900" y="44450"/>
                    </a:moveTo>
                    <a:cubicBezTo>
                      <a:pt x="88900" y="19901"/>
                      <a:pt x="68999" y="0"/>
                      <a:pt x="44450" y="0"/>
                    </a:cubicBezTo>
                    <a:cubicBezTo>
                      <a:pt x="19901" y="0"/>
                      <a:pt x="0" y="19901"/>
                      <a:pt x="0" y="44450"/>
                    </a:cubicBezTo>
                    <a:lnTo>
                      <a:pt x="0" y="133350"/>
                    </a:lnTo>
                    <a:cubicBezTo>
                      <a:pt x="0" y="157899"/>
                      <a:pt x="19901" y="177800"/>
                      <a:pt x="44450" y="177800"/>
                    </a:cubicBezTo>
                    <a:cubicBezTo>
                      <a:pt x="68999" y="177800"/>
                      <a:pt x="88900" y="157899"/>
                      <a:pt x="88900" y="133350"/>
                    </a:cubicBezTo>
                  </a:path>
                </a:pathLst>
              </a:custGeom>
              <a:noFill/>
              <a:ln w="19050">
                <a:solidFill>
                  <a:srgbClr val="004C97"/>
                </a:solidFill>
              </a:ln>
            </p:spPr>
            <p:txBody>
              <a:bodyPr/>
              <a:lstStyle/>
              <a:p>
                <a:endParaRPr lang="en-US"/>
              </a:p>
            </p:txBody>
          </p:sp>
        </p:grpSp>
        <p:sp>
          <p:nvSpPr>
            <p:cNvPr id="28" name="TextBox 28"/>
            <p:cNvSpPr txBox="1"/>
            <p:nvPr/>
          </p:nvSpPr>
          <p:spPr>
            <a:xfrm>
              <a:off x="1470660" y="3232785"/>
              <a:ext cx="2071126" cy="853440"/>
            </a:xfrm>
            <a:prstGeom prst="rect">
              <a:avLst/>
            </a:prstGeom>
            <a:noFill/>
            <a:ln>
              <a:noFill/>
            </a:ln>
          </p:spPr>
          <p:txBody>
            <a:bodyPr wrap="none" lIns="0" tIns="0" rIns="0" bIns="0" anchor="t" anchorCtr="0">
              <a:spAutoFit/>
            </a:bodyPr>
            <a:lstStyle/>
            <a:p>
              <a:pPr algn="l"/>
              <a:r>
                <a:rPr lang="zh-CN" sz="4200" b="1" dirty="0">
                  <a:solidFill>
                    <a:srgbClr val="004C97"/>
                  </a:solidFill>
                  <a:latin typeface="Arial Black"/>
                  <a:ea typeface="Microsoft YaHei"/>
                  <a:cs typeface="Arial Black"/>
                </a:rPr>
                <a:t>81,035</a:t>
              </a:r>
            </a:p>
          </p:txBody>
        </p:sp>
        <p:sp>
          <p:nvSpPr>
            <p:cNvPr id="29" name="TextBox 29"/>
            <p:cNvSpPr txBox="1"/>
            <p:nvPr/>
          </p:nvSpPr>
          <p:spPr>
            <a:xfrm>
              <a:off x="3600450" y="3524250"/>
              <a:ext cx="1188244"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a:ea typeface="Microsoft YaHei"/>
                  <a:cs typeface="Arial"/>
                </a:rPr>
                <a:t>indicators</a:t>
              </a:r>
            </a:p>
          </p:txBody>
        </p:sp>
        <p:sp>
          <p:nvSpPr>
            <p:cNvPr id="30" name="TextBox 30"/>
            <p:cNvSpPr txBox="1"/>
            <p:nvPr/>
          </p:nvSpPr>
          <p:spPr>
            <a:xfrm>
              <a:off x="1511618" y="3885724"/>
              <a:ext cx="2125147" cy="198120"/>
            </a:xfrm>
            <a:prstGeom prst="rect">
              <a:avLst/>
            </a:prstGeom>
            <a:noFill/>
            <a:ln>
              <a:noFill/>
            </a:ln>
          </p:spPr>
          <p:txBody>
            <a:bodyPr wrap="none" lIns="0" tIns="0" rIns="0" bIns="0" anchor="t" anchorCtr="0">
              <a:spAutoFit/>
            </a:bodyPr>
            <a:lstStyle/>
            <a:p>
              <a:pPr algn="l"/>
              <a:r>
                <a:rPr lang="zh-CN" sz="975" dirty="0">
                  <a:solidFill>
                    <a:srgbClr val="009CDE"/>
                  </a:solidFill>
                  <a:latin typeface="Consolas"/>
                  <a:ea typeface="Microsoft YaHei"/>
                  <a:cs typeface="Consolas"/>
                </a:rPr>
                <a:t>idata_full_indicators_list.csv</a:t>
              </a:r>
            </a:p>
          </p:txBody>
        </p:sp>
        <p:sp>
          <p:nvSpPr>
            <p:cNvPr id="31" name="TextBox 31"/>
            <p:cNvSpPr txBox="1"/>
            <p:nvPr/>
          </p:nvSpPr>
          <p:spPr>
            <a:xfrm>
              <a:off x="3607118" y="3885724"/>
              <a:ext cx="273034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 ranked and disambiguated on demand.</a:t>
              </a:r>
            </a:p>
          </p:txBody>
        </p:sp>
      </p:grpSp>
      <p:grpSp>
        <p:nvGrpSpPr>
          <p:cNvPr id="41" name="Group 41"/>
          <p:cNvGrpSpPr/>
          <p:nvPr/>
        </p:nvGrpSpPr>
        <p:grpSpPr>
          <a:xfrm>
            <a:off x="571500" y="4476750"/>
            <a:ext cx="5300925" cy="988219"/>
            <a:chOff x="571500" y="4476750"/>
            <a:chExt cx="5300925" cy="988219"/>
          </a:xfrm>
        </p:grpSpPr>
        <p:sp>
          <p:nvSpPr>
            <p:cNvPr id="33" name="Line 33"/>
            <p:cNvSpPr/>
            <p:nvPr/>
          </p:nvSpPr>
          <p:spPr>
            <a:xfrm>
              <a:off x="571500" y="4476750"/>
              <a:ext cx="9525" cy="952500"/>
            </a:xfrm>
            <a:custGeom>
              <a:avLst/>
              <a:gdLst/>
              <a:ahLst/>
              <a:cxnLst/>
              <a:rect l="l" t="t" r="r" b="b"/>
              <a:pathLst>
                <a:path w="9525" h="952500">
                  <a:moveTo>
                    <a:pt x="0" y="0"/>
                  </a:moveTo>
                  <a:lnTo>
                    <a:pt x="0" y="952500"/>
                  </a:lnTo>
                </a:path>
              </a:pathLst>
            </a:custGeom>
            <a:noFill/>
            <a:ln w="28575">
              <a:solidFill>
                <a:srgbClr val="707372"/>
              </a:solidFill>
            </a:ln>
          </p:spPr>
          <p:txBody>
            <a:bodyPr/>
            <a:lstStyle/>
            <a:p>
              <a:endParaRPr lang="en-US"/>
            </a:p>
          </p:txBody>
        </p:sp>
        <p:grpSp>
          <p:nvGrpSpPr>
            <p:cNvPr id="37" name="Group 37"/>
            <p:cNvGrpSpPr/>
            <p:nvPr/>
          </p:nvGrpSpPr>
          <p:grpSpPr>
            <a:xfrm>
              <a:off x="885825" y="4768850"/>
              <a:ext cx="400050" cy="177800"/>
              <a:chOff x="885825" y="4768850"/>
              <a:chExt cx="400050" cy="177800"/>
            </a:xfrm>
          </p:grpSpPr>
          <p:sp>
            <p:nvSpPr>
              <p:cNvPr id="34" name="Freeform 34"/>
              <p:cNvSpPr/>
              <p:nvPr/>
            </p:nvSpPr>
            <p:spPr>
              <a:xfrm>
                <a:off x="1041400" y="4768850"/>
                <a:ext cx="88900" cy="177800"/>
              </a:xfrm>
              <a:custGeom>
                <a:avLst/>
                <a:gdLst/>
                <a:ahLst/>
                <a:cxnLst/>
                <a:rect l="l" t="t" r="r" b="b"/>
                <a:pathLst>
                  <a:path w="88900" h="177800">
                    <a:moveTo>
                      <a:pt x="0" y="155575"/>
                    </a:moveTo>
                    <a:cubicBezTo>
                      <a:pt x="0" y="167850"/>
                      <a:pt x="9950" y="177800"/>
                      <a:pt x="22225" y="177800"/>
                    </a:cubicBezTo>
                    <a:lnTo>
                      <a:pt x="66675" y="177800"/>
                    </a:lnTo>
                    <a:cubicBezTo>
                      <a:pt x="78950" y="177800"/>
                      <a:pt x="88900" y="167850"/>
                      <a:pt x="88900" y="155575"/>
                    </a:cubicBezTo>
                    <a:lnTo>
                      <a:pt x="88900" y="111125"/>
                    </a:lnTo>
                    <a:cubicBezTo>
                      <a:pt x="88900" y="98850"/>
                      <a:pt x="78950" y="88900"/>
                      <a:pt x="66675" y="88900"/>
                    </a:cubicBezTo>
                    <a:lnTo>
                      <a:pt x="22225" y="88900"/>
                    </a:lnTo>
                    <a:cubicBezTo>
                      <a:pt x="9950" y="88900"/>
                      <a:pt x="0" y="78950"/>
                      <a:pt x="0" y="66675"/>
                    </a:cubicBezTo>
                    <a:lnTo>
                      <a:pt x="0" y="22225"/>
                    </a:lnTo>
                    <a:cubicBezTo>
                      <a:pt x="0" y="9950"/>
                      <a:pt x="9950" y="0"/>
                      <a:pt x="22225" y="0"/>
                    </a:cubicBezTo>
                    <a:lnTo>
                      <a:pt x="66675" y="0"/>
                    </a:lnTo>
                    <a:cubicBezTo>
                      <a:pt x="78950" y="0"/>
                      <a:pt x="88900" y="9950"/>
                      <a:pt x="88900" y="22225"/>
                    </a:cubicBezTo>
                  </a:path>
                </a:pathLst>
              </a:custGeom>
              <a:noFill/>
              <a:ln w="19050">
                <a:solidFill>
                  <a:srgbClr val="004C97"/>
                </a:solidFill>
              </a:ln>
            </p:spPr>
            <p:txBody>
              <a:bodyPr/>
              <a:lstStyle/>
              <a:p>
                <a:endParaRPr lang="en-US"/>
              </a:p>
            </p:txBody>
          </p:sp>
          <p:sp>
            <p:nvSpPr>
              <p:cNvPr id="35" name="Freeform 35"/>
              <p:cNvSpPr/>
              <p:nvPr/>
            </p:nvSpPr>
            <p:spPr>
              <a:xfrm>
                <a:off x="1196975" y="4768850"/>
                <a:ext cx="88900" cy="177800"/>
              </a:xfrm>
              <a:custGeom>
                <a:avLst/>
                <a:gdLst/>
                <a:ahLst/>
                <a:cxnLst/>
                <a:rect l="l" t="t" r="r" b="b"/>
                <a:pathLst>
                  <a:path w="88900" h="177800">
                    <a:moveTo>
                      <a:pt x="0" y="0"/>
                    </a:moveTo>
                    <a:lnTo>
                      <a:pt x="44450" y="177800"/>
                    </a:lnTo>
                    <a:lnTo>
                      <a:pt x="88900" y="0"/>
                    </a:lnTo>
                  </a:path>
                </a:pathLst>
              </a:custGeom>
              <a:noFill/>
              <a:ln w="19050">
                <a:solidFill>
                  <a:srgbClr val="004C97"/>
                </a:solidFill>
              </a:ln>
            </p:spPr>
            <p:txBody>
              <a:bodyPr/>
              <a:lstStyle/>
              <a:p>
                <a:endParaRPr lang="en-US"/>
              </a:p>
            </p:txBody>
          </p:sp>
          <p:sp>
            <p:nvSpPr>
              <p:cNvPr id="36" name="Freeform 36"/>
              <p:cNvSpPr/>
              <p:nvPr/>
            </p:nvSpPr>
            <p:spPr>
              <a:xfrm>
                <a:off x="885825" y="4768850"/>
                <a:ext cx="88900" cy="177800"/>
              </a:xfrm>
              <a:custGeom>
                <a:avLst/>
                <a:gdLst/>
                <a:ahLst/>
                <a:cxnLst/>
                <a:rect l="l" t="t" r="r" b="b"/>
                <a:pathLst>
                  <a:path w="88900" h="177800">
                    <a:moveTo>
                      <a:pt x="88900" y="44450"/>
                    </a:moveTo>
                    <a:cubicBezTo>
                      <a:pt x="88900" y="19901"/>
                      <a:pt x="68999" y="0"/>
                      <a:pt x="44450" y="0"/>
                    </a:cubicBezTo>
                    <a:cubicBezTo>
                      <a:pt x="19901" y="0"/>
                      <a:pt x="0" y="19901"/>
                      <a:pt x="0" y="44450"/>
                    </a:cubicBezTo>
                    <a:lnTo>
                      <a:pt x="0" y="133350"/>
                    </a:lnTo>
                    <a:cubicBezTo>
                      <a:pt x="0" y="157899"/>
                      <a:pt x="19901" y="177800"/>
                      <a:pt x="44450" y="177800"/>
                    </a:cubicBezTo>
                    <a:cubicBezTo>
                      <a:pt x="68999" y="177800"/>
                      <a:pt x="88900" y="157899"/>
                      <a:pt x="88900" y="133350"/>
                    </a:cubicBezTo>
                  </a:path>
                </a:pathLst>
              </a:custGeom>
              <a:noFill/>
              <a:ln w="19050">
                <a:solidFill>
                  <a:srgbClr val="004C97"/>
                </a:solidFill>
              </a:ln>
            </p:spPr>
            <p:txBody>
              <a:bodyPr/>
              <a:lstStyle/>
              <a:p>
                <a:endParaRPr lang="en-US"/>
              </a:p>
            </p:txBody>
          </p:sp>
        </p:grpSp>
        <p:sp>
          <p:nvSpPr>
            <p:cNvPr id="38" name="TextBox 38"/>
            <p:cNvSpPr txBox="1"/>
            <p:nvPr/>
          </p:nvSpPr>
          <p:spPr>
            <a:xfrm>
              <a:off x="1485900" y="4552950"/>
              <a:ext cx="3503628" cy="609600"/>
            </a:xfrm>
            <a:prstGeom prst="rect">
              <a:avLst/>
            </a:prstGeom>
            <a:noFill/>
            <a:ln>
              <a:noFill/>
            </a:ln>
          </p:spPr>
          <p:txBody>
            <a:bodyPr wrap="none" lIns="0" tIns="0" rIns="0" bIns="0" anchor="t" anchorCtr="0">
              <a:spAutoFit/>
            </a:bodyPr>
            <a:lstStyle/>
            <a:p>
              <a:pPr algn="l"/>
              <a:r>
                <a:rPr lang="zh-CN" sz="3000" b="1" dirty="0">
                  <a:solidFill>
                    <a:srgbClr val="004C97"/>
                  </a:solidFill>
                  <a:latin typeface="Arial Black"/>
                  <a:ea typeface="Microsoft YaHei"/>
                  <a:cs typeface="Arial Black"/>
                </a:rPr>
                <a:t>Country groups</a:t>
              </a:r>
            </a:p>
          </p:txBody>
        </p:sp>
        <p:sp>
          <p:nvSpPr>
            <p:cNvPr id="39" name="TextBox 39"/>
            <p:cNvSpPr txBox="1"/>
            <p:nvPr/>
          </p:nvSpPr>
          <p:spPr>
            <a:xfrm>
              <a:off x="1511618" y="5076349"/>
              <a:ext cx="2253305" cy="198120"/>
            </a:xfrm>
            <a:prstGeom prst="rect">
              <a:avLst/>
            </a:prstGeom>
            <a:noFill/>
            <a:ln>
              <a:noFill/>
            </a:ln>
          </p:spPr>
          <p:txBody>
            <a:bodyPr wrap="none" lIns="0" tIns="0" rIns="0" bIns="0" anchor="t" anchorCtr="0">
              <a:spAutoFit/>
            </a:bodyPr>
            <a:lstStyle/>
            <a:p>
              <a:pPr algn="l"/>
              <a:r>
                <a:rPr lang="zh-CN" sz="975" dirty="0">
                  <a:solidFill>
                    <a:srgbClr val="009CDE"/>
                  </a:solidFill>
                  <a:latin typeface="Consolas"/>
                  <a:ea typeface="Microsoft YaHei"/>
                  <a:cs typeface="Consolas"/>
                </a:rPr>
                <a:t>country_group_composition.csv</a:t>
              </a:r>
            </a:p>
          </p:txBody>
        </p:sp>
        <p:sp>
          <p:nvSpPr>
            <p:cNvPr id="40" name="TextBox 40"/>
            <p:cNvSpPr txBox="1"/>
            <p:nvPr/>
          </p:nvSpPr>
          <p:spPr>
            <a:xfrm>
              <a:off x="1511618" y="5266849"/>
              <a:ext cx="4360807"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 Advanced Economies, EMDE, G7, ASEAN-5… exact membership.</a:t>
              </a:r>
            </a:p>
          </p:txBody>
        </p:sp>
      </p:grpSp>
      <p:grpSp>
        <p:nvGrpSpPr>
          <p:cNvPr id="45" name="Group 45"/>
          <p:cNvGrpSpPr/>
          <p:nvPr/>
        </p:nvGrpSpPr>
        <p:grpSpPr>
          <a:xfrm>
            <a:off x="550545" y="5857875"/>
            <a:ext cx="11069955" cy="788194"/>
            <a:chOff x="550545" y="5857875"/>
            <a:chExt cx="11069955" cy="788194"/>
          </a:xfrm>
        </p:grpSpPr>
        <p:sp>
          <p:nvSpPr>
            <p:cNvPr id="42" name="Line 42"/>
            <p:cNvSpPr/>
            <p:nvPr/>
          </p:nvSpPr>
          <p:spPr>
            <a:xfrm>
              <a:off x="571500" y="5857875"/>
              <a:ext cx="11049000" cy="9525"/>
            </a:xfrm>
            <a:custGeom>
              <a:avLst/>
              <a:gdLst/>
              <a:ahLst/>
              <a:cxnLst/>
              <a:rect l="l" t="t" r="r" b="b"/>
              <a:pathLst>
                <a:path w="11049000" h="9525">
                  <a:moveTo>
                    <a:pt x="0" y="0"/>
                  </a:moveTo>
                  <a:lnTo>
                    <a:pt x="11049000" y="0"/>
                  </a:lnTo>
                </a:path>
              </a:pathLst>
            </a:custGeom>
            <a:noFill/>
            <a:ln w="9525">
              <a:solidFill>
                <a:srgbClr val="CDD7E2"/>
              </a:solidFill>
            </a:ln>
          </p:spPr>
          <p:txBody>
            <a:bodyPr/>
            <a:lstStyle/>
            <a:p>
              <a:endParaRPr lang="en-US"/>
            </a:p>
          </p:txBody>
        </p:sp>
        <p:sp>
          <p:nvSpPr>
            <p:cNvPr id="43" name="TextBox 43"/>
            <p:cNvSpPr txBox="1"/>
            <p:nvPr/>
          </p:nvSpPr>
          <p:spPr>
            <a:xfrm>
              <a:off x="550545" y="6108382"/>
              <a:ext cx="8150971" cy="335280"/>
            </a:xfrm>
            <a:prstGeom prst="rect">
              <a:avLst/>
            </a:prstGeom>
            <a:noFill/>
            <a:ln>
              <a:noFill/>
            </a:ln>
          </p:spPr>
          <p:txBody>
            <a:bodyPr wrap="none" lIns="0" tIns="0" rIns="0" bIns="0" anchor="t" anchorCtr="0">
              <a:spAutoFit/>
            </a:bodyPr>
            <a:lstStyle/>
            <a:p>
              <a:pPr algn="l"/>
              <a:r>
                <a:rPr lang="zh-CN" sz="1650" i="1" dirty="0">
                  <a:solidFill>
                    <a:srgbClr val="004C97"/>
                  </a:solidFill>
                  <a:latin typeface="Arial Black"/>
                  <a:ea typeface="Microsoft YaHei"/>
                  <a:cs typeface="Arial Black"/>
                </a:rPr>
                <a:t>No model drift. </a:t>
              </a:r>
              <a:r>
                <a:rPr lang="zh-CN" sz="1650" b="1" i="1" dirty="0">
                  <a:solidFill>
                    <a:srgbClr val="707372"/>
                  </a:solidFill>
                  <a:latin typeface="Arial Black"/>
                  <a:ea typeface="Microsoft YaHei"/>
                  <a:cs typeface="Arial Black"/>
                </a:rPr>
                <a:t>Reproducible.</a:t>
              </a:r>
              <a:r>
                <a:rPr lang="zh-CN" sz="1650" i="1" dirty="0">
                  <a:solidFill>
                    <a:srgbClr val="004C97"/>
                  </a:solidFill>
                  <a:latin typeface="Arial Black"/>
                  <a:ea typeface="Microsoft YaHei"/>
                  <a:cs typeface="Arial Black"/>
                </a:rPr>
                <a:t> </a:t>
              </a:r>
              <a:r>
                <a:rPr lang="zh-CN" sz="1650" b="1" i="1" dirty="0">
                  <a:solidFill>
                    <a:srgbClr val="707372"/>
                  </a:solidFill>
                  <a:latin typeface="Arial Black"/>
                  <a:ea typeface="Microsoft YaHei"/>
                  <a:cs typeface="Arial Black"/>
                </a:rPr>
                <a:t>Auditable.</a:t>
              </a:r>
              <a:r>
                <a:rPr lang="zh-CN" sz="1650" i="1" dirty="0">
                  <a:solidFill>
                    <a:srgbClr val="004C97"/>
                  </a:solidFill>
                  <a:latin typeface="Arial Black"/>
                  <a:ea typeface="Microsoft YaHei"/>
                  <a:cs typeface="Arial Black"/>
                </a:rPr>
                <a:t> Every claim points to a file.</a:t>
              </a:r>
            </a:p>
          </p:txBody>
        </p:sp>
        <p:sp>
          <p:nvSpPr>
            <p:cNvPr id="44" name="TextBox 44"/>
            <p:cNvSpPr txBox="1"/>
            <p:nvPr/>
          </p:nvSpPr>
          <p:spPr>
            <a:xfrm>
              <a:off x="559118" y="6447949"/>
              <a:ext cx="7052143"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Policy: if a CSV answers it, read it directly. Code only for aggregation, joins, or repeated filtering.</a:t>
              </a:r>
            </a:p>
          </p:txBody>
        </p:sp>
      </p:grpSp>
      <p:grpSp>
        <p:nvGrpSpPr>
          <p:cNvPr id="48" name="Group 48"/>
          <p:cNvGrpSpPr/>
          <p:nvPr/>
        </p:nvGrpSpPr>
        <p:grpSpPr>
          <a:xfrm>
            <a:off x="561022" y="6673691"/>
            <a:ext cx="11069956" cy="167640"/>
            <a:chOff x="561022" y="6673691"/>
            <a:chExt cx="11069956" cy="167640"/>
          </a:xfrm>
        </p:grpSpPr>
        <p:sp>
          <p:nvSpPr>
            <p:cNvPr id="46" name="TextBox 46"/>
            <p:cNvSpPr txBox="1"/>
            <p:nvPr/>
          </p:nvSpPr>
          <p:spPr>
            <a:xfrm>
              <a:off x="561022" y="667369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47" name="TextBox 47"/>
            <p:cNvSpPr txBox="1"/>
            <p:nvPr/>
          </p:nvSpPr>
          <p:spPr>
            <a:xfrm>
              <a:off x="11236500" y="6673691"/>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06 / 10</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23" presetClass="entr" presetSubtype="0" fill="hold" nodeType="after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image">
                                      <p:cBhvr>
                                        <p:cTn id="11" dur="400"/>
                                        <p:tgtEl>
                                          <p:spTgt spid="32"/>
                                        </p:tgtEl>
                                      </p:cBhvr>
                                    </p:animEffect>
                                  </p:childTnLst>
                                </p:cTn>
                              </p:par>
                            </p:childTnLst>
                          </p:cTn>
                        </p:par>
                        <p:par>
                          <p:cTn id="12" fill="hold">
                            <p:stCondLst>
                              <p:cond delay="1800"/>
                            </p:stCondLst>
                            <p:childTnLst>
                              <p:par>
                                <p:cTn id="13" presetID="3" presetClass="entr" presetSubtype="10" fill="hold" nodeType="afterEffect">
                                  <p:stCondLst>
                                    <p:cond delay="0"/>
                                  </p:stCondLst>
                                  <p:childTnLst>
                                    <p:set>
                                      <p:cBhvr>
                                        <p:cTn id="14" dur="1" fill="hold">
                                          <p:stCondLst>
                                            <p:cond delay="0"/>
                                          </p:stCondLst>
                                        </p:cTn>
                                        <p:tgtEl>
                                          <p:spTgt spid="41"/>
                                        </p:tgtEl>
                                        <p:attrNameLst>
                                          <p:attrName>style.visibility</p:attrName>
                                        </p:attrNameLst>
                                      </p:cBhvr>
                                      <p:to>
                                        <p:strVal val="visible"/>
                                      </p:to>
                                    </p:set>
                                    <p:animEffect transition="in" filter="blinds(horizontal)">
                                      <p:cBhvr>
                                        <p:cTn id="15" dur="400"/>
                                        <p:tgtEl>
                                          <p:spTgt spid="41"/>
                                        </p:tgtEl>
                                      </p:cBhvr>
                                    </p:animEffect>
                                  </p:childTnLst>
                                </p:cTn>
                              </p:par>
                            </p:childTnLst>
                          </p:cTn>
                        </p:par>
                        <p:par>
                          <p:cTn id="16" fill="hold">
                            <p:stCondLst>
                              <p:cond delay="2700"/>
                            </p:stCondLst>
                            <p:childTnLst>
                              <p:par>
                                <p:cTn id="17" presetID="5" presetClass="entr" presetSubtype="6" fill="hold" nodeType="after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checkerboard(across)">
                                      <p:cBhvr>
                                        <p:cTn id="19"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32" grpId="0"/>
      <p:bldP spid="41" grpId="0"/>
      <p:bldP spid="4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569595"/>
            <a:ext cx="8599627" cy="954405"/>
            <a:chOff x="541020" y="569595"/>
            <a:chExt cx="8599627" cy="954405"/>
          </a:xfrm>
        </p:grpSpPr>
        <p:sp>
          <p:nvSpPr>
            <p:cNvPr id="3" name="TextBox 3"/>
            <p:cNvSpPr txBox="1"/>
            <p:nvPr/>
          </p:nvSpPr>
          <p:spPr>
            <a:xfrm>
              <a:off x="560070" y="569595"/>
              <a:ext cx="1865390"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06 · CAPABILITY 1 — DISCOVER</a:t>
              </a:r>
            </a:p>
          </p:txBody>
        </p:sp>
        <p:sp>
          <p:nvSpPr>
            <p:cNvPr id="4" name="TextBox 4"/>
            <p:cNvSpPr txBox="1"/>
            <p:nvPr/>
          </p:nvSpPr>
          <p:spPr>
            <a:xfrm>
              <a:off x="541020" y="836295"/>
              <a:ext cx="8599627"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Plain English → the four things you actually need</a:t>
              </a:r>
            </a:p>
          </p:txBody>
        </p:sp>
        <p:sp>
          <p:nvSpPr>
            <p:cNvPr id="5" name="TextBox 5"/>
            <p:cNvSpPr txBox="1"/>
            <p:nvPr/>
          </p:nvSpPr>
          <p:spPr>
            <a:xfrm>
              <a:off x="556260" y="1280160"/>
              <a:ext cx="5130546" cy="243840"/>
            </a:xfrm>
            <a:prstGeom prst="rect">
              <a:avLst/>
            </a:prstGeom>
            <a:noFill/>
            <a:ln>
              <a:noFill/>
            </a:ln>
          </p:spPr>
          <p:txBody>
            <a:bodyPr wrap="none" lIns="0" tIns="0" rIns="0" bIns="0" anchor="t" anchorCtr="0">
              <a:spAutoFit/>
            </a:bodyPr>
            <a:lstStyle/>
            <a:p>
              <a:pPr algn="l"/>
              <a:r>
                <a:rPr lang="zh-CN" sz="1200" i="1" dirty="0">
                  <a:solidFill>
                    <a:srgbClr val="5B6470"/>
                  </a:solidFill>
                  <a:latin typeface="Arial"/>
                  <a:ea typeface="Microsoft YaHei"/>
                  <a:cs typeface="Arial"/>
                </a:rPr>
                <a:t>The catalog skill turns a sentence into a callable identifier.</a:t>
              </a:r>
            </a:p>
          </p:txBody>
        </p:sp>
      </p:grpSp>
      <p:grpSp>
        <p:nvGrpSpPr>
          <p:cNvPr id="17" name="Group 17"/>
          <p:cNvGrpSpPr/>
          <p:nvPr/>
        </p:nvGrpSpPr>
        <p:grpSpPr>
          <a:xfrm>
            <a:off x="571500" y="1905000"/>
            <a:ext cx="4762500" cy="2190750"/>
            <a:chOff x="571500" y="1905000"/>
            <a:chExt cx="4762500" cy="2190750"/>
          </a:xfrm>
        </p:grpSpPr>
        <p:sp>
          <p:nvSpPr>
            <p:cNvPr id="7" name="Rectangle 7"/>
            <p:cNvSpPr/>
            <p:nvPr/>
          </p:nvSpPr>
          <p:spPr>
            <a:xfrm>
              <a:off x="571500" y="1905000"/>
              <a:ext cx="4762500" cy="2190750"/>
            </a:xfrm>
            <a:prstGeom prst="roundRect">
              <a:avLst>
                <a:gd name="adj" fmla="val 4348"/>
              </a:avLst>
            </a:prstGeom>
            <a:solidFill>
              <a:srgbClr val="EAF6FD"/>
            </a:solidFill>
            <a:ln>
              <a:noFill/>
            </a:ln>
          </p:spPr>
          <p:txBody>
            <a:bodyPr/>
            <a:lstStyle/>
            <a:p>
              <a:endParaRPr lang="en-US"/>
            </a:p>
          </p:txBody>
        </p:sp>
        <p:sp>
          <p:nvSpPr>
            <p:cNvPr id="8" name="TextBox 8"/>
            <p:cNvSpPr txBox="1"/>
            <p:nvPr/>
          </p:nvSpPr>
          <p:spPr>
            <a:xfrm>
              <a:off x="808672" y="2139791"/>
              <a:ext cx="545996"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RA TYPES</a:t>
              </a:r>
            </a:p>
          </p:txBody>
        </p:sp>
        <p:grpSp>
          <p:nvGrpSpPr>
            <p:cNvPr id="11" name="Group 11"/>
            <p:cNvGrpSpPr/>
            <p:nvPr/>
          </p:nvGrpSpPr>
          <p:grpSpPr>
            <a:xfrm>
              <a:off x="862012" y="2462212"/>
              <a:ext cx="257175" cy="257175"/>
              <a:chOff x="862012" y="2462212"/>
              <a:chExt cx="257175" cy="257175"/>
            </a:xfrm>
          </p:grpSpPr>
          <p:sp>
            <p:nvSpPr>
              <p:cNvPr id="9" name="Freeform 9"/>
              <p:cNvSpPr/>
              <p:nvPr/>
            </p:nvSpPr>
            <p:spPr>
              <a:xfrm>
                <a:off x="962025" y="2462212"/>
                <a:ext cx="157162" cy="157162"/>
              </a:xfrm>
              <a:custGeom>
                <a:avLst/>
                <a:gdLst/>
                <a:ahLst/>
                <a:cxnLst/>
                <a:rect l="l" t="t" r="r" b="b"/>
                <a:pathLst>
                  <a:path w="157162" h="157162">
                    <a:moveTo>
                      <a:pt x="157162" y="157162"/>
                    </a:moveTo>
                    <a:lnTo>
                      <a:pt x="114300" y="114300"/>
                    </a:lnTo>
                    <a:lnTo>
                      <a:pt x="14288" y="114300"/>
                    </a:lnTo>
                    <a:cubicBezTo>
                      <a:pt x="6397" y="114300"/>
                      <a:pt x="0" y="107903"/>
                      <a:pt x="0" y="100012"/>
                    </a:cubicBezTo>
                    <a:lnTo>
                      <a:pt x="0" y="14288"/>
                    </a:lnTo>
                    <a:cubicBezTo>
                      <a:pt x="0" y="6397"/>
                      <a:pt x="6397" y="0"/>
                      <a:pt x="14288" y="0"/>
                    </a:cubicBezTo>
                    <a:lnTo>
                      <a:pt x="142875" y="0"/>
                    </a:lnTo>
                    <a:cubicBezTo>
                      <a:pt x="150766" y="0"/>
                      <a:pt x="157162" y="6397"/>
                      <a:pt x="157162" y="14288"/>
                    </a:cubicBezTo>
                    <a:lnTo>
                      <a:pt x="157162" y="157162"/>
                    </a:lnTo>
                  </a:path>
                </a:pathLst>
              </a:custGeom>
              <a:noFill/>
              <a:ln w="19050">
                <a:solidFill>
                  <a:srgbClr val="009CDE"/>
                </a:solidFill>
              </a:ln>
            </p:spPr>
            <p:txBody>
              <a:bodyPr/>
              <a:lstStyle/>
              <a:p>
                <a:endParaRPr lang="en-US"/>
              </a:p>
            </p:txBody>
          </p:sp>
          <p:sp>
            <p:nvSpPr>
              <p:cNvPr id="10" name="Freeform 10"/>
              <p:cNvSpPr/>
              <p:nvPr/>
            </p:nvSpPr>
            <p:spPr>
              <a:xfrm>
                <a:off x="862012" y="2562225"/>
                <a:ext cx="157162" cy="157162"/>
              </a:xfrm>
              <a:custGeom>
                <a:avLst/>
                <a:gdLst/>
                <a:ahLst/>
                <a:cxnLst/>
                <a:rect l="l" t="t" r="r" b="b"/>
                <a:pathLst>
                  <a:path w="157162" h="157162">
                    <a:moveTo>
                      <a:pt x="157162" y="71438"/>
                    </a:moveTo>
                    <a:lnTo>
                      <a:pt x="157162" y="100012"/>
                    </a:lnTo>
                    <a:cubicBezTo>
                      <a:pt x="157162" y="107903"/>
                      <a:pt x="150766" y="114300"/>
                      <a:pt x="142875" y="114300"/>
                    </a:cubicBezTo>
                    <a:lnTo>
                      <a:pt x="42862" y="114300"/>
                    </a:lnTo>
                    <a:lnTo>
                      <a:pt x="0" y="157162"/>
                    </a:lnTo>
                    <a:lnTo>
                      <a:pt x="0" y="14288"/>
                    </a:lnTo>
                    <a:cubicBezTo>
                      <a:pt x="0" y="6397"/>
                      <a:pt x="6397" y="0"/>
                      <a:pt x="14288" y="0"/>
                    </a:cubicBezTo>
                    <a:lnTo>
                      <a:pt x="42862" y="0"/>
                    </a:lnTo>
                  </a:path>
                </a:pathLst>
              </a:custGeom>
              <a:noFill/>
              <a:ln w="19050">
                <a:solidFill>
                  <a:srgbClr val="009CDE"/>
                </a:solidFill>
              </a:ln>
            </p:spPr>
            <p:txBody>
              <a:bodyPr/>
              <a:lstStyle/>
              <a:p>
                <a:endParaRPr lang="en-US"/>
              </a:p>
            </p:txBody>
          </p:sp>
        </p:grpSp>
        <p:sp>
          <p:nvSpPr>
            <p:cNvPr id="12" name="TextBox 12"/>
            <p:cNvSpPr txBox="1"/>
            <p:nvPr/>
          </p:nvSpPr>
          <p:spPr>
            <a:xfrm>
              <a:off x="1244918" y="2561749"/>
              <a:ext cx="465845" cy="198120"/>
            </a:xfrm>
            <a:prstGeom prst="rect">
              <a:avLst/>
            </a:prstGeom>
            <a:noFill/>
            <a:ln>
              <a:noFill/>
            </a:ln>
          </p:spPr>
          <p:txBody>
            <a:bodyPr wrap="none" lIns="0" tIns="0" rIns="0" bIns="0" anchor="t" anchorCtr="0">
              <a:spAutoFit/>
            </a:bodyPr>
            <a:lstStyle/>
            <a:p>
              <a:pPr algn="l"/>
              <a:r>
                <a:rPr lang="zh-CN" sz="975" b="1" dirty="0">
                  <a:solidFill>
                    <a:srgbClr val="009CDE"/>
                  </a:solidFill>
                  <a:latin typeface="Arial"/>
                  <a:ea typeface="Microsoft YaHei"/>
                  <a:cs typeface="Arial"/>
                </a:rPr>
                <a:t>QUERY</a:t>
              </a:r>
            </a:p>
          </p:txBody>
        </p:sp>
        <p:sp>
          <p:nvSpPr>
            <p:cNvPr id="13" name="Rectangle 13"/>
            <p:cNvSpPr/>
            <p:nvPr/>
          </p:nvSpPr>
          <p:spPr>
            <a:xfrm>
              <a:off x="819150" y="2905125"/>
              <a:ext cx="4267200" cy="952500"/>
            </a:xfrm>
            <a:prstGeom prst="roundRect">
              <a:avLst>
                <a:gd name="adj" fmla="val 8000"/>
              </a:avLst>
            </a:prstGeom>
            <a:solidFill>
              <a:srgbClr val="FFFFFF"/>
            </a:solidFill>
            <a:ln w="9525">
              <a:solidFill>
                <a:srgbClr val="CDD7E2"/>
              </a:solidFill>
            </a:ln>
          </p:spPr>
          <p:txBody>
            <a:bodyPr/>
            <a:lstStyle/>
            <a:p>
              <a:endParaRPr lang="en-US"/>
            </a:p>
          </p:txBody>
        </p:sp>
        <p:sp>
          <p:nvSpPr>
            <p:cNvPr id="14" name="TextBox 14"/>
            <p:cNvSpPr txBox="1"/>
            <p:nvPr/>
          </p:nvSpPr>
          <p:spPr>
            <a:xfrm>
              <a:off x="993458" y="3043714"/>
              <a:ext cx="2378678" cy="259080"/>
            </a:xfrm>
            <a:prstGeom prst="rect">
              <a:avLst/>
            </a:prstGeom>
            <a:noFill/>
            <a:ln>
              <a:noFill/>
            </a:ln>
          </p:spPr>
          <p:txBody>
            <a:bodyPr wrap="none" lIns="0" tIns="0" rIns="0" bIns="0" anchor="t" anchorCtr="0">
              <a:spAutoFit/>
            </a:bodyPr>
            <a:lstStyle/>
            <a:p>
              <a:pPr algn="l"/>
              <a:r>
                <a:rPr lang="zh-CN" sz="1275" i="1" dirty="0">
                  <a:solidFill>
                    <a:srgbClr val="1F2937"/>
                  </a:solidFill>
                  <a:latin typeface="Arial Black"/>
                  <a:ea typeface="Microsoft YaHei"/>
                  <a:cs typeface="Arial Black"/>
                </a:rPr>
                <a:t>"Pull WEO real GDP growth</a:t>
              </a:r>
            </a:p>
          </p:txBody>
        </p:sp>
        <p:sp>
          <p:nvSpPr>
            <p:cNvPr id="15" name="TextBox 15"/>
            <p:cNvSpPr txBox="1"/>
            <p:nvPr/>
          </p:nvSpPr>
          <p:spPr>
            <a:xfrm>
              <a:off x="993458" y="3272314"/>
              <a:ext cx="1736241" cy="259080"/>
            </a:xfrm>
            <a:prstGeom prst="rect">
              <a:avLst/>
            </a:prstGeom>
            <a:noFill/>
            <a:ln>
              <a:noFill/>
            </a:ln>
          </p:spPr>
          <p:txBody>
            <a:bodyPr wrap="none" lIns="0" tIns="0" rIns="0" bIns="0" anchor="t" anchorCtr="0">
              <a:spAutoFit/>
            </a:bodyPr>
            <a:lstStyle/>
            <a:p>
              <a:pPr algn="l"/>
              <a:r>
                <a:rPr lang="zh-CN" sz="1275" i="1" dirty="0">
                  <a:solidFill>
                    <a:srgbClr val="1F2937"/>
                  </a:solidFill>
                  <a:latin typeface="Arial Black"/>
                  <a:ea typeface="Microsoft YaHei"/>
                  <a:cs typeface="Arial Black"/>
                </a:rPr>
                <a:t>for G20 countries,</a:t>
              </a:r>
            </a:p>
          </p:txBody>
        </p:sp>
        <p:sp>
          <p:nvSpPr>
            <p:cNvPr id="16" name="TextBox 16"/>
            <p:cNvSpPr txBox="1"/>
            <p:nvPr/>
          </p:nvSpPr>
          <p:spPr>
            <a:xfrm>
              <a:off x="993458" y="3500914"/>
              <a:ext cx="1633823" cy="259080"/>
            </a:xfrm>
            <a:prstGeom prst="rect">
              <a:avLst/>
            </a:prstGeom>
            <a:noFill/>
            <a:ln>
              <a:noFill/>
            </a:ln>
          </p:spPr>
          <p:txBody>
            <a:bodyPr wrap="none" lIns="0" tIns="0" rIns="0" bIns="0" anchor="t" anchorCtr="0">
              <a:spAutoFit/>
            </a:bodyPr>
            <a:lstStyle/>
            <a:p>
              <a:pPr algn="l"/>
              <a:r>
                <a:rPr lang="zh-CN" sz="1275" i="1" dirty="0">
                  <a:solidFill>
                    <a:srgbClr val="1F2937"/>
                  </a:solidFill>
                  <a:latin typeface="Arial Black"/>
                  <a:ea typeface="Microsoft YaHei"/>
                  <a:cs typeface="Arial Black"/>
                </a:rPr>
                <a:t>2010 to present."</a:t>
              </a:r>
            </a:p>
          </p:txBody>
        </p:sp>
      </p:grpSp>
      <p:grpSp>
        <p:nvGrpSpPr>
          <p:cNvPr id="23" name="Group 23"/>
          <p:cNvGrpSpPr/>
          <p:nvPr/>
        </p:nvGrpSpPr>
        <p:grpSpPr>
          <a:xfrm>
            <a:off x="5405896" y="2376488"/>
            <a:ext cx="484858" cy="623888"/>
            <a:chOff x="5405896" y="2376488"/>
            <a:chExt cx="484858" cy="623888"/>
          </a:xfrm>
        </p:grpSpPr>
        <p:sp>
          <p:nvSpPr>
            <p:cNvPr id="18" name="Line 18"/>
            <p:cNvSpPr/>
            <p:nvPr/>
          </p:nvSpPr>
          <p:spPr>
            <a:xfrm>
              <a:off x="5429250" y="3000375"/>
              <a:ext cx="428625" cy="1"/>
            </a:xfrm>
            <a:prstGeom prst="line">
              <a:avLst/>
            </a:prstGeom>
            <a:noFill/>
            <a:ln w="23812">
              <a:solidFill>
                <a:srgbClr val="707372"/>
              </a:solidFill>
              <a:tailEnd type="triangle" w="lg" len="lg"/>
            </a:ln>
          </p:spPr>
          <p:txBody>
            <a:bodyPr/>
            <a:lstStyle/>
            <a:p>
              <a:endParaRPr lang="en-US"/>
            </a:p>
          </p:txBody>
        </p:sp>
        <p:grpSp>
          <p:nvGrpSpPr>
            <p:cNvPr id="21" name="Group 21"/>
            <p:cNvGrpSpPr/>
            <p:nvPr/>
          </p:nvGrpSpPr>
          <p:grpSpPr>
            <a:xfrm>
              <a:off x="5519738" y="2376488"/>
              <a:ext cx="257175" cy="257175"/>
              <a:chOff x="5519738" y="2376488"/>
              <a:chExt cx="257175" cy="257175"/>
            </a:xfrm>
          </p:grpSpPr>
          <p:sp>
            <p:nvSpPr>
              <p:cNvPr id="19" name="Freeform 19"/>
              <p:cNvSpPr/>
              <p:nvPr/>
            </p:nvSpPr>
            <p:spPr>
              <a:xfrm>
                <a:off x="5519738" y="2376488"/>
                <a:ext cx="200025" cy="200025"/>
              </a:xfrm>
              <a:custGeom>
                <a:avLst/>
                <a:gdLst/>
                <a:ahLst/>
                <a:cxnLst/>
                <a:rect l="l" t="t" r="r" b="b"/>
                <a:pathLst>
                  <a:path w="200025" h="200025">
                    <a:moveTo>
                      <a:pt x="0" y="100012"/>
                    </a:moveTo>
                    <a:cubicBezTo>
                      <a:pt x="0" y="155248"/>
                      <a:pt x="44777" y="200025"/>
                      <a:pt x="100012" y="200025"/>
                    </a:cubicBezTo>
                    <a:cubicBezTo>
                      <a:pt x="155248" y="200025"/>
                      <a:pt x="200025" y="155248"/>
                      <a:pt x="200025" y="100012"/>
                    </a:cubicBezTo>
                    <a:cubicBezTo>
                      <a:pt x="200025" y="44777"/>
                      <a:pt x="155248" y="0"/>
                      <a:pt x="100012" y="0"/>
                    </a:cubicBezTo>
                    <a:cubicBezTo>
                      <a:pt x="44777" y="0"/>
                      <a:pt x="0" y="44777"/>
                      <a:pt x="0" y="100012"/>
                    </a:cubicBezTo>
                  </a:path>
                </a:pathLst>
              </a:custGeom>
              <a:noFill/>
              <a:ln w="19050">
                <a:solidFill>
                  <a:srgbClr val="707372"/>
                </a:solidFill>
              </a:ln>
            </p:spPr>
            <p:txBody>
              <a:bodyPr/>
              <a:lstStyle/>
              <a:p>
                <a:endParaRPr lang="en-US"/>
              </a:p>
            </p:txBody>
          </p:sp>
          <p:sp>
            <p:nvSpPr>
              <p:cNvPr id="20" name="Freeform 20"/>
              <p:cNvSpPr/>
              <p:nvPr/>
            </p:nvSpPr>
            <p:spPr>
              <a:xfrm>
                <a:off x="5691188" y="2547938"/>
                <a:ext cx="85725" cy="85725"/>
              </a:xfrm>
              <a:custGeom>
                <a:avLst/>
                <a:gdLst/>
                <a:ahLst/>
                <a:cxnLst/>
                <a:rect l="l" t="t" r="r" b="b"/>
                <a:pathLst>
                  <a:path w="85725" h="85725">
                    <a:moveTo>
                      <a:pt x="85725" y="85725"/>
                    </a:moveTo>
                    <a:lnTo>
                      <a:pt x="0" y="0"/>
                    </a:lnTo>
                  </a:path>
                </a:pathLst>
              </a:custGeom>
              <a:noFill/>
              <a:ln w="19050">
                <a:solidFill>
                  <a:srgbClr val="707372"/>
                </a:solidFill>
              </a:ln>
            </p:spPr>
            <p:txBody>
              <a:bodyPr/>
              <a:lstStyle/>
              <a:p>
                <a:endParaRPr lang="en-US"/>
              </a:p>
            </p:txBody>
          </p:sp>
        </p:grpSp>
        <p:sp>
          <p:nvSpPr>
            <p:cNvPr id="22" name="TextBox 22"/>
            <p:cNvSpPr txBox="1"/>
            <p:nvPr/>
          </p:nvSpPr>
          <p:spPr>
            <a:xfrm>
              <a:off x="5405896" y="2728912"/>
              <a:ext cx="484858" cy="152400"/>
            </a:xfrm>
            <a:prstGeom prst="rect">
              <a:avLst/>
            </a:prstGeom>
            <a:noFill/>
            <a:ln>
              <a:noFill/>
            </a:ln>
          </p:spPr>
          <p:txBody>
            <a:bodyPr wrap="none" lIns="0" tIns="0" rIns="0" bIns="0" anchor="t" anchorCtr="0">
              <a:spAutoFit/>
            </a:bodyPr>
            <a:lstStyle/>
            <a:p>
              <a:pPr algn="ctr"/>
              <a:r>
                <a:rPr lang="zh-CN" sz="750" b="1" dirty="0">
                  <a:solidFill>
                    <a:srgbClr val="707372"/>
                  </a:solidFill>
                  <a:latin typeface="Arial"/>
                  <a:ea typeface="Microsoft YaHei"/>
                  <a:cs typeface="Arial"/>
                </a:rPr>
                <a:t>CATALOG</a:t>
              </a:r>
            </a:p>
          </p:txBody>
        </p:sp>
      </p:grpSp>
      <p:grpSp>
        <p:nvGrpSpPr>
          <p:cNvPr id="43" name="Group 43"/>
          <p:cNvGrpSpPr/>
          <p:nvPr/>
        </p:nvGrpSpPr>
        <p:grpSpPr>
          <a:xfrm>
            <a:off x="6000750" y="1905000"/>
            <a:ext cx="5974461" cy="2190750"/>
            <a:chOff x="6000750" y="1905000"/>
            <a:chExt cx="5974461" cy="2190750"/>
          </a:xfrm>
        </p:grpSpPr>
        <p:sp>
          <p:nvSpPr>
            <p:cNvPr id="24" name="Rectangle 24"/>
            <p:cNvSpPr/>
            <p:nvPr/>
          </p:nvSpPr>
          <p:spPr>
            <a:xfrm>
              <a:off x="6000750" y="1905000"/>
              <a:ext cx="5619750" cy="2190750"/>
            </a:xfrm>
            <a:prstGeom prst="roundRect">
              <a:avLst>
                <a:gd name="adj" fmla="val 4348"/>
              </a:avLst>
            </a:prstGeom>
            <a:solidFill>
              <a:srgbClr val="004C97"/>
            </a:solidFill>
            <a:ln>
              <a:noFill/>
            </a:ln>
          </p:spPr>
          <p:txBody>
            <a:bodyPr/>
            <a:lstStyle/>
            <a:p>
              <a:endParaRPr lang="en-US"/>
            </a:p>
          </p:txBody>
        </p:sp>
        <p:sp>
          <p:nvSpPr>
            <p:cNvPr id="25" name="TextBox 25"/>
            <p:cNvSpPr txBox="1"/>
            <p:nvPr/>
          </p:nvSpPr>
          <p:spPr>
            <a:xfrm>
              <a:off x="6237922" y="2139791"/>
              <a:ext cx="805353" cy="167640"/>
            </a:xfrm>
            <a:prstGeom prst="rect">
              <a:avLst/>
            </a:prstGeom>
            <a:noFill/>
            <a:ln>
              <a:noFill/>
            </a:ln>
          </p:spPr>
          <p:txBody>
            <a:bodyPr wrap="none" lIns="0" tIns="0" rIns="0" bIns="0" anchor="t" anchorCtr="0">
              <a:spAutoFit/>
            </a:bodyPr>
            <a:lstStyle/>
            <a:p>
              <a:pPr algn="l"/>
              <a:r>
                <a:rPr lang="zh-CN" sz="825" b="1" dirty="0">
                  <a:solidFill>
                    <a:srgbClr val="FFFFFF"/>
                  </a:solidFill>
                  <a:latin typeface="Arial"/>
                  <a:ea typeface="Microsoft YaHei"/>
                  <a:cs typeface="Arial"/>
                </a:rPr>
                <a:t>RESOLVED TO</a:t>
              </a:r>
            </a:p>
          </p:txBody>
        </p:sp>
        <p:grpSp>
          <p:nvGrpSpPr>
            <p:cNvPr id="29" name="Group 29"/>
            <p:cNvGrpSpPr/>
            <p:nvPr/>
          </p:nvGrpSpPr>
          <p:grpSpPr>
            <a:xfrm>
              <a:off x="6237922" y="2521268"/>
              <a:ext cx="5134928" cy="288607"/>
              <a:chOff x="6237922" y="2521268"/>
              <a:chExt cx="5134928" cy="288607"/>
            </a:xfrm>
          </p:grpSpPr>
          <p:sp>
            <p:nvSpPr>
              <p:cNvPr id="26" name="TextBox 26"/>
              <p:cNvSpPr txBox="1"/>
              <p:nvPr/>
            </p:nvSpPr>
            <p:spPr>
              <a:xfrm>
                <a:off x="6237922" y="2577941"/>
                <a:ext cx="577625"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DATABASE</a:t>
                </a:r>
              </a:p>
            </p:txBody>
          </p:sp>
          <p:sp>
            <p:nvSpPr>
              <p:cNvPr id="27" name="TextBox 27"/>
              <p:cNvSpPr txBox="1"/>
              <p:nvPr/>
            </p:nvSpPr>
            <p:spPr>
              <a:xfrm>
                <a:off x="8555355" y="2521268"/>
                <a:ext cx="976258"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WEO_LIVE</a:t>
                </a:r>
              </a:p>
            </p:txBody>
          </p:sp>
          <p:sp>
            <p:nvSpPr>
              <p:cNvPr id="28" name="Line 28"/>
              <p:cNvSpPr/>
              <p:nvPr/>
            </p:nvSpPr>
            <p:spPr>
              <a:xfrm>
                <a:off x="6248400" y="2800350"/>
                <a:ext cx="5124450" cy="9525"/>
              </a:xfrm>
              <a:custGeom>
                <a:avLst/>
                <a:gdLst/>
                <a:ahLst/>
                <a:cxnLst/>
                <a:rect l="l" t="t" r="r" b="b"/>
                <a:pathLst>
                  <a:path w="5124450" h="9525">
                    <a:moveTo>
                      <a:pt x="0" y="0"/>
                    </a:moveTo>
                    <a:lnTo>
                      <a:pt x="5124450" y="0"/>
                    </a:lnTo>
                  </a:path>
                </a:pathLst>
              </a:custGeom>
              <a:noFill/>
              <a:ln w="9525">
                <a:solidFill>
                  <a:srgbClr val="FFFFFF">
                    <a:alpha val="15000"/>
                  </a:srgbClr>
                </a:solidFill>
              </a:ln>
            </p:spPr>
            <p:txBody>
              <a:bodyPr/>
              <a:lstStyle/>
              <a:p>
                <a:endParaRPr lang="en-US"/>
              </a:p>
            </p:txBody>
          </p:sp>
        </p:grpSp>
        <p:grpSp>
          <p:nvGrpSpPr>
            <p:cNvPr id="33" name="Group 33"/>
            <p:cNvGrpSpPr/>
            <p:nvPr/>
          </p:nvGrpSpPr>
          <p:grpSpPr>
            <a:xfrm>
              <a:off x="6237922" y="2902268"/>
              <a:ext cx="5134928" cy="288607"/>
              <a:chOff x="6237922" y="2902268"/>
              <a:chExt cx="5134928" cy="288607"/>
            </a:xfrm>
          </p:grpSpPr>
          <p:sp>
            <p:nvSpPr>
              <p:cNvPr id="30" name="TextBox 30"/>
              <p:cNvSpPr txBox="1"/>
              <p:nvPr/>
            </p:nvSpPr>
            <p:spPr>
              <a:xfrm>
                <a:off x="6237922" y="2958941"/>
                <a:ext cx="609254"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INDICATOR</a:t>
                </a:r>
              </a:p>
            </p:txBody>
          </p:sp>
          <p:sp>
            <p:nvSpPr>
              <p:cNvPr id="31" name="TextBox 31"/>
              <p:cNvSpPr txBox="1"/>
              <p:nvPr/>
            </p:nvSpPr>
            <p:spPr>
              <a:xfrm>
                <a:off x="8555355" y="2902268"/>
                <a:ext cx="1059068"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NGDP_RPCH</a:t>
                </a:r>
              </a:p>
            </p:txBody>
          </p:sp>
          <p:sp>
            <p:nvSpPr>
              <p:cNvPr id="32" name="Line 32"/>
              <p:cNvSpPr/>
              <p:nvPr/>
            </p:nvSpPr>
            <p:spPr>
              <a:xfrm>
                <a:off x="6248400" y="3181350"/>
                <a:ext cx="5124450" cy="9525"/>
              </a:xfrm>
              <a:custGeom>
                <a:avLst/>
                <a:gdLst/>
                <a:ahLst/>
                <a:cxnLst/>
                <a:rect l="l" t="t" r="r" b="b"/>
                <a:pathLst>
                  <a:path w="5124450" h="9525">
                    <a:moveTo>
                      <a:pt x="0" y="0"/>
                    </a:moveTo>
                    <a:lnTo>
                      <a:pt x="5124450" y="0"/>
                    </a:lnTo>
                  </a:path>
                </a:pathLst>
              </a:custGeom>
              <a:noFill/>
              <a:ln w="9525">
                <a:solidFill>
                  <a:srgbClr val="FFFFFF">
                    <a:alpha val="15000"/>
                  </a:srgbClr>
                </a:solidFill>
              </a:ln>
            </p:spPr>
            <p:txBody>
              <a:bodyPr/>
              <a:lstStyle/>
              <a:p>
                <a:endParaRPr lang="en-US"/>
              </a:p>
            </p:txBody>
          </p:sp>
        </p:grpSp>
        <p:grpSp>
          <p:nvGrpSpPr>
            <p:cNvPr id="38" name="Group 38"/>
            <p:cNvGrpSpPr/>
            <p:nvPr/>
          </p:nvGrpSpPr>
          <p:grpSpPr>
            <a:xfrm>
              <a:off x="6237922" y="3283268"/>
              <a:ext cx="5134928" cy="288607"/>
              <a:chOff x="6237922" y="3283268"/>
              <a:chExt cx="5134928" cy="288607"/>
            </a:xfrm>
          </p:grpSpPr>
          <p:sp>
            <p:nvSpPr>
              <p:cNvPr id="34" name="TextBox 34"/>
              <p:cNvSpPr txBox="1"/>
              <p:nvPr/>
            </p:nvSpPr>
            <p:spPr>
              <a:xfrm>
                <a:off x="6237922" y="3339941"/>
                <a:ext cx="672511"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FREQUENCY</a:t>
                </a:r>
              </a:p>
            </p:txBody>
          </p:sp>
          <p:sp>
            <p:nvSpPr>
              <p:cNvPr id="35" name="TextBox 35"/>
              <p:cNvSpPr txBox="1"/>
              <p:nvPr/>
            </p:nvSpPr>
            <p:spPr>
              <a:xfrm>
                <a:off x="8555355" y="3283268"/>
                <a:ext cx="148154"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A</a:t>
                </a:r>
              </a:p>
            </p:txBody>
          </p:sp>
          <p:sp>
            <p:nvSpPr>
              <p:cNvPr id="36" name="TextBox 36"/>
              <p:cNvSpPr txBox="1"/>
              <p:nvPr/>
            </p:nvSpPr>
            <p:spPr>
              <a:xfrm>
                <a:off x="8768715" y="3315652"/>
                <a:ext cx="663083" cy="213360"/>
              </a:xfrm>
              <a:prstGeom prst="rect">
                <a:avLst/>
              </a:prstGeom>
              <a:noFill/>
              <a:ln>
                <a:noFill/>
              </a:ln>
            </p:spPr>
            <p:txBody>
              <a:bodyPr wrap="none" lIns="0" tIns="0" rIns="0" bIns="0" anchor="t" anchorCtr="0">
                <a:spAutoFit/>
              </a:bodyPr>
              <a:lstStyle/>
              <a:p>
                <a:pPr algn="l"/>
                <a:r>
                  <a:rPr lang="zh-CN" sz="1050" dirty="0">
                    <a:solidFill>
                      <a:srgbClr val="FFFFFF">
                        <a:alpha val="60000"/>
                      </a:srgbClr>
                    </a:solidFill>
                    <a:latin typeface="Arial"/>
                    <a:ea typeface="Microsoft YaHei"/>
                    <a:cs typeface="Arial"/>
                  </a:rPr>
                  <a:t>(annual)</a:t>
                </a:r>
              </a:p>
            </p:txBody>
          </p:sp>
          <p:sp>
            <p:nvSpPr>
              <p:cNvPr id="37" name="Line 37"/>
              <p:cNvSpPr/>
              <p:nvPr/>
            </p:nvSpPr>
            <p:spPr>
              <a:xfrm>
                <a:off x="6248400" y="3562350"/>
                <a:ext cx="5124450" cy="9525"/>
              </a:xfrm>
              <a:custGeom>
                <a:avLst/>
                <a:gdLst/>
                <a:ahLst/>
                <a:cxnLst/>
                <a:rect l="l" t="t" r="r" b="b"/>
                <a:pathLst>
                  <a:path w="5124450" h="9525">
                    <a:moveTo>
                      <a:pt x="0" y="0"/>
                    </a:moveTo>
                    <a:lnTo>
                      <a:pt x="5124450" y="0"/>
                    </a:lnTo>
                  </a:path>
                </a:pathLst>
              </a:custGeom>
              <a:noFill/>
              <a:ln w="9525">
                <a:solidFill>
                  <a:srgbClr val="FFFFFF">
                    <a:alpha val="15000"/>
                  </a:srgbClr>
                </a:solidFill>
              </a:ln>
            </p:spPr>
            <p:txBody>
              <a:bodyPr/>
              <a:lstStyle/>
              <a:p>
                <a:endParaRPr lang="en-US"/>
              </a:p>
            </p:txBody>
          </p:sp>
        </p:grpSp>
        <p:grpSp>
          <p:nvGrpSpPr>
            <p:cNvPr id="42" name="Group 42"/>
            <p:cNvGrpSpPr/>
            <p:nvPr/>
          </p:nvGrpSpPr>
          <p:grpSpPr>
            <a:xfrm>
              <a:off x="6237922" y="3664268"/>
              <a:ext cx="5737289" cy="421957"/>
              <a:chOff x="6237922" y="3664268"/>
              <a:chExt cx="5737289" cy="421957"/>
            </a:xfrm>
          </p:grpSpPr>
          <p:sp>
            <p:nvSpPr>
              <p:cNvPr id="39" name="TextBox 39"/>
              <p:cNvSpPr txBox="1"/>
              <p:nvPr/>
            </p:nvSpPr>
            <p:spPr>
              <a:xfrm>
                <a:off x="6237922" y="3720941"/>
                <a:ext cx="255009" cy="167640"/>
              </a:xfrm>
              <a:prstGeom prst="rect">
                <a:avLst/>
              </a:prstGeom>
              <a:noFill/>
              <a:ln>
                <a:noFill/>
              </a:ln>
            </p:spPr>
            <p:txBody>
              <a:bodyPr wrap="none" lIns="0" tIns="0" rIns="0" bIns="0" anchor="t" anchorCtr="0">
                <a:spAutoFit/>
              </a:bodyPr>
              <a:lstStyle/>
              <a:p>
                <a:pPr algn="l"/>
                <a:r>
                  <a:rPr lang="zh-CN" sz="825" b="1" dirty="0">
                    <a:solidFill>
                      <a:srgbClr val="9AA3AE"/>
                    </a:solidFill>
                    <a:latin typeface="Arial"/>
                    <a:ea typeface="Microsoft YaHei"/>
                    <a:cs typeface="Arial"/>
                  </a:rPr>
                  <a:t>GEO</a:t>
                </a:r>
              </a:p>
            </p:txBody>
          </p:sp>
          <p:sp>
            <p:nvSpPr>
              <p:cNvPr id="40" name="TextBox 40"/>
              <p:cNvSpPr txBox="1"/>
              <p:nvPr/>
            </p:nvSpPr>
            <p:spPr>
              <a:xfrm>
                <a:off x="8555355" y="3664268"/>
                <a:ext cx="1473120"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Consolas"/>
                    <a:ea typeface="Microsoft YaHei"/>
                    <a:cs typeface="Consolas"/>
                  </a:rPr>
                  <a:t>G20 → ISO3 list</a:t>
                </a:r>
              </a:p>
            </p:txBody>
          </p:sp>
          <p:sp>
            <p:nvSpPr>
              <p:cNvPr id="41" name="TextBox 41"/>
              <p:cNvSpPr txBox="1"/>
              <p:nvPr/>
            </p:nvSpPr>
            <p:spPr>
              <a:xfrm>
                <a:off x="8561070" y="3903345"/>
                <a:ext cx="3414141" cy="182880"/>
              </a:xfrm>
              <a:prstGeom prst="rect">
                <a:avLst/>
              </a:prstGeom>
              <a:noFill/>
              <a:ln>
                <a:noFill/>
              </a:ln>
            </p:spPr>
            <p:txBody>
              <a:bodyPr wrap="none" lIns="0" tIns="0" rIns="0" bIns="0" anchor="t" anchorCtr="0">
                <a:spAutoFit/>
              </a:bodyPr>
              <a:lstStyle/>
              <a:p>
                <a:pPr algn="l"/>
                <a:r>
                  <a:rPr lang="zh-CN" sz="900" dirty="0">
                    <a:solidFill>
                      <a:srgbClr val="FFFFFF">
                        <a:alpha val="60000"/>
                      </a:srgbClr>
                    </a:solidFill>
                    <a:latin typeface="Arial"/>
                    <a:ea typeface="Microsoft YaHei"/>
                    <a:cs typeface="Arial"/>
                  </a:rPr>
                  <a:t>auto-expanded from country_group_composition.csv</a:t>
                </a:r>
              </a:p>
            </p:txBody>
          </p:sp>
        </p:grpSp>
      </p:grpSp>
      <p:grpSp>
        <p:nvGrpSpPr>
          <p:cNvPr id="62" name="Group 62"/>
          <p:cNvGrpSpPr/>
          <p:nvPr/>
        </p:nvGrpSpPr>
        <p:grpSpPr>
          <a:xfrm>
            <a:off x="571500" y="4381500"/>
            <a:ext cx="11049000" cy="1905000"/>
            <a:chOff x="571500" y="4381500"/>
            <a:chExt cx="11049000" cy="1905000"/>
          </a:xfrm>
        </p:grpSpPr>
        <p:sp>
          <p:nvSpPr>
            <p:cNvPr id="44" name="Rectangle 44"/>
            <p:cNvSpPr/>
            <p:nvPr/>
          </p:nvSpPr>
          <p:spPr>
            <a:xfrm>
              <a:off x="571500" y="4381500"/>
              <a:ext cx="11049000" cy="1905000"/>
            </a:xfrm>
            <a:prstGeom prst="roundRect">
              <a:avLst>
                <a:gd name="adj" fmla="val 5000"/>
              </a:avLst>
            </a:prstGeom>
            <a:solidFill>
              <a:srgbClr val="EAF6FD"/>
            </a:solidFill>
            <a:ln>
              <a:noFill/>
            </a:ln>
          </p:spPr>
          <p:txBody>
            <a:bodyPr/>
            <a:lstStyle/>
            <a:p>
              <a:endParaRPr lang="en-US"/>
            </a:p>
          </p:txBody>
        </p:sp>
        <p:sp>
          <p:nvSpPr>
            <p:cNvPr id="45" name="TextBox 45"/>
            <p:cNvSpPr txBox="1"/>
            <p:nvPr/>
          </p:nvSpPr>
          <p:spPr>
            <a:xfrm>
              <a:off x="808672" y="4625816"/>
              <a:ext cx="1501190"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FOUR RULES OF THE ROAD</a:t>
              </a:r>
            </a:p>
          </p:txBody>
        </p:sp>
        <p:grpSp>
          <p:nvGrpSpPr>
            <p:cNvPr id="49" name="Group 49"/>
            <p:cNvGrpSpPr/>
            <p:nvPr/>
          </p:nvGrpSpPr>
          <p:grpSpPr>
            <a:xfrm>
              <a:off x="819150" y="4895850"/>
              <a:ext cx="4581645" cy="492919"/>
              <a:chOff x="819150" y="4895850"/>
              <a:chExt cx="4581645" cy="492919"/>
            </a:xfrm>
          </p:grpSpPr>
          <p:sp>
            <p:nvSpPr>
              <p:cNvPr id="46" name="Rectangle 46"/>
              <p:cNvSpPr/>
              <p:nvPr/>
            </p:nvSpPr>
            <p:spPr>
              <a:xfrm>
                <a:off x="819150" y="4895850"/>
                <a:ext cx="38100" cy="476250"/>
              </a:xfrm>
              <a:prstGeom prst="rect">
                <a:avLst/>
              </a:prstGeom>
              <a:solidFill>
                <a:srgbClr val="004C97"/>
              </a:solidFill>
              <a:ln>
                <a:noFill/>
              </a:ln>
            </p:spPr>
            <p:txBody>
              <a:bodyPr/>
              <a:lstStyle/>
              <a:p>
                <a:endParaRPr lang="en-US"/>
              </a:p>
            </p:txBody>
          </p:sp>
          <p:sp>
            <p:nvSpPr>
              <p:cNvPr id="47" name="TextBox 47"/>
              <p:cNvSpPr txBox="1"/>
              <p:nvPr/>
            </p:nvSpPr>
            <p:spPr>
              <a:xfrm>
                <a:off x="996315" y="4973002"/>
                <a:ext cx="2015269"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LIVE vs vintage is explicit</a:t>
                </a:r>
              </a:p>
            </p:txBody>
          </p:sp>
          <p:sp>
            <p:nvSpPr>
              <p:cNvPr id="48" name="TextBox 48"/>
              <p:cNvSpPr txBox="1"/>
              <p:nvPr/>
            </p:nvSpPr>
            <p:spPr>
              <a:xfrm>
                <a:off x="997268" y="5190649"/>
                <a:ext cx="4403527"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Latest by default. Say </a:t>
                </a:r>
                <a:r>
                  <a:rPr lang="zh-CN" sz="975" i="1" dirty="0">
                    <a:solidFill>
                      <a:srgbClr val="1F2937"/>
                    </a:solidFill>
                    <a:latin typeface="Arial"/>
                    <a:ea typeface="Microsoft YaHei"/>
                    <a:cs typeface="Arial"/>
                  </a:rPr>
                  <a:t>"April 2024 WEO"</a:t>
                </a:r>
                <a:r>
                  <a:rPr lang="zh-CN" sz="975" dirty="0">
                    <a:solidFill>
                      <a:srgbClr val="5B6470"/>
                    </a:solidFill>
                    <a:latin typeface="Arial"/>
                    <a:ea typeface="Microsoft YaHei"/>
                    <a:cs typeface="Arial"/>
                  </a:rPr>
                  <a:t> to lock to a snapshot.</a:t>
                </a:r>
              </a:p>
            </p:txBody>
          </p:sp>
        </p:grpSp>
        <p:grpSp>
          <p:nvGrpSpPr>
            <p:cNvPr id="53" name="Group 53"/>
            <p:cNvGrpSpPr/>
            <p:nvPr/>
          </p:nvGrpSpPr>
          <p:grpSpPr>
            <a:xfrm>
              <a:off x="6324600" y="4895850"/>
              <a:ext cx="4325327" cy="492919"/>
              <a:chOff x="6324600" y="4895850"/>
              <a:chExt cx="4325327" cy="492919"/>
            </a:xfrm>
          </p:grpSpPr>
          <p:sp>
            <p:nvSpPr>
              <p:cNvPr id="50" name="Rectangle 50"/>
              <p:cNvSpPr/>
              <p:nvPr/>
            </p:nvSpPr>
            <p:spPr>
              <a:xfrm>
                <a:off x="6324600" y="4895850"/>
                <a:ext cx="38100" cy="476250"/>
              </a:xfrm>
              <a:prstGeom prst="rect">
                <a:avLst/>
              </a:prstGeom>
              <a:solidFill>
                <a:srgbClr val="004C97"/>
              </a:solidFill>
              <a:ln>
                <a:noFill/>
              </a:ln>
            </p:spPr>
            <p:txBody>
              <a:bodyPr/>
              <a:lstStyle/>
              <a:p>
                <a:endParaRPr lang="en-US"/>
              </a:p>
            </p:txBody>
          </p:sp>
          <p:sp>
            <p:nvSpPr>
              <p:cNvPr id="51" name="TextBox 51"/>
              <p:cNvSpPr txBox="1"/>
              <p:nvPr/>
            </p:nvSpPr>
            <p:spPr>
              <a:xfrm>
                <a:off x="6501765" y="4973002"/>
                <a:ext cx="1805942"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Country groups expand</a:t>
                </a:r>
              </a:p>
            </p:txBody>
          </p:sp>
          <p:sp>
            <p:nvSpPr>
              <p:cNvPr id="52" name="TextBox 52"/>
              <p:cNvSpPr txBox="1"/>
              <p:nvPr/>
            </p:nvSpPr>
            <p:spPr>
              <a:xfrm>
                <a:off x="6502718" y="5190649"/>
                <a:ext cx="4147209" cy="198120"/>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"advanced economies"</a:t>
                </a:r>
                <a:r>
                  <a:rPr lang="zh-CN" sz="975" dirty="0">
                    <a:solidFill>
                      <a:srgbClr val="5B6470"/>
                    </a:solidFill>
                    <a:latin typeface="Arial"/>
                    <a:ea typeface="Microsoft YaHei"/>
                    <a:cs typeface="Arial"/>
                  </a:rPr>
                  <a:t> → G110 member list, no manual lookup.</a:t>
                </a:r>
              </a:p>
            </p:txBody>
          </p:sp>
        </p:grpSp>
        <p:grpSp>
          <p:nvGrpSpPr>
            <p:cNvPr id="57" name="Group 57"/>
            <p:cNvGrpSpPr/>
            <p:nvPr/>
          </p:nvGrpSpPr>
          <p:grpSpPr>
            <a:xfrm>
              <a:off x="819150" y="5600700"/>
              <a:ext cx="4353807" cy="492919"/>
              <a:chOff x="819150" y="5600700"/>
              <a:chExt cx="4353807" cy="492919"/>
            </a:xfrm>
          </p:grpSpPr>
          <p:sp>
            <p:nvSpPr>
              <p:cNvPr id="54" name="Rectangle 54"/>
              <p:cNvSpPr/>
              <p:nvPr/>
            </p:nvSpPr>
            <p:spPr>
              <a:xfrm>
                <a:off x="819150" y="5600700"/>
                <a:ext cx="38100" cy="476250"/>
              </a:xfrm>
              <a:prstGeom prst="rect">
                <a:avLst/>
              </a:prstGeom>
              <a:solidFill>
                <a:srgbClr val="004C97"/>
              </a:solidFill>
              <a:ln>
                <a:noFill/>
              </a:ln>
            </p:spPr>
            <p:txBody>
              <a:bodyPr/>
              <a:lstStyle/>
              <a:p>
                <a:endParaRPr lang="en-US"/>
              </a:p>
            </p:txBody>
          </p:sp>
          <p:sp>
            <p:nvSpPr>
              <p:cNvPr id="55" name="TextBox 55"/>
              <p:cNvSpPr txBox="1"/>
              <p:nvPr/>
            </p:nvSpPr>
            <p:spPr>
              <a:xfrm>
                <a:off x="996315" y="5677852"/>
                <a:ext cx="2514431"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Ambiguous queries are surfaced</a:t>
                </a:r>
              </a:p>
            </p:txBody>
          </p:sp>
          <p:sp>
            <p:nvSpPr>
              <p:cNvPr id="56" name="TextBox 56"/>
              <p:cNvSpPr txBox="1"/>
              <p:nvPr/>
            </p:nvSpPr>
            <p:spPr>
              <a:xfrm>
                <a:off x="997268" y="5895499"/>
                <a:ext cx="4175689"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Candidates listed with distinguishing notes. Never guesses.</a:t>
                </a:r>
              </a:p>
            </p:txBody>
          </p:sp>
        </p:grpSp>
        <p:grpSp>
          <p:nvGrpSpPr>
            <p:cNvPr id="61" name="Group 61"/>
            <p:cNvGrpSpPr/>
            <p:nvPr/>
          </p:nvGrpSpPr>
          <p:grpSpPr>
            <a:xfrm>
              <a:off x="6324600" y="5600700"/>
              <a:ext cx="4239888" cy="492919"/>
              <a:chOff x="6324600" y="5600700"/>
              <a:chExt cx="4239888" cy="492919"/>
            </a:xfrm>
          </p:grpSpPr>
          <p:sp>
            <p:nvSpPr>
              <p:cNvPr id="58" name="Rectangle 58"/>
              <p:cNvSpPr/>
              <p:nvPr/>
            </p:nvSpPr>
            <p:spPr>
              <a:xfrm>
                <a:off x="6324600" y="5600700"/>
                <a:ext cx="38100" cy="476250"/>
              </a:xfrm>
              <a:prstGeom prst="rect">
                <a:avLst/>
              </a:prstGeom>
              <a:solidFill>
                <a:srgbClr val="004C97"/>
              </a:solidFill>
              <a:ln>
                <a:noFill/>
              </a:ln>
            </p:spPr>
            <p:txBody>
              <a:bodyPr/>
              <a:lstStyle/>
              <a:p>
                <a:endParaRPr lang="en-US"/>
              </a:p>
            </p:txBody>
          </p:sp>
          <p:sp>
            <p:nvSpPr>
              <p:cNvPr id="59" name="TextBox 59"/>
              <p:cNvSpPr txBox="1"/>
              <p:nvPr/>
            </p:nvSpPr>
            <p:spPr>
              <a:xfrm>
                <a:off x="6501765" y="5677852"/>
                <a:ext cx="2079677" cy="213360"/>
              </a:xfrm>
              <a:prstGeom prst="rect">
                <a:avLst/>
              </a:prstGeom>
              <a:noFill/>
              <a:ln>
                <a:noFill/>
              </a:ln>
            </p:spPr>
            <p:txBody>
              <a:bodyPr wrap="none" lIns="0" tIns="0" rIns="0" bIns="0" anchor="t" anchorCtr="0">
                <a:spAutoFit/>
              </a:bodyPr>
              <a:lstStyle/>
              <a:p>
                <a:pPr algn="l"/>
                <a:r>
                  <a:rPr lang="zh-CN" sz="1050" b="1" dirty="0">
                    <a:solidFill>
                      <a:srgbClr val="004C97"/>
                    </a:solidFill>
                    <a:latin typeface="Arial"/>
                    <a:ea typeface="Microsoft YaHei"/>
                    <a:cs typeface="Arial"/>
                  </a:rPr>
                  <a:t>Retired endpoints refused</a:t>
                </a:r>
              </a:p>
            </p:txBody>
          </p:sp>
          <p:sp>
            <p:nvSpPr>
              <p:cNvPr id="60" name="TextBox 60"/>
              <p:cNvSpPr txBox="1"/>
              <p:nvPr/>
            </p:nvSpPr>
            <p:spPr>
              <a:xfrm>
                <a:off x="6502718" y="5895499"/>
                <a:ext cx="406177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EcOS is retired — pointer to the current iData equivalent.</a:t>
                </a:r>
              </a:p>
            </p:txBody>
          </p:sp>
        </p:grpSp>
      </p:grpSp>
      <p:grpSp>
        <p:nvGrpSpPr>
          <p:cNvPr id="65" name="Group 65"/>
          <p:cNvGrpSpPr/>
          <p:nvPr/>
        </p:nvGrpSpPr>
        <p:grpSpPr>
          <a:xfrm>
            <a:off x="561022" y="6530816"/>
            <a:ext cx="11069956" cy="167640"/>
            <a:chOff x="561022" y="6530816"/>
            <a:chExt cx="11069956" cy="167640"/>
          </a:xfrm>
        </p:grpSpPr>
        <p:sp>
          <p:nvSpPr>
            <p:cNvPr id="63" name="TextBox 63"/>
            <p:cNvSpPr txBox="1"/>
            <p:nvPr/>
          </p:nvSpPr>
          <p:spPr>
            <a:xfrm>
              <a:off x="561022" y="6530816"/>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64" name="TextBox 64"/>
            <p:cNvSpPr txBox="1"/>
            <p:nvPr/>
          </p:nvSpPr>
          <p:spPr>
            <a:xfrm>
              <a:off x="11236500" y="6530816"/>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07 / 10</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par>
                          <p:cTn id="8" fill="hold">
                            <p:stCondLst>
                              <p:cond delay="900"/>
                            </p:stCondLst>
                            <p:childTnLst>
                              <p:par>
                                <p:cTn id="9" presetID="9" presetClass="entr" presetSubtype="0" fill="hold" nodeType="after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dissolve">
                                      <p:cBhvr>
                                        <p:cTn id="11" dur="400"/>
                                        <p:tgtEl>
                                          <p:spTgt spid="23"/>
                                        </p:tgtEl>
                                      </p:cBhvr>
                                    </p:animEffect>
                                  </p:childTnLst>
                                </p:cTn>
                              </p:par>
                            </p:childTnLst>
                          </p:cTn>
                        </p:par>
                        <p:par>
                          <p:cTn id="12" fill="hold">
                            <p:stCondLst>
                              <p:cond delay="1800"/>
                            </p:stCondLst>
                            <p:childTnLst>
                              <p:par>
                                <p:cTn id="13" presetID="2" presetClass="entr" presetSubtype="4" fill="hold" nodeType="afterEffect">
                                  <p:stCondLst>
                                    <p:cond delay="0"/>
                                  </p:stCondLst>
                                  <p:childTnLst>
                                    <p:set>
                                      <p:cBhvr>
                                        <p:cTn id="14" dur="1" fill="hold">
                                          <p:stCondLst>
                                            <p:cond delay="0"/>
                                          </p:stCondLst>
                                        </p:cTn>
                                        <p:tgtEl>
                                          <p:spTgt spid="43"/>
                                        </p:tgtEl>
                                        <p:attrNameLst>
                                          <p:attrName>style.visibility</p:attrName>
                                        </p:attrNameLst>
                                      </p:cBhvr>
                                      <p:to>
                                        <p:strVal val="visible"/>
                                      </p:to>
                                    </p:set>
                                    <p:animEffect transition="in" filter="slide(fromBottom)">
                                      <p:cBhvr>
                                        <p:cTn id="15" dur="400"/>
                                        <p:tgtEl>
                                          <p:spTgt spid="43"/>
                                        </p:tgtEl>
                                      </p:cBhvr>
                                    </p:animEffect>
                                  </p:childTnLst>
                                </p:cTn>
                              </p:par>
                            </p:childTnLst>
                          </p:cTn>
                        </p:par>
                        <p:par>
                          <p:cTn id="16" fill="hold">
                            <p:stCondLst>
                              <p:cond delay="2700"/>
                            </p:stCondLst>
                            <p:childTnLst>
                              <p:par>
                                <p:cTn id="17" presetID="42" presetClass="entr" presetSubtype="8" fill="hold" nodeType="after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slide(fromLeft)">
                                      <p:cBhvr>
                                        <p:cTn id="19"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3" grpId="0"/>
      <p:bldP spid="43" grpId="0"/>
      <p:bldP spid="6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2925" y="474345"/>
            <a:ext cx="8648724" cy="852011"/>
            <a:chOff x="542925" y="474345"/>
            <a:chExt cx="8648724" cy="852011"/>
          </a:xfrm>
        </p:grpSpPr>
        <p:sp>
          <p:nvSpPr>
            <p:cNvPr id="3" name="TextBox 3"/>
            <p:cNvSpPr txBox="1"/>
            <p:nvPr/>
          </p:nvSpPr>
          <p:spPr>
            <a:xfrm>
              <a:off x="560070" y="474345"/>
              <a:ext cx="1679067"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07 · CAPABILITY 2 — FETCH</a:t>
              </a:r>
            </a:p>
          </p:txBody>
        </p:sp>
        <p:sp>
          <p:nvSpPr>
            <p:cNvPr id="4" name="TextBox 4"/>
            <p:cNvSpPr txBox="1"/>
            <p:nvPr/>
          </p:nvSpPr>
          <p:spPr>
            <a:xfrm>
              <a:off x="542925" y="709612"/>
              <a:ext cx="8648724" cy="457200"/>
            </a:xfrm>
            <a:prstGeom prst="rect">
              <a:avLst/>
            </a:prstGeom>
            <a:noFill/>
            <a:ln>
              <a:noFill/>
            </a:ln>
          </p:spPr>
          <p:txBody>
            <a:bodyPr wrap="none" lIns="0" tIns="0" rIns="0" bIns="0" anchor="t" anchorCtr="0">
              <a:spAutoFit/>
            </a:bodyPr>
            <a:lstStyle/>
            <a:p>
              <a:pPr algn="l"/>
              <a:r>
                <a:rPr lang="zh-CN" sz="2250" b="1" dirty="0">
                  <a:solidFill>
                    <a:srgbClr val="004C97"/>
                  </a:solidFill>
                  <a:latin typeface="Arial Black"/>
                  <a:ea typeface="Microsoft YaHei"/>
                  <a:cs typeface="Arial Black"/>
                </a:rPr>
                <a:t>Resolved query → tidy time-series, on your machine</a:t>
              </a:r>
            </a:p>
          </p:txBody>
        </p:sp>
        <p:sp>
          <p:nvSpPr>
            <p:cNvPr id="5" name="TextBox 5"/>
            <p:cNvSpPr txBox="1"/>
            <p:nvPr/>
          </p:nvSpPr>
          <p:spPr>
            <a:xfrm>
              <a:off x="557212" y="1097756"/>
              <a:ext cx="5532834" cy="228600"/>
            </a:xfrm>
            <a:prstGeom prst="rect">
              <a:avLst/>
            </a:prstGeom>
            <a:noFill/>
            <a:ln>
              <a:noFill/>
            </a:ln>
          </p:spPr>
          <p:txBody>
            <a:bodyPr wrap="none" lIns="0" tIns="0" rIns="0" bIns="0" anchor="t" anchorCtr="0">
              <a:spAutoFit/>
            </a:bodyPr>
            <a:lstStyle/>
            <a:p>
              <a:pPr algn="l"/>
              <a:r>
                <a:rPr lang="zh-CN" sz="1125" i="1" dirty="0">
                  <a:solidFill>
                    <a:srgbClr val="5B6470"/>
                  </a:solidFill>
                  <a:latin typeface="Arial"/>
                  <a:ea typeface="Microsoft YaHei"/>
                  <a:cs typeface="Arial"/>
                </a:rPr>
                <a:t>Seven-step protocol · pre-built SDK wrapper · three output shapes.</a:t>
              </a:r>
            </a:p>
          </p:txBody>
        </p:sp>
      </p:grpSp>
      <p:grpSp>
        <p:nvGrpSpPr>
          <p:cNvPr id="46" name="Group 46"/>
          <p:cNvGrpSpPr/>
          <p:nvPr/>
        </p:nvGrpSpPr>
        <p:grpSpPr>
          <a:xfrm>
            <a:off x="571500" y="1619250"/>
            <a:ext cx="11049000" cy="2667000"/>
            <a:chOff x="571500" y="1619250"/>
            <a:chExt cx="11049000" cy="2667000"/>
          </a:xfrm>
        </p:grpSpPr>
        <p:sp>
          <p:nvSpPr>
            <p:cNvPr id="7" name="Rectangle 7"/>
            <p:cNvSpPr/>
            <p:nvPr/>
          </p:nvSpPr>
          <p:spPr>
            <a:xfrm>
              <a:off x="571500" y="1619250"/>
              <a:ext cx="11049000" cy="2667000"/>
            </a:xfrm>
            <a:prstGeom prst="roundRect">
              <a:avLst>
                <a:gd name="adj" fmla="val 3571"/>
              </a:avLst>
            </a:prstGeom>
            <a:solidFill>
              <a:srgbClr val="EAF6FD"/>
            </a:solidFill>
            <a:ln>
              <a:noFill/>
            </a:ln>
          </p:spPr>
          <p:txBody>
            <a:bodyPr/>
            <a:lstStyle/>
            <a:p>
              <a:endParaRPr lang="en-US"/>
            </a:p>
          </p:txBody>
        </p:sp>
        <p:grpSp>
          <p:nvGrpSpPr>
            <p:cNvPr id="18" name="Group 18"/>
            <p:cNvGrpSpPr/>
            <p:nvPr/>
          </p:nvGrpSpPr>
          <p:grpSpPr>
            <a:xfrm>
              <a:off x="819150" y="1905000"/>
              <a:ext cx="3409950" cy="2095500"/>
              <a:chOff x="819150" y="1905000"/>
              <a:chExt cx="3409950" cy="2095500"/>
            </a:xfrm>
          </p:grpSpPr>
          <p:sp>
            <p:nvSpPr>
              <p:cNvPr id="8" name="Rectangle 8"/>
              <p:cNvSpPr/>
              <p:nvPr/>
            </p:nvSpPr>
            <p:spPr>
              <a:xfrm>
                <a:off x="819150" y="1905000"/>
                <a:ext cx="3409950" cy="2095500"/>
              </a:xfrm>
              <a:prstGeom prst="roundRect">
                <a:avLst>
                  <a:gd name="adj" fmla="val 4545"/>
                </a:avLst>
              </a:prstGeom>
              <a:solidFill>
                <a:srgbClr val="FFFFFF"/>
              </a:solidFill>
              <a:ln w="9525">
                <a:solidFill>
                  <a:srgbClr val="CDD7E2"/>
                </a:solidFill>
              </a:ln>
            </p:spPr>
            <p:txBody>
              <a:bodyPr/>
              <a:lstStyle/>
              <a:p>
                <a:endParaRPr lang="en-US"/>
              </a:p>
            </p:txBody>
          </p:sp>
          <p:sp>
            <p:nvSpPr>
              <p:cNvPr id="9" name="Rectangle 9"/>
              <p:cNvSpPr/>
              <p:nvPr/>
            </p:nvSpPr>
            <p:spPr>
              <a:xfrm>
                <a:off x="819150" y="1905000"/>
                <a:ext cx="3409950" cy="438150"/>
              </a:xfrm>
              <a:prstGeom prst="roundRect">
                <a:avLst>
                  <a:gd name="adj" fmla="val 21739"/>
                </a:avLst>
              </a:prstGeom>
              <a:solidFill>
                <a:srgbClr val="009CDE"/>
              </a:solidFill>
              <a:ln>
                <a:noFill/>
              </a:ln>
            </p:spPr>
            <p:txBody>
              <a:bodyPr/>
              <a:lstStyle/>
              <a:p>
                <a:endParaRPr lang="en-US"/>
              </a:p>
            </p:txBody>
          </p:sp>
          <p:sp>
            <p:nvSpPr>
              <p:cNvPr id="10" name="Rectangle 10"/>
              <p:cNvSpPr/>
              <p:nvPr/>
            </p:nvSpPr>
            <p:spPr>
              <a:xfrm>
                <a:off x="819150" y="2209800"/>
                <a:ext cx="3409950" cy="133350"/>
              </a:xfrm>
              <a:prstGeom prst="rect">
                <a:avLst/>
              </a:prstGeom>
              <a:solidFill>
                <a:srgbClr val="009CDE"/>
              </a:solidFill>
              <a:ln>
                <a:noFill/>
              </a:ln>
            </p:spPr>
            <p:txBody>
              <a:bodyPr/>
              <a:lstStyle/>
              <a:p>
                <a:endParaRPr lang="en-US"/>
              </a:p>
            </p:txBody>
          </p:sp>
          <p:sp>
            <p:nvSpPr>
              <p:cNvPr id="11" name="TextBox 11"/>
              <p:cNvSpPr txBox="1"/>
              <p:nvPr/>
            </p:nvSpPr>
            <p:spPr>
              <a:xfrm>
                <a:off x="997268" y="2085499"/>
                <a:ext cx="2035791"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STAGE 01 · CATALOG HANDOFF</a:t>
                </a:r>
              </a:p>
            </p:txBody>
          </p:sp>
          <p:sp>
            <p:nvSpPr>
              <p:cNvPr id="12" name="TextBox 12"/>
              <p:cNvSpPr txBox="1"/>
              <p:nvPr/>
            </p:nvSpPr>
            <p:spPr>
              <a:xfrm>
                <a:off x="992505" y="2502218"/>
                <a:ext cx="1990685" cy="274320"/>
              </a:xfrm>
              <a:prstGeom prst="rect">
                <a:avLst/>
              </a:prstGeom>
              <a:noFill/>
              <a:ln>
                <a:noFill/>
              </a:ln>
            </p:spPr>
            <p:txBody>
              <a:bodyPr wrap="none" lIns="0" tIns="0" rIns="0" bIns="0" anchor="t" anchorCtr="0">
                <a:spAutoFit/>
              </a:bodyPr>
              <a:lstStyle/>
              <a:p>
                <a:pPr algn="l"/>
                <a:r>
                  <a:rPr lang="zh-CN" sz="1350" b="1" dirty="0">
                    <a:solidFill>
                      <a:srgbClr val="004C97"/>
                    </a:solidFill>
                    <a:latin typeface="Arial Black"/>
                    <a:ea typeface="Microsoft YaHei"/>
                    <a:cs typeface="Arial Black"/>
                  </a:rPr>
                  <a:t>Receive the 4-tuple</a:t>
                </a:r>
              </a:p>
            </p:txBody>
          </p:sp>
          <p:sp>
            <p:nvSpPr>
              <p:cNvPr id="13" name="TextBox 13"/>
              <p:cNvSpPr txBox="1"/>
              <p:nvPr/>
            </p:nvSpPr>
            <p:spPr>
              <a:xfrm>
                <a:off x="997268" y="2780824"/>
                <a:ext cx="2716101"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Database · indicator · frequency · geo</a:t>
                </a:r>
              </a:p>
            </p:txBody>
          </p:sp>
          <p:sp>
            <p:nvSpPr>
              <p:cNvPr id="14" name="TextBox 14"/>
              <p:cNvSpPr txBox="1"/>
              <p:nvPr/>
            </p:nvSpPr>
            <p:spPr>
              <a:xfrm>
                <a:off x="997268" y="2952274"/>
                <a:ext cx="172643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 from the catalog skill.</a:t>
                </a:r>
              </a:p>
            </p:txBody>
          </p:sp>
          <p:sp>
            <p:nvSpPr>
              <p:cNvPr id="15" name="Line 15"/>
              <p:cNvSpPr/>
              <p:nvPr/>
            </p:nvSpPr>
            <p:spPr>
              <a:xfrm>
                <a:off x="1009650" y="3381375"/>
                <a:ext cx="3028950" cy="9525"/>
              </a:xfrm>
              <a:custGeom>
                <a:avLst/>
                <a:gdLst/>
                <a:ahLst/>
                <a:cxnLst/>
                <a:rect l="l" t="t" r="r" b="b"/>
                <a:pathLst>
                  <a:path w="3028950" h="9525">
                    <a:moveTo>
                      <a:pt x="0" y="0"/>
                    </a:moveTo>
                    <a:lnTo>
                      <a:pt x="3028950" y="0"/>
                    </a:lnTo>
                  </a:path>
                </a:pathLst>
              </a:custGeom>
              <a:noFill/>
              <a:ln w="9525">
                <a:solidFill>
                  <a:srgbClr val="CDD7E2"/>
                </a:solidFill>
              </a:ln>
            </p:spPr>
            <p:txBody>
              <a:bodyPr/>
              <a:lstStyle/>
              <a:p>
                <a:endParaRPr lang="en-US"/>
              </a:p>
            </p:txBody>
          </p:sp>
          <p:sp>
            <p:nvSpPr>
              <p:cNvPr id="16" name="TextBox 16"/>
              <p:cNvSpPr txBox="1"/>
              <p:nvPr/>
            </p:nvSpPr>
            <p:spPr>
              <a:xfrm>
                <a:off x="1000125" y="3519488"/>
                <a:ext cx="421600" cy="152400"/>
              </a:xfrm>
              <a:prstGeom prst="rect">
                <a:avLst/>
              </a:prstGeom>
              <a:noFill/>
              <a:ln>
                <a:noFill/>
              </a:ln>
            </p:spPr>
            <p:txBody>
              <a:bodyPr wrap="none" lIns="0" tIns="0" rIns="0" bIns="0" anchor="t" anchorCtr="0">
                <a:spAutoFit/>
              </a:bodyPr>
              <a:lstStyle/>
              <a:p>
                <a:pPr algn="l"/>
                <a:r>
                  <a:rPr lang="zh-CN" sz="750" b="1" dirty="0">
                    <a:solidFill>
                      <a:srgbClr val="9AA3AE"/>
                    </a:solidFill>
                    <a:latin typeface="Arial"/>
                    <a:ea typeface="Microsoft YaHei"/>
                    <a:cs typeface="Arial"/>
                  </a:rPr>
                  <a:t>OUTPUT</a:t>
                </a:r>
              </a:p>
            </p:txBody>
          </p:sp>
          <p:sp>
            <p:nvSpPr>
              <p:cNvPr id="17" name="TextBox 17"/>
              <p:cNvSpPr txBox="1"/>
              <p:nvPr/>
            </p:nvSpPr>
            <p:spPr>
              <a:xfrm>
                <a:off x="997268" y="3723799"/>
                <a:ext cx="1273246"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Consolas"/>
                    <a:ea typeface="Microsoft YaHei"/>
                    <a:cs typeface="Consolas"/>
                  </a:rPr>
                  <a:t>validated 4-tuple</a:t>
                </a:r>
              </a:p>
            </p:txBody>
          </p:sp>
        </p:grpSp>
        <p:grpSp>
          <p:nvGrpSpPr>
            <p:cNvPr id="29" name="Group 29"/>
            <p:cNvGrpSpPr/>
            <p:nvPr/>
          </p:nvGrpSpPr>
          <p:grpSpPr>
            <a:xfrm>
              <a:off x="4391025" y="1905000"/>
              <a:ext cx="3409950" cy="2095500"/>
              <a:chOff x="4391025" y="1905000"/>
              <a:chExt cx="3409950" cy="2095500"/>
            </a:xfrm>
          </p:grpSpPr>
          <p:sp>
            <p:nvSpPr>
              <p:cNvPr id="19" name="Rectangle 19"/>
              <p:cNvSpPr/>
              <p:nvPr/>
            </p:nvSpPr>
            <p:spPr>
              <a:xfrm>
                <a:off x="4391025" y="1905000"/>
                <a:ext cx="3409950" cy="2095500"/>
              </a:xfrm>
              <a:prstGeom prst="roundRect">
                <a:avLst>
                  <a:gd name="adj" fmla="val 4545"/>
                </a:avLst>
              </a:prstGeom>
              <a:solidFill>
                <a:srgbClr val="FFFFFF"/>
              </a:solidFill>
              <a:ln w="9525">
                <a:solidFill>
                  <a:srgbClr val="CDD7E2"/>
                </a:solidFill>
              </a:ln>
            </p:spPr>
            <p:txBody>
              <a:bodyPr/>
              <a:lstStyle/>
              <a:p>
                <a:endParaRPr lang="en-US"/>
              </a:p>
            </p:txBody>
          </p:sp>
          <p:sp>
            <p:nvSpPr>
              <p:cNvPr id="20" name="Rectangle 20"/>
              <p:cNvSpPr/>
              <p:nvPr/>
            </p:nvSpPr>
            <p:spPr>
              <a:xfrm>
                <a:off x="4391025" y="1905000"/>
                <a:ext cx="3409950" cy="438150"/>
              </a:xfrm>
              <a:prstGeom prst="roundRect">
                <a:avLst>
                  <a:gd name="adj" fmla="val 21739"/>
                </a:avLst>
              </a:prstGeom>
              <a:solidFill>
                <a:srgbClr val="004C97"/>
              </a:solidFill>
              <a:ln>
                <a:noFill/>
              </a:ln>
            </p:spPr>
            <p:txBody>
              <a:bodyPr/>
              <a:lstStyle/>
              <a:p>
                <a:endParaRPr lang="en-US"/>
              </a:p>
            </p:txBody>
          </p:sp>
          <p:sp>
            <p:nvSpPr>
              <p:cNvPr id="21" name="Rectangle 21"/>
              <p:cNvSpPr/>
              <p:nvPr/>
            </p:nvSpPr>
            <p:spPr>
              <a:xfrm>
                <a:off x="4391025" y="2209800"/>
                <a:ext cx="3409950" cy="133350"/>
              </a:xfrm>
              <a:prstGeom prst="rect">
                <a:avLst/>
              </a:prstGeom>
              <a:solidFill>
                <a:srgbClr val="004C97"/>
              </a:solidFill>
              <a:ln>
                <a:noFill/>
              </a:ln>
            </p:spPr>
            <p:txBody>
              <a:bodyPr/>
              <a:lstStyle/>
              <a:p>
                <a:endParaRPr lang="en-US"/>
              </a:p>
            </p:txBody>
          </p:sp>
          <p:sp>
            <p:nvSpPr>
              <p:cNvPr id="22" name="TextBox 22"/>
              <p:cNvSpPr txBox="1"/>
              <p:nvPr/>
            </p:nvSpPr>
            <p:spPr>
              <a:xfrm>
                <a:off x="4569142" y="2085499"/>
                <a:ext cx="1901225"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STAGE 02 · BUILD iDATA KEY</a:t>
                </a:r>
              </a:p>
            </p:txBody>
          </p:sp>
          <p:sp>
            <p:nvSpPr>
              <p:cNvPr id="23" name="TextBox 23"/>
              <p:cNvSpPr txBox="1"/>
              <p:nvPr/>
            </p:nvSpPr>
            <p:spPr>
              <a:xfrm>
                <a:off x="4564380" y="2502218"/>
                <a:ext cx="2435790" cy="274320"/>
              </a:xfrm>
              <a:prstGeom prst="rect">
                <a:avLst/>
              </a:prstGeom>
              <a:noFill/>
              <a:ln>
                <a:noFill/>
              </a:ln>
            </p:spPr>
            <p:txBody>
              <a:bodyPr wrap="none" lIns="0" tIns="0" rIns="0" bIns="0" anchor="t" anchorCtr="0">
                <a:spAutoFit/>
              </a:bodyPr>
              <a:lstStyle/>
              <a:p>
                <a:pPr algn="l"/>
                <a:r>
                  <a:rPr lang="zh-CN" sz="1350" b="1" dirty="0">
                    <a:solidFill>
                      <a:srgbClr val="004C97"/>
                    </a:solidFill>
                    <a:latin typeface="Arial Black"/>
                    <a:ea typeface="Microsoft YaHei"/>
                    <a:cs typeface="Arial Black"/>
                  </a:rPr>
                  <a:t>Resolve every dimension</a:t>
                </a:r>
              </a:p>
            </p:txBody>
          </p:sp>
          <p:sp>
            <p:nvSpPr>
              <p:cNvPr id="24" name="TextBox 24"/>
              <p:cNvSpPr txBox="1"/>
              <p:nvPr/>
            </p:nvSpPr>
            <p:spPr>
              <a:xfrm>
                <a:off x="4569142" y="2780824"/>
                <a:ext cx="2673382"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Explore dimensions, lock country list,</a:t>
                </a:r>
              </a:p>
            </p:txBody>
          </p:sp>
          <p:sp>
            <p:nvSpPr>
              <p:cNvPr id="25" name="TextBox 25"/>
              <p:cNvSpPr txBox="1"/>
              <p:nvPr/>
            </p:nvSpPr>
            <p:spPr>
              <a:xfrm>
                <a:off x="4569142" y="2952274"/>
                <a:ext cx="2452664"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confirm time range and frequency.</a:t>
                </a:r>
              </a:p>
            </p:txBody>
          </p:sp>
          <p:sp>
            <p:nvSpPr>
              <p:cNvPr id="26" name="Line 26"/>
              <p:cNvSpPr/>
              <p:nvPr/>
            </p:nvSpPr>
            <p:spPr>
              <a:xfrm>
                <a:off x="4581525" y="3381375"/>
                <a:ext cx="3028950" cy="9525"/>
              </a:xfrm>
              <a:custGeom>
                <a:avLst/>
                <a:gdLst/>
                <a:ahLst/>
                <a:cxnLst/>
                <a:rect l="l" t="t" r="r" b="b"/>
                <a:pathLst>
                  <a:path w="3028950" h="9525">
                    <a:moveTo>
                      <a:pt x="0" y="0"/>
                    </a:moveTo>
                    <a:lnTo>
                      <a:pt x="3028950" y="0"/>
                    </a:lnTo>
                  </a:path>
                </a:pathLst>
              </a:custGeom>
              <a:noFill/>
              <a:ln w="9525">
                <a:solidFill>
                  <a:srgbClr val="CDD7E2"/>
                </a:solidFill>
              </a:ln>
            </p:spPr>
            <p:txBody>
              <a:bodyPr/>
              <a:lstStyle/>
              <a:p>
                <a:endParaRPr lang="en-US"/>
              </a:p>
            </p:txBody>
          </p:sp>
          <p:sp>
            <p:nvSpPr>
              <p:cNvPr id="27" name="TextBox 27"/>
              <p:cNvSpPr txBox="1"/>
              <p:nvPr/>
            </p:nvSpPr>
            <p:spPr>
              <a:xfrm>
                <a:off x="4572000" y="3519488"/>
                <a:ext cx="421600" cy="152400"/>
              </a:xfrm>
              <a:prstGeom prst="rect">
                <a:avLst/>
              </a:prstGeom>
              <a:noFill/>
              <a:ln>
                <a:noFill/>
              </a:ln>
            </p:spPr>
            <p:txBody>
              <a:bodyPr wrap="none" lIns="0" tIns="0" rIns="0" bIns="0" anchor="t" anchorCtr="0">
                <a:spAutoFit/>
              </a:bodyPr>
              <a:lstStyle/>
              <a:p>
                <a:pPr algn="l"/>
                <a:r>
                  <a:rPr lang="zh-CN" sz="750" b="1" dirty="0">
                    <a:solidFill>
                      <a:srgbClr val="9AA3AE"/>
                    </a:solidFill>
                    <a:latin typeface="Arial"/>
                    <a:ea typeface="Microsoft YaHei"/>
                    <a:cs typeface="Arial"/>
                  </a:rPr>
                  <a:t>OUTPUT</a:t>
                </a:r>
              </a:p>
            </p:txBody>
          </p:sp>
          <p:sp>
            <p:nvSpPr>
              <p:cNvPr id="28" name="TextBox 28"/>
              <p:cNvSpPr txBox="1"/>
              <p:nvPr/>
            </p:nvSpPr>
            <p:spPr>
              <a:xfrm>
                <a:off x="4569142" y="3723799"/>
                <a:ext cx="1437717"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Consolas"/>
                    <a:ea typeface="Microsoft YaHei"/>
                    <a:cs typeface="Consolas"/>
                  </a:rPr>
                  <a:t>fetch_idata.py call</a:t>
                </a:r>
              </a:p>
            </p:txBody>
          </p:sp>
        </p:grpSp>
        <p:grpSp>
          <p:nvGrpSpPr>
            <p:cNvPr id="40" name="Group 40"/>
            <p:cNvGrpSpPr/>
            <p:nvPr/>
          </p:nvGrpSpPr>
          <p:grpSpPr>
            <a:xfrm>
              <a:off x="7962900" y="1905000"/>
              <a:ext cx="3409950" cy="2095500"/>
              <a:chOff x="7962900" y="1905000"/>
              <a:chExt cx="3409950" cy="2095500"/>
            </a:xfrm>
          </p:grpSpPr>
          <p:sp>
            <p:nvSpPr>
              <p:cNvPr id="30" name="Rectangle 30"/>
              <p:cNvSpPr/>
              <p:nvPr/>
            </p:nvSpPr>
            <p:spPr>
              <a:xfrm>
                <a:off x="7962900" y="1905000"/>
                <a:ext cx="3409950" cy="2095500"/>
              </a:xfrm>
              <a:prstGeom prst="roundRect">
                <a:avLst>
                  <a:gd name="adj" fmla="val 4545"/>
                </a:avLst>
              </a:prstGeom>
              <a:solidFill>
                <a:srgbClr val="FFFFFF"/>
              </a:solidFill>
              <a:ln w="9525">
                <a:solidFill>
                  <a:srgbClr val="CDD7E2"/>
                </a:solidFill>
              </a:ln>
            </p:spPr>
            <p:txBody>
              <a:bodyPr/>
              <a:lstStyle/>
              <a:p>
                <a:endParaRPr lang="en-US"/>
              </a:p>
            </p:txBody>
          </p:sp>
          <p:sp>
            <p:nvSpPr>
              <p:cNvPr id="31" name="Rectangle 31"/>
              <p:cNvSpPr/>
              <p:nvPr/>
            </p:nvSpPr>
            <p:spPr>
              <a:xfrm>
                <a:off x="7962900" y="1905000"/>
                <a:ext cx="3409950" cy="438150"/>
              </a:xfrm>
              <a:prstGeom prst="roundRect">
                <a:avLst>
                  <a:gd name="adj" fmla="val 21739"/>
                </a:avLst>
              </a:prstGeom>
              <a:solidFill>
                <a:srgbClr val="707372"/>
              </a:solidFill>
              <a:ln>
                <a:noFill/>
              </a:ln>
            </p:spPr>
            <p:txBody>
              <a:bodyPr/>
              <a:lstStyle/>
              <a:p>
                <a:endParaRPr lang="en-US"/>
              </a:p>
            </p:txBody>
          </p:sp>
          <p:sp>
            <p:nvSpPr>
              <p:cNvPr id="32" name="Rectangle 32"/>
              <p:cNvSpPr/>
              <p:nvPr/>
            </p:nvSpPr>
            <p:spPr>
              <a:xfrm>
                <a:off x="7962900" y="2209800"/>
                <a:ext cx="3409950" cy="133350"/>
              </a:xfrm>
              <a:prstGeom prst="rect">
                <a:avLst/>
              </a:prstGeom>
              <a:solidFill>
                <a:srgbClr val="707372"/>
              </a:solidFill>
              <a:ln>
                <a:noFill/>
              </a:ln>
            </p:spPr>
            <p:txBody>
              <a:bodyPr/>
              <a:lstStyle/>
              <a:p>
                <a:endParaRPr lang="en-US"/>
              </a:p>
            </p:txBody>
          </p:sp>
          <p:sp>
            <p:nvSpPr>
              <p:cNvPr id="33" name="TextBox 33"/>
              <p:cNvSpPr txBox="1"/>
              <p:nvPr/>
            </p:nvSpPr>
            <p:spPr>
              <a:xfrm>
                <a:off x="8141018" y="2085499"/>
                <a:ext cx="167694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STAGE 03 · TIDY OUTPUT</a:t>
                </a:r>
              </a:p>
            </p:txBody>
          </p:sp>
          <p:sp>
            <p:nvSpPr>
              <p:cNvPr id="34" name="TextBox 34"/>
              <p:cNvSpPr txBox="1"/>
              <p:nvPr/>
            </p:nvSpPr>
            <p:spPr>
              <a:xfrm>
                <a:off x="8136255" y="2502218"/>
                <a:ext cx="1897523" cy="274320"/>
              </a:xfrm>
              <a:prstGeom prst="rect">
                <a:avLst/>
              </a:prstGeom>
              <a:noFill/>
              <a:ln>
                <a:noFill/>
              </a:ln>
            </p:spPr>
            <p:txBody>
              <a:bodyPr wrap="none" lIns="0" tIns="0" rIns="0" bIns="0" anchor="t" anchorCtr="0">
                <a:spAutoFit/>
              </a:bodyPr>
              <a:lstStyle/>
              <a:p>
                <a:pPr algn="l"/>
                <a:r>
                  <a:rPr lang="zh-CN" sz="1350" b="1" dirty="0">
                    <a:solidFill>
                      <a:srgbClr val="004C97"/>
                    </a:solidFill>
                    <a:latin typeface="Arial Black"/>
                    <a:ea typeface="Microsoft YaHei"/>
                    <a:cs typeface="Arial Black"/>
                  </a:rPr>
                  <a:t>Call the SDK locally</a:t>
                </a:r>
              </a:p>
            </p:txBody>
          </p:sp>
          <p:sp>
            <p:nvSpPr>
              <p:cNvPr id="35" name="TextBox 35"/>
              <p:cNvSpPr txBox="1"/>
              <p:nvPr/>
            </p:nvSpPr>
            <p:spPr>
              <a:xfrm>
                <a:off x="8141018" y="2780824"/>
                <a:ext cx="2516743"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Private-access boilerplate handled.</a:t>
                </a:r>
              </a:p>
            </p:txBody>
          </p:sp>
          <p:sp>
            <p:nvSpPr>
              <p:cNvPr id="36" name="TextBox 36"/>
              <p:cNvSpPr txBox="1"/>
              <p:nvPr/>
            </p:nvSpPr>
            <p:spPr>
              <a:xfrm>
                <a:off x="8141018" y="2952274"/>
                <a:ext cx="2345865"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User picks one of three formats.</a:t>
                </a:r>
              </a:p>
            </p:txBody>
          </p:sp>
          <p:sp>
            <p:nvSpPr>
              <p:cNvPr id="37" name="Line 37"/>
              <p:cNvSpPr/>
              <p:nvPr/>
            </p:nvSpPr>
            <p:spPr>
              <a:xfrm>
                <a:off x="8153400" y="3381375"/>
                <a:ext cx="3028950" cy="9525"/>
              </a:xfrm>
              <a:custGeom>
                <a:avLst/>
                <a:gdLst/>
                <a:ahLst/>
                <a:cxnLst/>
                <a:rect l="l" t="t" r="r" b="b"/>
                <a:pathLst>
                  <a:path w="3028950" h="9525">
                    <a:moveTo>
                      <a:pt x="0" y="0"/>
                    </a:moveTo>
                    <a:lnTo>
                      <a:pt x="3028950" y="0"/>
                    </a:lnTo>
                  </a:path>
                </a:pathLst>
              </a:custGeom>
              <a:noFill/>
              <a:ln w="9525">
                <a:solidFill>
                  <a:srgbClr val="CDD7E2"/>
                </a:solidFill>
              </a:ln>
            </p:spPr>
            <p:txBody>
              <a:bodyPr/>
              <a:lstStyle/>
              <a:p>
                <a:endParaRPr lang="en-US"/>
              </a:p>
            </p:txBody>
          </p:sp>
          <p:sp>
            <p:nvSpPr>
              <p:cNvPr id="38" name="TextBox 38"/>
              <p:cNvSpPr txBox="1"/>
              <p:nvPr/>
            </p:nvSpPr>
            <p:spPr>
              <a:xfrm>
                <a:off x="8143875" y="3519488"/>
                <a:ext cx="421600" cy="152400"/>
              </a:xfrm>
              <a:prstGeom prst="rect">
                <a:avLst/>
              </a:prstGeom>
              <a:noFill/>
              <a:ln>
                <a:noFill/>
              </a:ln>
            </p:spPr>
            <p:txBody>
              <a:bodyPr wrap="none" lIns="0" tIns="0" rIns="0" bIns="0" anchor="t" anchorCtr="0">
                <a:spAutoFit/>
              </a:bodyPr>
              <a:lstStyle/>
              <a:p>
                <a:pPr algn="l"/>
                <a:r>
                  <a:rPr lang="zh-CN" sz="750" b="1" dirty="0">
                    <a:solidFill>
                      <a:srgbClr val="9AA3AE"/>
                    </a:solidFill>
                    <a:latin typeface="Arial"/>
                    <a:ea typeface="Microsoft YaHei"/>
                    <a:cs typeface="Arial"/>
                  </a:rPr>
                  <a:t>OUTPUT</a:t>
                </a:r>
              </a:p>
            </p:txBody>
          </p:sp>
          <p:sp>
            <p:nvSpPr>
              <p:cNvPr id="39" name="TextBox 39"/>
              <p:cNvSpPr txBox="1"/>
              <p:nvPr/>
            </p:nvSpPr>
            <p:spPr>
              <a:xfrm>
                <a:off x="8141018" y="3723799"/>
                <a:ext cx="1362957"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Consolas"/>
                    <a:ea typeface="Microsoft YaHei"/>
                    <a:cs typeface="Consolas"/>
                  </a:rPr>
                  <a:t>file on your laptop</a:t>
                </a:r>
              </a:p>
            </p:txBody>
          </p:sp>
        </p:grpSp>
        <p:grpSp>
          <p:nvGrpSpPr>
            <p:cNvPr id="45" name="Group 45"/>
            <p:cNvGrpSpPr/>
            <p:nvPr/>
          </p:nvGrpSpPr>
          <p:grpSpPr>
            <a:xfrm>
              <a:off x="4229100" y="2895600"/>
              <a:ext cx="3762375" cy="114300"/>
              <a:chOff x="4229100" y="2895600"/>
              <a:chExt cx="3762375" cy="114300"/>
            </a:xfrm>
          </p:grpSpPr>
          <p:sp>
            <p:nvSpPr>
              <p:cNvPr id="41" name="Freeform 41"/>
              <p:cNvSpPr/>
              <p:nvPr/>
            </p:nvSpPr>
            <p:spPr>
              <a:xfrm>
                <a:off x="4229100" y="2952750"/>
                <a:ext cx="142875" cy="9525"/>
              </a:xfrm>
              <a:custGeom>
                <a:avLst/>
                <a:gdLst/>
                <a:ahLst/>
                <a:cxnLst/>
                <a:rect l="l" t="t" r="r" b="b"/>
                <a:pathLst>
                  <a:path w="142875" h="9525">
                    <a:moveTo>
                      <a:pt x="0" y="0"/>
                    </a:moveTo>
                    <a:lnTo>
                      <a:pt x="142875" y="0"/>
                    </a:lnTo>
                  </a:path>
                </a:pathLst>
              </a:custGeom>
              <a:solidFill>
                <a:srgbClr val="000000"/>
              </a:solidFill>
              <a:ln w="23812">
                <a:solidFill>
                  <a:srgbClr val="707372"/>
                </a:solidFill>
              </a:ln>
            </p:spPr>
            <p:txBody>
              <a:bodyPr/>
              <a:lstStyle/>
              <a:p>
                <a:endParaRPr lang="en-US"/>
              </a:p>
            </p:txBody>
          </p:sp>
          <p:sp>
            <p:nvSpPr>
              <p:cNvPr id="42" name="Polygon 42"/>
              <p:cNvSpPr/>
              <p:nvPr/>
            </p:nvSpPr>
            <p:spPr>
              <a:xfrm>
                <a:off x="4324350" y="2895600"/>
                <a:ext cx="95250" cy="114300"/>
              </a:xfrm>
              <a:custGeom>
                <a:avLst/>
                <a:gdLst/>
                <a:ahLst/>
                <a:cxnLst/>
                <a:rect l="l" t="t" r="r" b="b"/>
                <a:pathLst>
                  <a:path w="95250" h="114300">
                    <a:moveTo>
                      <a:pt x="95250" y="57150"/>
                    </a:moveTo>
                    <a:lnTo>
                      <a:pt x="0" y="0"/>
                    </a:lnTo>
                    <a:lnTo>
                      <a:pt x="0" y="114300"/>
                    </a:lnTo>
                    <a:close/>
                  </a:path>
                </a:pathLst>
              </a:custGeom>
              <a:solidFill>
                <a:srgbClr val="707372"/>
              </a:solidFill>
              <a:ln>
                <a:noFill/>
              </a:ln>
            </p:spPr>
            <p:txBody>
              <a:bodyPr/>
              <a:lstStyle/>
              <a:p>
                <a:endParaRPr lang="en-US"/>
              </a:p>
            </p:txBody>
          </p:sp>
          <p:sp>
            <p:nvSpPr>
              <p:cNvPr id="43" name="Freeform 43"/>
              <p:cNvSpPr/>
              <p:nvPr/>
            </p:nvSpPr>
            <p:spPr>
              <a:xfrm>
                <a:off x="7800975" y="2952750"/>
                <a:ext cx="142875" cy="9525"/>
              </a:xfrm>
              <a:custGeom>
                <a:avLst/>
                <a:gdLst/>
                <a:ahLst/>
                <a:cxnLst/>
                <a:rect l="l" t="t" r="r" b="b"/>
                <a:pathLst>
                  <a:path w="142875" h="9525">
                    <a:moveTo>
                      <a:pt x="0" y="0"/>
                    </a:moveTo>
                    <a:lnTo>
                      <a:pt x="142875" y="0"/>
                    </a:lnTo>
                  </a:path>
                </a:pathLst>
              </a:custGeom>
              <a:solidFill>
                <a:srgbClr val="000000"/>
              </a:solidFill>
              <a:ln w="23812">
                <a:solidFill>
                  <a:srgbClr val="707372"/>
                </a:solidFill>
              </a:ln>
            </p:spPr>
            <p:txBody>
              <a:bodyPr/>
              <a:lstStyle/>
              <a:p>
                <a:endParaRPr lang="en-US"/>
              </a:p>
            </p:txBody>
          </p:sp>
          <p:sp>
            <p:nvSpPr>
              <p:cNvPr id="44" name="Polygon 44"/>
              <p:cNvSpPr/>
              <p:nvPr/>
            </p:nvSpPr>
            <p:spPr>
              <a:xfrm>
                <a:off x="7896225" y="2895600"/>
                <a:ext cx="95250" cy="114300"/>
              </a:xfrm>
              <a:custGeom>
                <a:avLst/>
                <a:gdLst/>
                <a:ahLst/>
                <a:cxnLst/>
                <a:rect l="l" t="t" r="r" b="b"/>
                <a:pathLst>
                  <a:path w="95250" h="114300">
                    <a:moveTo>
                      <a:pt x="95250" y="57150"/>
                    </a:moveTo>
                    <a:lnTo>
                      <a:pt x="0" y="0"/>
                    </a:lnTo>
                    <a:lnTo>
                      <a:pt x="0" y="114300"/>
                    </a:lnTo>
                    <a:close/>
                  </a:path>
                </a:pathLst>
              </a:custGeom>
              <a:solidFill>
                <a:srgbClr val="707372"/>
              </a:solidFill>
              <a:ln>
                <a:noFill/>
              </a:ln>
            </p:spPr>
            <p:txBody>
              <a:bodyPr/>
              <a:lstStyle/>
              <a:p>
                <a:endParaRPr lang="en-US"/>
              </a:p>
            </p:txBody>
          </p:sp>
        </p:grpSp>
      </p:grpSp>
      <p:grpSp>
        <p:nvGrpSpPr>
          <p:cNvPr id="81" name="Group 81"/>
          <p:cNvGrpSpPr/>
          <p:nvPr/>
        </p:nvGrpSpPr>
        <p:grpSpPr>
          <a:xfrm>
            <a:off x="561022" y="4521041"/>
            <a:ext cx="11059478" cy="1584484"/>
            <a:chOff x="561022" y="4521041"/>
            <a:chExt cx="11059478" cy="1584484"/>
          </a:xfrm>
        </p:grpSpPr>
        <p:sp>
          <p:nvSpPr>
            <p:cNvPr id="47" name="TextBox 47"/>
            <p:cNvSpPr txBox="1"/>
            <p:nvPr/>
          </p:nvSpPr>
          <p:spPr>
            <a:xfrm>
              <a:off x="561022" y="4521041"/>
              <a:ext cx="2083163"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THREE OUTPUT SHAPES — USER PICKS</a:t>
              </a:r>
            </a:p>
          </p:txBody>
        </p:sp>
        <p:grpSp>
          <p:nvGrpSpPr>
            <p:cNvPr id="58" name="Group 58"/>
            <p:cNvGrpSpPr/>
            <p:nvPr/>
          </p:nvGrpSpPr>
          <p:grpSpPr>
            <a:xfrm>
              <a:off x="571500" y="4762500"/>
              <a:ext cx="3619500" cy="1343025"/>
              <a:chOff x="571500" y="4762500"/>
              <a:chExt cx="3619500" cy="1343025"/>
            </a:xfrm>
          </p:grpSpPr>
          <p:sp>
            <p:nvSpPr>
              <p:cNvPr id="48" name="Rectangle 48"/>
              <p:cNvSpPr/>
              <p:nvPr/>
            </p:nvSpPr>
            <p:spPr>
              <a:xfrm>
                <a:off x="571500" y="4762500"/>
                <a:ext cx="3619500" cy="1333500"/>
              </a:xfrm>
              <a:prstGeom prst="roundRect">
                <a:avLst>
                  <a:gd name="adj" fmla="val 7143"/>
                </a:avLst>
              </a:prstGeom>
              <a:solidFill>
                <a:srgbClr val="FFFFFF"/>
              </a:solidFill>
              <a:ln w="14288">
                <a:solidFill>
                  <a:srgbClr val="CDD7E2"/>
                </a:solidFill>
              </a:ln>
            </p:spPr>
            <p:txBody>
              <a:bodyPr/>
              <a:lstStyle/>
              <a:p>
                <a:endParaRPr lang="en-US"/>
              </a:p>
            </p:txBody>
          </p:sp>
          <p:grpSp>
            <p:nvGrpSpPr>
              <p:cNvPr id="54" name="Group 54"/>
              <p:cNvGrpSpPr/>
              <p:nvPr/>
            </p:nvGrpSpPr>
            <p:grpSpPr>
              <a:xfrm>
                <a:off x="841375" y="5000625"/>
                <a:ext cx="222250" cy="285750"/>
                <a:chOff x="841375" y="5000625"/>
                <a:chExt cx="222250" cy="285750"/>
              </a:xfrm>
            </p:grpSpPr>
            <p:sp>
              <p:nvSpPr>
                <p:cNvPr id="49" name="Freeform 49"/>
                <p:cNvSpPr/>
                <p:nvPr/>
              </p:nvSpPr>
              <p:spPr>
                <a:xfrm>
                  <a:off x="984250" y="50006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19050">
                  <a:solidFill>
                    <a:srgbClr val="004C97"/>
                  </a:solidFill>
                </a:ln>
              </p:spPr>
              <p:txBody>
                <a:bodyPr/>
                <a:lstStyle/>
                <a:p>
                  <a:endParaRPr lang="en-US"/>
                </a:p>
              </p:txBody>
            </p:sp>
            <p:sp>
              <p:nvSpPr>
                <p:cNvPr id="50" name="Freeform 50"/>
                <p:cNvSpPr/>
                <p:nvPr/>
              </p:nvSpPr>
              <p:spPr>
                <a:xfrm>
                  <a:off x="841375" y="5000625"/>
                  <a:ext cx="222250" cy="285750"/>
                </a:xfrm>
                <a:custGeom>
                  <a:avLst/>
                  <a:gdLst/>
                  <a:ahLst/>
                  <a:cxnLst/>
                  <a:rect l="l" t="t" r="r" b="b"/>
                  <a:pathLst>
                    <a:path w="222250" h="285750">
                      <a:moveTo>
                        <a:pt x="190500" y="285750"/>
                      </a:moveTo>
                      <a:lnTo>
                        <a:pt x="31750" y="285750"/>
                      </a:lnTo>
                      <a:cubicBezTo>
                        <a:pt x="14215" y="285750"/>
                        <a:pt x="0" y="271535"/>
                        <a:pt x="0" y="254000"/>
                      </a:cubicBezTo>
                      <a:lnTo>
                        <a:pt x="0" y="31750"/>
                      </a:lnTo>
                      <a:cubicBezTo>
                        <a:pt x="0" y="14215"/>
                        <a:pt x="14215" y="0"/>
                        <a:pt x="31750" y="0"/>
                      </a:cubicBezTo>
                      <a:lnTo>
                        <a:pt x="142875" y="0"/>
                      </a:lnTo>
                      <a:lnTo>
                        <a:pt x="222250" y="79375"/>
                      </a:lnTo>
                      <a:lnTo>
                        <a:pt x="222250" y="254000"/>
                      </a:lnTo>
                      <a:cubicBezTo>
                        <a:pt x="222250" y="271535"/>
                        <a:pt x="208035" y="285750"/>
                        <a:pt x="190500" y="285750"/>
                      </a:cubicBezTo>
                    </a:path>
                  </a:pathLst>
                </a:custGeom>
                <a:noFill/>
                <a:ln w="19050">
                  <a:solidFill>
                    <a:srgbClr val="004C97"/>
                  </a:solidFill>
                </a:ln>
              </p:spPr>
              <p:txBody>
                <a:bodyPr/>
                <a:lstStyle/>
                <a:p>
                  <a:endParaRPr lang="en-US"/>
                </a:p>
              </p:txBody>
            </p:sp>
            <p:sp>
              <p:nvSpPr>
                <p:cNvPr id="51" name="Freeform 51"/>
                <p:cNvSpPr/>
                <p:nvPr/>
              </p:nvSpPr>
              <p:spPr>
                <a:xfrm>
                  <a:off x="889000" y="5127625"/>
                  <a:ext cx="127000" cy="111125"/>
                </a:xfrm>
                <a:custGeom>
                  <a:avLst/>
                  <a:gdLst/>
                  <a:ahLst/>
                  <a:cxnLst/>
                  <a:rect l="l" t="t" r="r" b="b"/>
                  <a:pathLst>
                    <a:path w="127000" h="111125">
                      <a:moveTo>
                        <a:pt x="0" y="0"/>
                      </a:moveTo>
                      <a:lnTo>
                        <a:pt x="127000" y="0"/>
                      </a:lnTo>
                      <a:lnTo>
                        <a:pt x="127000" y="111125"/>
                      </a:lnTo>
                      <a:lnTo>
                        <a:pt x="0" y="111125"/>
                      </a:lnTo>
                      <a:lnTo>
                        <a:pt x="0" y="0"/>
                      </a:lnTo>
                    </a:path>
                  </a:pathLst>
                </a:custGeom>
                <a:noFill/>
                <a:ln w="19050">
                  <a:solidFill>
                    <a:srgbClr val="004C97"/>
                  </a:solidFill>
                </a:ln>
              </p:spPr>
              <p:txBody>
                <a:bodyPr/>
                <a:lstStyle/>
                <a:p>
                  <a:endParaRPr lang="en-US"/>
                </a:p>
              </p:txBody>
            </p:sp>
            <p:sp>
              <p:nvSpPr>
                <p:cNvPr id="52" name="Freeform 52"/>
                <p:cNvSpPr/>
                <p:nvPr/>
              </p:nvSpPr>
              <p:spPr>
                <a:xfrm>
                  <a:off x="889000" y="5191125"/>
                  <a:ext cx="127000" cy="9525"/>
                </a:xfrm>
                <a:custGeom>
                  <a:avLst/>
                  <a:gdLst/>
                  <a:ahLst/>
                  <a:cxnLst/>
                  <a:rect l="l" t="t" r="r" b="b"/>
                  <a:pathLst>
                    <a:path w="127000" h="9525">
                      <a:moveTo>
                        <a:pt x="0" y="0"/>
                      </a:moveTo>
                      <a:lnTo>
                        <a:pt x="127000" y="0"/>
                      </a:lnTo>
                    </a:path>
                  </a:pathLst>
                </a:custGeom>
                <a:noFill/>
                <a:ln w="19050">
                  <a:solidFill>
                    <a:srgbClr val="004C97"/>
                  </a:solidFill>
                </a:ln>
              </p:spPr>
              <p:txBody>
                <a:bodyPr/>
                <a:lstStyle/>
                <a:p>
                  <a:endParaRPr lang="en-US"/>
                </a:p>
              </p:txBody>
            </p:sp>
            <p:sp>
              <p:nvSpPr>
                <p:cNvPr id="53" name="Freeform 53"/>
                <p:cNvSpPr/>
                <p:nvPr/>
              </p:nvSpPr>
              <p:spPr>
                <a:xfrm>
                  <a:off x="936625" y="5127625"/>
                  <a:ext cx="9525" cy="111125"/>
                </a:xfrm>
                <a:custGeom>
                  <a:avLst/>
                  <a:gdLst/>
                  <a:ahLst/>
                  <a:cxnLst/>
                  <a:rect l="l" t="t" r="r" b="b"/>
                  <a:pathLst>
                    <a:path w="9525" h="111125">
                      <a:moveTo>
                        <a:pt x="0" y="0"/>
                      </a:moveTo>
                      <a:lnTo>
                        <a:pt x="0" y="111125"/>
                      </a:lnTo>
                    </a:path>
                  </a:pathLst>
                </a:custGeom>
                <a:noFill/>
                <a:ln w="19050">
                  <a:solidFill>
                    <a:srgbClr val="004C97"/>
                  </a:solidFill>
                </a:ln>
              </p:spPr>
              <p:txBody>
                <a:bodyPr/>
                <a:lstStyle/>
                <a:p>
                  <a:endParaRPr lang="en-US"/>
                </a:p>
              </p:txBody>
            </p:sp>
          </p:grpSp>
          <p:sp>
            <p:nvSpPr>
              <p:cNvPr id="55" name="TextBox 55"/>
              <p:cNvSpPr txBox="1"/>
              <p:nvPr/>
            </p:nvSpPr>
            <p:spPr>
              <a:xfrm>
                <a:off x="751522" y="5511641"/>
                <a:ext cx="596602"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FORMAT A</a:t>
                </a:r>
              </a:p>
            </p:txBody>
          </p:sp>
          <p:sp>
            <p:nvSpPr>
              <p:cNvPr id="56" name="TextBox 56"/>
              <p:cNvSpPr txBox="1"/>
              <p:nvPr/>
            </p:nvSpPr>
            <p:spPr>
              <a:xfrm>
                <a:off x="742950" y="5667375"/>
                <a:ext cx="2016347"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Black"/>
                    <a:ea typeface="Microsoft YaHei"/>
                    <a:cs typeface="Arial Black"/>
                  </a:rPr>
                  <a:t>Refreshable Excel</a:t>
                </a:r>
              </a:p>
            </p:txBody>
          </p:sp>
          <p:sp>
            <p:nvSpPr>
              <p:cNvPr id="57" name="TextBox 57"/>
              <p:cNvSpPr txBox="1"/>
              <p:nvPr/>
            </p:nvSpPr>
            <p:spPr>
              <a:xfrm>
                <a:off x="750570" y="5922645"/>
                <a:ext cx="2776633"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Enriched: country names, ISO3, IFS codes.</a:t>
                </a:r>
              </a:p>
            </p:txBody>
          </p:sp>
        </p:grpSp>
        <p:grpSp>
          <p:nvGrpSpPr>
            <p:cNvPr id="69" name="Group 69"/>
            <p:cNvGrpSpPr/>
            <p:nvPr/>
          </p:nvGrpSpPr>
          <p:grpSpPr>
            <a:xfrm>
              <a:off x="4286250" y="4762500"/>
              <a:ext cx="3619500" cy="1343025"/>
              <a:chOff x="4286250" y="4762500"/>
              <a:chExt cx="3619500" cy="1343025"/>
            </a:xfrm>
          </p:grpSpPr>
          <p:sp>
            <p:nvSpPr>
              <p:cNvPr id="59" name="Rectangle 59"/>
              <p:cNvSpPr/>
              <p:nvPr/>
            </p:nvSpPr>
            <p:spPr>
              <a:xfrm>
                <a:off x="4286250" y="4762500"/>
                <a:ext cx="3619500" cy="1333500"/>
              </a:xfrm>
              <a:prstGeom prst="roundRect">
                <a:avLst>
                  <a:gd name="adj" fmla="val 7143"/>
                </a:avLst>
              </a:prstGeom>
              <a:solidFill>
                <a:srgbClr val="FFFFFF"/>
              </a:solidFill>
              <a:ln w="14288">
                <a:solidFill>
                  <a:srgbClr val="CDD7E2"/>
                </a:solidFill>
              </a:ln>
            </p:spPr>
            <p:txBody>
              <a:bodyPr/>
              <a:lstStyle/>
              <a:p>
                <a:endParaRPr lang="en-US"/>
              </a:p>
            </p:txBody>
          </p:sp>
          <p:grpSp>
            <p:nvGrpSpPr>
              <p:cNvPr id="65" name="Group 65"/>
              <p:cNvGrpSpPr/>
              <p:nvPr/>
            </p:nvGrpSpPr>
            <p:grpSpPr>
              <a:xfrm>
                <a:off x="4556125" y="5000625"/>
                <a:ext cx="222250" cy="285750"/>
                <a:chOff x="4556125" y="5000625"/>
                <a:chExt cx="222250" cy="285750"/>
              </a:xfrm>
            </p:grpSpPr>
            <p:sp>
              <p:nvSpPr>
                <p:cNvPr id="60" name="Freeform 60"/>
                <p:cNvSpPr/>
                <p:nvPr/>
              </p:nvSpPr>
              <p:spPr>
                <a:xfrm>
                  <a:off x="4699000" y="50006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19050">
                  <a:solidFill>
                    <a:srgbClr val="004C97"/>
                  </a:solidFill>
                </a:ln>
              </p:spPr>
              <p:txBody>
                <a:bodyPr/>
                <a:lstStyle/>
                <a:p>
                  <a:endParaRPr lang="en-US"/>
                </a:p>
              </p:txBody>
            </p:sp>
            <p:sp>
              <p:nvSpPr>
                <p:cNvPr id="61" name="Freeform 61"/>
                <p:cNvSpPr/>
                <p:nvPr/>
              </p:nvSpPr>
              <p:spPr>
                <a:xfrm>
                  <a:off x="4556125" y="5000625"/>
                  <a:ext cx="222250" cy="285750"/>
                </a:xfrm>
                <a:custGeom>
                  <a:avLst/>
                  <a:gdLst/>
                  <a:ahLst/>
                  <a:cxnLst/>
                  <a:rect l="l" t="t" r="r" b="b"/>
                  <a:pathLst>
                    <a:path w="222250" h="285750">
                      <a:moveTo>
                        <a:pt x="190500" y="285750"/>
                      </a:moveTo>
                      <a:lnTo>
                        <a:pt x="31750" y="285750"/>
                      </a:lnTo>
                      <a:cubicBezTo>
                        <a:pt x="14215" y="285750"/>
                        <a:pt x="0" y="271535"/>
                        <a:pt x="0" y="254000"/>
                      </a:cubicBezTo>
                      <a:lnTo>
                        <a:pt x="0" y="31750"/>
                      </a:lnTo>
                      <a:cubicBezTo>
                        <a:pt x="0" y="14215"/>
                        <a:pt x="14215" y="0"/>
                        <a:pt x="31750" y="0"/>
                      </a:cubicBezTo>
                      <a:lnTo>
                        <a:pt x="142875" y="0"/>
                      </a:lnTo>
                      <a:lnTo>
                        <a:pt x="222250" y="79375"/>
                      </a:lnTo>
                      <a:lnTo>
                        <a:pt x="222250" y="254000"/>
                      </a:lnTo>
                      <a:cubicBezTo>
                        <a:pt x="222250" y="271535"/>
                        <a:pt x="208035" y="285750"/>
                        <a:pt x="190500" y="285750"/>
                      </a:cubicBezTo>
                    </a:path>
                  </a:pathLst>
                </a:custGeom>
                <a:noFill/>
                <a:ln w="19050">
                  <a:solidFill>
                    <a:srgbClr val="004C97"/>
                  </a:solidFill>
                </a:ln>
              </p:spPr>
              <p:txBody>
                <a:bodyPr/>
                <a:lstStyle/>
                <a:p>
                  <a:endParaRPr lang="en-US"/>
                </a:p>
              </p:txBody>
            </p:sp>
            <p:sp>
              <p:nvSpPr>
                <p:cNvPr id="62" name="Freeform 62"/>
                <p:cNvSpPr/>
                <p:nvPr/>
              </p:nvSpPr>
              <p:spPr>
                <a:xfrm>
                  <a:off x="4603750" y="5127625"/>
                  <a:ext cx="127000" cy="111125"/>
                </a:xfrm>
                <a:custGeom>
                  <a:avLst/>
                  <a:gdLst/>
                  <a:ahLst/>
                  <a:cxnLst/>
                  <a:rect l="l" t="t" r="r" b="b"/>
                  <a:pathLst>
                    <a:path w="127000" h="111125">
                      <a:moveTo>
                        <a:pt x="0" y="0"/>
                      </a:moveTo>
                      <a:lnTo>
                        <a:pt x="127000" y="0"/>
                      </a:lnTo>
                      <a:lnTo>
                        <a:pt x="127000" y="111125"/>
                      </a:lnTo>
                      <a:lnTo>
                        <a:pt x="0" y="111125"/>
                      </a:lnTo>
                      <a:lnTo>
                        <a:pt x="0" y="0"/>
                      </a:lnTo>
                    </a:path>
                  </a:pathLst>
                </a:custGeom>
                <a:noFill/>
                <a:ln w="19050">
                  <a:solidFill>
                    <a:srgbClr val="004C97"/>
                  </a:solidFill>
                </a:ln>
              </p:spPr>
              <p:txBody>
                <a:bodyPr/>
                <a:lstStyle/>
                <a:p>
                  <a:endParaRPr lang="en-US"/>
                </a:p>
              </p:txBody>
            </p:sp>
            <p:sp>
              <p:nvSpPr>
                <p:cNvPr id="63" name="Freeform 63"/>
                <p:cNvSpPr/>
                <p:nvPr/>
              </p:nvSpPr>
              <p:spPr>
                <a:xfrm>
                  <a:off x="4603750" y="5191125"/>
                  <a:ext cx="127000" cy="9525"/>
                </a:xfrm>
                <a:custGeom>
                  <a:avLst/>
                  <a:gdLst/>
                  <a:ahLst/>
                  <a:cxnLst/>
                  <a:rect l="l" t="t" r="r" b="b"/>
                  <a:pathLst>
                    <a:path w="127000" h="9525">
                      <a:moveTo>
                        <a:pt x="0" y="0"/>
                      </a:moveTo>
                      <a:lnTo>
                        <a:pt x="127000" y="0"/>
                      </a:lnTo>
                    </a:path>
                  </a:pathLst>
                </a:custGeom>
                <a:noFill/>
                <a:ln w="19050">
                  <a:solidFill>
                    <a:srgbClr val="004C97"/>
                  </a:solidFill>
                </a:ln>
              </p:spPr>
              <p:txBody>
                <a:bodyPr/>
                <a:lstStyle/>
                <a:p>
                  <a:endParaRPr lang="en-US"/>
                </a:p>
              </p:txBody>
            </p:sp>
            <p:sp>
              <p:nvSpPr>
                <p:cNvPr id="64" name="Freeform 64"/>
                <p:cNvSpPr/>
                <p:nvPr/>
              </p:nvSpPr>
              <p:spPr>
                <a:xfrm>
                  <a:off x="4651375" y="5127625"/>
                  <a:ext cx="9525" cy="111125"/>
                </a:xfrm>
                <a:custGeom>
                  <a:avLst/>
                  <a:gdLst/>
                  <a:ahLst/>
                  <a:cxnLst/>
                  <a:rect l="l" t="t" r="r" b="b"/>
                  <a:pathLst>
                    <a:path w="9525" h="111125">
                      <a:moveTo>
                        <a:pt x="0" y="0"/>
                      </a:moveTo>
                      <a:lnTo>
                        <a:pt x="0" y="111125"/>
                      </a:lnTo>
                    </a:path>
                  </a:pathLst>
                </a:custGeom>
                <a:noFill/>
                <a:ln w="19050">
                  <a:solidFill>
                    <a:srgbClr val="004C97"/>
                  </a:solidFill>
                </a:ln>
              </p:spPr>
              <p:txBody>
                <a:bodyPr/>
                <a:lstStyle/>
                <a:p>
                  <a:endParaRPr lang="en-US"/>
                </a:p>
              </p:txBody>
            </p:sp>
          </p:grpSp>
          <p:sp>
            <p:nvSpPr>
              <p:cNvPr id="66" name="TextBox 66"/>
              <p:cNvSpPr txBox="1"/>
              <p:nvPr/>
            </p:nvSpPr>
            <p:spPr>
              <a:xfrm>
                <a:off x="4466272" y="5511641"/>
                <a:ext cx="596602"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FORMAT B</a:t>
                </a:r>
              </a:p>
            </p:txBody>
          </p:sp>
          <p:sp>
            <p:nvSpPr>
              <p:cNvPr id="67" name="TextBox 67"/>
              <p:cNvSpPr txBox="1"/>
              <p:nvPr/>
            </p:nvSpPr>
            <p:spPr>
              <a:xfrm>
                <a:off x="4457700" y="5667375"/>
                <a:ext cx="1820823"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Black"/>
                    <a:ea typeface="Microsoft YaHei"/>
                    <a:cs typeface="Arial Black"/>
                  </a:rPr>
                  <a:t>Wide CSV / Excel</a:t>
                </a:r>
              </a:p>
            </p:txBody>
          </p:sp>
          <p:sp>
            <p:nvSpPr>
              <p:cNvPr id="68" name="TextBox 68"/>
              <p:cNvSpPr txBox="1"/>
              <p:nvPr/>
            </p:nvSpPr>
            <p:spPr>
              <a:xfrm>
                <a:off x="4465320" y="5922645"/>
                <a:ext cx="2448020"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Dates as rows, countries as columns.</a:t>
                </a:r>
              </a:p>
            </p:txBody>
          </p:sp>
        </p:grpSp>
        <p:grpSp>
          <p:nvGrpSpPr>
            <p:cNvPr id="80" name="Group 80"/>
            <p:cNvGrpSpPr/>
            <p:nvPr/>
          </p:nvGrpSpPr>
          <p:grpSpPr>
            <a:xfrm>
              <a:off x="8001000" y="4762500"/>
              <a:ext cx="3619500" cy="1343025"/>
              <a:chOff x="8001000" y="4762500"/>
              <a:chExt cx="3619500" cy="1343025"/>
            </a:xfrm>
          </p:grpSpPr>
          <p:sp>
            <p:nvSpPr>
              <p:cNvPr id="70" name="Rectangle 70"/>
              <p:cNvSpPr/>
              <p:nvPr/>
            </p:nvSpPr>
            <p:spPr>
              <a:xfrm>
                <a:off x="8001000" y="4762500"/>
                <a:ext cx="3619500" cy="1333500"/>
              </a:xfrm>
              <a:prstGeom prst="roundRect">
                <a:avLst>
                  <a:gd name="adj" fmla="val 7143"/>
                </a:avLst>
              </a:prstGeom>
              <a:solidFill>
                <a:srgbClr val="FFFFFF"/>
              </a:solidFill>
              <a:ln w="14288">
                <a:solidFill>
                  <a:srgbClr val="CDD7E2"/>
                </a:solidFill>
              </a:ln>
            </p:spPr>
            <p:txBody>
              <a:bodyPr/>
              <a:lstStyle/>
              <a:p>
                <a:endParaRPr lang="en-US"/>
              </a:p>
            </p:txBody>
          </p:sp>
          <p:grpSp>
            <p:nvGrpSpPr>
              <p:cNvPr id="76" name="Group 76"/>
              <p:cNvGrpSpPr/>
              <p:nvPr/>
            </p:nvGrpSpPr>
            <p:grpSpPr>
              <a:xfrm>
                <a:off x="8270875" y="5000625"/>
                <a:ext cx="222250" cy="285750"/>
                <a:chOff x="8270875" y="5000625"/>
                <a:chExt cx="222250" cy="285750"/>
              </a:xfrm>
            </p:grpSpPr>
            <p:sp>
              <p:nvSpPr>
                <p:cNvPr id="71" name="Freeform 71"/>
                <p:cNvSpPr/>
                <p:nvPr/>
              </p:nvSpPr>
              <p:spPr>
                <a:xfrm>
                  <a:off x="8413750" y="5000625"/>
                  <a:ext cx="79375" cy="79375"/>
                </a:xfrm>
                <a:custGeom>
                  <a:avLst/>
                  <a:gdLst/>
                  <a:ahLst/>
                  <a:cxnLst/>
                  <a:rect l="l" t="t" r="r" b="b"/>
                  <a:pathLst>
                    <a:path w="79375" h="79375">
                      <a:moveTo>
                        <a:pt x="0" y="0"/>
                      </a:moveTo>
                      <a:lnTo>
                        <a:pt x="0" y="63500"/>
                      </a:lnTo>
                      <a:cubicBezTo>
                        <a:pt x="0" y="72268"/>
                        <a:pt x="7107" y="79375"/>
                        <a:pt x="15875" y="79375"/>
                      </a:cubicBezTo>
                      <a:lnTo>
                        <a:pt x="79375" y="79375"/>
                      </a:lnTo>
                    </a:path>
                  </a:pathLst>
                </a:custGeom>
                <a:noFill/>
                <a:ln w="19050">
                  <a:solidFill>
                    <a:srgbClr val="004C97"/>
                  </a:solidFill>
                </a:ln>
              </p:spPr>
              <p:txBody>
                <a:bodyPr/>
                <a:lstStyle/>
                <a:p>
                  <a:endParaRPr lang="en-US"/>
                </a:p>
              </p:txBody>
            </p:sp>
            <p:sp>
              <p:nvSpPr>
                <p:cNvPr id="72" name="Freeform 72"/>
                <p:cNvSpPr/>
                <p:nvPr/>
              </p:nvSpPr>
              <p:spPr>
                <a:xfrm>
                  <a:off x="8270875" y="5000625"/>
                  <a:ext cx="222250" cy="285750"/>
                </a:xfrm>
                <a:custGeom>
                  <a:avLst/>
                  <a:gdLst/>
                  <a:ahLst/>
                  <a:cxnLst/>
                  <a:rect l="l" t="t" r="r" b="b"/>
                  <a:pathLst>
                    <a:path w="222250" h="285750">
                      <a:moveTo>
                        <a:pt x="190500" y="285750"/>
                      </a:moveTo>
                      <a:lnTo>
                        <a:pt x="31750" y="285750"/>
                      </a:lnTo>
                      <a:cubicBezTo>
                        <a:pt x="14215" y="285750"/>
                        <a:pt x="0" y="271535"/>
                        <a:pt x="0" y="254000"/>
                      </a:cubicBezTo>
                      <a:lnTo>
                        <a:pt x="0" y="31750"/>
                      </a:lnTo>
                      <a:cubicBezTo>
                        <a:pt x="0" y="14215"/>
                        <a:pt x="14215" y="0"/>
                        <a:pt x="31750" y="0"/>
                      </a:cubicBezTo>
                      <a:lnTo>
                        <a:pt x="142875" y="0"/>
                      </a:lnTo>
                      <a:lnTo>
                        <a:pt x="222250" y="79375"/>
                      </a:lnTo>
                      <a:lnTo>
                        <a:pt x="222250" y="254000"/>
                      </a:lnTo>
                      <a:cubicBezTo>
                        <a:pt x="222250" y="271535"/>
                        <a:pt x="208035" y="285750"/>
                        <a:pt x="190500" y="285750"/>
                      </a:cubicBezTo>
                    </a:path>
                  </a:pathLst>
                </a:custGeom>
                <a:noFill/>
                <a:ln w="19050">
                  <a:solidFill>
                    <a:srgbClr val="004C97"/>
                  </a:solidFill>
                </a:ln>
              </p:spPr>
              <p:txBody>
                <a:bodyPr/>
                <a:lstStyle/>
                <a:p>
                  <a:endParaRPr lang="en-US"/>
                </a:p>
              </p:txBody>
            </p:sp>
            <p:sp>
              <p:nvSpPr>
                <p:cNvPr id="73" name="Freeform 73"/>
                <p:cNvSpPr/>
                <p:nvPr/>
              </p:nvSpPr>
              <p:spPr>
                <a:xfrm>
                  <a:off x="8334375" y="5095875"/>
                  <a:ext cx="15875" cy="9525"/>
                </a:xfrm>
                <a:custGeom>
                  <a:avLst/>
                  <a:gdLst/>
                  <a:ahLst/>
                  <a:cxnLst/>
                  <a:rect l="l" t="t" r="r" b="b"/>
                  <a:pathLst>
                    <a:path w="15875" h="9525">
                      <a:moveTo>
                        <a:pt x="0" y="0"/>
                      </a:moveTo>
                      <a:lnTo>
                        <a:pt x="15875" y="0"/>
                      </a:lnTo>
                    </a:path>
                  </a:pathLst>
                </a:custGeom>
                <a:noFill/>
                <a:ln w="19050">
                  <a:solidFill>
                    <a:srgbClr val="004C97"/>
                  </a:solidFill>
                </a:ln>
              </p:spPr>
              <p:txBody>
                <a:bodyPr/>
                <a:lstStyle/>
                <a:p>
                  <a:endParaRPr lang="en-US"/>
                </a:p>
              </p:txBody>
            </p:sp>
            <p:sp>
              <p:nvSpPr>
                <p:cNvPr id="74" name="Freeform 74"/>
                <p:cNvSpPr/>
                <p:nvPr/>
              </p:nvSpPr>
              <p:spPr>
                <a:xfrm>
                  <a:off x="8334375" y="5159375"/>
                  <a:ext cx="95250" cy="9525"/>
                </a:xfrm>
                <a:custGeom>
                  <a:avLst/>
                  <a:gdLst/>
                  <a:ahLst/>
                  <a:cxnLst/>
                  <a:rect l="l" t="t" r="r" b="b"/>
                  <a:pathLst>
                    <a:path w="95250" h="9525">
                      <a:moveTo>
                        <a:pt x="0" y="0"/>
                      </a:moveTo>
                      <a:lnTo>
                        <a:pt x="95250" y="0"/>
                      </a:lnTo>
                    </a:path>
                  </a:pathLst>
                </a:custGeom>
                <a:noFill/>
                <a:ln w="19050">
                  <a:solidFill>
                    <a:srgbClr val="004C97"/>
                  </a:solidFill>
                </a:ln>
              </p:spPr>
              <p:txBody>
                <a:bodyPr/>
                <a:lstStyle/>
                <a:p>
                  <a:endParaRPr lang="en-US"/>
                </a:p>
              </p:txBody>
            </p:sp>
            <p:sp>
              <p:nvSpPr>
                <p:cNvPr id="75" name="Freeform 75"/>
                <p:cNvSpPr/>
                <p:nvPr/>
              </p:nvSpPr>
              <p:spPr>
                <a:xfrm>
                  <a:off x="8334375" y="5222875"/>
                  <a:ext cx="95250" cy="9525"/>
                </a:xfrm>
                <a:custGeom>
                  <a:avLst/>
                  <a:gdLst/>
                  <a:ahLst/>
                  <a:cxnLst/>
                  <a:rect l="l" t="t" r="r" b="b"/>
                  <a:pathLst>
                    <a:path w="95250" h="9525">
                      <a:moveTo>
                        <a:pt x="0" y="0"/>
                      </a:moveTo>
                      <a:lnTo>
                        <a:pt x="95250" y="0"/>
                      </a:lnTo>
                    </a:path>
                  </a:pathLst>
                </a:custGeom>
                <a:noFill/>
                <a:ln w="19050">
                  <a:solidFill>
                    <a:srgbClr val="004C97"/>
                  </a:solidFill>
                </a:ln>
              </p:spPr>
              <p:txBody>
                <a:bodyPr/>
                <a:lstStyle/>
                <a:p>
                  <a:endParaRPr lang="en-US"/>
                </a:p>
              </p:txBody>
            </p:sp>
          </p:grpSp>
          <p:sp>
            <p:nvSpPr>
              <p:cNvPr id="77" name="TextBox 77"/>
              <p:cNvSpPr txBox="1"/>
              <p:nvPr/>
            </p:nvSpPr>
            <p:spPr>
              <a:xfrm>
                <a:off x="8181022" y="5511641"/>
                <a:ext cx="596602" cy="167640"/>
              </a:xfrm>
              <a:prstGeom prst="rect">
                <a:avLst/>
              </a:prstGeom>
              <a:noFill/>
              <a:ln>
                <a:noFill/>
              </a:ln>
            </p:spPr>
            <p:txBody>
              <a:bodyPr wrap="none" lIns="0" tIns="0" rIns="0" bIns="0" anchor="t" anchorCtr="0">
                <a:spAutoFit/>
              </a:bodyPr>
              <a:lstStyle/>
              <a:p>
                <a:pPr algn="l"/>
                <a:r>
                  <a:rPr lang="zh-CN" sz="825" b="1" dirty="0">
                    <a:solidFill>
                      <a:srgbClr val="5B6470"/>
                    </a:solidFill>
                    <a:latin typeface="Arial"/>
                    <a:ea typeface="Microsoft YaHei"/>
                    <a:cs typeface="Arial"/>
                  </a:rPr>
                  <a:t>FORMAT C</a:t>
                </a:r>
              </a:p>
            </p:txBody>
          </p:sp>
          <p:sp>
            <p:nvSpPr>
              <p:cNvPr id="78" name="TextBox 78"/>
              <p:cNvSpPr txBox="1"/>
              <p:nvPr/>
            </p:nvSpPr>
            <p:spPr>
              <a:xfrm>
                <a:off x="8172450" y="5667375"/>
                <a:ext cx="1832324" cy="304800"/>
              </a:xfrm>
              <a:prstGeom prst="rect">
                <a:avLst/>
              </a:prstGeom>
              <a:noFill/>
              <a:ln>
                <a:noFill/>
              </a:ln>
            </p:spPr>
            <p:txBody>
              <a:bodyPr wrap="none" lIns="0" tIns="0" rIns="0" bIns="0" anchor="t" anchorCtr="0">
                <a:spAutoFit/>
              </a:bodyPr>
              <a:lstStyle/>
              <a:p>
                <a:pPr algn="l"/>
                <a:r>
                  <a:rPr lang="zh-CN" sz="1500" b="1" dirty="0">
                    <a:solidFill>
                      <a:srgbClr val="004C97"/>
                    </a:solidFill>
                    <a:latin typeface="Arial Black"/>
                    <a:ea typeface="Microsoft YaHei"/>
                    <a:cs typeface="Arial Black"/>
                  </a:rPr>
                  <a:t>Long CSV / Excel</a:t>
                </a:r>
              </a:p>
            </p:txBody>
          </p:sp>
          <p:sp>
            <p:nvSpPr>
              <p:cNvPr id="79" name="TextBox 79"/>
              <p:cNvSpPr txBox="1"/>
              <p:nvPr/>
            </p:nvSpPr>
            <p:spPr>
              <a:xfrm>
                <a:off x="8180070" y="5922645"/>
                <a:ext cx="2848927" cy="182880"/>
              </a:xfrm>
              <a:prstGeom prst="rect">
                <a:avLst/>
              </a:prstGeom>
              <a:noFill/>
              <a:ln>
                <a:noFill/>
              </a:ln>
            </p:spPr>
            <p:txBody>
              <a:bodyPr wrap="none" lIns="0" tIns="0" rIns="0" bIns="0" anchor="t" anchorCtr="0">
                <a:spAutoFit/>
              </a:bodyPr>
              <a:lstStyle/>
              <a:p>
                <a:pPr algn="l"/>
                <a:r>
                  <a:rPr lang="zh-CN" sz="900" dirty="0">
                    <a:solidFill>
                      <a:srgbClr val="5B6470"/>
                    </a:solidFill>
                    <a:latin typeface="Arial"/>
                    <a:ea typeface="Microsoft YaHei"/>
                    <a:cs typeface="Arial"/>
                  </a:rPr>
                  <a:t>One observation per row — analytics-ready.</a:t>
                </a:r>
              </a:p>
            </p:txBody>
          </p:sp>
        </p:grpSp>
      </p:grpSp>
      <p:grpSp>
        <p:nvGrpSpPr>
          <p:cNvPr id="83" name="Group 83"/>
          <p:cNvGrpSpPr/>
          <p:nvPr/>
        </p:nvGrpSpPr>
        <p:grpSpPr>
          <a:xfrm>
            <a:off x="556260" y="6328410"/>
            <a:ext cx="5524881" cy="243840"/>
            <a:chOff x="556260" y="6328410"/>
            <a:chExt cx="5524881" cy="243840"/>
          </a:xfrm>
        </p:grpSpPr>
        <p:sp>
          <p:nvSpPr>
            <p:cNvPr id="82" name="TextBox 82"/>
            <p:cNvSpPr txBox="1"/>
            <p:nvPr/>
          </p:nvSpPr>
          <p:spPr>
            <a:xfrm>
              <a:off x="556260" y="6328410"/>
              <a:ext cx="5524881" cy="243840"/>
            </a:xfrm>
            <a:prstGeom prst="rect">
              <a:avLst/>
            </a:prstGeom>
            <a:noFill/>
            <a:ln>
              <a:noFill/>
            </a:ln>
          </p:spPr>
          <p:txBody>
            <a:bodyPr wrap="none" lIns="0" tIns="0" rIns="0" bIns="0" anchor="t" anchorCtr="0">
              <a:spAutoFit/>
            </a:bodyPr>
            <a:lstStyle/>
            <a:p>
              <a:pPr algn="l"/>
              <a:r>
                <a:rPr lang="zh-CN" sz="1200" b="1" i="1" dirty="0">
                  <a:solidFill>
                    <a:srgbClr val="707372"/>
                  </a:solidFill>
                  <a:latin typeface="Arial Black"/>
                  <a:ea typeface="Microsoft YaHei"/>
                  <a:cs typeface="Arial Black"/>
                </a:rPr>
                <a:t>Data stays local.</a:t>
              </a:r>
              <a:r>
                <a:rPr lang="zh-CN" sz="1200" i="1" dirty="0">
                  <a:solidFill>
                    <a:srgbClr val="004C97"/>
                  </a:solidFill>
                  <a:latin typeface="Arial Black"/>
                  <a:ea typeface="Microsoft YaHei"/>
                  <a:cs typeface="Arial Black"/>
                </a:rPr>
                <a:t> EcOS retired — iData is the exclusive pathway.</a:t>
              </a:r>
            </a:p>
          </p:txBody>
        </p:sp>
      </p:grpSp>
      <p:grpSp>
        <p:nvGrpSpPr>
          <p:cNvPr id="86" name="Group 86"/>
          <p:cNvGrpSpPr/>
          <p:nvPr/>
        </p:nvGrpSpPr>
        <p:grpSpPr>
          <a:xfrm>
            <a:off x="561022" y="6654641"/>
            <a:ext cx="11069956" cy="167640"/>
            <a:chOff x="561022" y="6654641"/>
            <a:chExt cx="11069956" cy="167640"/>
          </a:xfrm>
        </p:grpSpPr>
        <p:sp>
          <p:nvSpPr>
            <p:cNvPr id="84" name="TextBox 84"/>
            <p:cNvSpPr txBox="1"/>
            <p:nvPr/>
          </p:nvSpPr>
          <p:spPr>
            <a:xfrm>
              <a:off x="561022" y="66546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85" name="TextBox 85"/>
            <p:cNvSpPr txBox="1"/>
            <p:nvPr/>
          </p:nvSpPr>
          <p:spPr>
            <a:xfrm>
              <a:off x="11236500" y="6654641"/>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08 / 10</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400"/>
                                        <p:tgtEl>
                                          <p:spTgt spid="46"/>
                                        </p:tgtEl>
                                      </p:cBhvr>
                                    </p:animEffect>
                                  </p:childTnLst>
                                </p:cTn>
                              </p:par>
                            </p:childTnLst>
                          </p:cTn>
                        </p:par>
                        <p:par>
                          <p:cTn id="8" fill="hold">
                            <p:stCondLst>
                              <p:cond delay="900"/>
                            </p:stCondLst>
                            <p:childTnLst>
                              <p:par>
                                <p:cTn id="9" presetID="14" presetClass="entr" presetSubtype="10"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randombar(horizontal)">
                                      <p:cBhvr>
                                        <p:cTn id="11" dur="400"/>
                                        <p:tgtEl>
                                          <p:spTgt spid="81"/>
                                        </p:tgtEl>
                                      </p:cBhvr>
                                    </p:animEffect>
                                  </p:childTnLst>
                                </p:cTn>
                              </p:par>
                            </p:childTnLst>
                          </p:cTn>
                        </p:par>
                        <p:par>
                          <p:cTn id="12" fill="hold">
                            <p:stCondLst>
                              <p:cond delay="1800"/>
                            </p:stCondLst>
                            <p:childTnLst>
                              <p:par>
                                <p:cTn id="13" presetID="4" presetClass="entr" presetSubtype="0"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box(in)">
                                      <p:cBhvr>
                                        <p:cTn id="15" dur="4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p:bldP spid="81" grpId="0"/>
      <p:bldP spid="8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6" name="Group 6"/>
          <p:cNvGrpSpPr/>
          <p:nvPr/>
        </p:nvGrpSpPr>
        <p:grpSpPr>
          <a:xfrm>
            <a:off x="541020" y="474345"/>
            <a:ext cx="5673662" cy="852011"/>
            <a:chOff x="541020" y="474345"/>
            <a:chExt cx="5673662" cy="852011"/>
          </a:xfrm>
        </p:grpSpPr>
        <p:sp>
          <p:nvSpPr>
            <p:cNvPr id="3" name="TextBox 3"/>
            <p:cNvSpPr txBox="1"/>
            <p:nvPr/>
          </p:nvSpPr>
          <p:spPr>
            <a:xfrm>
              <a:off x="560070" y="474345"/>
              <a:ext cx="1982705"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08 · WORKFLOW WALKTHROUGH</a:t>
              </a:r>
            </a:p>
          </p:txBody>
        </p:sp>
        <p:sp>
          <p:nvSpPr>
            <p:cNvPr id="4" name="TextBox 4"/>
            <p:cNvSpPr txBox="1"/>
            <p:nvPr/>
          </p:nvSpPr>
          <p:spPr>
            <a:xfrm>
              <a:off x="541020" y="693420"/>
              <a:ext cx="5673662" cy="487680"/>
            </a:xfrm>
            <a:prstGeom prst="rect">
              <a:avLst/>
            </a:prstGeom>
            <a:noFill/>
            <a:ln>
              <a:noFill/>
            </a:ln>
          </p:spPr>
          <p:txBody>
            <a:bodyPr wrap="none" lIns="0" tIns="0" rIns="0" bIns="0" anchor="t" anchorCtr="0">
              <a:spAutoFit/>
            </a:bodyPr>
            <a:lstStyle/>
            <a:p>
              <a:pPr algn="l"/>
              <a:r>
                <a:rPr lang="zh-CN" sz="2400" b="1" dirty="0">
                  <a:solidFill>
                    <a:srgbClr val="004C97"/>
                  </a:solidFill>
                  <a:latin typeface="Arial Black"/>
                  <a:ea typeface="Microsoft YaHei"/>
                  <a:cs typeface="Arial Black"/>
                </a:rPr>
                <a:t>One sentence in, tidy panel out</a:t>
              </a:r>
            </a:p>
          </p:txBody>
        </p:sp>
        <p:sp>
          <p:nvSpPr>
            <p:cNvPr id="5" name="TextBox 5"/>
            <p:cNvSpPr txBox="1"/>
            <p:nvPr/>
          </p:nvSpPr>
          <p:spPr>
            <a:xfrm>
              <a:off x="557212" y="1097756"/>
              <a:ext cx="3520083" cy="228600"/>
            </a:xfrm>
            <a:prstGeom prst="rect">
              <a:avLst/>
            </a:prstGeom>
            <a:noFill/>
            <a:ln>
              <a:noFill/>
            </a:ln>
          </p:spPr>
          <p:txBody>
            <a:bodyPr wrap="none" lIns="0" tIns="0" rIns="0" bIns="0" anchor="t" anchorCtr="0">
              <a:spAutoFit/>
            </a:bodyPr>
            <a:lstStyle/>
            <a:p>
              <a:pPr algn="l"/>
              <a:r>
                <a:rPr lang="zh-CN" sz="1125" i="1" dirty="0">
                  <a:solidFill>
                    <a:srgbClr val="5B6470"/>
                  </a:solidFill>
                  <a:latin typeface="Arial"/>
                  <a:ea typeface="Microsoft YaHei"/>
                  <a:cs typeface="Arial"/>
                </a:rPr>
                <a:t>End-to-end, for the same query as before.</a:t>
              </a:r>
            </a:p>
          </p:txBody>
        </p:sp>
      </p:grpSp>
      <p:grpSp>
        <p:nvGrpSpPr>
          <p:cNvPr id="92" name="Group 92"/>
          <p:cNvGrpSpPr/>
          <p:nvPr/>
        </p:nvGrpSpPr>
        <p:grpSpPr>
          <a:xfrm>
            <a:off x="571500" y="2286000"/>
            <a:ext cx="11049000" cy="2095500"/>
            <a:chOff x="571500" y="2286000"/>
            <a:chExt cx="11049000" cy="2095500"/>
          </a:xfrm>
        </p:grpSpPr>
        <p:sp>
          <p:nvSpPr>
            <p:cNvPr id="7" name="Line 7"/>
            <p:cNvSpPr/>
            <p:nvPr/>
          </p:nvSpPr>
          <p:spPr>
            <a:xfrm>
              <a:off x="933450" y="2714625"/>
              <a:ext cx="10687050" cy="9525"/>
            </a:xfrm>
            <a:custGeom>
              <a:avLst/>
              <a:gdLst/>
              <a:ahLst/>
              <a:cxnLst/>
              <a:rect l="l" t="t" r="r" b="b"/>
              <a:pathLst>
                <a:path w="10687050" h="9525">
                  <a:moveTo>
                    <a:pt x="0" y="0"/>
                  </a:moveTo>
                  <a:lnTo>
                    <a:pt x="10687050" y="0"/>
                  </a:lnTo>
                </a:path>
              </a:pathLst>
            </a:custGeom>
            <a:noFill/>
            <a:ln w="19050">
              <a:solidFill>
                <a:srgbClr val="CDD7E2"/>
              </a:solidFill>
            </a:ln>
          </p:spPr>
          <p:txBody>
            <a:bodyPr/>
            <a:lstStyle/>
            <a:p>
              <a:endParaRPr lang="en-US"/>
            </a:p>
          </p:txBody>
        </p:sp>
        <p:grpSp>
          <p:nvGrpSpPr>
            <p:cNvPr id="16" name="Group 16"/>
            <p:cNvGrpSpPr/>
            <p:nvPr/>
          </p:nvGrpSpPr>
          <p:grpSpPr>
            <a:xfrm>
              <a:off x="571500" y="2505075"/>
              <a:ext cx="1714500" cy="1876425"/>
              <a:chOff x="571500" y="2505075"/>
              <a:chExt cx="1714500" cy="1876425"/>
            </a:xfrm>
          </p:grpSpPr>
          <p:sp>
            <p:nvSpPr>
              <p:cNvPr id="8" name="Ellipse 8"/>
              <p:cNvSpPr/>
              <p:nvPr/>
            </p:nvSpPr>
            <p:spPr>
              <a:xfrm>
                <a:off x="933450" y="2505075"/>
                <a:ext cx="419100" cy="419100"/>
              </a:xfrm>
              <a:prstGeom prst="ellipse">
                <a:avLst/>
              </a:prstGeom>
              <a:solidFill>
                <a:srgbClr val="004C97"/>
              </a:solidFill>
              <a:ln>
                <a:noFill/>
              </a:ln>
            </p:spPr>
            <p:txBody>
              <a:bodyPr/>
              <a:lstStyle/>
              <a:p>
                <a:endParaRPr lang="en-US"/>
              </a:p>
            </p:txBody>
          </p:sp>
          <p:sp>
            <p:nvSpPr>
              <p:cNvPr id="9" name="TextBox 9"/>
              <p:cNvSpPr txBox="1"/>
              <p:nvPr/>
            </p:nvSpPr>
            <p:spPr>
              <a:xfrm>
                <a:off x="1102834" y="2650331"/>
                <a:ext cx="80331"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Black"/>
                    <a:ea typeface="Microsoft YaHei"/>
                    <a:cs typeface="Arial Black"/>
                  </a:rPr>
                  <a:t>1</a:t>
                </a:r>
              </a:p>
            </p:txBody>
          </p:sp>
          <p:sp>
            <p:nvSpPr>
              <p:cNvPr id="10" name="TextBox 10"/>
              <p:cNvSpPr txBox="1"/>
              <p:nvPr/>
            </p:nvSpPr>
            <p:spPr>
              <a:xfrm>
                <a:off x="870002" y="3197066"/>
                <a:ext cx="545996" cy="167640"/>
              </a:xfrm>
              <a:prstGeom prst="rect">
                <a:avLst/>
              </a:prstGeom>
              <a:noFill/>
              <a:ln>
                <a:noFill/>
              </a:ln>
            </p:spPr>
            <p:txBody>
              <a:bodyPr wrap="none" lIns="0" tIns="0" rIns="0" bIns="0" anchor="t" anchorCtr="0">
                <a:spAutoFit/>
              </a:bodyPr>
              <a:lstStyle/>
              <a:p>
                <a:pPr algn="ctr"/>
                <a:r>
                  <a:rPr lang="zh-CN" sz="825" b="1" dirty="0">
                    <a:solidFill>
                      <a:srgbClr val="004C97"/>
                    </a:solidFill>
                    <a:latin typeface="Arial"/>
                    <a:ea typeface="Microsoft YaHei"/>
                    <a:cs typeface="Arial"/>
                  </a:rPr>
                  <a:t>RA TYPES</a:t>
                </a:r>
              </a:p>
            </p:txBody>
          </p:sp>
          <p:sp>
            <p:nvSpPr>
              <p:cNvPr id="11" name="Rectangle 11"/>
              <p:cNvSpPr/>
              <p:nvPr/>
            </p:nvSpPr>
            <p:spPr>
              <a:xfrm>
                <a:off x="571500" y="3429000"/>
                <a:ext cx="1714500" cy="952500"/>
              </a:xfrm>
              <a:prstGeom prst="roundRect">
                <a:avLst>
                  <a:gd name="adj" fmla="val 8000"/>
                </a:avLst>
              </a:prstGeom>
              <a:solidFill>
                <a:srgbClr val="EAF6FD"/>
              </a:solidFill>
              <a:ln>
                <a:noFill/>
              </a:ln>
            </p:spPr>
            <p:txBody>
              <a:bodyPr/>
              <a:lstStyle/>
              <a:p>
                <a:endParaRPr lang="en-US"/>
              </a:p>
            </p:txBody>
          </p:sp>
          <p:sp>
            <p:nvSpPr>
              <p:cNvPr id="12" name="TextBox 12"/>
              <p:cNvSpPr txBox="1"/>
              <p:nvPr/>
            </p:nvSpPr>
            <p:spPr>
              <a:xfrm>
                <a:off x="967121" y="3617595"/>
                <a:ext cx="923258"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"Pull WEO real</a:t>
                </a:r>
              </a:p>
            </p:txBody>
          </p:sp>
          <p:sp>
            <p:nvSpPr>
              <p:cNvPr id="13" name="TextBox 13"/>
              <p:cNvSpPr txBox="1"/>
              <p:nvPr/>
            </p:nvSpPr>
            <p:spPr>
              <a:xfrm>
                <a:off x="930974" y="3789045"/>
                <a:ext cx="995553"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GDP growth for</a:t>
                </a:r>
              </a:p>
            </p:txBody>
          </p:sp>
          <p:sp>
            <p:nvSpPr>
              <p:cNvPr id="14" name="TextBox 14"/>
              <p:cNvSpPr txBox="1"/>
              <p:nvPr/>
            </p:nvSpPr>
            <p:spPr>
              <a:xfrm>
                <a:off x="1032843" y="3960495"/>
                <a:ext cx="791813"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G20, 2010 to</a:t>
                </a:r>
              </a:p>
            </p:txBody>
          </p:sp>
          <p:sp>
            <p:nvSpPr>
              <p:cNvPr id="15" name="TextBox 15"/>
              <p:cNvSpPr txBox="1"/>
              <p:nvPr/>
            </p:nvSpPr>
            <p:spPr>
              <a:xfrm>
                <a:off x="1091994" y="4131945"/>
                <a:ext cx="673513" cy="182880"/>
              </a:xfrm>
              <a:prstGeom prst="rect">
                <a:avLst/>
              </a:prstGeom>
              <a:noFill/>
              <a:ln>
                <a:noFill/>
              </a:ln>
            </p:spPr>
            <p:txBody>
              <a:bodyPr wrap="none" lIns="0" tIns="0" rIns="0" bIns="0" anchor="t" anchorCtr="0">
                <a:spAutoFit/>
              </a:bodyPr>
              <a:lstStyle/>
              <a:p>
                <a:pPr algn="ctr"/>
                <a:r>
                  <a:rPr lang="zh-CN" sz="900" i="1" dirty="0">
                    <a:solidFill>
                      <a:srgbClr val="1F2937"/>
                    </a:solidFill>
                    <a:latin typeface="Arial"/>
                    <a:ea typeface="Microsoft YaHei"/>
                    <a:cs typeface="Arial"/>
                  </a:rPr>
                  <a:t>present."</a:t>
                </a:r>
              </a:p>
            </p:txBody>
          </p:sp>
        </p:grpSp>
        <p:sp>
          <p:nvSpPr>
            <p:cNvPr id="17" name="Line 17"/>
            <p:cNvSpPr/>
            <p:nvPr/>
          </p:nvSpPr>
          <p:spPr>
            <a:xfrm>
              <a:off x="2362200" y="2714625"/>
              <a:ext cx="381000" cy="1"/>
            </a:xfrm>
            <a:prstGeom prst="line">
              <a:avLst/>
            </a:prstGeom>
            <a:noFill/>
            <a:ln w="23812">
              <a:solidFill>
                <a:srgbClr val="707372"/>
              </a:solidFill>
              <a:tailEnd type="triangle" w="lg" len="lg"/>
            </a:ln>
          </p:spPr>
          <p:txBody>
            <a:bodyPr/>
            <a:lstStyle/>
            <a:p>
              <a:endParaRPr lang="en-US"/>
            </a:p>
          </p:txBody>
        </p:sp>
        <p:grpSp>
          <p:nvGrpSpPr>
            <p:cNvPr id="29" name="Group 29"/>
            <p:cNvGrpSpPr/>
            <p:nvPr/>
          </p:nvGrpSpPr>
          <p:grpSpPr>
            <a:xfrm>
              <a:off x="2381250" y="2505075"/>
              <a:ext cx="1714500" cy="1876425"/>
              <a:chOff x="2381250" y="2505075"/>
              <a:chExt cx="1714500" cy="1876425"/>
            </a:xfrm>
          </p:grpSpPr>
          <p:sp>
            <p:nvSpPr>
              <p:cNvPr id="18" name="Ellipse 18"/>
              <p:cNvSpPr/>
              <p:nvPr/>
            </p:nvSpPr>
            <p:spPr>
              <a:xfrm>
                <a:off x="2743200" y="2505075"/>
                <a:ext cx="419100" cy="419100"/>
              </a:xfrm>
              <a:prstGeom prst="ellipse">
                <a:avLst/>
              </a:prstGeom>
              <a:solidFill>
                <a:srgbClr val="004C97"/>
              </a:solidFill>
              <a:ln>
                <a:noFill/>
              </a:ln>
            </p:spPr>
            <p:txBody>
              <a:bodyPr/>
              <a:lstStyle/>
              <a:p>
                <a:endParaRPr lang="en-US"/>
              </a:p>
            </p:txBody>
          </p:sp>
          <p:sp>
            <p:nvSpPr>
              <p:cNvPr id="19" name="TextBox 19"/>
              <p:cNvSpPr txBox="1"/>
              <p:nvPr/>
            </p:nvSpPr>
            <p:spPr>
              <a:xfrm>
                <a:off x="2891019" y="2650331"/>
                <a:ext cx="123462"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Black"/>
                    <a:ea typeface="Microsoft YaHei"/>
                    <a:cs typeface="Arial Black"/>
                  </a:rPr>
                  <a:t>2</a:t>
                </a:r>
              </a:p>
            </p:txBody>
          </p:sp>
          <p:sp>
            <p:nvSpPr>
              <p:cNvPr id="20" name="TextBox 20"/>
              <p:cNvSpPr txBox="1"/>
              <p:nvPr/>
            </p:nvSpPr>
            <p:spPr>
              <a:xfrm>
                <a:off x="2686078" y="3197066"/>
                <a:ext cx="533344" cy="167640"/>
              </a:xfrm>
              <a:prstGeom prst="rect">
                <a:avLst/>
              </a:prstGeom>
              <a:noFill/>
              <a:ln>
                <a:noFill/>
              </a:ln>
            </p:spPr>
            <p:txBody>
              <a:bodyPr wrap="none" lIns="0" tIns="0" rIns="0" bIns="0" anchor="t" anchorCtr="0">
                <a:spAutoFit/>
              </a:bodyPr>
              <a:lstStyle/>
              <a:p>
                <a:pPr algn="ctr"/>
                <a:r>
                  <a:rPr lang="zh-CN" sz="825" b="1" dirty="0">
                    <a:solidFill>
                      <a:srgbClr val="004C97"/>
                    </a:solidFill>
                    <a:latin typeface="Arial"/>
                    <a:ea typeface="Microsoft YaHei"/>
                    <a:cs typeface="Arial"/>
                  </a:rPr>
                  <a:t>CATALOG</a:t>
                </a:r>
              </a:p>
            </p:txBody>
          </p:sp>
          <p:sp>
            <p:nvSpPr>
              <p:cNvPr id="21" name="Rectangle 21"/>
              <p:cNvSpPr/>
              <p:nvPr/>
            </p:nvSpPr>
            <p:spPr>
              <a:xfrm>
                <a:off x="2381250" y="3429000"/>
                <a:ext cx="1714500" cy="952500"/>
              </a:xfrm>
              <a:prstGeom prst="roundRect">
                <a:avLst>
                  <a:gd name="adj" fmla="val 8000"/>
                </a:avLst>
              </a:prstGeom>
              <a:solidFill>
                <a:srgbClr val="EAF6FD"/>
              </a:solidFill>
              <a:ln>
                <a:noFill/>
              </a:ln>
            </p:spPr>
            <p:txBody>
              <a:bodyPr/>
              <a:lstStyle/>
              <a:p>
                <a:endParaRPr lang="en-US"/>
              </a:p>
            </p:txBody>
          </p:sp>
          <p:grpSp>
            <p:nvGrpSpPr>
              <p:cNvPr id="24" name="Group 24"/>
              <p:cNvGrpSpPr/>
              <p:nvPr/>
            </p:nvGrpSpPr>
            <p:grpSpPr>
              <a:xfrm>
                <a:off x="2490788" y="3567112"/>
                <a:ext cx="142875" cy="142875"/>
                <a:chOff x="2490788" y="3567112"/>
                <a:chExt cx="142875" cy="142875"/>
              </a:xfrm>
            </p:grpSpPr>
            <p:sp>
              <p:nvSpPr>
                <p:cNvPr id="22" name="Freeform 22"/>
                <p:cNvSpPr/>
                <p:nvPr/>
              </p:nvSpPr>
              <p:spPr>
                <a:xfrm>
                  <a:off x="2490788" y="3567112"/>
                  <a:ext cx="111125" cy="111125"/>
                </a:xfrm>
                <a:custGeom>
                  <a:avLst/>
                  <a:gdLst/>
                  <a:ahLst/>
                  <a:cxnLst/>
                  <a:rect l="l" t="t" r="r" b="b"/>
                  <a:pathLst>
                    <a:path w="111125" h="111125">
                      <a:moveTo>
                        <a:pt x="0" y="55562"/>
                      </a:moveTo>
                      <a:cubicBezTo>
                        <a:pt x="0" y="86249"/>
                        <a:pt x="24876" y="111125"/>
                        <a:pt x="55562" y="111125"/>
                      </a:cubicBezTo>
                      <a:cubicBezTo>
                        <a:pt x="86249" y="111125"/>
                        <a:pt x="111125" y="86249"/>
                        <a:pt x="111125" y="55562"/>
                      </a:cubicBezTo>
                      <a:cubicBezTo>
                        <a:pt x="111125" y="24876"/>
                        <a:pt x="86249" y="0"/>
                        <a:pt x="55562" y="0"/>
                      </a:cubicBezTo>
                      <a:cubicBezTo>
                        <a:pt x="24876" y="0"/>
                        <a:pt x="0" y="24876"/>
                        <a:pt x="0" y="55562"/>
                      </a:cubicBezTo>
                    </a:path>
                  </a:pathLst>
                </a:custGeom>
                <a:noFill/>
                <a:ln w="19050">
                  <a:solidFill>
                    <a:srgbClr val="009CDE"/>
                  </a:solidFill>
                </a:ln>
              </p:spPr>
              <p:txBody>
                <a:bodyPr/>
                <a:lstStyle/>
                <a:p>
                  <a:endParaRPr lang="en-US"/>
                </a:p>
              </p:txBody>
            </p:sp>
            <p:sp>
              <p:nvSpPr>
                <p:cNvPr id="23" name="Freeform 23"/>
                <p:cNvSpPr/>
                <p:nvPr/>
              </p:nvSpPr>
              <p:spPr>
                <a:xfrm>
                  <a:off x="2586038" y="3662362"/>
                  <a:ext cx="47625" cy="47625"/>
                </a:xfrm>
                <a:custGeom>
                  <a:avLst/>
                  <a:gdLst/>
                  <a:ahLst/>
                  <a:cxnLst/>
                  <a:rect l="l" t="t" r="r" b="b"/>
                  <a:pathLst>
                    <a:path w="47625" h="47625">
                      <a:moveTo>
                        <a:pt x="47625" y="47625"/>
                      </a:moveTo>
                      <a:lnTo>
                        <a:pt x="0" y="0"/>
                      </a:lnTo>
                    </a:path>
                  </a:pathLst>
                </a:custGeom>
                <a:noFill/>
                <a:ln w="19050">
                  <a:solidFill>
                    <a:srgbClr val="009CDE"/>
                  </a:solidFill>
                </a:ln>
              </p:spPr>
              <p:txBody>
                <a:bodyPr/>
                <a:lstStyle/>
                <a:p>
                  <a:endParaRPr lang="en-US"/>
                </a:p>
              </p:txBody>
            </p:sp>
          </p:grpSp>
          <p:sp>
            <p:nvSpPr>
              <p:cNvPr id="25" name="TextBox 25"/>
              <p:cNvSpPr txBox="1"/>
              <p:nvPr/>
            </p:nvSpPr>
            <p:spPr>
              <a:xfrm>
                <a:off x="2704148" y="3606641"/>
                <a:ext cx="723118" cy="167640"/>
              </a:xfrm>
              <a:prstGeom prst="rect">
                <a:avLst/>
              </a:prstGeom>
              <a:noFill/>
              <a:ln>
                <a:noFill/>
              </a:ln>
            </p:spPr>
            <p:txBody>
              <a:bodyPr wrap="none" lIns="0" tIns="0" rIns="0" bIns="0" anchor="t" anchorCtr="0">
                <a:spAutoFit/>
              </a:bodyPr>
              <a:lstStyle/>
              <a:p>
                <a:pPr algn="l"/>
                <a:r>
                  <a:rPr lang="zh-CN" sz="825" b="1" dirty="0">
                    <a:solidFill>
                      <a:srgbClr val="009CDE"/>
                    </a:solidFill>
                    <a:latin typeface="Arial"/>
                    <a:ea typeface="Microsoft YaHei"/>
                    <a:cs typeface="Arial"/>
                  </a:rPr>
                  <a:t>resolves to</a:t>
                </a:r>
              </a:p>
            </p:txBody>
          </p:sp>
          <p:sp>
            <p:nvSpPr>
              <p:cNvPr id="26" name="TextBox 26"/>
              <p:cNvSpPr txBox="1"/>
              <p:nvPr/>
            </p:nvSpPr>
            <p:spPr>
              <a:xfrm>
                <a:off x="2456498" y="3835241"/>
                <a:ext cx="596602" cy="167640"/>
              </a:xfrm>
              <a:prstGeom prst="rect">
                <a:avLst/>
              </a:prstGeom>
              <a:noFill/>
              <a:ln>
                <a:noFill/>
              </a:ln>
            </p:spPr>
            <p:txBody>
              <a:bodyPr wrap="none" lIns="0" tIns="0" rIns="0" bIns="0" anchor="t" anchorCtr="0">
                <a:spAutoFit/>
              </a:bodyPr>
              <a:lstStyle/>
              <a:p>
                <a:pPr algn="l"/>
                <a:r>
                  <a:rPr lang="zh-CN" sz="825" b="1" dirty="0">
                    <a:solidFill>
                      <a:srgbClr val="004C97"/>
                    </a:solidFill>
                    <a:latin typeface="Consolas"/>
                    <a:ea typeface="Microsoft YaHei"/>
                    <a:cs typeface="Consolas"/>
                  </a:rPr>
                  <a:t>WEO_LIVE</a:t>
                </a:r>
              </a:p>
            </p:txBody>
          </p:sp>
          <p:sp>
            <p:nvSpPr>
              <p:cNvPr id="27" name="TextBox 27"/>
              <p:cNvSpPr txBox="1"/>
              <p:nvPr/>
            </p:nvSpPr>
            <p:spPr>
              <a:xfrm>
                <a:off x="2456498" y="3968591"/>
                <a:ext cx="647208" cy="167640"/>
              </a:xfrm>
              <a:prstGeom prst="rect">
                <a:avLst/>
              </a:prstGeom>
              <a:noFill/>
              <a:ln>
                <a:noFill/>
              </a:ln>
            </p:spPr>
            <p:txBody>
              <a:bodyPr wrap="none" lIns="0" tIns="0" rIns="0" bIns="0" anchor="t" anchorCtr="0">
                <a:spAutoFit/>
              </a:bodyPr>
              <a:lstStyle/>
              <a:p>
                <a:pPr algn="l"/>
                <a:r>
                  <a:rPr lang="zh-CN" sz="825" b="1" dirty="0">
                    <a:solidFill>
                      <a:srgbClr val="004C97"/>
                    </a:solidFill>
                    <a:latin typeface="Consolas"/>
                    <a:ea typeface="Microsoft YaHei"/>
                    <a:cs typeface="Consolas"/>
                  </a:rPr>
                  <a:t>NGDP_RPCH</a:t>
                </a:r>
              </a:p>
            </p:txBody>
          </p:sp>
          <p:sp>
            <p:nvSpPr>
              <p:cNvPr id="28" name="TextBox 28"/>
              <p:cNvSpPr txBox="1"/>
              <p:nvPr/>
            </p:nvSpPr>
            <p:spPr>
              <a:xfrm>
                <a:off x="2456498" y="4101941"/>
                <a:ext cx="1052059" cy="167640"/>
              </a:xfrm>
              <a:prstGeom prst="rect">
                <a:avLst/>
              </a:prstGeom>
              <a:noFill/>
              <a:ln>
                <a:noFill/>
              </a:ln>
            </p:spPr>
            <p:txBody>
              <a:bodyPr wrap="none" lIns="0" tIns="0" rIns="0" bIns="0" anchor="t" anchorCtr="0">
                <a:spAutoFit/>
              </a:bodyPr>
              <a:lstStyle/>
              <a:p>
                <a:pPr algn="l"/>
                <a:r>
                  <a:rPr lang="zh-CN" sz="825" b="1" dirty="0">
                    <a:solidFill>
                      <a:srgbClr val="004C97"/>
                    </a:solidFill>
                    <a:latin typeface="Consolas"/>
                    <a:ea typeface="Microsoft YaHei"/>
                    <a:cs typeface="Consolas"/>
                  </a:rPr>
                  <a:t>A · G20-members</a:t>
                </a:r>
              </a:p>
            </p:txBody>
          </p:sp>
        </p:grpSp>
        <p:sp>
          <p:nvSpPr>
            <p:cNvPr id="30" name="Line 30"/>
            <p:cNvSpPr/>
            <p:nvPr/>
          </p:nvSpPr>
          <p:spPr>
            <a:xfrm>
              <a:off x="4171950" y="2714625"/>
              <a:ext cx="381000" cy="1"/>
            </a:xfrm>
            <a:prstGeom prst="line">
              <a:avLst/>
            </a:prstGeom>
            <a:noFill/>
            <a:ln w="23812">
              <a:solidFill>
                <a:srgbClr val="707372"/>
              </a:solidFill>
              <a:tailEnd type="triangle" w="lg" len="lg"/>
            </a:ln>
          </p:spPr>
          <p:txBody>
            <a:bodyPr/>
            <a:lstStyle/>
            <a:p>
              <a:endParaRPr lang="en-US"/>
            </a:p>
          </p:txBody>
        </p:sp>
        <p:grpSp>
          <p:nvGrpSpPr>
            <p:cNvPr id="43" name="Group 43"/>
            <p:cNvGrpSpPr/>
            <p:nvPr/>
          </p:nvGrpSpPr>
          <p:grpSpPr>
            <a:xfrm>
              <a:off x="4191000" y="2505075"/>
              <a:ext cx="1714500" cy="1876425"/>
              <a:chOff x="4191000" y="2505075"/>
              <a:chExt cx="1714500" cy="1876425"/>
            </a:xfrm>
          </p:grpSpPr>
          <p:sp>
            <p:nvSpPr>
              <p:cNvPr id="31" name="Ellipse 31"/>
              <p:cNvSpPr/>
              <p:nvPr/>
            </p:nvSpPr>
            <p:spPr>
              <a:xfrm>
                <a:off x="4552950" y="2505075"/>
                <a:ext cx="419100" cy="419100"/>
              </a:xfrm>
              <a:prstGeom prst="ellipse">
                <a:avLst/>
              </a:prstGeom>
              <a:solidFill>
                <a:srgbClr val="004C97"/>
              </a:solidFill>
              <a:ln>
                <a:noFill/>
              </a:ln>
            </p:spPr>
            <p:txBody>
              <a:bodyPr/>
              <a:lstStyle/>
              <a:p>
                <a:endParaRPr lang="en-US"/>
              </a:p>
            </p:txBody>
          </p:sp>
          <p:sp>
            <p:nvSpPr>
              <p:cNvPr id="32" name="TextBox 32"/>
              <p:cNvSpPr txBox="1"/>
              <p:nvPr/>
            </p:nvSpPr>
            <p:spPr>
              <a:xfrm>
                <a:off x="4700769" y="2650331"/>
                <a:ext cx="123462"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Black"/>
                    <a:ea typeface="Microsoft YaHei"/>
                    <a:cs typeface="Arial Black"/>
                  </a:rPr>
                  <a:t>3</a:t>
                </a:r>
              </a:p>
            </p:txBody>
          </p:sp>
          <p:sp>
            <p:nvSpPr>
              <p:cNvPr id="33" name="TextBox 33"/>
              <p:cNvSpPr txBox="1"/>
              <p:nvPr/>
            </p:nvSpPr>
            <p:spPr>
              <a:xfrm>
                <a:off x="4612855" y="3197066"/>
                <a:ext cx="299290" cy="167640"/>
              </a:xfrm>
              <a:prstGeom prst="rect">
                <a:avLst/>
              </a:prstGeom>
              <a:noFill/>
              <a:ln>
                <a:noFill/>
              </a:ln>
            </p:spPr>
            <p:txBody>
              <a:bodyPr wrap="none" lIns="0" tIns="0" rIns="0" bIns="0" anchor="t" anchorCtr="0">
                <a:spAutoFit/>
              </a:bodyPr>
              <a:lstStyle/>
              <a:p>
                <a:pPr algn="ctr"/>
                <a:r>
                  <a:rPr lang="zh-CN" sz="825" b="1" dirty="0">
                    <a:solidFill>
                      <a:srgbClr val="004C97"/>
                    </a:solidFill>
                    <a:latin typeface="Arial"/>
                    <a:ea typeface="Microsoft YaHei"/>
                    <a:cs typeface="Arial"/>
                  </a:rPr>
                  <a:t>DATA</a:t>
                </a:r>
              </a:p>
            </p:txBody>
          </p:sp>
          <p:sp>
            <p:nvSpPr>
              <p:cNvPr id="34" name="Rectangle 34"/>
              <p:cNvSpPr/>
              <p:nvPr/>
            </p:nvSpPr>
            <p:spPr>
              <a:xfrm>
                <a:off x="4191000" y="3429000"/>
                <a:ext cx="1714500" cy="952500"/>
              </a:xfrm>
              <a:prstGeom prst="roundRect">
                <a:avLst>
                  <a:gd name="adj" fmla="val 8000"/>
                </a:avLst>
              </a:prstGeom>
              <a:solidFill>
                <a:srgbClr val="EAF6FD"/>
              </a:solidFill>
              <a:ln>
                <a:noFill/>
              </a:ln>
            </p:spPr>
            <p:txBody>
              <a:bodyPr/>
              <a:lstStyle/>
              <a:p>
                <a:endParaRPr lang="en-US"/>
              </a:p>
            </p:txBody>
          </p:sp>
          <p:grpSp>
            <p:nvGrpSpPr>
              <p:cNvPr id="38" name="Group 38"/>
              <p:cNvGrpSpPr/>
              <p:nvPr/>
            </p:nvGrpSpPr>
            <p:grpSpPr>
              <a:xfrm>
                <a:off x="4308475" y="3567112"/>
                <a:ext cx="127000" cy="142876"/>
                <a:chOff x="4308475" y="3567112"/>
                <a:chExt cx="127000" cy="142876"/>
              </a:xfrm>
            </p:grpSpPr>
            <p:sp>
              <p:nvSpPr>
                <p:cNvPr id="35" name="Freeform 35"/>
                <p:cNvSpPr/>
                <p:nvPr/>
              </p:nvSpPr>
              <p:spPr>
                <a:xfrm>
                  <a:off x="4308475" y="3567112"/>
                  <a:ext cx="127000" cy="47625"/>
                </a:xfrm>
                <a:custGeom>
                  <a:avLst/>
                  <a:gdLst/>
                  <a:ahLst/>
                  <a:cxnLst/>
                  <a:rect l="l" t="t" r="r" b="b"/>
                  <a:pathLst>
                    <a:path w="127000" h="47625">
                      <a:moveTo>
                        <a:pt x="0" y="23812"/>
                      </a:moveTo>
                      <a:cubicBezTo>
                        <a:pt x="0" y="36964"/>
                        <a:pt x="28430" y="47625"/>
                        <a:pt x="63500" y="47625"/>
                      </a:cubicBezTo>
                      <a:cubicBezTo>
                        <a:pt x="98570" y="47625"/>
                        <a:pt x="127000" y="36964"/>
                        <a:pt x="127000" y="23812"/>
                      </a:cubicBezTo>
                      <a:cubicBezTo>
                        <a:pt x="127000" y="10661"/>
                        <a:pt x="98570" y="0"/>
                        <a:pt x="63500" y="0"/>
                      </a:cubicBezTo>
                      <a:cubicBezTo>
                        <a:pt x="28430" y="0"/>
                        <a:pt x="0" y="10661"/>
                        <a:pt x="0" y="23812"/>
                      </a:cubicBezTo>
                    </a:path>
                  </a:pathLst>
                </a:custGeom>
                <a:noFill/>
                <a:ln w="19050">
                  <a:solidFill>
                    <a:srgbClr val="009CDE"/>
                  </a:solidFill>
                </a:ln>
              </p:spPr>
              <p:txBody>
                <a:bodyPr/>
                <a:lstStyle/>
                <a:p>
                  <a:endParaRPr lang="en-US"/>
                </a:p>
              </p:txBody>
            </p:sp>
            <p:sp>
              <p:nvSpPr>
                <p:cNvPr id="36" name="Freeform 36"/>
                <p:cNvSpPr/>
                <p:nvPr/>
              </p:nvSpPr>
              <p:spPr>
                <a:xfrm>
                  <a:off x="4308475" y="3590925"/>
                  <a:ext cx="127000" cy="71438"/>
                </a:xfrm>
                <a:custGeom>
                  <a:avLst/>
                  <a:gdLst/>
                  <a:ahLst/>
                  <a:cxnLst/>
                  <a:rect l="l" t="t" r="r" b="b"/>
                  <a:pathLst>
                    <a:path w="127000" h="71438">
                      <a:moveTo>
                        <a:pt x="0" y="0"/>
                      </a:moveTo>
                      <a:lnTo>
                        <a:pt x="0" y="47625"/>
                      </a:lnTo>
                      <a:cubicBezTo>
                        <a:pt x="0" y="60776"/>
                        <a:pt x="28430" y="71438"/>
                        <a:pt x="63500" y="71438"/>
                      </a:cubicBezTo>
                      <a:cubicBezTo>
                        <a:pt x="98570" y="71438"/>
                        <a:pt x="127000" y="60776"/>
                        <a:pt x="127000" y="47625"/>
                      </a:cubicBezTo>
                      <a:lnTo>
                        <a:pt x="127000" y="0"/>
                      </a:lnTo>
                    </a:path>
                  </a:pathLst>
                </a:custGeom>
                <a:noFill/>
                <a:ln w="19050">
                  <a:solidFill>
                    <a:srgbClr val="009CDE"/>
                  </a:solidFill>
                </a:ln>
              </p:spPr>
              <p:txBody>
                <a:bodyPr/>
                <a:lstStyle/>
                <a:p>
                  <a:endParaRPr lang="en-US"/>
                </a:p>
              </p:txBody>
            </p:sp>
            <p:sp>
              <p:nvSpPr>
                <p:cNvPr id="37" name="Freeform 37"/>
                <p:cNvSpPr/>
                <p:nvPr/>
              </p:nvSpPr>
              <p:spPr>
                <a:xfrm>
                  <a:off x="4308475" y="3638550"/>
                  <a:ext cx="127000" cy="71438"/>
                </a:xfrm>
                <a:custGeom>
                  <a:avLst/>
                  <a:gdLst/>
                  <a:ahLst/>
                  <a:cxnLst/>
                  <a:rect l="l" t="t" r="r" b="b"/>
                  <a:pathLst>
                    <a:path w="127000" h="71438">
                      <a:moveTo>
                        <a:pt x="0" y="0"/>
                      </a:moveTo>
                      <a:lnTo>
                        <a:pt x="0" y="47625"/>
                      </a:lnTo>
                      <a:cubicBezTo>
                        <a:pt x="0" y="60776"/>
                        <a:pt x="28430" y="71438"/>
                        <a:pt x="63500" y="71438"/>
                      </a:cubicBezTo>
                      <a:cubicBezTo>
                        <a:pt x="98570" y="71438"/>
                        <a:pt x="127000" y="60776"/>
                        <a:pt x="127000" y="47625"/>
                      </a:cubicBezTo>
                      <a:lnTo>
                        <a:pt x="127000" y="0"/>
                      </a:lnTo>
                    </a:path>
                  </a:pathLst>
                </a:custGeom>
                <a:noFill/>
                <a:ln w="19050">
                  <a:solidFill>
                    <a:srgbClr val="009CDE"/>
                  </a:solidFill>
                </a:ln>
              </p:spPr>
              <p:txBody>
                <a:bodyPr/>
                <a:lstStyle/>
                <a:p>
                  <a:endParaRPr lang="en-US"/>
                </a:p>
              </p:txBody>
            </p:sp>
          </p:grpSp>
          <p:sp>
            <p:nvSpPr>
              <p:cNvPr id="39" name="TextBox 39"/>
              <p:cNvSpPr txBox="1"/>
              <p:nvPr/>
            </p:nvSpPr>
            <p:spPr>
              <a:xfrm>
                <a:off x="4513898" y="3606641"/>
                <a:ext cx="508041" cy="167640"/>
              </a:xfrm>
              <a:prstGeom prst="rect">
                <a:avLst/>
              </a:prstGeom>
              <a:noFill/>
              <a:ln>
                <a:noFill/>
              </a:ln>
            </p:spPr>
            <p:txBody>
              <a:bodyPr wrap="none" lIns="0" tIns="0" rIns="0" bIns="0" anchor="t" anchorCtr="0">
                <a:spAutoFit/>
              </a:bodyPr>
              <a:lstStyle/>
              <a:p>
                <a:pPr algn="l"/>
                <a:r>
                  <a:rPr lang="zh-CN" sz="825" b="1" dirty="0">
                    <a:solidFill>
                      <a:srgbClr val="009CDE"/>
                    </a:solidFill>
                    <a:latin typeface="Arial"/>
                    <a:ea typeface="Microsoft YaHei"/>
                    <a:cs typeface="Arial"/>
                  </a:rPr>
                  <a:t>fetches</a:t>
                </a:r>
              </a:p>
            </p:txBody>
          </p:sp>
          <p:sp>
            <p:nvSpPr>
              <p:cNvPr id="40" name="TextBox 40"/>
              <p:cNvSpPr txBox="1"/>
              <p:nvPr/>
            </p:nvSpPr>
            <p:spPr>
              <a:xfrm>
                <a:off x="4266248" y="3835241"/>
                <a:ext cx="954762" cy="167640"/>
              </a:xfrm>
              <a:prstGeom prst="rect">
                <a:avLst/>
              </a:prstGeom>
              <a:noFill/>
              <a:ln>
                <a:noFill/>
              </a:ln>
            </p:spPr>
            <p:txBody>
              <a:bodyPr wrap="none" lIns="0" tIns="0" rIns="0" bIns="0" anchor="t" anchorCtr="0">
                <a:spAutoFit/>
              </a:bodyPr>
              <a:lstStyle/>
              <a:p>
                <a:pPr algn="l"/>
                <a:r>
                  <a:rPr lang="zh-CN" sz="825" dirty="0">
                    <a:solidFill>
                      <a:srgbClr val="1F2937"/>
                    </a:solidFill>
                    <a:latin typeface="Arial"/>
                    <a:ea typeface="Microsoft YaHei"/>
                    <a:cs typeface="Arial"/>
                  </a:rPr>
                  <a:t>7-step protocol</a:t>
                </a:r>
              </a:p>
            </p:txBody>
          </p:sp>
          <p:sp>
            <p:nvSpPr>
              <p:cNvPr id="41" name="TextBox 41"/>
              <p:cNvSpPr txBox="1"/>
              <p:nvPr/>
            </p:nvSpPr>
            <p:spPr>
              <a:xfrm>
                <a:off x="4266248" y="3968591"/>
                <a:ext cx="918615" cy="167640"/>
              </a:xfrm>
              <a:prstGeom prst="rect">
                <a:avLst/>
              </a:prstGeom>
              <a:noFill/>
              <a:ln>
                <a:noFill/>
              </a:ln>
            </p:spPr>
            <p:txBody>
              <a:bodyPr wrap="none" lIns="0" tIns="0" rIns="0" bIns="0" anchor="t" anchorCtr="0">
                <a:spAutoFit/>
              </a:bodyPr>
              <a:lstStyle/>
              <a:p>
                <a:pPr algn="l"/>
                <a:r>
                  <a:rPr lang="zh-CN" sz="825" dirty="0">
                    <a:solidFill>
                      <a:srgbClr val="5B6470"/>
                    </a:solidFill>
                    <a:latin typeface="Consolas"/>
                    <a:ea typeface="Microsoft YaHei"/>
                    <a:cs typeface="Consolas"/>
                  </a:rPr>
                  <a:t>fetch_idata.py</a:t>
                </a:r>
              </a:p>
            </p:txBody>
          </p:sp>
          <p:sp>
            <p:nvSpPr>
              <p:cNvPr id="42" name="TextBox 42"/>
              <p:cNvSpPr txBox="1"/>
              <p:nvPr/>
            </p:nvSpPr>
            <p:spPr>
              <a:xfrm>
                <a:off x="4266248" y="4101941"/>
                <a:ext cx="1159597" cy="167640"/>
              </a:xfrm>
              <a:prstGeom prst="rect">
                <a:avLst/>
              </a:prstGeom>
              <a:noFill/>
              <a:ln>
                <a:noFill/>
              </a:ln>
            </p:spPr>
            <p:txBody>
              <a:bodyPr wrap="none" lIns="0" tIns="0" rIns="0" bIns="0" anchor="t" anchorCtr="0">
                <a:spAutoFit/>
              </a:bodyPr>
              <a:lstStyle/>
              <a:p>
                <a:pPr algn="l"/>
                <a:r>
                  <a:rPr lang="zh-CN" sz="825" dirty="0">
                    <a:solidFill>
                      <a:srgbClr val="1F2937"/>
                    </a:solidFill>
                    <a:latin typeface="Arial"/>
                    <a:ea typeface="Microsoft YaHei"/>
                    <a:cs typeface="Arial"/>
                  </a:rPr>
                  <a:t>→ Refreshable Excel</a:t>
                </a:r>
              </a:p>
            </p:txBody>
          </p:sp>
        </p:grpSp>
        <p:sp>
          <p:nvSpPr>
            <p:cNvPr id="44" name="Line 44"/>
            <p:cNvSpPr/>
            <p:nvPr/>
          </p:nvSpPr>
          <p:spPr>
            <a:xfrm>
              <a:off x="5981700" y="2714625"/>
              <a:ext cx="381000" cy="1"/>
            </a:xfrm>
            <a:prstGeom prst="line">
              <a:avLst/>
            </a:prstGeom>
            <a:noFill/>
            <a:ln w="23812">
              <a:solidFill>
                <a:srgbClr val="DA281C"/>
              </a:solidFill>
              <a:prstDash val="dash"/>
              <a:tailEnd type="triangle" w="lg" len="lg"/>
            </a:ln>
          </p:spPr>
          <p:txBody>
            <a:bodyPr/>
            <a:lstStyle/>
            <a:p>
              <a:endParaRPr lang="en-US"/>
            </a:p>
          </p:txBody>
        </p:sp>
        <p:grpSp>
          <p:nvGrpSpPr>
            <p:cNvPr id="65" name="Group 65"/>
            <p:cNvGrpSpPr/>
            <p:nvPr/>
          </p:nvGrpSpPr>
          <p:grpSpPr>
            <a:xfrm>
              <a:off x="6000750" y="2505075"/>
              <a:ext cx="1714500" cy="1876425"/>
              <a:chOff x="6000750" y="2505075"/>
              <a:chExt cx="1714500" cy="1876425"/>
            </a:xfrm>
          </p:grpSpPr>
          <p:sp>
            <p:nvSpPr>
              <p:cNvPr id="45" name="Ellipse 45"/>
              <p:cNvSpPr/>
              <p:nvPr/>
            </p:nvSpPr>
            <p:spPr>
              <a:xfrm>
                <a:off x="6362700" y="2505075"/>
                <a:ext cx="419100" cy="419100"/>
              </a:xfrm>
              <a:prstGeom prst="ellipse">
                <a:avLst/>
              </a:prstGeom>
              <a:solidFill>
                <a:srgbClr val="FFFFFF"/>
              </a:solidFill>
              <a:ln w="23812">
                <a:solidFill>
                  <a:srgbClr val="DA281C"/>
                </a:solidFill>
                <a:custDash>
                  <a:ds d="120000" sp="80000"/>
                </a:custDash>
              </a:ln>
            </p:spPr>
            <p:txBody>
              <a:bodyPr/>
              <a:lstStyle/>
              <a:p>
                <a:endParaRPr lang="en-US"/>
              </a:p>
            </p:txBody>
          </p:sp>
          <p:grpSp>
            <p:nvGrpSpPr>
              <p:cNvPr id="54" name="Group 54"/>
              <p:cNvGrpSpPr/>
              <p:nvPr/>
            </p:nvGrpSpPr>
            <p:grpSpPr>
              <a:xfrm>
                <a:off x="6472238" y="2614612"/>
                <a:ext cx="201882" cy="201883"/>
                <a:chOff x="6472238" y="2614612"/>
                <a:chExt cx="201882" cy="201883"/>
              </a:xfrm>
            </p:grpSpPr>
            <p:sp>
              <p:nvSpPr>
                <p:cNvPr id="46" name="Freeform 46"/>
                <p:cNvSpPr/>
                <p:nvPr/>
              </p:nvSpPr>
              <p:spPr>
                <a:xfrm>
                  <a:off x="6501574" y="2622280"/>
                  <a:ext cx="32448" cy="21669"/>
                </a:xfrm>
                <a:custGeom>
                  <a:avLst/>
                  <a:gdLst/>
                  <a:ahLst/>
                  <a:cxnLst/>
                  <a:rect l="l" t="t" r="r" b="b"/>
                  <a:pathLst>
                    <a:path w="32448" h="21669">
                      <a:moveTo>
                        <a:pt x="32448" y="0"/>
                      </a:moveTo>
                      <a:cubicBezTo>
                        <a:pt x="20315" y="5023"/>
                        <a:pt x="9289" y="12386"/>
                        <a:pt x="0" y="21669"/>
                      </a:cubicBezTo>
                    </a:path>
                  </a:pathLst>
                </a:custGeom>
                <a:noFill/>
                <a:ln w="19050">
                  <a:solidFill>
                    <a:srgbClr val="DA281C"/>
                  </a:solidFill>
                </a:ln>
              </p:spPr>
              <p:txBody>
                <a:bodyPr/>
                <a:lstStyle/>
                <a:p>
                  <a:endParaRPr lang="en-US"/>
                </a:p>
              </p:txBody>
            </p:sp>
            <p:sp>
              <p:nvSpPr>
                <p:cNvPr id="47" name="Freeform 47"/>
                <p:cNvSpPr/>
                <p:nvPr/>
              </p:nvSpPr>
              <p:spPr>
                <a:xfrm>
                  <a:off x="6472238" y="2676398"/>
                  <a:ext cx="9525" cy="38227"/>
                </a:xfrm>
                <a:custGeom>
                  <a:avLst/>
                  <a:gdLst/>
                  <a:ahLst/>
                  <a:cxnLst/>
                  <a:rect l="l" t="t" r="r" b="b"/>
                  <a:pathLst>
                    <a:path w="9525" h="38227">
                      <a:moveTo>
                        <a:pt x="7668" y="0"/>
                      </a:moveTo>
                      <a:cubicBezTo>
                        <a:pt x="2629" y="12116"/>
                        <a:pt x="23" y="25105"/>
                        <a:pt x="0" y="38227"/>
                      </a:cubicBezTo>
                    </a:path>
                  </a:pathLst>
                </a:custGeom>
                <a:noFill/>
                <a:ln w="19050">
                  <a:solidFill>
                    <a:srgbClr val="DA281C"/>
                  </a:solidFill>
                </a:ln>
              </p:spPr>
              <p:txBody>
                <a:bodyPr/>
                <a:lstStyle/>
                <a:p>
                  <a:endParaRPr lang="en-US"/>
                </a:p>
              </p:txBody>
            </p:sp>
            <p:sp>
              <p:nvSpPr>
                <p:cNvPr id="48" name="Freeform 48"/>
                <p:cNvSpPr/>
                <p:nvPr/>
              </p:nvSpPr>
              <p:spPr>
                <a:xfrm>
                  <a:off x="6479905" y="2752852"/>
                  <a:ext cx="21669" cy="32449"/>
                </a:xfrm>
                <a:custGeom>
                  <a:avLst/>
                  <a:gdLst/>
                  <a:ahLst/>
                  <a:cxnLst/>
                  <a:rect l="l" t="t" r="r" b="b"/>
                  <a:pathLst>
                    <a:path w="21669" h="32449">
                      <a:moveTo>
                        <a:pt x="0" y="0"/>
                      </a:moveTo>
                      <a:cubicBezTo>
                        <a:pt x="5023" y="12134"/>
                        <a:pt x="12386" y="23160"/>
                        <a:pt x="21669" y="32449"/>
                      </a:cubicBezTo>
                    </a:path>
                  </a:pathLst>
                </a:custGeom>
                <a:noFill/>
                <a:ln w="19050">
                  <a:solidFill>
                    <a:srgbClr val="DA281C"/>
                  </a:solidFill>
                </a:ln>
              </p:spPr>
              <p:txBody>
                <a:bodyPr/>
                <a:lstStyle/>
                <a:p>
                  <a:endParaRPr lang="en-US"/>
                </a:p>
              </p:txBody>
            </p:sp>
            <p:sp>
              <p:nvSpPr>
                <p:cNvPr id="49" name="Freeform 49"/>
                <p:cNvSpPr/>
                <p:nvPr/>
              </p:nvSpPr>
              <p:spPr>
                <a:xfrm>
                  <a:off x="6534023" y="2806970"/>
                  <a:ext cx="38227" cy="9525"/>
                </a:xfrm>
                <a:custGeom>
                  <a:avLst/>
                  <a:gdLst/>
                  <a:ahLst/>
                  <a:cxnLst/>
                  <a:rect l="l" t="t" r="r" b="b"/>
                  <a:pathLst>
                    <a:path w="38227" h="9525">
                      <a:moveTo>
                        <a:pt x="0" y="0"/>
                      </a:moveTo>
                      <a:cubicBezTo>
                        <a:pt x="12116" y="5039"/>
                        <a:pt x="25105" y="7644"/>
                        <a:pt x="38227" y="7668"/>
                      </a:cubicBezTo>
                    </a:path>
                  </a:pathLst>
                </a:custGeom>
                <a:noFill/>
                <a:ln w="19050">
                  <a:solidFill>
                    <a:srgbClr val="DA281C"/>
                  </a:solidFill>
                </a:ln>
              </p:spPr>
              <p:txBody>
                <a:bodyPr/>
                <a:lstStyle/>
                <a:p>
                  <a:endParaRPr lang="en-US"/>
                </a:p>
              </p:txBody>
            </p:sp>
            <p:sp>
              <p:nvSpPr>
                <p:cNvPr id="50" name="Freeform 50"/>
                <p:cNvSpPr/>
                <p:nvPr/>
              </p:nvSpPr>
              <p:spPr>
                <a:xfrm>
                  <a:off x="6610477" y="2785300"/>
                  <a:ext cx="32448" cy="21669"/>
                </a:xfrm>
                <a:custGeom>
                  <a:avLst/>
                  <a:gdLst/>
                  <a:ahLst/>
                  <a:cxnLst/>
                  <a:rect l="l" t="t" r="r" b="b"/>
                  <a:pathLst>
                    <a:path w="32448" h="21669">
                      <a:moveTo>
                        <a:pt x="0" y="21669"/>
                      </a:moveTo>
                      <a:cubicBezTo>
                        <a:pt x="12134" y="16647"/>
                        <a:pt x="23160" y="9283"/>
                        <a:pt x="32448" y="0"/>
                      </a:cubicBezTo>
                    </a:path>
                  </a:pathLst>
                </a:custGeom>
                <a:noFill/>
                <a:ln w="19050">
                  <a:solidFill>
                    <a:srgbClr val="DA281C"/>
                  </a:solidFill>
                </a:ln>
              </p:spPr>
              <p:txBody>
                <a:bodyPr/>
                <a:lstStyle/>
                <a:p>
                  <a:endParaRPr lang="en-US"/>
                </a:p>
              </p:txBody>
            </p:sp>
            <p:sp>
              <p:nvSpPr>
                <p:cNvPr id="51" name="Freeform 51"/>
                <p:cNvSpPr/>
                <p:nvPr/>
              </p:nvSpPr>
              <p:spPr>
                <a:xfrm>
                  <a:off x="6664595" y="2714625"/>
                  <a:ext cx="9525" cy="38227"/>
                </a:xfrm>
                <a:custGeom>
                  <a:avLst/>
                  <a:gdLst/>
                  <a:ahLst/>
                  <a:cxnLst/>
                  <a:rect l="l" t="t" r="r" b="b"/>
                  <a:pathLst>
                    <a:path w="9525" h="38227">
                      <a:moveTo>
                        <a:pt x="0" y="38227"/>
                      </a:moveTo>
                      <a:cubicBezTo>
                        <a:pt x="5039" y="26111"/>
                        <a:pt x="7644" y="13122"/>
                        <a:pt x="7668" y="0"/>
                      </a:cubicBezTo>
                    </a:path>
                  </a:pathLst>
                </a:custGeom>
                <a:noFill/>
                <a:ln w="19050">
                  <a:solidFill>
                    <a:srgbClr val="DA281C"/>
                  </a:solidFill>
                </a:ln>
              </p:spPr>
              <p:txBody>
                <a:bodyPr/>
                <a:lstStyle/>
                <a:p>
                  <a:endParaRPr lang="en-US"/>
                </a:p>
              </p:txBody>
            </p:sp>
            <p:sp>
              <p:nvSpPr>
                <p:cNvPr id="52" name="Freeform 52"/>
                <p:cNvSpPr/>
                <p:nvPr/>
              </p:nvSpPr>
              <p:spPr>
                <a:xfrm>
                  <a:off x="6642926" y="2643950"/>
                  <a:ext cx="21669" cy="32449"/>
                </a:xfrm>
                <a:custGeom>
                  <a:avLst/>
                  <a:gdLst/>
                  <a:ahLst/>
                  <a:cxnLst/>
                  <a:rect l="l" t="t" r="r" b="b"/>
                  <a:pathLst>
                    <a:path w="21669" h="32449">
                      <a:moveTo>
                        <a:pt x="21669" y="32449"/>
                      </a:moveTo>
                      <a:cubicBezTo>
                        <a:pt x="16647" y="20315"/>
                        <a:pt x="9283" y="9289"/>
                        <a:pt x="0" y="0"/>
                      </a:cubicBezTo>
                    </a:path>
                  </a:pathLst>
                </a:custGeom>
                <a:noFill/>
                <a:ln w="19050">
                  <a:solidFill>
                    <a:srgbClr val="DA281C"/>
                  </a:solidFill>
                </a:ln>
              </p:spPr>
              <p:txBody>
                <a:bodyPr/>
                <a:lstStyle/>
                <a:p>
                  <a:endParaRPr lang="en-US"/>
                </a:p>
              </p:txBody>
            </p:sp>
            <p:sp>
              <p:nvSpPr>
                <p:cNvPr id="53" name="Freeform 53"/>
                <p:cNvSpPr/>
                <p:nvPr/>
              </p:nvSpPr>
              <p:spPr>
                <a:xfrm>
                  <a:off x="6572250" y="2614612"/>
                  <a:ext cx="38227" cy="9525"/>
                </a:xfrm>
                <a:custGeom>
                  <a:avLst/>
                  <a:gdLst/>
                  <a:ahLst/>
                  <a:cxnLst/>
                  <a:rect l="l" t="t" r="r" b="b"/>
                  <a:pathLst>
                    <a:path w="38227" h="9525">
                      <a:moveTo>
                        <a:pt x="38227" y="7668"/>
                      </a:moveTo>
                      <a:cubicBezTo>
                        <a:pt x="26111" y="2629"/>
                        <a:pt x="13122" y="23"/>
                        <a:pt x="0" y="0"/>
                      </a:cubicBezTo>
                    </a:path>
                  </a:pathLst>
                </a:custGeom>
                <a:noFill/>
                <a:ln w="19050">
                  <a:solidFill>
                    <a:srgbClr val="DA281C"/>
                  </a:solidFill>
                </a:ln>
              </p:spPr>
              <p:txBody>
                <a:bodyPr/>
                <a:lstStyle/>
                <a:p>
                  <a:endParaRPr lang="en-US"/>
                </a:p>
              </p:txBody>
            </p:sp>
          </p:grpSp>
          <p:sp>
            <p:nvSpPr>
              <p:cNvPr id="55" name="TextBox 55"/>
              <p:cNvSpPr txBox="1"/>
              <p:nvPr/>
            </p:nvSpPr>
            <p:spPr>
              <a:xfrm>
                <a:off x="6163248" y="3197066"/>
                <a:ext cx="818005" cy="167640"/>
              </a:xfrm>
              <a:prstGeom prst="rect">
                <a:avLst/>
              </a:prstGeom>
              <a:noFill/>
              <a:ln>
                <a:noFill/>
              </a:ln>
            </p:spPr>
            <p:txBody>
              <a:bodyPr wrap="none" lIns="0" tIns="0" rIns="0" bIns="0" anchor="t" anchorCtr="0">
                <a:spAutoFit/>
              </a:bodyPr>
              <a:lstStyle/>
              <a:p>
                <a:pPr algn="ctr"/>
                <a:r>
                  <a:rPr lang="zh-CN" sz="825" b="1" dirty="0">
                    <a:solidFill>
                      <a:srgbClr val="DA281C"/>
                    </a:solidFill>
                    <a:latin typeface="Arial"/>
                    <a:ea typeface="Microsoft YaHei"/>
                    <a:cs typeface="Arial"/>
                  </a:rPr>
                  <a:t>CHARTS (WIP)</a:t>
                </a:r>
              </a:p>
            </p:txBody>
          </p:sp>
          <p:sp>
            <p:nvSpPr>
              <p:cNvPr id="56" name="Rectangle 56"/>
              <p:cNvSpPr/>
              <p:nvPr/>
            </p:nvSpPr>
            <p:spPr>
              <a:xfrm>
                <a:off x="6000750" y="3429000"/>
                <a:ext cx="1714500" cy="952500"/>
              </a:xfrm>
              <a:prstGeom prst="roundRect">
                <a:avLst>
                  <a:gd name="adj" fmla="val 8000"/>
                </a:avLst>
              </a:prstGeom>
              <a:solidFill>
                <a:srgbClr val="FFFFFF"/>
              </a:solidFill>
              <a:ln w="9525">
                <a:solidFill>
                  <a:srgbClr val="DA281C"/>
                </a:solidFill>
                <a:prstDash val="dash"/>
              </a:ln>
            </p:spPr>
            <p:txBody>
              <a:bodyPr/>
              <a:lstStyle/>
              <a:p>
                <a:endParaRPr lang="en-US"/>
              </a:p>
            </p:txBody>
          </p:sp>
          <p:grpSp>
            <p:nvGrpSpPr>
              <p:cNvPr id="61" name="Group 61"/>
              <p:cNvGrpSpPr/>
              <p:nvPr/>
            </p:nvGrpSpPr>
            <p:grpSpPr>
              <a:xfrm>
                <a:off x="6110288" y="3575050"/>
                <a:ext cx="142875" cy="136525"/>
                <a:chOff x="6110288" y="3575050"/>
                <a:chExt cx="142875" cy="136525"/>
              </a:xfrm>
            </p:grpSpPr>
            <p:sp>
              <p:nvSpPr>
                <p:cNvPr id="57" name="Freeform 57"/>
                <p:cNvSpPr/>
                <p:nvPr/>
              </p:nvSpPr>
              <p:spPr>
                <a:xfrm>
                  <a:off x="6110288" y="3638550"/>
                  <a:ext cx="47625" cy="63500"/>
                </a:xfrm>
                <a:custGeom>
                  <a:avLst/>
                  <a:gdLst/>
                  <a:ahLst/>
                  <a:cxnLst/>
                  <a:rect l="l" t="t" r="r" b="b"/>
                  <a:pathLst>
                    <a:path w="47625" h="63500">
                      <a:moveTo>
                        <a:pt x="0" y="7937"/>
                      </a:moveTo>
                      <a:cubicBezTo>
                        <a:pt x="0" y="3554"/>
                        <a:pt x="3554" y="0"/>
                        <a:pt x="7938" y="0"/>
                      </a:cubicBezTo>
                      <a:lnTo>
                        <a:pt x="39687" y="0"/>
                      </a:lnTo>
                      <a:cubicBezTo>
                        <a:pt x="44071" y="0"/>
                        <a:pt x="47625" y="3554"/>
                        <a:pt x="47625" y="7937"/>
                      </a:cubicBezTo>
                      <a:lnTo>
                        <a:pt x="47625" y="55562"/>
                      </a:lnTo>
                      <a:cubicBezTo>
                        <a:pt x="47625" y="59946"/>
                        <a:pt x="44071" y="63500"/>
                        <a:pt x="39687" y="63500"/>
                      </a:cubicBezTo>
                      <a:lnTo>
                        <a:pt x="7938" y="63500"/>
                      </a:lnTo>
                      <a:cubicBezTo>
                        <a:pt x="3554" y="63500"/>
                        <a:pt x="0" y="59946"/>
                        <a:pt x="0" y="55562"/>
                      </a:cubicBezTo>
                      <a:lnTo>
                        <a:pt x="0" y="7937"/>
                      </a:lnTo>
                    </a:path>
                  </a:pathLst>
                </a:custGeom>
                <a:noFill/>
                <a:ln w="19050">
                  <a:solidFill>
                    <a:srgbClr val="DA281C"/>
                  </a:solidFill>
                </a:ln>
              </p:spPr>
              <p:txBody>
                <a:bodyPr/>
                <a:lstStyle/>
                <a:p>
                  <a:endParaRPr lang="en-US"/>
                </a:p>
              </p:txBody>
            </p:sp>
            <p:sp>
              <p:nvSpPr>
                <p:cNvPr id="58" name="Freeform 58"/>
                <p:cNvSpPr/>
                <p:nvPr/>
              </p:nvSpPr>
              <p:spPr>
                <a:xfrm>
                  <a:off x="6205538" y="3606800"/>
                  <a:ext cx="47625" cy="95250"/>
                </a:xfrm>
                <a:custGeom>
                  <a:avLst/>
                  <a:gdLst/>
                  <a:ahLst/>
                  <a:cxnLst/>
                  <a:rect l="l" t="t" r="r" b="b"/>
                  <a:pathLst>
                    <a:path w="47625" h="95250">
                      <a:moveTo>
                        <a:pt x="0" y="7937"/>
                      </a:moveTo>
                      <a:cubicBezTo>
                        <a:pt x="0" y="3554"/>
                        <a:pt x="3554" y="0"/>
                        <a:pt x="7938" y="0"/>
                      </a:cubicBezTo>
                      <a:lnTo>
                        <a:pt x="39687" y="0"/>
                      </a:lnTo>
                      <a:cubicBezTo>
                        <a:pt x="44071" y="0"/>
                        <a:pt x="47625" y="3554"/>
                        <a:pt x="47625" y="7937"/>
                      </a:cubicBezTo>
                      <a:lnTo>
                        <a:pt x="47625" y="87312"/>
                      </a:lnTo>
                      <a:cubicBezTo>
                        <a:pt x="47625" y="91696"/>
                        <a:pt x="44071" y="95250"/>
                        <a:pt x="39687" y="95250"/>
                      </a:cubicBezTo>
                      <a:lnTo>
                        <a:pt x="7938" y="95250"/>
                      </a:lnTo>
                      <a:cubicBezTo>
                        <a:pt x="3554" y="95250"/>
                        <a:pt x="0" y="91696"/>
                        <a:pt x="0" y="87312"/>
                      </a:cubicBezTo>
                      <a:lnTo>
                        <a:pt x="0" y="7937"/>
                      </a:lnTo>
                    </a:path>
                  </a:pathLst>
                </a:custGeom>
                <a:noFill/>
                <a:ln w="19050">
                  <a:solidFill>
                    <a:srgbClr val="DA281C"/>
                  </a:solidFill>
                </a:ln>
              </p:spPr>
              <p:txBody>
                <a:bodyPr/>
                <a:lstStyle/>
                <a:p>
                  <a:endParaRPr lang="en-US"/>
                </a:p>
              </p:txBody>
            </p:sp>
            <p:sp>
              <p:nvSpPr>
                <p:cNvPr id="59" name="Freeform 59"/>
                <p:cNvSpPr/>
                <p:nvPr/>
              </p:nvSpPr>
              <p:spPr>
                <a:xfrm>
                  <a:off x="6157912" y="3575050"/>
                  <a:ext cx="47625" cy="127000"/>
                </a:xfrm>
                <a:custGeom>
                  <a:avLst/>
                  <a:gdLst/>
                  <a:ahLst/>
                  <a:cxnLst/>
                  <a:rect l="l" t="t" r="r" b="b"/>
                  <a:pathLst>
                    <a:path w="47625" h="127000">
                      <a:moveTo>
                        <a:pt x="0" y="7938"/>
                      </a:moveTo>
                      <a:cubicBezTo>
                        <a:pt x="0" y="3554"/>
                        <a:pt x="3554" y="0"/>
                        <a:pt x="7938" y="0"/>
                      </a:cubicBezTo>
                      <a:lnTo>
                        <a:pt x="39687" y="0"/>
                      </a:lnTo>
                      <a:cubicBezTo>
                        <a:pt x="44071" y="0"/>
                        <a:pt x="47625" y="3554"/>
                        <a:pt x="47625" y="7938"/>
                      </a:cubicBezTo>
                      <a:lnTo>
                        <a:pt x="47625" y="119062"/>
                      </a:lnTo>
                      <a:cubicBezTo>
                        <a:pt x="47625" y="123446"/>
                        <a:pt x="44071" y="127000"/>
                        <a:pt x="39687" y="127000"/>
                      </a:cubicBezTo>
                      <a:lnTo>
                        <a:pt x="7938" y="127000"/>
                      </a:lnTo>
                      <a:cubicBezTo>
                        <a:pt x="3554" y="127000"/>
                        <a:pt x="0" y="123446"/>
                        <a:pt x="0" y="119062"/>
                      </a:cubicBezTo>
                      <a:lnTo>
                        <a:pt x="0" y="7938"/>
                      </a:lnTo>
                    </a:path>
                  </a:pathLst>
                </a:custGeom>
                <a:noFill/>
                <a:ln w="19050">
                  <a:solidFill>
                    <a:srgbClr val="DA281C"/>
                  </a:solidFill>
                </a:ln>
              </p:spPr>
              <p:txBody>
                <a:bodyPr/>
                <a:lstStyle/>
                <a:p>
                  <a:endParaRPr lang="en-US"/>
                </a:p>
              </p:txBody>
            </p:sp>
            <p:sp>
              <p:nvSpPr>
                <p:cNvPr id="60" name="Freeform 60"/>
                <p:cNvSpPr/>
                <p:nvPr/>
              </p:nvSpPr>
              <p:spPr>
                <a:xfrm>
                  <a:off x="6118225" y="3702050"/>
                  <a:ext cx="111125" cy="9525"/>
                </a:xfrm>
                <a:custGeom>
                  <a:avLst/>
                  <a:gdLst/>
                  <a:ahLst/>
                  <a:cxnLst/>
                  <a:rect l="l" t="t" r="r" b="b"/>
                  <a:pathLst>
                    <a:path w="111125" h="9525">
                      <a:moveTo>
                        <a:pt x="0" y="0"/>
                      </a:moveTo>
                      <a:lnTo>
                        <a:pt x="111125" y="0"/>
                      </a:lnTo>
                    </a:path>
                  </a:pathLst>
                </a:custGeom>
                <a:noFill/>
                <a:ln w="19050">
                  <a:solidFill>
                    <a:srgbClr val="DA281C"/>
                  </a:solidFill>
                </a:ln>
              </p:spPr>
              <p:txBody>
                <a:bodyPr/>
                <a:lstStyle/>
                <a:p>
                  <a:endParaRPr lang="en-US"/>
                </a:p>
              </p:txBody>
            </p:sp>
          </p:grpSp>
          <p:sp>
            <p:nvSpPr>
              <p:cNvPr id="62" name="TextBox 62"/>
              <p:cNvSpPr txBox="1"/>
              <p:nvPr/>
            </p:nvSpPr>
            <p:spPr>
              <a:xfrm>
                <a:off x="6323648" y="3606641"/>
                <a:ext cx="615579" cy="167640"/>
              </a:xfrm>
              <a:prstGeom prst="rect">
                <a:avLst/>
              </a:prstGeom>
              <a:noFill/>
              <a:ln>
                <a:noFill/>
              </a:ln>
            </p:spPr>
            <p:txBody>
              <a:bodyPr wrap="none" lIns="0" tIns="0" rIns="0" bIns="0" anchor="t" anchorCtr="0">
                <a:spAutoFit/>
              </a:bodyPr>
              <a:lstStyle/>
              <a:p>
                <a:pPr algn="l"/>
                <a:r>
                  <a:rPr lang="zh-CN" sz="825" b="1" dirty="0">
                    <a:solidFill>
                      <a:srgbClr val="DA281C"/>
                    </a:solidFill>
                    <a:latin typeface="Arial"/>
                    <a:ea typeface="Microsoft YaHei"/>
                    <a:cs typeface="Arial"/>
                  </a:rPr>
                  <a:t>hands off</a:t>
                </a:r>
              </a:p>
            </p:txBody>
          </p:sp>
          <p:sp>
            <p:nvSpPr>
              <p:cNvPr id="63" name="TextBox 63"/>
              <p:cNvSpPr txBox="1"/>
              <p:nvPr/>
            </p:nvSpPr>
            <p:spPr>
              <a:xfrm>
                <a:off x="6075998" y="3835241"/>
                <a:ext cx="1027057" cy="167640"/>
              </a:xfrm>
              <a:prstGeom prst="rect">
                <a:avLst/>
              </a:prstGeom>
              <a:noFill/>
              <a:ln>
                <a:noFill/>
              </a:ln>
            </p:spPr>
            <p:txBody>
              <a:bodyPr wrap="none" lIns="0" tIns="0" rIns="0" bIns="0" anchor="t" anchorCtr="0">
                <a:spAutoFit/>
              </a:bodyPr>
              <a:lstStyle/>
              <a:p>
                <a:pPr algn="l"/>
                <a:r>
                  <a:rPr lang="zh-CN" sz="825" dirty="0">
                    <a:solidFill>
                      <a:srgbClr val="5B6470"/>
                    </a:solidFill>
                    <a:latin typeface="Arial"/>
                    <a:ea typeface="Microsoft YaHei"/>
                    <a:cs typeface="Arial"/>
                  </a:rPr>
                  <a:t>to internal chart</a:t>
                </a:r>
              </a:p>
            </p:txBody>
          </p:sp>
          <p:sp>
            <p:nvSpPr>
              <p:cNvPr id="64" name="TextBox 64"/>
              <p:cNvSpPr txBox="1"/>
              <p:nvPr/>
            </p:nvSpPr>
            <p:spPr>
              <a:xfrm>
                <a:off x="6075998" y="3968591"/>
                <a:ext cx="725829" cy="167640"/>
              </a:xfrm>
              <a:prstGeom prst="rect">
                <a:avLst/>
              </a:prstGeom>
              <a:noFill/>
              <a:ln>
                <a:noFill/>
              </a:ln>
            </p:spPr>
            <p:txBody>
              <a:bodyPr wrap="none" lIns="0" tIns="0" rIns="0" bIns="0" anchor="t" anchorCtr="0">
                <a:spAutoFit/>
              </a:bodyPr>
              <a:lstStyle/>
              <a:p>
                <a:pPr algn="l"/>
                <a:r>
                  <a:rPr lang="zh-CN" sz="825" dirty="0">
                    <a:solidFill>
                      <a:srgbClr val="5B6470"/>
                    </a:solidFill>
                    <a:latin typeface="Arial"/>
                    <a:ea typeface="Microsoft YaHei"/>
                    <a:cs typeface="Arial"/>
                  </a:rPr>
                  <a:t>tool — soon.</a:t>
                </a:r>
              </a:p>
            </p:txBody>
          </p:sp>
        </p:grpSp>
        <p:sp>
          <p:nvSpPr>
            <p:cNvPr id="66" name="Line 66"/>
            <p:cNvSpPr/>
            <p:nvPr/>
          </p:nvSpPr>
          <p:spPr>
            <a:xfrm>
              <a:off x="7791450" y="2714625"/>
              <a:ext cx="381000" cy="1"/>
            </a:xfrm>
            <a:prstGeom prst="line">
              <a:avLst/>
            </a:prstGeom>
            <a:noFill/>
            <a:ln w="23812">
              <a:solidFill>
                <a:srgbClr val="707372"/>
              </a:solidFill>
              <a:tailEnd type="triangle" w="lg" len="lg"/>
            </a:ln>
          </p:spPr>
          <p:txBody>
            <a:bodyPr/>
            <a:lstStyle/>
            <a:p>
              <a:endParaRPr lang="en-US"/>
            </a:p>
          </p:txBody>
        </p:sp>
        <p:grpSp>
          <p:nvGrpSpPr>
            <p:cNvPr id="77" name="Group 77"/>
            <p:cNvGrpSpPr/>
            <p:nvPr/>
          </p:nvGrpSpPr>
          <p:grpSpPr>
            <a:xfrm>
              <a:off x="7810500" y="2505075"/>
              <a:ext cx="1714500" cy="1876425"/>
              <a:chOff x="7810500" y="2505075"/>
              <a:chExt cx="1714500" cy="1876425"/>
            </a:xfrm>
          </p:grpSpPr>
          <p:sp>
            <p:nvSpPr>
              <p:cNvPr id="67" name="Ellipse 67"/>
              <p:cNvSpPr/>
              <p:nvPr/>
            </p:nvSpPr>
            <p:spPr>
              <a:xfrm>
                <a:off x="8172450" y="2505075"/>
                <a:ext cx="419100" cy="419100"/>
              </a:xfrm>
              <a:prstGeom prst="ellipse">
                <a:avLst/>
              </a:prstGeom>
              <a:solidFill>
                <a:srgbClr val="78BE20"/>
              </a:solidFill>
              <a:ln>
                <a:noFill/>
              </a:ln>
            </p:spPr>
            <p:txBody>
              <a:bodyPr/>
              <a:lstStyle/>
              <a:p>
                <a:endParaRPr lang="en-US"/>
              </a:p>
            </p:txBody>
          </p:sp>
          <p:grpSp>
            <p:nvGrpSpPr>
              <p:cNvPr id="70" name="Group 70"/>
              <p:cNvGrpSpPr/>
              <p:nvPr/>
            </p:nvGrpSpPr>
            <p:grpSpPr>
              <a:xfrm>
                <a:off x="8267700" y="2600325"/>
                <a:ext cx="228600" cy="228600"/>
                <a:chOff x="8267700" y="2600325"/>
                <a:chExt cx="228600" cy="228600"/>
              </a:xfrm>
            </p:grpSpPr>
            <p:sp>
              <p:nvSpPr>
                <p:cNvPr id="68" name="Freeform 68"/>
                <p:cNvSpPr/>
                <p:nvPr/>
              </p:nvSpPr>
              <p:spPr>
                <a:xfrm>
                  <a:off x="8267700" y="2600325"/>
                  <a:ext cx="228600" cy="228600"/>
                </a:xfrm>
                <a:custGeom>
                  <a:avLst/>
                  <a:gdLst/>
                  <a:ahLst/>
                  <a:cxnLst/>
                  <a:rect l="l" t="t" r="r" b="b"/>
                  <a:pathLst>
                    <a:path w="228600" h="228600">
                      <a:moveTo>
                        <a:pt x="0" y="114300"/>
                      </a:moveTo>
                      <a:cubicBezTo>
                        <a:pt x="0" y="177426"/>
                        <a:pt x="51174" y="228600"/>
                        <a:pt x="114300" y="228600"/>
                      </a:cubicBezTo>
                      <a:cubicBezTo>
                        <a:pt x="177426" y="228600"/>
                        <a:pt x="228600" y="177426"/>
                        <a:pt x="228600" y="114300"/>
                      </a:cubicBezTo>
                      <a:cubicBezTo>
                        <a:pt x="228600" y="51174"/>
                        <a:pt x="177426" y="0"/>
                        <a:pt x="114300" y="0"/>
                      </a:cubicBezTo>
                      <a:cubicBezTo>
                        <a:pt x="51174" y="0"/>
                        <a:pt x="0" y="51174"/>
                        <a:pt x="0" y="114300"/>
                      </a:cubicBezTo>
                    </a:path>
                  </a:pathLst>
                </a:custGeom>
                <a:noFill/>
                <a:ln w="19050">
                  <a:solidFill>
                    <a:srgbClr val="FFFFFF"/>
                  </a:solidFill>
                </a:ln>
              </p:spPr>
              <p:txBody>
                <a:bodyPr/>
                <a:lstStyle/>
                <a:p>
                  <a:endParaRPr lang="en-US"/>
                </a:p>
              </p:txBody>
            </p:sp>
            <p:sp>
              <p:nvSpPr>
                <p:cNvPr id="69" name="Freeform 69"/>
                <p:cNvSpPr/>
                <p:nvPr/>
              </p:nvSpPr>
              <p:spPr>
                <a:xfrm>
                  <a:off x="8343900" y="2689225"/>
                  <a:ext cx="76200" cy="50800"/>
                </a:xfrm>
                <a:custGeom>
                  <a:avLst/>
                  <a:gdLst/>
                  <a:ahLst/>
                  <a:cxnLst/>
                  <a:rect l="l" t="t" r="r" b="b"/>
                  <a:pathLst>
                    <a:path w="76200" h="50800">
                      <a:moveTo>
                        <a:pt x="0" y="25400"/>
                      </a:moveTo>
                      <a:lnTo>
                        <a:pt x="25400" y="50800"/>
                      </a:lnTo>
                      <a:lnTo>
                        <a:pt x="76200" y="0"/>
                      </a:lnTo>
                    </a:path>
                  </a:pathLst>
                </a:custGeom>
                <a:noFill/>
                <a:ln w="19050">
                  <a:solidFill>
                    <a:srgbClr val="FFFFFF"/>
                  </a:solidFill>
                </a:ln>
              </p:spPr>
              <p:txBody>
                <a:bodyPr/>
                <a:lstStyle/>
                <a:p>
                  <a:endParaRPr lang="en-US"/>
                </a:p>
              </p:txBody>
            </p:sp>
          </p:grpSp>
          <p:sp>
            <p:nvSpPr>
              <p:cNvPr id="71" name="TextBox 71"/>
              <p:cNvSpPr txBox="1"/>
              <p:nvPr/>
            </p:nvSpPr>
            <p:spPr>
              <a:xfrm>
                <a:off x="8096351" y="3197066"/>
                <a:ext cx="571299" cy="167640"/>
              </a:xfrm>
              <a:prstGeom prst="rect">
                <a:avLst/>
              </a:prstGeom>
              <a:noFill/>
              <a:ln>
                <a:noFill/>
              </a:ln>
            </p:spPr>
            <p:txBody>
              <a:bodyPr wrap="none" lIns="0" tIns="0" rIns="0" bIns="0" anchor="t" anchorCtr="0">
                <a:spAutoFit/>
              </a:bodyPr>
              <a:lstStyle/>
              <a:p>
                <a:pPr algn="ctr"/>
                <a:r>
                  <a:rPr lang="zh-CN" sz="825" b="1" dirty="0">
                    <a:solidFill>
                      <a:srgbClr val="78BE20"/>
                    </a:solidFill>
                    <a:latin typeface="Arial"/>
                    <a:ea typeface="Microsoft YaHei"/>
                    <a:cs typeface="Arial"/>
                  </a:rPr>
                  <a:t>RA OPENS</a:t>
                </a:r>
              </a:p>
            </p:txBody>
          </p:sp>
          <p:sp>
            <p:nvSpPr>
              <p:cNvPr id="72" name="Rectangle 72"/>
              <p:cNvSpPr/>
              <p:nvPr/>
            </p:nvSpPr>
            <p:spPr>
              <a:xfrm>
                <a:off x="7810500" y="3429000"/>
                <a:ext cx="1714500" cy="952500"/>
              </a:xfrm>
              <a:prstGeom prst="roundRect">
                <a:avLst>
                  <a:gd name="adj" fmla="val 8000"/>
                </a:avLst>
              </a:prstGeom>
              <a:solidFill>
                <a:srgbClr val="EAF6FD"/>
              </a:solidFill>
              <a:ln>
                <a:noFill/>
              </a:ln>
            </p:spPr>
            <p:txBody>
              <a:bodyPr/>
              <a:lstStyle/>
              <a:p>
                <a:endParaRPr lang="en-US"/>
              </a:p>
            </p:txBody>
          </p:sp>
          <p:sp>
            <p:nvSpPr>
              <p:cNvPr id="73" name="TextBox 73"/>
              <p:cNvSpPr txBox="1"/>
              <p:nvPr/>
            </p:nvSpPr>
            <p:spPr>
              <a:xfrm>
                <a:off x="7971472" y="3606641"/>
                <a:ext cx="969824" cy="167640"/>
              </a:xfrm>
              <a:prstGeom prst="rect">
                <a:avLst/>
              </a:prstGeom>
              <a:noFill/>
              <a:ln>
                <a:noFill/>
              </a:ln>
            </p:spPr>
            <p:txBody>
              <a:bodyPr wrap="none" lIns="0" tIns="0" rIns="0" bIns="0" anchor="t" anchorCtr="0">
                <a:spAutoFit/>
              </a:bodyPr>
              <a:lstStyle/>
              <a:p>
                <a:pPr algn="l"/>
                <a:r>
                  <a:rPr lang="zh-CN" sz="825" b="1" dirty="0">
                    <a:solidFill>
                      <a:srgbClr val="78BE20"/>
                    </a:solidFill>
                    <a:latin typeface="Arial"/>
                    <a:ea typeface="Microsoft YaHei"/>
                    <a:cs typeface="Arial"/>
                  </a:rPr>
                  <a:t>Excel ready for</a:t>
                </a:r>
              </a:p>
            </p:txBody>
          </p:sp>
          <p:sp>
            <p:nvSpPr>
              <p:cNvPr id="74" name="TextBox 74"/>
              <p:cNvSpPr txBox="1"/>
              <p:nvPr/>
            </p:nvSpPr>
            <p:spPr>
              <a:xfrm>
                <a:off x="7969568" y="3819049"/>
                <a:ext cx="435941"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Stata</a:t>
                </a:r>
              </a:p>
            </p:txBody>
          </p:sp>
          <p:sp>
            <p:nvSpPr>
              <p:cNvPr id="75" name="TextBox 75"/>
              <p:cNvSpPr txBox="1"/>
              <p:nvPr/>
            </p:nvSpPr>
            <p:spPr>
              <a:xfrm>
                <a:off x="7969568" y="3990499"/>
                <a:ext cx="772358"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chart tool</a:t>
                </a:r>
              </a:p>
            </p:txBody>
          </p:sp>
          <p:sp>
            <p:nvSpPr>
              <p:cNvPr id="76" name="TextBox 76"/>
              <p:cNvSpPr txBox="1"/>
              <p:nvPr/>
            </p:nvSpPr>
            <p:spPr>
              <a:xfrm>
                <a:off x="7969568" y="4161949"/>
                <a:ext cx="1078872"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the next memo</a:t>
                </a:r>
              </a:p>
            </p:txBody>
          </p:sp>
        </p:grpSp>
        <p:grpSp>
          <p:nvGrpSpPr>
            <p:cNvPr id="91" name="Group 91"/>
            <p:cNvGrpSpPr/>
            <p:nvPr/>
          </p:nvGrpSpPr>
          <p:grpSpPr>
            <a:xfrm>
              <a:off x="9715500" y="2286000"/>
              <a:ext cx="1905000" cy="2095500"/>
              <a:chOff x="9715500" y="2286000"/>
              <a:chExt cx="1905000" cy="2095500"/>
            </a:xfrm>
          </p:grpSpPr>
          <p:sp>
            <p:nvSpPr>
              <p:cNvPr id="78" name="Rectangle 78"/>
              <p:cNvSpPr/>
              <p:nvPr/>
            </p:nvSpPr>
            <p:spPr>
              <a:xfrm>
                <a:off x="9715500" y="2286000"/>
                <a:ext cx="1905000" cy="2095500"/>
              </a:xfrm>
              <a:prstGeom prst="roundRect">
                <a:avLst>
                  <a:gd name="adj" fmla="val 5000"/>
                </a:avLst>
              </a:prstGeom>
              <a:solidFill>
                <a:srgbClr val="004C97"/>
              </a:solidFill>
              <a:ln>
                <a:noFill/>
              </a:ln>
            </p:spPr>
            <p:txBody>
              <a:bodyPr/>
              <a:lstStyle/>
              <a:p>
                <a:endParaRPr lang="en-US"/>
              </a:p>
            </p:txBody>
          </p:sp>
          <p:grpSp>
            <p:nvGrpSpPr>
              <p:cNvPr id="82" name="Group 82"/>
              <p:cNvGrpSpPr/>
              <p:nvPr/>
            </p:nvGrpSpPr>
            <p:grpSpPr>
              <a:xfrm>
                <a:off x="9906000" y="2476500"/>
                <a:ext cx="228600" cy="228600"/>
                <a:chOff x="9906000" y="2476500"/>
                <a:chExt cx="228600" cy="228600"/>
              </a:xfrm>
            </p:grpSpPr>
            <p:sp>
              <p:nvSpPr>
                <p:cNvPr id="79" name="Freeform 79"/>
                <p:cNvSpPr/>
                <p:nvPr/>
              </p:nvSpPr>
              <p:spPr>
                <a:xfrm>
                  <a:off x="9906000" y="26543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19050">
                  <a:solidFill>
                    <a:srgbClr val="FFFFFF"/>
                  </a:solidFill>
                </a:ln>
              </p:spPr>
              <p:txBody>
                <a:bodyPr/>
                <a:lstStyle/>
                <a:p>
                  <a:endParaRPr lang="en-US"/>
                </a:p>
              </p:txBody>
            </p:sp>
            <p:sp>
              <p:nvSpPr>
                <p:cNvPr id="80" name="Freeform 80"/>
                <p:cNvSpPr/>
                <p:nvPr/>
              </p:nvSpPr>
              <p:spPr>
                <a:xfrm>
                  <a:off x="10083800" y="2476500"/>
                  <a:ext cx="50800" cy="50800"/>
                </a:xfrm>
                <a:custGeom>
                  <a:avLst/>
                  <a:gdLst/>
                  <a:ahLst/>
                  <a:cxnLst/>
                  <a:rect l="l" t="t" r="r" b="b"/>
                  <a:pathLst>
                    <a:path w="50800" h="50800">
                      <a:moveTo>
                        <a:pt x="25400" y="50800"/>
                      </a:moveTo>
                      <a:cubicBezTo>
                        <a:pt x="39428" y="50800"/>
                        <a:pt x="50800" y="39428"/>
                        <a:pt x="50800" y="25400"/>
                      </a:cubicBezTo>
                      <a:cubicBezTo>
                        <a:pt x="50800" y="11372"/>
                        <a:pt x="39428" y="0"/>
                        <a:pt x="25400" y="0"/>
                      </a:cubicBezTo>
                      <a:cubicBezTo>
                        <a:pt x="11372" y="0"/>
                        <a:pt x="0" y="11372"/>
                        <a:pt x="0" y="25400"/>
                      </a:cubicBezTo>
                      <a:cubicBezTo>
                        <a:pt x="0" y="39428"/>
                        <a:pt x="11372" y="50800"/>
                        <a:pt x="25400" y="50800"/>
                      </a:cubicBezTo>
                    </a:path>
                  </a:pathLst>
                </a:custGeom>
                <a:noFill/>
                <a:ln w="19050">
                  <a:solidFill>
                    <a:srgbClr val="FFFFFF"/>
                  </a:solidFill>
                </a:ln>
              </p:spPr>
              <p:txBody>
                <a:bodyPr/>
                <a:lstStyle/>
                <a:p>
                  <a:endParaRPr lang="en-US"/>
                </a:p>
              </p:txBody>
            </p:sp>
            <p:sp>
              <p:nvSpPr>
                <p:cNvPr id="81" name="Freeform 81"/>
                <p:cNvSpPr/>
                <p:nvPr/>
              </p:nvSpPr>
              <p:spPr>
                <a:xfrm>
                  <a:off x="9931400" y="2501900"/>
                  <a:ext cx="190500" cy="177800"/>
                </a:xfrm>
                <a:custGeom>
                  <a:avLst/>
                  <a:gdLst/>
                  <a:ahLst/>
                  <a:cxnLst/>
                  <a:rect l="l" t="t" r="r" b="b"/>
                  <a:pathLst>
                    <a:path w="190500" h="177800">
                      <a:moveTo>
                        <a:pt x="76200" y="177800"/>
                      </a:moveTo>
                      <a:lnTo>
                        <a:pt x="146050" y="177800"/>
                      </a:lnTo>
                      <a:cubicBezTo>
                        <a:pt x="170599" y="177800"/>
                        <a:pt x="190500" y="157899"/>
                        <a:pt x="190500" y="133350"/>
                      </a:cubicBezTo>
                      <a:cubicBezTo>
                        <a:pt x="190500" y="108801"/>
                        <a:pt x="170599" y="88900"/>
                        <a:pt x="146050" y="88900"/>
                      </a:cubicBezTo>
                      <a:lnTo>
                        <a:pt x="44450" y="88900"/>
                      </a:lnTo>
                      <a:cubicBezTo>
                        <a:pt x="19901" y="88900"/>
                        <a:pt x="0" y="68999"/>
                        <a:pt x="0" y="44450"/>
                      </a:cubicBezTo>
                      <a:cubicBezTo>
                        <a:pt x="0" y="19901"/>
                        <a:pt x="19901" y="0"/>
                        <a:pt x="44450" y="0"/>
                      </a:cubicBezTo>
                      <a:lnTo>
                        <a:pt x="101600" y="0"/>
                      </a:lnTo>
                    </a:path>
                  </a:pathLst>
                </a:custGeom>
                <a:noFill/>
                <a:ln w="19050">
                  <a:solidFill>
                    <a:srgbClr val="FFFFFF"/>
                  </a:solidFill>
                </a:ln>
              </p:spPr>
              <p:txBody>
                <a:bodyPr/>
                <a:lstStyle/>
                <a:p>
                  <a:endParaRPr lang="en-US"/>
                </a:p>
              </p:txBody>
            </p:sp>
          </p:grpSp>
          <p:sp>
            <p:nvSpPr>
              <p:cNvPr id="83" name="TextBox 83"/>
              <p:cNvSpPr txBox="1"/>
              <p:nvPr/>
            </p:nvSpPr>
            <p:spPr>
              <a:xfrm>
                <a:off x="10276522" y="2558891"/>
                <a:ext cx="742095" cy="167640"/>
              </a:xfrm>
              <a:prstGeom prst="rect">
                <a:avLst/>
              </a:prstGeom>
              <a:noFill/>
              <a:ln>
                <a:noFill/>
              </a:ln>
            </p:spPr>
            <p:txBody>
              <a:bodyPr wrap="none" lIns="0" tIns="0" rIns="0" bIns="0" anchor="t" anchorCtr="0">
                <a:spAutoFit/>
              </a:bodyPr>
              <a:lstStyle/>
              <a:p>
                <a:pPr algn="l"/>
                <a:r>
                  <a:rPr lang="zh-CN" sz="825" b="1" dirty="0">
                    <a:solidFill>
                      <a:srgbClr val="FFFFFF"/>
                    </a:solidFill>
                    <a:latin typeface="Arial"/>
                    <a:ea typeface="Microsoft YaHei"/>
                    <a:cs typeface="Arial"/>
                  </a:rPr>
                  <a:t>END-TO-END</a:t>
                </a:r>
              </a:p>
            </p:txBody>
          </p:sp>
          <p:sp>
            <p:nvSpPr>
              <p:cNvPr id="84" name="TextBox 84"/>
              <p:cNvSpPr txBox="1"/>
              <p:nvPr/>
            </p:nvSpPr>
            <p:spPr>
              <a:xfrm>
                <a:off x="9829800" y="2705100"/>
                <a:ext cx="1088326" cy="609600"/>
              </a:xfrm>
              <a:prstGeom prst="rect">
                <a:avLst/>
              </a:prstGeom>
              <a:noFill/>
              <a:ln>
                <a:noFill/>
              </a:ln>
            </p:spPr>
            <p:txBody>
              <a:bodyPr wrap="none" lIns="0" tIns="0" rIns="0" bIns="0" anchor="t" anchorCtr="0">
                <a:spAutoFit/>
              </a:bodyPr>
              <a:lstStyle/>
              <a:p>
                <a:pPr algn="l"/>
                <a:r>
                  <a:rPr lang="zh-CN" sz="3000" b="1" dirty="0">
                    <a:solidFill>
                      <a:srgbClr val="FFFFFF"/>
                    </a:solidFill>
                    <a:latin typeface="Arial Black"/>
                    <a:ea typeface="Microsoft YaHei"/>
                    <a:cs typeface="Arial Black"/>
                  </a:rPr>
                  <a:t>~30s</a:t>
                </a:r>
              </a:p>
            </p:txBody>
          </p:sp>
          <p:sp>
            <p:nvSpPr>
              <p:cNvPr id="85" name="TextBox 85"/>
              <p:cNvSpPr txBox="1"/>
              <p:nvPr/>
            </p:nvSpPr>
            <p:spPr>
              <a:xfrm>
                <a:off x="9856470" y="3179445"/>
                <a:ext cx="1337310" cy="182880"/>
              </a:xfrm>
              <a:prstGeom prst="rect">
                <a:avLst/>
              </a:prstGeom>
              <a:noFill/>
              <a:ln>
                <a:noFill/>
              </a:ln>
            </p:spPr>
            <p:txBody>
              <a:bodyPr wrap="none" lIns="0" tIns="0" rIns="0" bIns="0" anchor="t" anchorCtr="0">
                <a:spAutoFit/>
              </a:bodyPr>
              <a:lstStyle/>
              <a:p>
                <a:pPr algn="l"/>
                <a:r>
                  <a:rPr lang="zh-CN" sz="900" dirty="0">
                    <a:solidFill>
                      <a:srgbClr val="FFFFFF">
                        <a:alpha val="75000"/>
                      </a:srgbClr>
                    </a:solidFill>
                    <a:latin typeface="Arial"/>
                    <a:ea typeface="Microsoft YaHei"/>
                    <a:cs typeface="Arial"/>
                  </a:rPr>
                  <a:t>one sentence to tidy</a:t>
                </a:r>
              </a:p>
            </p:txBody>
          </p:sp>
          <p:sp>
            <p:nvSpPr>
              <p:cNvPr id="86" name="TextBox 86"/>
              <p:cNvSpPr txBox="1"/>
              <p:nvPr/>
            </p:nvSpPr>
            <p:spPr>
              <a:xfrm>
                <a:off x="9856470" y="3350895"/>
                <a:ext cx="1291304" cy="182880"/>
              </a:xfrm>
              <a:prstGeom prst="rect">
                <a:avLst/>
              </a:prstGeom>
              <a:noFill/>
              <a:ln>
                <a:noFill/>
              </a:ln>
            </p:spPr>
            <p:txBody>
              <a:bodyPr wrap="none" lIns="0" tIns="0" rIns="0" bIns="0" anchor="t" anchorCtr="0">
                <a:spAutoFit/>
              </a:bodyPr>
              <a:lstStyle/>
              <a:p>
                <a:pPr algn="l"/>
                <a:r>
                  <a:rPr lang="zh-CN" sz="900" dirty="0">
                    <a:solidFill>
                      <a:srgbClr val="FFFFFF">
                        <a:alpha val="75000"/>
                      </a:srgbClr>
                    </a:solidFill>
                    <a:latin typeface="Arial"/>
                    <a:ea typeface="Microsoft YaHei"/>
                    <a:cs typeface="Arial"/>
                  </a:rPr>
                  <a:t>multi-country panel</a:t>
                </a:r>
              </a:p>
            </p:txBody>
          </p:sp>
          <p:sp>
            <p:nvSpPr>
              <p:cNvPr id="87" name="Line 87"/>
              <p:cNvSpPr/>
              <p:nvPr/>
            </p:nvSpPr>
            <p:spPr>
              <a:xfrm>
                <a:off x="9867900" y="3657600"/>
                <a:ext cx="1600200" cy="9525"/>
              </a:xfrm>
              <a:custGeom>
                <a:avLst/>
                <a:gdLst/>
                <a:ahLst/>
                <a:cxnLst/>
                <a:rect l="l" t="t" r="r" b="b"/>
                <a:pathLst>
                  <a:path w="1600200" h="9525">
                    <a:moveTo>
                      <a:pt x="0" y="0"/>
                    </a:moveTo>
                    <a:lnTo>
                      <a:pt x="1600200" y="0"/>
                    </a:lnTo>
                  </a:path>
                </a:pathLst>
              </a:custGeom>
              <a:noFill/>
              <a:ln w="9525">
                <a:solidFill>
                  <a:srgbClr val="FFFFFF">
                    <a:alpha val="20000"/>
                  </a:srgbClr>
                </a:solidFill>
              </a:ln>
            </p:spPr>
            <p:txBody>
              <a:bodyPr/>
              <a:lstStyle/>
              <a:p>
                <a:endParaRPr lang="en-US"/>
              </a:p>
            </p:txBody>
          </p:sp>
          <p:sp>
            <p:nvSpPr>
              <p:cNvPr id="88" name="TextBox 88"/>
              <p:cNvSpPr txBox="1"/>
              <p:nvPr/>
            </p:nvSpPr>
            <p:spPr>
              <a:xfrm>
                <a:off x="9856470" y="3808095"/>
                <a:ext cx="864765" cy="182880"/>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vs ~10-15 min</a:t>
                </a:r>
              </a:p>
            </p:txBody>
          </p:sp>
          <p:sp>
            <p:nvSpPr>
              <p:cNvPr id="89" name="TextBox 89"/>
              <p:cNvSpPr txBox="1"/>
              <p:nvPr/>
            </p:nvSpPr>
            <p:spPr>
              <a:xfrm>
                <a:off x="9857422" y="3987641"/>
                <a:ext cx="906566" cy="167640"/>
              </a:xfrm>
              <a:prstGeom prst="rect">
                <a:avLst/>
              </a:prstGeom>
              <a:noFill/>
              <a:ln>
                <a:noFill/>
              </a:ln>
            </p:spPr>
            <p:txBody>
              <a:bodyPr wrap="none" lIns="0" tIns="0" rIns="0" bIns="0" anchor="t" anchorCtr="0">
                <a:spAutoFit/>
              </a:bodyPr>
              <a:lstStyle/>
              <a:p>
                <a:pPr algn="l"/>
                <a:r>
                  <a:rPr lang="zh-CN" sz="825" dirty="0">
                    <a:solidFill>
                      <a:srgbClr val="FFFFFF">
                        <a:alpha val="75000"/>
                      </a:srgbClr>
                    </a:solidFill>
                    <a:latin typeface="Arial"/>
                    <a:ea typeface="Microsoft YaHei"/>
                    <a:cs typeface="Arial"/>
                  </a:rPr>
                  <a:t>the manual way</a:t>
                </a:r>
              </a:p>
            </p:txBody>
          </p:sp>
          <p:sp>
            <p:nvSpPr>
              <p:cNvPr id="90" name="TextBox 90"/>
              <p:cNvSpPr txBox="1"/>
              <p:nvPr/>
            </p:nvSpPr>
            <p:spPr>
              <a:xfrm>
                <a:off x="9857422" y="4159091"/>
                <a:ext cx="1027057" cy="167640"/>
              </a:xfrm>
              <a:prstGeom prst="rect">
                <a:avLst/>
              </a:prstGeom>
              <a:noFill/>
              <a:ln>
                <a:noFill/>
              </a:ln>
            </p:spPr>
            <p:txBody>
              <a:bodyPr wrap="none" lIns="0" tIns="0" rIns="0" bIns="0" anchor="t" anchorCtr="0">
                <a:spAutoFit/>
              </a:bodyPr>
              <a:lstStyle/>
              <a:p>
                <a:pPr algn="l"/>
                <a:r>
                  <a:rPr lang="zh-CN" sz="825" dirty="0">
                    <a:solidFill>
                      <a:srgbClr val="FFFFFF">
                        <a:alpha val="75000"/>
                      </a:srgbClr>
                    </a:solidFill>
                    <a:latin typeface="Arial"/>
                    <a:ea typeface="Microsoft YaHei"/>
                    <a:cs typeface="Arial"/>
                  </a:rPr>
                  <a:t>(plus error risk)</a:t>
                </a:r>
              </a:p>
            </p:txBody>
          </p:sp>
        </p:grpSp>
      </p:grpSp>
      <p:grpSp>
        <p:nvGrpSpPr>
          <p:cNvPr id="125" name="Group 125"/>
          <p:cNvGrpSpPr/>
          <p:nvPr/>
        </p:nvGrpSpPr>
        <p:grpSpPr>
          <a:xfrm>
            <a:off x="571500" y="4714875"/>
            <a:ext cx="11049000" cy="1619250"/>
            <a:chOff x="571500" y="4714875"/>
            <a:chExt cx="11049000" cy="1619250"/>
          </a:xfrm>
        </p:grpSpPr>
        <p:sp>
          <p:nvSpPr>
            <p:cNvPr id="93" name="Rectangle 93"/>
            <p:cNvSpPr/>
            <p:nvPr/>
          </p:nvSpPr>
          <p:spPr>
            <a:xfrm>
              <a:off x="571500" y="4714875"/>
              <a:ext cx="11049000" cy="1619250"/>
            </a:xfrm>
            <a:prstGeom prst="roundRect">
              <a:avLst>
                <a:gd name="adj" fmla="val 5882"/>
              </a:avLst>
            </a:prstGeom>
            <a:solidFill>
              <a:srgbClr val="EAF6FD"/>
            </a:solidFill>
            <a:ln>
              <a:noFill/>
            </a:ln>
          </p:spPr>
          <p:txBody>
            <a:bodyPr/>
            <a:lstStyle/>
            <a:p>
              <a:endParaRPr lang="en-US"/>
            </a:p>
          </p:txBody>
        </p:sp>
        <p:sp>
          <p:nvSpPr>
            <p:cNvPr id="94" name="TextBox 94"/>
            <p:cNvSpPr txBox="1"/>
            <p:nvPr/>
          </p:nvSpPr>
          <p:spPr>
            <a:xfrm>
              <a:off x="808672" y="4959191"/>
              <a:ext cx="1893389" cy="167640"/>
            </a:xfrm>
            <a:prstGeom prst="rect">
              <a:avLst/>
            </a:prstGeom>
            <a:noFill/>
            <a:ln>
              <a:noFill/>
            </a:ln>
          </p:spPr>
          <p:txBody>
            <a:bodyPr wrap="none" lIns="0" tIns="0" rIns="0" bIns="0" anchor="t" anchorCtr="0">
              <a:spAutoFit/>
            </a:bodyPr>
            <a:lstStyle/>
            <a:p>
              <a:pPr algn="l"/>
              <a:r>
                <a:rPr lang="zh-CN" sz="825" b="1" dirty="0">
                  <a:solidFill>
                    <a:srgbClr val="707372"/>
                  </a:solidFill>
                  <a:latin typeface="Arial"/>
                  <a:ea typeface="Microsoft YaHei"/>
                  <a:cs typeface="Arial"/>
                </a:rPr>
                <a:t>WHAT THE RA DIDN'T HAVE TO DO</a:t>
              </a:r>
            </a:p>
          </p:txBody>
        </p:sp>
        <p:grpSp>
          <p:nvGrpSpPr>
            <p:cNvPr id="99" name="Group 99"/>
            <p:cNvGrpSpPr/>
            <p:nvPr/>
          </p:nvGrpSpPr>
          <p:grpSpPr>
            <a:xfrm>
              <a:off x="845344" y="5283994"/>
              <a:ext cx="2054424" cy="238125"/>
              <a:chOff x="845344" y="5283994"/>
              <a:chExt cx="2054424" cy="238125"/>
            </a:xfrm>
          </p:grpSpPr>
          <p:grpSp>
            <p:nvGrpSpPr>
              <p:cNvPr id="97" name="Group 97"/>
              <p:cNvGrpSpPr/>
              <p:nvPr/>
            </p:nvGrpSpPr>
            <p:grpSpPr>
              <a:xfrm>
                <a:off x="845344" y="5283994"/>
                <a:ext cx="157162" cy="157162"/>
                <a:chOff x="845344" y="5283994"/>
                <a:chExt cx="157162" cy="157162"/>
              </a:xfrm>
            </p:grpSpPr>
            <p:sp>
              <p:nvSpPr>
                <p:cNvPr id="95" name="Freeform 95"/>
                <p:cNvSpPr/>
                <p:nvPr/>
              </p:nvSpPr>
              <p:spPr>
                <a:xfrm>
                  <a:off x="845344" y="52839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96" name="Freeform 96"/>
                <p:cNvSpPr/>
                <p:nvPr/>
              </p:nvSpPr>
              <p:spPr>
                <a:xfrm>
                  <a:off x="906462" y="53451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98" name="TextBox 98"/>
              <p:cNvSpPr txBox="1"/>
              <p:nvPr/>
            </p:nvSpPr>
            <p:spPr>
              <a:xfrm>
                <a:off x="1130618" y="5323999"/>
                <a:ext cx="1769150"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Look up an indicator code</a:t>
                </a:r>
              </a:p>
            </p:txBody>
          </p:sp>
        </p:grpSp>
        <p:grpSp>
          <p:nvGrpSpPr>
            <p:cNvPr id="104" name="Group 104"/>
            <p:cNvGrpSpPr/>
            <p:nvPr/>
          </p:nvGrpSpPr>
          <p:grpSpPr>
            <a:xfrm>
              <a:off x="845344" y="5626894"/>
              <a:ext cx="3200734" cy="238125"/>
              <a:chOff x="845344" y="5626894"/>
              <a:chExt cx="3200734" cy="238125"/>
            </a:xfrm>
          </p:grpSpPr>
          <p:grpSp>
            <p:nvGrpSpPr>
              <p:cNvPr id="102" name="Group 102"/>
              <p:cNvGrpSpPr/>
              <p:nvPr/>
            </p:nvGrpSpPr>
            <p:grpSpPr>
              <a:xfrm>
                <a:off x="845344" y="5626894"/>
                <a:ext cx="157162" cy="157162"/>
                <a:chOff x="845344" y="5626894"/>
                <a:chExt cx="157162" cy="157162"/>
              </a:xfrm>
            </p:grpSpPr>
            <p:sp>
              <p:nvSpPr>
                <p:cNvPr id="100" name="Freeform 100"/>
                <p:cNvSpPr/>
                <p:nvPr/>
              </p:nvSpPr>
              <p:spPr>
                <a:xfrm>
                  <a:off x="845344" y="56268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01" name="Freeform 101"/>
                <p:cNvSpPr/>
                <p:nvPr/>
              </p:nvSpPr>
              <p:spPr>
                <a:xfrm>
                  <a:off x="906462" y="56880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03" name="TextBox 103"/>
              <p:cNvSpPr txBox="1"/>
              <p:nvPr/>
            </p:nvSpPr>
            <p:spPr>
              <a:xfrm>
                <a:off x="1130618" y="5666899"/>
                <a:ext cx="2915460"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Remember which ISO3 codes are in the G20</a:t>
                </a:r>
              </a:p>
            </p:txBody>
          </p:sp>
        </p:grpSp>
        <p:grpSp>
          <p:nvGrpSpPr>
            <p:cNvPr id="109" name="Group 109"/>
            <p:cNvGrpSpPr/>
            <p:nvPr/>
          </p:nvGrpSpPr>
          <p:grpSpPr>
            <a:xfrm>
              <a:off x="845344" y="5969794"/>
              <a:ext cx="3357372" cy="238125"/>
              <a:chOff x="845344" y="5969794"/>
              <a:chExt cx="3357372" cy="238125"/>
            </a:xfrm>
          </p:grpSpPr>
          <p:grpSp>
            <p:nvGrpSpPr>
              <p:cNvPr id="107" name="Group 107"/>
              <p:cNvGrpSpPr/>
              <p:nvPr/>
            </p:nvGrpSpPr>
            <p:grpSpPr>
              <a:xfrm>
                <a:off x="845344" y="5969794"/>
                <a:ext cx="157162" cy="157162"/>
                <a:chOff x="845344" y="5969794"/>
                <a:chExt cx="157162" cy="157162"/>
              </a:xfrm>
            </p:grpSpPr>
            <p:sp>
              <p:nvSpPr>
                <p:cNvPr id="105" name="Freeform 105"/>
                <p:cNvSpPr/>
                <p:nvPr/>
              </p:nvSpPr>
              <p:spPr>
                <a:xfrm>
                  <a:off x="845344" y="59697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06" name="Freeform 106"/>
                <p:cNvSpPr/>
                <p:nvPr/>
              </p:nvSpPr>
              <p:spPr>
                <a:xfrm>
                  <a:off x="906462" y="60309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08" name="TextBox 108"/>
              <p:cNvSpPr txBox="1"/>
              <p:nvPr/>
            </p:nvSpPr>
            <p:spPr>
              <a:xfrm>
                <a:off x="1130618" y="6009799"/>
                <a:ext cx="3072098"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Read the iData SDK docs or set </a:t>
                </a:r>
                <a:r>
                  <a:rPr lang="zh-CN" sz="975" dirty="0">
                    <a:solidFill>
                      <a:srgbClr val="009CDE"/>
                    </a:solidFill>
                    <a:latin typeface="Consolas"/>
                    <a:ea typeface="Microsoft YaHei"/>
                    <a:cs typeface="Consolas"/>
                  </a:rPr>
                  <a:t>PRIVATE=True</a:t>
                </a:r>
              </a:p>
            </p:txBody>
          </p:sp>
        </p:grpSp>
        <p:grpSp>
          <p:nvGrpSpPr>
            <p:cNvPr id="114" name="Group 114"/>
            <p:cNvGrpSpPr/>
            <p:nvPr/>
          </p:nvGrpSpPr>
          <p:grpSpPr>
            <a:xfrm>
              <a:off x="6312694" y="5283994"/>
              <a:ext cx="3699129" cy="238125"/>
              <a:chOff x="6312694" y="5283994"/>
              <a:chExt cx="3699129" cy="238125"/>
            </a:xfrm>
          </p:grpSpPr>
          <p:grpSp>
            <p:nvGrpSpPr>
              <p:cNvPr id="112" name="Group 112"/>
              <p:cNvGrpSpPr/>
              <p:nvPr/>
            </p:nvGrpSpPr>
            <p:grpSpPr>
              <a:xfrm>
                <a:off x="6312694" y="5283994"/>
                <a:ext cx="157162" cy="157162"/>
                <a:chOff x="6312694" y="5283994"/>
                <a:chExt cx="157162" cy="157162"/>
              </a:xfrm>
            </p:grpSpPr>
            <p:sp>
              <p:nvSpPr>
                <p:cNvPr id="110" name="Freeform 110"/>
                <p:cNvSpPr/>
                <p:nvPr/>
              </p:nvSpPr>
              <p:spPr>
                <a:xfrm>
                  <a:off x="6312694" y="52839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11" name="Freeform 111"/>
                <p:cNvSpPr/>
                <p:nvPr/>
              </p:nvSpPr>
              <p:spPr>
                <a:xfrm>
                  <a:off x="6373812" y="53451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13" name="TextBox 113"/>
              <p:cNvSpPr txBox="1"/>
              <p:nvPr/>
            </p:nvSpPr>
            <p:spPr>
              <a:xfrm>
                <a:off x="6597968" y="5323999"/>
                <a:ext cx="3413855"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Reformat the wide-API response into a long panel</a:t>
                </a:r>
              </a:p>
            </p:txBody>
          </p:sp>
        </p:grpSp>
        <p:grpSp>
          <p:nvGrpSpPr>
            <p:cNvPr id="119" name="Group 119"/>
            <p:cNvGrpSpPr/>
            <p:nvPr/>
          </p:nvGrpSpPr>
          <p:grpSpPr>
            <a:xfrm>
              <a:off x="6312694" y="5626894"/>
              <a:ext cx="3727609" cy="238125"/>
              <a:chOff x="6312694" y="5626894"/>
              <a:chExt cx="3727609" cy="238125"/>
            </a:xfrm>
          </p:grpSpPr>
          <p:grpSp>
            <p:nvGrpSpPr>
              <p:cNvPr id="117" name="Group 117"/>
              <p:cNvGrpSpPr/>
              <p:nvPr/>
            </p:nvGrpSpPr>
            <p:grpSpPr>
              <a:xfrm>
                <a:off x="6312694" y="5626894"/>
                <a:ext cx="157162" cy="157162"/>
                <a:chOff x="6312694" y="5626894"/>
                <a:chExt cx="157162" cy="157162"/>
              </a:xfrm>
            </p:grpSpPr>
            <p:sp>
              <p:nvSpPr>
                <p:cNvPr id="115" name="Freeform 115"/>
                <p:cNvSpPr/>
                <p:nvPr/>
              </p:nvSpPr>
              <p:spPr>
                <a:xfrm>
                  <a:off x="6312694" y="56268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16" name="Freeform 116"/>
                <p:cNvSpPr/>
                <p:nvPr/>
              </p:nvSpPr>
              <p:spPr>
                <a:xfrm>
                  <a:off x="6373812" y="56880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18" name="TextBox 118"/>
              <p:cNvSpPr txBox="1"/>
              <p:nvPr/>
            </p:nvSpPr>
            <p:spPr>
              <a:xfrm>
                <a:off x="6597968" y="5666899"/>
                <a:ext cx="3442335"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Re-ask the same question they asked last Monday</a:t>
                </a:r>
              </a:p>
            </p:txBody>
          </p:sp>
        </p:grpSp>
        <p:grpSp>
          <p:nvGrpSpPr>
            <p:cNvPr id="124" name="Group 124"/>
            <p:cNvGrpSpPr/>
            <p:nvPr/>
          </p:nvGrpSpPr>
          <p:grpSpPr>
            <a:xfrm>
              <a:off x="6312694" y="5969794"/>
              <a:ext cx="3514011" cy="238125"/>
              <a:chOff x="6312694" y="5969794"/>
              <a:chExt cx="3514011" cy="238125"/>
            </a:xfrm>
          </p:grpSpPr>
          <p:grpSp>
            <p:nvGrpSpPr>
              <p:cNvPr id="122" name="Group 122"/>
              <p:cNvGrpSpPr/>
              <p:nvPr/>
            </p:nvGrpSpPr>
            <p:grpSpPr>
              <a:xfrm>
                <a:off x="6312694" y="5969794"/>
                <a:ext cx="157162" cy="157162"/>
                <a:chOff x="6312694" y="5969794"/>
                <a:chExt cx="157162" cy="157162"/>
              </a:xfrm>
            </p:grpSpPr>
            <p:sp>
              <p:nvSpPr>
                <p:cNvPr id="120" name="Freeform 120"/>
                <p:cNvSpPr/>
                <p:nvPr/>
              </p:nvSpPr>
              <p:spPr>
                <a:xfrm>
                  <a:off x="6312694" y="5969794"/>
                  <a:ext cx="157162" cy="157162"/>
                </a:xfrm>
                <a:custGeom>
                  <a:avLst/>
                  <a:gdLst/>
                  <a:ahLst/>
                  <a:cxnLst/>
                  <a:rect l="l" t="t" r="r" b="b"/>
                  <a:pathLst>
                    <a:path w="157162" h="157162">
                      <a:moveTo>
                        <a:pt x="0" y="78581"/>
                      </a:moveTo>
                      <a:cubicBezTo>
                        <a:pt x="0" y="121980"/>
                        <a:pt x="35182" y="157162"/>
                        <a:pt x="78581" y="157162"/>
                      </a:cubicBezTo>
                      <a:cubicBezTo>
                        <a:pt x="121980" y="157162"/>
                        <a:pt x="157162" y="121980"/>
                        <a:pt x="157162" y="78581"/>
                      </a:cubicBezTo>
                      <a:cubicBezTo>
                        <a:pt x="157162" y="35182"/>
                        <a:pt x="121980" y="0"/>
                        <a:pt x="78581" y="0"/>
                      </a:cubicBezTo>
                      <a:cubicBezTo>
                        <a:pt x="35182" y="0"/>
                        <a:pt x="0" y="35182"/>
                        <a:pt x="0" y="78581"/>
                      </a:cubicBezTo>
                    </a:path>
                  </a:pathLst>
                </a:custGeom>
                <a:noFill/>
                <a:ln w="19050">
                  <a:solidFill>
                    <a:srgbClr val="9AA3AE"/>
                  </a:solidFill>
                </a:ln>
              </p:spPr>
              <p:txBody>
                <a:bodyPr/>
                <a:lstStyle/>
                <a:p>
                  <a:endParaRPr lang="en-US"/>
                </a:p>
              </p:txBody>
            </p:sp>
            <p:sp>
              <p:nvSpPr>
                <p:cNvPr id="121" name="Freeform 121"/>
                <p:cNvSpPr/>
                <p:nvPr/>
              </p:nvSpPr>
              <p:spPr>
                <a:xfrm>
                  <a:off x="6373812" y="6030912"/>
                  <a:ext cx="34925" cy="34925"/>
                </a:xfrm>
                <a:custGeom>
                  <a:avLst/>
                  <a:gdLst/>
                  <a:ahLst/>
                  <a:cxnLst/>
                  <a:rect l="l" t="t" r="r" b="b"/>
                  <a:pathLst>
                    <a:path w="34925" h="34925">
                      <a:moveTo>
                        <a:pt x="0" y="0"/>
                      </a:moveTo>
                      <a:lnTo>
                        <a:pt x="34925" y="34925"/>
                      </a:lnTo>
                      <a:moveTo>
                        <a:pt x="34925" y="0"/>
                      </a:moveTo>
                      <a:lnTo>
                        <a:pt x="0" y="34925"/>
                      </a:lnTo>
                    </a:path>
                  </a:pathLst>
                </a:custGeom>
                <a:noFill/>
                <a:ln w="19050">
                  <a:solidFill>
                    <a:srgbClr val="9AA3AE"/>
                  </a:solidFill>
                </a:ln>
              </p:spPr>
              <p:txBody>
                <a:bodyPr/>
                <a:lstStyle/>
                <a:p>
                  <a:endParaRPr lang="en-US"/>
                </a:p>
              </p:txBody>
            </p:sp>
          </p:grpSp>
          <p:sp>
            <p:nvSpPr>
              <p:cNvPr id="123" name="TextBox 123"/>
              <p:cNvSpPr txBox="1"/>
              <p:nvPr/>
            </p:nvSpPr>
            <p:spPr>
              <a:xfrm>
                <a:off x="6597968" y="6009799"/>
                <a:ext cx="3228737" cy="198120"/>
              </a:xfrm>
              <a:prstGeom prst="rect">
                <a:avLst/>
              </a:prstGeom>
              <a:noFill/>
              <a:ln>
                <a:noFill/>
              </a:ln>
            </p:spPr>
            <p:txBody>
              <a:bodyPr wrap="none" lIns="0" tIns="0" rIns="0" bIns="0" anchor="t" anchorCtr="0">
                <a:spAutoFit/>
              </a:bodyPr>
              <a:lstStyle/>
              <a:p>
                <a:pPr algn="l"/>
                <a:r>
                  <a:rPr lang="zh-CN" sz="975" dirty="0">
                    <a:solidFill>
                      <a:srgbClr val="1F2937"/>
                    </a:solidFill>
                    <a:latin typeface="Arial"/>
                    <a:ea typeface="Microsoft YaHei"/>
                    <a:cs typeface="Arial"/>
                  </a:rPr>
                  <a:t>Worry whether they hit the right WEO vintage</a:t>
                </a:r>
              </a:p>
            </p:txBody>
          </p:sp>
        </p:grpSp>
      </p:grpSp>
      <p:grpSp>
        <p:nvGrpSpPr>
          <p:cNvPr id="128" name="Group 128"/>
          <p:cNvGrpSpPr/>
          <p:nvPr/>
        </p:nvGrpSpPr>
        <p:grpSpPr>
          <a:xfrm>
            <a:off x="561022" y="6578441"/>
            <a:ext cx="11069956" cy="167640"/>
            <a:chOff x="561022" y="6578441"/>
            <a:chExt cx="11069956" cy="167640"/>
          </a:xfrm>
        </p:grpSpPr>
        <p:sp>
          <p:nvSpPr>
            <p:cNvPr id="126" name="TextBox 126"/>
            <p:cNvSpPr txBox="1"/>
            <p:nvPr/>
          </p:nvSpPr>
          <p:spPr>
            <a:xfrm>
              <a:off x="561022" y="65784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127" name="TextBox 127"/>
            <p:cNvSpPr txBox="1"/>
            <p:nvPr/>
          </p:nvSpPr>
          <p:spPr>
            <a:xfrm>
              <a:off x="11236500" y="6578441"/>
              <a:ext cx="394478"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09 / 10</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fade">
                                      <p:cBhvr>
                                        <p:cTn id="7" dur="400"/>
                                        <p:tgtEl>
                                          <p:spTgt spid="92"/>
                                        </p:tgtEl>
                                      </p:cBhvr>
                                    </p:animEffect>
                                  </p:childTnLst>
                                </p:cTn>
                              </p:par>
                            </p:childTnLst>
                          </p:cTn>
                        </p:par>
                        <p:par>
                          <p:cTn id="8" fill="hold">
                            <p:stCondLst>
                              <p:cond delay="900"/>
                            </p:stCondLst>
                            <p:childTnLst>
                              <p:par>
                                <p:cTn id="9" presetID="16" presetClass="entr" presetSubtype="21"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barn(inVertical)">
                                      <p:cBhvr>
                                        <p:cTn id="11"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p:bldP spid="12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txBody>
          <a:bodyPr/>
          <a:lstStyle/>
          <a:p>
            <a:endParaRPr lang="en-US"/>
          </a:p>
        </p:txBody>
      </p:sp>
      <p:grpSp>
        <p:nvGrpSpPr>
          <p:cNvPr id="5" name="Group 5"/>
          <p:cNvGrpSpPr/>
          <p:nvPr/>
        </p:nvGrpSpPr>
        <p:grpSpPr>
          <a:xfrm>
            <a:off x="542925" y="474345"/>
            <a:ext cx="11219295" cy="692467"/>
            <a:chOff x="542925" y="474345"/>
            <a:chExt cx="11219295" cy="692467"/>
          </a:xfrm>
        </p:grpSpPr>
        <p:sp>
          <p:nvSpPr>
            <p:cNvPr id="3" name="TextBox 3"/>
            <p:cNvSpPr txBox="1"/>
            <p:nvPr/>
          </p:nvSpPr>
          <p:spPr>
            <a:xfrm>
              <a:off x="560070" y="474345"/>
              <a:ext cx="1161502" cy="182880"/>
            </a:xfrm>
            <a:prstGeom prst="rect">
              <a:avLst/>
            </a:prstGeom>
            <a:noFill/>
            <a:ln>
              <a:noFill/>
            </a:ln>
          </p:spPr>
          <p:txBody>
            <a:bodyPr wrap="none" lIns="0" tIns="0" rIns="0" bIns="0" anchor="t" anchorCtr="0">
              <a:spAutoFit/>
            </a:bodyPr>
            <a:lstStyle/>
            <a:p>
              <a:pPr algn="l"/>
              <a:r>
                <a:rPr lang="zh-CN" sz="900" b="1" dirty="0">
                  <a:solidFill>
                    <a:srgbClr val="707372"/>
                  </a:solidFill>
                  <a:latin typeface="Arial"/>
                  <a:ea typeface="Microsoft YaHei"/>
                  <a:cs typeface="Arial"/>
                </a:rPr>
                <a:t>09 · WHAT'S NEXT</a:t>
              </a:r>
            </a:p>
          </p:txBody>
        </p:sp>
        <p:sp>
          <p:nvSpPr>
            <p:cNvPr id="4" name="TextBox 4"/>
            <p:cNvSpPr txBox="1"/>
            <p:nvPr/>
          </p:nvSpPr>
          <p:spPr>
            <a:xfrm>
              <a:off x="542925" y="709612"/>
              <a:ext cx="11219295" cy="457200"/>
            </a:xfrm>
            <a:prstGeom prst="rect">
              <a:avLst/>
            </a:prstGeom>
            <a:noFill/>
            <a:ln>
              <a:noFill/>
            </a:ln>
          </p:spPr>
          <p:txBody>
            <a:bodyPr wrap="none" lIns="0" tIns="0" rIns="0" bIns="0" anchor="t" anchorCtr="0">
              <a:spAutoFit/>
            </a:bodyPr>
            <a:lstStyle/>
            <a:p>
              <a:pPr algn="l"/>
              <a:r>
                <a:rPr lang="zh-CN" sz="2250" b="1" dirty="0">
                  <a:solidFill>
                    <a:srgbClr val="004C97"/>
                  </a:solidFill>
                  <a:latin typeface="Arial Black"/>
                  <a:ea typeface="Microsoft YaHei"/>
                  <a:cs typeface="Arial Black"/>
                </a:rPr>
                <a:t>This is Phase 1. The roadmap turns the chain into a full RA cockpit.</a:t>
              </a:r>
            </a:p>
          </p:txBody>
        </p:sp>
      </p:grpSp>
      <p:grpSp>
        <p:nvGrpSpPr>
          <p:cNvPr id="8" name="Group 8"/>
          <p:cNvGrpSpPr/>
          <p:nvPr/>
        </p:nvGrpSpPr>
        <p:grpSpPr>
          <a:xfrm>
            <a:off x="2286000" y="1524000"/>
            <a:ext cx="9525" cy="3810000"/>
            <a:chOff x="2286000" y="1524000"/>
            <a:chExt cx="9525" cy="3810000"/>
          </a:xfrm>
        </p:grpSpPr>
        <p:sp>
          <p:nvSpPr>
            <p:cNvPr id="6" name="Line 6"/>
            <p:cNvSpPr/>
            <p:nvPr/>
          </p:nvSpPr>
          <p:spPr>
            <a:xfrm>
              <a:off x="2286000" y="1524000"/>
              <a:ext cx="9525" cy="3810000"/>
            </a:xfrm>
            <a:custGeom>
              <a:avLst/>
              <a:gdLst/>
              <a:ahLst/>
              <a:cxnLst/>
              <a:rect l="l" t="t" r="r" b="b"/>
              <a:pathLst>
                <a:path w="9525" h="3810000">
                  <a:moveTo>
                    <a:pt x="0" y="0"/>
                  </a:moveTo>
                  <a:lnTo>
                    <a:pt x="0" y="3810000"/>
                  </a:lnTo>
                </a:path>
              </a:pathLst>
            </a:custGeom>
            <a:noFill/>
            <a:ln w="38100" cap="rnd">
              <a:solidFill>
                <a:srgbClr val="CDD7E2"/>
              </a:solidFill>
            </a:ln>
          </p:spPr>
          <p:txBody>
            <a:bodyPr/>
            <a:lstStyle/>
            <a:p>
              <a:endParaRPr lang="en-US"/>
            </a:p>
          </p:txBody>
        </p:sp>
        <p:sp>
          <p:nvSpPr>
            <p:cNvPr id="7" name="Line 7"/>
            <p:cNvSpPr/>
            <p:nvPr/>
          </p:nvSpPr>
          <p:spPr>
            <a:xfrm>
              <a:off x="2286000" y="1524000"/>
              <a:ext cx="9525" cy="762000"/>
            </a:xfrm>
            <a:custGeom>
              <a:avLst/>
              <a:gdLst/>
              <a:ahLst/>
              <a:cxnLst/>
              <a:rect l="l" t="t" r="r" b="b"/>
              <a:pathLst>
                <a:path w="9525" h="762000">
                  <a:moveTo>
                    <a:pt x="0" y="0"/>
                  </a:moveTo>
                  <a:lnTo>
                    <a:pt x="0" y="762000"/>
                  </a:lnTo>
                </a:path>
              </a:pathLst>
            </a:custGeom>
            <a:noFill/>
            <a:ln w="38100" cap="rnd">
              <a:gradFill>
                <a:gsLst>
                  <a:gs pos="0">
                    <a:srgbClr val="78BE20"/>
                  </a:gs>
                  <a:gs pos="100000">
                    <a:srgbClr val="707372"/>
                  </a:gs>
                </a:gsLst>
                <a:lin ang="5400000" scaled="1"/>
              </a:gradFill>
            </a:ln>
          </p:spPr>
          <p:txBody>
            <a:bodyPr/>
            <a:lstStyle/>
            <a:p>
              <a:endParaRPr lang="en-US"/>
            </a:p>
          </p:txBody>
        </p:sp>
      </p:grpSp>
      <p:grpSp>
        <p:nvGrpSpPr>
          <p:cNvPr id="31" name="Group 31"/>
          <p:cNvGrpSpPr/>
          <p:nvPr/>
        </p:nvGrpSpPr>
        <p:grpSpPr>
          <a:xfrm>
            <a:off x="1754176" y="1333500"/>
            <a:ext cx="8532824" cy="762000"/>
            <a:chOff x="1754176" y="1333500"/>
            <a:chExt cx="8532824" cy="762000"/>
          </a:xfrm>
        </p:grpSpPr>
        <p:sp>
          <p:nvSpPr>
            <p:cNvPr id="9" name="TextBox 9"/>
            <p:cNvSpPr txBox="1"/>
            <p:nvPr/>
          </p:nvSpPr>
          <p:spPr>
            <a:xfrm>
              <a:off x="1754176" y="1666399"/>
              <a:ext cx="353706" cy="198120"/>
            </a:xfrm>
            <a:prstGeom prst="rect">
              <a:avLst/>
            </a:prstGeom>
            <a:noFill/>
            <a:ln>
              <a:noFill/>
            </a:ln>
          </p:spPr>
          <p:txBody>
            <a:bodyPr wrap="none" lIns="0" tIns="0" rIns="0" bIns="0" anchor="t" anchorCtr="0">
              <a:spAutoFit/>
            </a:bodyPr>
            <a:lstStyle/>
            <a:p>
              <a:pPr algn="r"/>
              <a:r>
                <a:rPr lang="zh-CN" sz="975" b="1" dirty="0">
                  <a:solidFill>
                    <a:srgbClr val="DA281C"/>
                  </a:solidFill>
                  <a:latin typeface="Arial"/>
                  <a:ea typeface="Microsoft YaHei"/>
                  <a:cs typeface="Arial"/>
                </a:rPr>
                <a:t>Next</a:t>
              </a:r>
            </a:p>
          </p:txBody>
        </p:sp>
        <p:sp>
          <p:nvSpPr>
            <p:cNvPr id="10" name="Ellipse 10"/>
            <p:cNvSpPr/>
            <p:nvPr/>
          </p:nvSpPr>
          <p:spPr>
            <a:xfrm>
              <a:off x="2133600" y="1562100"/>
              <a:ext cx="304800" cy="304800"/>
            </a:xfrm>
            <a:prstGeom prst="ellipse">
              <a:avLst/>
            </a:prstGeom>
            <a:solidFill>
              <a:srgbClr val="FFFFFF"/>
            </a:solidFill>
            <a:ln w="33338">
              <a:solidFill>
                <a:srgbClr val="DA281C"/>
              </a:solidFill>
            </a:ln>
          </p:spPr>
          <p:txBody>
            <a:bodyPr/>
            <a:lstStyle/>
            <a:p>
              <a:endParaRPr lang="en-US"/>
            </a:p>
          </p:txBody>
        </p:sp>
        <p:grpSp>
          <p:nvGrpSpPr>
            <p:cNvPr id="19" name="Group 19"/>
            <p:cNvGrpSpPr/>
            <p:nvPr/>
          </p:nvGrpSpPr>
          <p:grpSpPr>
            <a:xfrm>
              <a:off x="2157412" y="1585912"/>
              <a:ext cx="257175" cy="257175"/>
              <a:chOff x="2157412" y="1585912"/>
              <a:chExt cx="257175" cy="257175"/>
            </a:xfrm>
          </p:grpSpPr>
          <p:sp>
            <p:nvSpPr>
              <p:cNvPr id="11" name="Freeform 11"/>
              <p:cNvSpPr/>
              <p:nvPr/>
            </p:nvSpPr>
            <p:spPr>
              <a:xfrm>
                <a:off x="2195132" y="1595771"/>
                <a:ext cx="41719" cy="27861"/>
              </a:xfrm>
              <a:custGeom>
                <a:avLst/>
                <a:gdLst/>
                <a:ahLst/>
                <a:cxnLst/>
                <a:rect l="l" t="t" r="r" b="b"/>
                <a:pathLst>
                  <a:path w="41719" h="27861">
                    <a:moveTo>
                      <a:pt x="41719" y="0"/>
                    </a:moveTo>
                    <a:cubicBezTo>
                      <a:pt x="26119" y="6458"/>
                      <a:pt x="11942" y="15925"/>
                      <a:pt x="0" y="27861"/>
                    </a:cubicBezTo>
                  </a:path>
                </a:pathLst>
              </a:custGeom>
              <a:noFill/>
              <a:ln w="19050">
                <a:solidFill>
                  <a:srgbClr val="DA281C"/>
                </a:solidFill>
              </a:ln>
            </p:spPr>
            <p:txBody>
              <a:bodyPr/>
              <a:lstStyle/>
              <a:p>
                <a:endParaRPr lang="en-US"/>
              </a:p>
            </p:txBody>
          </p:sp>
          <p:sp>
            <p:nvSpPr>
              <p:cNvPr id="12" name="Freeform 12"/>
              <p:cNvSpPr/>
              <p:nvPr/>
            </p:nvSpPr>
            <p:spPr>
              <a:xfrm>
                <a:off x="2157412" y="1665351"/>
                <a:ext cx="9858" cy="49149"/>
              </a:xfrm>
              <a:custGeom>
                <a:avLst/>
                <a:gdLst/>
                <a:ahLst/>
                <a:cxnLst/>
                <a:rect l="l" t="t" r="r" b="b"/>
                <a:pathLst>
                  <a:path w="9858" h="49149">
                    <a:moveTo>
                      <a:pt x="9858" y="0"/>
                    </a:moveTo>
                    <a:cubicBezTo>
                      <a:pt x="3380" y="15578"/>
                      <a:pt x="30" y="32278"/>
                      <a:pt x="0" y="49149"/>
                    </a:cubicBezTo>
                  </a:path>
                </a:pathLst>
              </a:custGeom>
              <a:noFill/>
              <a:ln w="19050">
                <a:solidFill>
                  <a:srgbClr val="DA281C"/>
                </a:solidFill>
              </a:ln>
            </p:spPr>
            <p:txBody>
              <a:bodyPr/>
              <a:lstStyle/>
              <a:p>
                <a:endParaRPr lang="en-US"/>
              </a:p>
            </p:txBody>
          </p:sp>
          <p:sp>
            <p:nvSpPr>
              <p:cNvPr id="13" name="Freeform 13"/>
              <p:cNvSpPr/>
              <p:nvPr/>
            </p:nvSpPr>
            <p:spPr>
              <a:xfrm>
                <a:off x="2167271" y="1763649"/>
                <a:ext cx="27861" cy="41719"/>
              </a:xfrm>
              <a:custGeom>
                <a:avLst/>
                <a:gdLst/>
                <a:ahLst/>
                <a:cxnLst/>
                <a:rect l="l" t="t" r="r" b="b"/>
                <a:pathLst>
                  <a:path w="27861" h="41719">
                    <a:moveTo>
                      <a:pt x="0" y="0"/>
                    </a:moveTo>
                    <a:cubicBezTo>
                      <a:pt x="6458" y="15601"/>
                      <a:pt x="15925" y="29777"/>
                      <a:pt x="27861" y="41719"/>
                    </a:cubicBezTo>
                  </a:path>
                </a:pathLst>
              </a:custGeom>
              <a:noFill/>
              <a:ln w="19050">
                <a:solidFill>
                  <a:srgbClr val="DA281C"/>
                </a:solidFill>
              </a:ln>
            </p:spPr>
            <p:txBody>
              <a:bodyPr/>
              <a:lstStyle/>
              <a:p>
                <a:endParaRPr lang="en-US"/>
              </a:p>
            </p:txBody>
          </p:sp>
          <p:sp>
            <p:nvSpPr>
              <p:cNvPr id="14" name="Freeform 14"/>
              <p:cNvSpPr/>
              <p:nvPr/>
            </p:nvSpPr>
            <p:spPr>
              <a:xfrm>
                <a:off x="2236851" y="1833229"/>
                <a:ext cx="49149" cy="9858"/>
              </a:xfrm>
              <a:custGeom>
                <a:avLst/>
                <a:gdLst/>
                <a:ahLst/>
                <a:cxnLst/>
                <a:rect l="l" t="t" r="r" b="b"/>
                <a:pathLst>
                  <a:path w="49149" h="9858">
                    <a:moveTo>
                      <a:pt x="0" y="0"/>
                    </a:moveTo>
                    <a:cubicBezTo>
                      <a:pt x="15578" y="6479"/>
                      <a:pt x="32278" y="9828"/>
                      <a:pt x="49149" y="9858"/>
                    </a:cubicBezTo>
                  </a:path>
                </a:pathLst>
              </a:custGeom>
              <a:noFill/>
              <a:ln w="19050">
                <a:solidFill>
                  <a:srgbClr val="DA281C"/>
                </a:solidFill>
              </a:ln>
            </p:spPr>
            <p:txBody>
              <a:bodyPr/>
              <a:lstStyle/>
              <a:p>
                <a:endParaRPr lang="en-US"/>
              </a:p>
            </p:txBody>
          </p:sp>
          <p:sp>
            <p:nvSpPr>
              <p:cNvPr id="15" name="Freeform 15"/>
              <p:cNvSpPr/>
              <p:nvPr/>
            </p:nvSpPr>
            <p:spPr>
              <a:xfrm>
                <a:off x="2335149" y="1805368"/>
                <a:ext cx="41719" cy="27861"/>
              </a:xfrm>
              <a:custGeom>
                <a:avLst/>
                <a:gdLst/>
                <a:ahLst/>
                <a:cxnLst/>
                <a:rect l="l" t="t" r="r" b="b"/>
                <a:pathLst>
                  <a:path w="41719" h="27861">
                    <a:moveTo>
                      <a:pt x="0" y="27861"/>
                    </a:moveTo>
                    <a:cubicBezTo>
                      <a:pt x="15601" y="21403"/>
                      <a:pt x="29777" y="11936"/>
                      <a:pt x="41719" y="0"/>
                    </a:cubicBezTo>
                  </a:path>
                </a:pathLst>
              </a:custGeom>
              <a:noFill/>
              <a:ln w="19050">
                <a:solidFill>
                  <a:srgbClr val="DA281C"/>
                </a:solidFill>
              </a:ln>
            </p:spPr>
            <p:txBody>
              <a:bodyPr/>
              <a:lstStyle/>
              <a:p>
                <a:endParaRPr lang="en-US"/>
              </a:p>
            </p:txBody>
          </p:sp>
          <p:sp>
            <p:nvSpPr>
              <p:cNvPr id="16" name="Freeform 16"/>
              <p:cNvSpPr/>
              <p:nvPr/>
            </p:nvSpPr>
            <p:spPr>
              <a:xfrm>
                <a:off x="2404729" y="1714500"/>
                <a:ext cx="9858" cy="49149"/>
              </a:xfrm>
              <a:custGeom>
                <a:avLst/>
                <a:gdLst/>
                <a:ahLst/>
                <a:cxnLst/>
                <a:rect l="l" t="t" r="r" b="b"/>
                <a:pathLst>
                  <a:path w="9858" h="49149">
                    <a:moveTo>
                      <a:pt x="0" y="49149"/>
                    </a:moveTo>
                    <a:cubicBezTo>
                      <a:pt x="6479" y="33571"/>
                      <a:pt x="9828" y="16871"/>
                      <a:pt x="9858" y="0"/>
                    </a:cubicBezTo>
                  </a:path>
                </a:pathLst>
              </a:custGeom>
              <a:noFill/>
              <a:ln w="19050">
                <a:solidFill>
                  <a:srgbClr val="DA281C"/>
                </a:solidFill>
              </a:ln>
            </p:spPr>
            <p:txBody>
              <a:bodyPr/>
              <a:lstStyle/>
              <a:p>
                <a:endParaRPr lang="en-US"/>
              </a:p>
            </p:txBody>
          </p:sp>
          <p:sp>
            <p:nvSpPr>
              <p:cNvPr id="17" name="Freeform 17"/>
              <p:cNvSpPr/>
              <p:nvPr/>
            </p:nvSpPr>
            <p:spPr>
              <a:xfrm>
                <a:off x="2376868" y="1623632"/>
                <a:ext cx="27861" cy="41719"/>
              </a:xfrm>
              <a:custGeom>
                <a:avLst/>
                <a:gdLst/>
                <a:ahLst/>
                <a:cxnLst/>
                <a:rect l="l" t="t" r="r" b="b"/>
                <a:pathLst>
                  <a:path w="27861" h="41719">
                    <a:moveTo>
                      <a:pt x="27861" y="41719"/>
                    </a:moveTo>
                    <a:cubicBezTo>
                      <a:pt x="21403" y="26119"/>
                      <a:pt x="11936" y="11942"/>
                      <a:pt x="0" y="0"/>
                    </a:cubicBezTo>
                  </a:path>
                </a:pathLst>
              </a:custGeom>
              <a:noFill/>
              <a:ln w="19050">
                <a:solidFill>
                  <a:srgbClr val="DA281C"/>
                </a:solidFill>
              </a:ln>
            </p:spPr>
            <p:txBody>
              <a:bodyPr/>
              <a:lstStyle/>
              <a:p>
                <a:endParaRPr lang="en-US"/>
              </a:p>
            </p:txBody>
          </p:sp>
          <p:sp>
            <p:nvSpPr>
              <p:cNvPr id="18" name="Freeform 18"/>
              <p:cNvSpPr/>
              <p:nvPr/>
            </p:nvSpPr>
            <p:spPr>
              <a:xfrm>
                <a:off x="2286000" y="1585912"/>
                <a:ext cx="49149" cy="9858"/>
              </a:xfrm>
              <a:custGeom>
                <a:avLst/>
                <a:gdLst/>
                <a:ahLst/>
                <a:cxnLst/>
                <a:rect l="l" t="t" r="r" b="b"/>
                <a:pathLst>
                  <a:path w="49149" h="9858">
                    <a:moveTo>
                      <a:pt x="49149" y="9858"/>
                    </a:moveTo>
                    <a:cubicBezTo>
                      <a:pt x="33571" y="3380"/>
                      <a:pt x="16871" y="30"/>
                      <a:pt x="0" y="0"/>
                    </a:cubicBezTo>
                  </a:path>
                </a:pathLst>
              </a:custGeom>
              <a:noFill/>
              <a:ln w="19050">
                <a:solidFill>
                  <a:srgbClr val="DA281C"/>
                </a:solidFill>
              </a:ln>
            </p:spPr>
            <p:txBody>
              <a:bodyPr/>
              <a:lstStyle/>
              <a:p>
                <a:endParaRPr lang="en-US"/>
              </a:p>
            </p:txBody>
          </p:sp>
        </p:grpSp>
        <p:sp>
          <p:nvSpPr>
            <p:cNvPr id="20" name="Rectangle 20"/>
            <p:cNvSpPr/>
            <p:nvPr/>
          </p:nvSpPr>
          <p:spPr>
            <a:xfrm>
              <a:off x="2667000" y="1333500"/>
              <a:ext cx="7620000" cy="762000"/>
            </a:xfrm>
            <a:prstGeom prst="roundRect">
              <a:avLst>
                <a:gd name="adj" fmla="val 12500"/>
              </a:avLst>
            </a:prstGeom>
            <a:solidFill>
              <a:srgbClr val="FFFFFF"/>
            </a:solidFill>
            <a:ln w="19050">
              <a:solidFill>
                <a:srgbClr val="DA281C"/>
              </a:solidFill>
            </a:ln>
          </p:spPr>
          <p:txBody>
            <a:bodyPr/>
            <a:lstStyle/>
            <a:p>
              <a:endParaRPr lang="en-US"/>
            </a:p>
          </p:txBody>
        </p:sp>
        <p:sp>
          <p:nvSpPr>
            <p:cNvPr id="21" name="Line 21"/>
            <p:cNvSpPr/>
            <p:nvPr/>
          </p:nvSpPr>
          <p:spPr>
            <a:xfrm>
              <a:off x="2705100" y="1476375"/>
              <a:ext cx="9525" cy="476250"/>
            </a:xfrm>
            <a:custGeom>
              <a:avLst/>
              <a:gdLst/>
              <a:ahLst/>
              <a:cxnLst/>
              <a:rect l="l" t="t" r="r" b="b"/>
              <a:pathLst>
                <a:path w="9525" h="476250">
                  <a:moveTo>
                    <a:pt x="0" y="0"/>
                  </a:moveTo>
                  <a:lnTo>
                    <a:pt x="0" y="476250"/>
                  </a:lnTo>
                </a:path>
              </a:pathLst>
            </a:custGeom>
            <a:noFill/>
            <a:ln w="38100" cap="rnd">
              <a:solidFill>
                <a:srgbClr val="DA281C"/>
              </a:solidFill>
            </a:ln>
          </p:spPr>
          <p:txBody>
            <a:bodyPr/>
            <a:lstStyle/>
            <a:p>
              <a:endParaRPr lang="en-US"/>
            </a:p>
          </p:txBody>
        </p:sp>
        <p:grpSp>
          <p:nvGrpSpPr>
            <p:cNvPr id="26" name="Group 26"/>
            <p:cNvGrpSpPr/>
            <p:nvPr/>
          </p:nvGrpSpPr>
          <p:grpSpPr>
            <a:xfrm>
              <a:off x="2947988" y="1530350"/>
              <a:ext cx="200025" cy="187325"/>
              <a:chOff x="2947988" y="1530350"/>
              <a:chExt cx="200025" cy="187325"/>
            </a:xfrm>
          </p:grpSpPr>
          <p:sp>
            <p:nvSpPr>
              <p:cNvPr id="22" name="Freeform 22"/>
              <p:cNvSpPr/>
              <p:nvPr/>
            </p:nvSpPr>
            <p:spPr>
              <a:xfrm>
                <a:off x="2947988" y="1619250"/>
                <a:ext cx="66675" cy="88900"/>
              </a:xfrm>
              <a:custGeom>
                <a:avLst/>
                <a:gdLst/>
                <a:ahLst/>
                <a:cxnLst/>
                <a:rect l="l" t="t" r="r" b="b"/>
                <a:pathLst>
                  <a:path w="66675" h="88900">
                    <a:moveTo>
                      <a:pt x="0" y="11112"/>
                    </a:moveTo>
                    <a:cubicBezTo>
                      <a:pt x="0" y="4975"/>
                      <a:pt x="4975" y="0"/>
                      <a:pt x="11113" y="0"/>
                    </a:cubicBezTo>
                    <a:lnTo>
                      <a:pt x="55562" y="0"/>
                    </a:lnTo>
                    <a:cubicBezTo>
                      <a:pt x="61700" y="0"/>
                      <a:pt x="66675" y="4975"/>
                      <a:pt x="66675" y="11112"/>
                    </a:cubicBezTo>
                    <a:lnTo>
                      <a:pt x="66675" y="77787"/>
                    </a:lnTo>
                    <a:cubicBezTo>
                      <a:pt x="66675" y="83925"/>
                      <a:pt x="61700" y="88900"/>
                      <a:pt x="55562" y="88900"/>
                    </a:cubicBezTo>
                    <a:lnTo>
                      <a:pt x="11113" y="88900"/>
                    </a:lnTo>
                    <a:cubicBezTo>
                      <a:pt x="4975" y="88900"/>
                      <a:pt x="0" y="83925"/>
                      <a:pt x="0" y="77787"/>
                    </a:cubicBezTo>
                    <a:lnTo>
                      <a:pt x="0" y="11112"/>
                    </a:lnTo>
                  </a:path>
                </a:pathLst>
              </a:custGeom>
              <a:noFill/>
              <a:ln w="19050">
                <a:solidFill>
                  <a:srgbClr val="DA281C"/>
                </a:solidFill>
              </a:ln>
            </p:spPr>
            <p:txBody>
              <a:bodyPr/>
              <a:lstStyle/>
              <a:p>
                <a:endParaRPr lang="en-US"/>
              </a:p>
            </p:txBody>
          </p:sp>
          <p:sp>
            <p:nvSpPr>
              <p:cNvPr id="23" name="Freeform 23"/>
              <p:cNvSpPr/>
              <p:nvPr/>
            </p:nvSpPr>
            <p:spPr>
              <a:xfrm>
                <a:off x="3081338" y="1574800"/>
                <a:ext cx="66675" cy="133350"/>
              </a:xfrm>
              <a:custGeom>
                <a:avLst/>
                <a:gdLst/>
                <a:ahLst/>
                <a:cxnLst/>
                <a:rect l="l" t="t" r="r" b="b"/>
                <a:pathLst>
                  <a:path w="66675" h="133350">
                    <a:moveTo>
                      <a:pt x="0" y="11112"/>
                    </a:moveTo>
                    <a:cubicBezTo>
                      <a:pt x="0" y="4975"/>
                      <a:pt x="4975" y="0"/>
                      <a:pt x="11113" y="0"/>
                    </a:cubicBezTo>
                    <a:lnTo>
                      <a:pt x="55562" y="0"/>
                    </a:lnTo>
                    <a:cubicBezTo>
                      <a:pt x="61700" y="0"/>
                      <a:pt x="66675" y="4975"/>
                      <a:pt x="66675" y="11112"/>
                    </a:cubicBezTo>
                    <a:lnTo>
                      <a:pt x="66675" y="122237"/>
                    </a:lnTo>
                    <a:cubicBezTo>
                      <a:pt x="66675" y="128375"/>
                      <a:pt x="61700" y="133350"/>
                      <a:pt x="55562" y="133350"/>
                    </a:cubicBezTo>
                    <a:lnTo>
                      <a:pt x="11113" y="133350"/>
                    </a:lnTo>
                    <a:cubicBezTo>
                      <a:pt x="4975" y="133350"/>
                      <a:pt x="0" y="128375"/>
                      <a:pt x="0" y="122237"/>
                    </a:cubicBezTo>
                    <a:lnTo>
                      <a:pt x="0" y="11112"/>
                    </a:lnTo>
                  </a:path>
                </a:pathLst>
              </a:custGeom>
              <a:noFill/>
              <a:ln w="19050">
                <a:solidFill>
                  <a:srgbClr val="DA281C"/>
                </a:solidFill>
              </a:ln>
            </p:spPr>
            <p:txBody>
              <a:bodyPr/>
              <a:lstStyle/>
              <a:p>
                <a:endParaRPr lang="en-US"/>
              </a:p>
            </p:txBody>
          </p:sp>
          <p:sp>
            <p:nvSpPr>
              <p:cNvPr id="24" name="Freeform 24"/>
              <p:cNvSpPr/>
              <p:nvPr/>
            </p:nvSpPr>
            <p:spPr>
              <a:xfrm>
                <a:off x="3014662" y="1530350"/>
                <a:ext cx="66675" cy="177800"/>
              </a:xfrm>
              <a:custGeom>
                <a:avLst/>
                <a:gdLst/>
                <a:ahLst/>
                <a:cxnLst/>
                <a:rect l="l" t="t" r="r" b="b"/>
                <a:pathLst>
                  <a:path w="66675" h="177800">
                    <a:moveTo>
                      <a:pt x="0" y="11113"/>
                    </a:moveTo>
                    <a:cubicBezTo>
                      <a:pt x="0" y="4975"/>
                      <a:pt x="4975" y="0"/>
                      <a:pt x="11113" y="0"/>
                    </a:cubicBezTo>
                    <a:lnTo>
                      <a:pt x="55562" y="0"/>
                    </a:lnTo>
                    <a:cubicBezTo>
                      <a:pt x="61700" y="0"/>
                      <a:pt x="66675" y="4975"/>
                      <a:pt x="66675" y="11113"/>
                    </a:cubicBezTo>
                    <a:lnTo>
                      <a:pt x="66675" y="166688"/>
                    </a:lnTo>
                    <a:cubicBezTo>
                      <a:pt x="66675" y="172825"/>
                      <a:pt x="61700" y="177800"/>
                      <a:pt x="55562" y="177800"/>
                    </a:cubicBezTo>
                    <a:lnTo>
                      <a:pt x="11113" y="177800"/>
                    </a:lnTo>
                    <a:cubicBezTo>
                      <a:pt x="4975" y="177800"/>
                      <a:pt x="0" y="172825"/>
                      <a:pt x="0" y="166688"/>
                    </a:cubicBezTo>
                    <a:lnTo>
                      <a:pt x="0" y="11113"/>
                    </a:lnTo>
                  </a:path>
                </a:pathLst>
              </a:custGeom>
              <a:noFill/>
              <a:ln w="19050">
                <a:solidFill>
                  <a:srgbClr val="DA281C"/>
                </a:solidFill>
              </a:ln>
            </p:spPr>
            <p:txBody>
              <a:bodyPr/>
              <a:lstStyle/>
              <a:p>
                <a:endParaRPr lang="en-US"/>
              </a:p>
            </p:txBody>
          </p:sp>
          <p:sp>
            <p:nvSpPr>
              <p:cNvPr id="25" name="Freeform 25"/>
              <p:cNvSpPr/>
              <p:nvPr/>
            </p:nvSpPr>
            <p:spPr>
              <a:xfrm>
                <a:off x="2959100" y="1708150"/>
                <a:ext cx="155575" cy="9525"/>
              </a:xfrm>
              <a:custGeom>
                <a:avLst/>
                <a:gdLst/>
                <a:ahLst/>
                <a:cxnLst/>
                <a:rect l="l" t="t" r="r" b="b"/>
                <a:pathLst>
                  <a:path w="155575" h="9525">
                    <a:moveTo>
                      <a:pt x="0" y="0"/>
                    </a:moveTo>
                    <a:lnTo>
                      <a:pt x="155575" y="0"/>
                    </a:lnTo>
                  </a:path>
                </a:pathLst>
              </a:custGeom>
              <a:noFill/>
              <a:ln w="19050">
                <a:solidFill>
                  <a:srgbClr val="DA281C"/>
                </a:solidFill>
              </a:ln>
            </p:spPr>
            <p:txBody>
              <a:bodyPr/>
              <a:lstStyle/>
              <a:p>
                <a:endParaRPr lang="en-US"/>
              </a:p>
            </p:txBody>
          </p:sp>
        </p:grpSp>
        <p:sp>
          <p:nvSpPr>
            <p:cNvPr id="27" name="TextBox 27"/>
            <p:cNvSpPr txBox="1"/>
            <p:nvPr/>
          </p:nvSpPr>
          <p:spPr>
            <a:xfrm>
              <a:off x="3276600" y="1514475"/>
              <a:ext cx="2430399" cy="304800"/>
            </a:xfrm>
            <a:prstGeom prst="rect">
              <a:avLst/>
            </a:prstGeom>
            <a:noFill/>
            <a:ln>
              <a:noFill/>
            </a:ln>
          </p:spPr>
          <p:txBody>
            <a:bodyPr wrap="none" lIns="0" tIns="0" rIns="0" bIns="0" anchor="t" anchorCtr="0">
              <a:spAutoFit/>
            </a:bodyPr>
            <a:lstStyle/>
            <a:p>
              <a:pPr algn="l"/>
              <a:r>
                <a:rPr lang="zh-CN" sz="1200" b="1" dirty="0">
                  <a:solidFill>
                    <a:srgbClr val="009CDE"/>
                  </a:solidFill>
                  <a:latin typeface="Consolas"/>
                  <a:ea typeface="Microsoft YaHei"/>
                  <a:cs typeface="Consolas"/>
                </a:rPr>
                <a:t>imf-ra-charts</a:t>
              </a:r>
              <a:r>
                <a:rPr lang="zh-CN" sz="1500" b="1" dirty="0">
                  <a:solidFill>
                    <a:srgbClr val="004C97"/>
                  </a:solidFill>
                  <a:latin typeface="Arial Black"/>
                  <a:ea typeface="Microsoft YaHei"/>
                  <a:cs typeface="Arial Black"/>
                </a:rPr>
                <a:t> wiring</a:t>
              </a:r>
            </a:p>
          </p:txBody>
        </p:sp>
        <p:sp>
          <p:nvSpPr>
            <p:cNvPr id="28" name="TextBox 28"/>
            <p:cNvSpPr txBox="1"/>
            <p:nvPr/>
          </p:nvSpPr>
          <p:spPr>
            <a:xfrm>
              <a:off x="3283268" y="1799749"/>
              <a:ext cx="6247590"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Connect to the internal chart tool — close the discovery → fetch → chart loop end-to-end.</a:t>
              </a:r>
            </a:p>
          </p:txBody>
        </p:sp>
        <p:sp>
          <p:nvSpPr>
            <p:cNvPr id="29" name="Rectangle 29"/>
            <p:cNvSpPr/>
            <p:nvPr/>
          </p:nvSpPr>
          <p:spPr>
            <a:xfrm>
              <a:off x="9239250" y="1447800"/>
              <a:ext cx="952500" cy="247650"/>
            </a:xfrm>
            <a:prstGeom prst="roundRect">
              <a:avLst>
                <a:gd name="adj" fmla="val 50000"/>
              </a:avLst>
            </a:prstGeom>
            <a:solidFill>
              <a:srgbClr val="FFE9C7"/>
            </a:solidFill>
            <a:ln>
              <a:noFill/>
            </a:ln>
          </p:spPr>
          <p:txBody>
            <a:bodyPr/>
            <a:lstStyle/>
            <a:p>
              <a:endParaRPr lang="en-US"/>
            </a:p>
          </p:txBody>
        </p:sp>
        <p:sp>
          <p:nvSpPr>
            <p:cNvPr id="30" name="TextBox 30"/>
            <p:cNvSpPr txBox="1"/>
            <p:nvPr/>
          </p:nvSpPr>
          <p:spPr>
            <a:xfrm>
              <a:off x="9341290" y="1530191"/>
              <a:ext cx="748421" cy="167640"/>
            </a:xfrm>
            <a:prstGeom prst="rect">
              <a:avLst/>
            </a:prstGeom>
            <a:noFill/>
            <a:ln>
              <a:noFill/>
            </a:ln>
          </p:spPr>
          <p:txBody>
            <a:bodyPr wrap="none" lIns="0" tIns="0" rIns="0" bIns="0" anchor="t" anchorCtr="0">
              <a:spAutoFit/>
            </a:bodyPr>
            <a:lstStyle/>
            <a:p>
              <a:pPr algn="ctr"/>
              <a:r>
                <a:rPr lang="zh-CN" sz="825" b="1" dirty="0">
                  <a:solidFill>
                    <a:srgbClr val="DA281C"/>
                  </a:solidFill>
                  <a:latin typeface="Arial"/>
                  <a:ea typeface="Microsoft YaHei"/>
                  <a:cs typeface="Arial"/>
                </a:rPr>
                <a:t>IN PROGRESS</a:t>
              </a:r>
            </a:p>
          </p:txBody>
        </p:sp>
      </p:grpSp>
      <p:grpSp>
        <p:nvGrpSpPr>
          <p:cNvPr id="45" name="Group 45"/>
          <p:cNvGrpSpPr/>
          <p:nvPr/>
        </p:nvGrpSpPr>
        <p:grpSpPr>
          <a:xfrm>
            <a:off x="1754176" y="2286000"/>
            <a:ext cx="9129470" cy="762000"/>
            <a:chOff x="1754176" y="2286000"/>
            <a:chExt cx="9129470" cy="762000"/>
          </a:xfrm>
        </p:grpSpPr>
        <p:sp>
          <p:nvSpPr>
            <p:cNvPr id="32" name="TextBox 32"/>
            <p:cNvSpPr txBox="1"/>
            <p:nvPr/>
          </p:nvSpPr>
          <p:spPr>
            <a:xfrm>
              <a:off x="1754176" y="2618899"/>
              <a:ext cx="353706" cy="198120"/>
            </a:xfrm>
            <a:prstGeom prst="rect">
              <a:avLst/>
            </a:prstGeom>
            <a:noFill/>
            <a:ln>
              <a:noFill/>
            </a:ln>
          </p:spPr>
          <p:txBody>
            <a:bodyPr wrap="none" lIns="0" tIns="0" rIns="0" bIns="0" anchor="t" anchorCtr="0">
              <a:spAutoFit/>
            </a:bodyPr>
            <a:lstStyle/>
            <a:p>
              <a:pPr algn="r"/>
              <a:r>
                <a:rPr lang="zh-CN" sz="975" b="1" dirty="0">
                  <a:solidFill>
                    <a:srgbClr val="5B6470"/>
                  </a:solidFill>
                  <a:latin typeface="Arial"/>
                  <a:ea typeface="Microsoft YaHei"/>
                  <a:cs typeface="Arial"/>
                </a:rPr>
                <a:t>Then</a:t>
              </a:r>
            </a:p>
          </p:txBody>
        </p:sp>
        <p:sp>
          <p:nvSpPr>
            <p:cNvPr id="33" name="Ellipse 33"/>
            <p:cNvSpPr/>
            <p:nvPr/>
          </p:nvSpPr>
          <p:spPr>
            <a:xfrm>
              <a:off x="2152650" y="2533650"/>
              <a:ext cx="266700" cy="266700"/>
            </a:xfrm>
            <a:prstGeom prst="ellipse">
              <a:avLst/>
            </a:prstGeom>
            <a:solidFill>
              <a:srgbClr val="EAF6FD"/>
            </a:solidFill>
            <a:ln w="28575">
              <a:solidFill>
                <a:srgbClr val="9AA3AE"/>
              </a:solidFill>
            </a:ln>
          </p:spPr>
          <p:txBody>
            <a:bodyPr/>
            <a:lstStyle/>
            <a:p>
              <a:endParaRPr lang="en-US"/>
            </a:p>
          </p:txBody>
        </p:sp>
        <p:sp>
          <p:nvSpPr>
            <p:cNvPr id="34" name="Ellipse 34"/>
            <p:cNvSpPr/>
            <p:nvPr/>
          </p:nvSpPr>
          <p:spPr>
            <a:xfrm>
              <a:off x="2238375" y="2619375"/>
              <a:ext cx="95250" cy="95250"/>
            </a:xfrm>
            <a:prstGeom prst="ellipse">
              <a:avLst/>
            </a:prstGeom>
            <a:solidFill>
              <a:srgbClr val="9AA3AE"/>
            </a:solidFill>
            <a:ln>
              <a:noFill/>
            </a:ln>
          </p:spPr>
          <p:txBody>
            <a:bodyPr/>
            <a:lstStyle/>
            <a:p>
              <a:endParaRPr lang="en-US"/>
            </a:p>
          </p:txBody>
        </p:sp>
        <p:sp>
          <p:nvSpPr>
            <p:cNvPr id="35" name="Rectangle 35"/>
            <p:cNvSpPr/>
            <p:nvPr/>
          </p:nvSpPr>
          <p:spPr>
            <a:xfrm>
              <a:off x="2667000" y="2286000"/>
              <a:ext cx="7620000" cy="762000"/>
            </a:xfrm>
            <a:prstGeom prst="roundRect">
              <a:avLst>
                <a:gd name="adj" fmla="val 12500"/>
              </a:avLst>
            </a:prstGeom>
            <a:solidFill>
              <a:srgbClr val="FFFFFF"/>
            </a:solidFill>
            <a:ln w="14288">
              <a:solidFill>
                <a:srgbClr val="CDD7E2"/>
              </a:solidFill>
            </a:ln>
          </p:spPr>
          <p:txBody>
            <a:bodyPr/>
            <a:lstStyle/>
            <a:p>
              <a:endParaRPr lang="en-US"/>
            </a:p>
          </p:txBody>
        </p:sp>
        <p:sp>
          <p:nvSpPr>
            <p:cNvPr id="36" name="Line 36"/>
            <p:cNvSpPr/>
            <p:nvPr/>
          </p:nvSpPr>
          <p:spPr>
            <a:xfrm>
              <a:off x="2705100" y="2428875"/>
              <a:ext cx="9525" cy="476250"/>
            </a:xfrm>
            <a:custGeom>
              <a:avLst/>
              <a:gdLst/>
              <a:ahLst/>
              <a:cxnLst/>
              <a:rect l="l" t="t" r="r" b="b"/>
              <a:pathLst>
                <a:path w="9525" h="476250">
                  <a:moveTo>
                    <a:pt x="0" y="0"/>
                  </a:moveTo>
                  <a:lnTo>
                    <a:pt x="0" y="476250"/>
                  </a:lnTo>
                </a:path>
              </a:pathLst>
            </a:custGeom>
            <a:noFill/>
            <a:ln w="38100" cap="rnd">
              <a:solidFill>
                <a:srgbClr val="9AA3AE"/>
              </a:solidFill>
            </a:ln>
          </p:spPr>
          <p:txBody>
            <a:bodyPr/>
            <a:lstStyle/>
            <a:p>
              <a:endParaRPr lang="en-US"/>
            </a:p>
          </p:txBody>
        </p:sp>
        <p:grpSp>
          <p:nvGrpSpPr>
            <p:cNvPr id="40" name="Group 40"/>
            <p:cNvGrpSpPr/>
            <p:nvPr/>
          </p:nvGrpSpPr>
          <p:grpSpPr>
            <a:xfrm>
              <a:off x="2959100" y="2471738"/>
              <a:ext cx="177800" cy="200024"/>
              <a:chOff x="2959100" y="2471738"/>
              <a:chExt cx="177800" cy="200024"/>
            </a:xfrm>
          </p:grpSpPr>
          <p:sp>
            <p:nvSpPr>
              <p:cNvPr id="37" name="Freeform 37"/>
              <p:cNvSpPr/>
              <p:nvPr/>
            </p:nvSpPr>
            <p:spPr>
              <a:xfrm>
                <a:off x="2959100" y="2471738"/>
                <a:ext cx="177800" cy="66675"/>
              </a:xfrm>
              <a:custGeom>
                <a:avLst/>
                <a:gdLst/>
                <a:ahLst/>
                <a:cxnLst/>
                <a:rect l="l" t="t" r="r" b="b"/>
                <a:pathLst>
                  <a:path w="177800" h="66675">
                    <a:moveTo>
                      <a:pt x="0" y="33338"/>
                    </a:moveTo>
                    <a:cubicBezTo>
                      <a:pt x="0" y="51749"/>
                      <a:pt x="39802" y="66675"/>
                      <a:pt x="88900" y="66675"/>
                    </a:cubicBezTo>
                    <a:cubicBezTo>
                      <a:pt x="137998" y="66675"/>
                      <a:pt x="177800" y="51749"/>
                      <a:pt x="177800" y="33338"/>
                    </a:cubicBezTo>
                    <a:cubicBezTo>
                      <a:pt x="177800" y="14926"/>
                      <a:pt x="137998" y="0"/>
                      <a:pt x="88900" y="0"/>
                    </a:cubicBezTo>
                    <a:cubicBezTo>
                      <a:pt x="39802" y="0"/>
                      <a:pt x="0" y="14926"/>
                      <a:pt x="0" y="33338"/>
                    </a:cubicBezTo>
                  </a:path>
                </a:pathLst>
              </a:custGeom>
              <a:noFill/>
              <a:ln w="19050">
                <a:solidFill>
                  <a:srgbClr val="5B6470"/>
                </a:solidFill>
              </a:ln>
            </p:spPr>
            <p:txBody>
              <a:bodyPr/>
              <a:lstStyle/>
              <a:p>
                <a:endParaRPr lang="en-US"/>
              </a:p>
            </p:txBody>
          </p:sp>
          <p:sp>
            <p:nvSpPr>
              <p:cNvPr id="38" name="Freeform 38"/>
              <p:cNvSpPr/>
              <p:nvPr/>
            </p:nvSpPr>
            <p:spPr>
              <a:xfrm>
                <a:off x="2959100" y="2505075"/>
                <a:ext cx="177800" cy="100012"/>
              </a:xfrm>
              <a:custGeom>
                <a:avLst/>
                <a:gdLst/>
                <a:ahLst/>
                <a:cxnLst/>
                <a:rect l="l" t="t" r="r" b="b"/>
                <a:pathLst>
                  <a:path w="177800" h="100012">
                    <a:moveTo>
                      <a:pt x="0" y="0"/>
                    </a:moveTo>
                    <a:lnTo>
                      <a:pt x="0" y="66675"/>
                    </a:lnTo>
                    <a:cubicBezTo>
                      <a:pt x="0" y="85087"/>
                      <a:pt x="39802" y="100012"/>
                      <a:pt x="88900" y="100012"/>
                    </a:cubicBezTo>
                    <a:cubicBezTo>
                      <a:pt x="137998" y="100012"/>
                      <a:pt x="177800" y="85087"/>
                      <a:pt x="177800" y="66675"/>
                    </a:cubicBezTo>
                    <a:lnTo>
                      <a:pt x="177800" y="0"/>
                    </a:lnTo>
                  </a:path>
                </a:pathLst>
              </a:custGeom>
              <a:noFill/>
              <a:ln w="19050">
                <a:solidFill>
                  <a:srgbClr val="5B6470"/>
                </a:solidFill>
              </a:ln>
            </p:spPr>
            <p:txBody>
              <a:bodyPr/>
              <a:lstStyle/>
              <a:p>
                <a:endParaRPr lang="en-US"/>
              </a:p>
            </p:txBody>
          </p:sp>
          <p:sp>
            <p:nvSpPr>
              <p:cNvPr id="39" name="Freeform 39"/>
              <p:cNvSpPr/>
              <p:nvPr/>
            </p:nvSpPr>
            <p:spPr>
              <a:xfrm>
                <a:off x="2959100" y="2571750"/>
                <a:ext cx="177800" cy="100012"/>
              </a:xfrm>
              <a:custGeom>
                <a:avLst/>
                <a:gdLst/>
                <a:ahLst/>
                <a:cxnLst/>
                <a:rect l="l" t="t" r="r" b="b"/>
                <a:pathLst>
                  <a:path w="177800" h="100012">
                    <a:moveTo>
                      <a:pt x="0" y="0"/>
                    </a:moveTo>
                    <a:lnTo>
                      <a:pt x="0" y="66675"/>
                    </a:lnTo>
                    <a:cubicBezTo>
                      <a:pt x="0" y="85087"/>
                      <a:pt x="39802" y="100012"/>
                      <a:pt x="88900" y="100012"/>
                    </a:cubicBezTo>
                    <a:cubicBezTo>
                      <a:pt x="137998" y="100012"/>
                      <a:pt x="177800" y="85087"/>
                      <a:pt x="177800" y="66675"/>
                    </a:cubicBezTo>
                    <a:lnTo>
                      <a:pt x="177800" y="0"/>
                    </a:lnTo>
                  </a:path>
                </a:pathLst>
              </a:custGeom>
              <a:noFill/>
              <a:ln w="19050">
                <a:solidFill>
                  <a:srgbClr val="5B6470"/>
                </a:solidFill>
              </a:ln>
            </p:spPr>
            <p:txBody>
              <a:bodyPr/>
              <a:lstStyle/>
              <a:p>
                <a:endParaRPr lang="en-US"/>
              </a:p>
            </p:txBody>
          </p:sp>
        </p:grpSp>
        <p:sp>
          <p:nvSpPr>
            <p:cNvPr id="41" name="TextBox 41"/>
            <p:cNvSpPr txBox="1"/>
            <p:nvPr/>
          </p:nvSpPr>
          <p:spPr>
            <a:xfrm>
              <a:off x="3276600" y="2466975"/>
              <a:ext cx="3016972" cy="304800"/>
            </a:xfrm>
            <a:prstGeom prst="rect">
              <a:avLst/>
            </a:prstGeom>
            <a:noFill/>
            <a:ln>
              <a:noFill/>
            </a:ln>
          </p:spPr>
          <p:txBody>
            <a:bodyPr wrap="none" lIns="0" tIns="0" rIns="0" bIns="0" anchor="t" anchorCtr="0">
              <a:spAutoFit/>
            </a:bodyPr>
            <a:lstStyle/>
            <a:p>
              <a:pPr algn="l"/>
              <a:r>
                <a:rPr lang="zh-CN" sz="1500" b="1" dirty="0">
                  <a:solidFill>
                    <a:srgbClr val="334155"/>
                  </a:solidFill>
                  <a:latin typeface="Arial Black"/>
                  <a:ea typeface="Microsoft YaHei"/>
                  <a:cs typeface="Arial Black"/>
                </a:rPr>
                <a:t>More sources beyond iData</a:t>
              </a:r>
            </a:p>
          </p:txBody>
        </p:sp>
        <p:sp>
          <p:nvSpPr>
            <p:cNvPr id="42" name="TextBox 42"/>
            <p:cNvSpPr txBox="1"/>
            <p:nvPr/>
          </p:nvSpPr>
          <p:spPr>
            <a:xfrm>
              <a:off x="3283268" y="2752249"/>
              <a:ext cx="7600378" cy="198120"/>
            </a:xfrm>
            <a:prstGeom prst="rect">
              <a:avLst/>
            </a:prstGeom>
            <a:noFill/>
            <a:ln>
              <a:noFill/>
            </a:ln>
          </p:spPr>
          <p:txBody>
            <a:bodyPr wrap="none" lIns="0" tIns="0" rIns="0" bIns="0" anchor="t" anchorCtr="0">
              <a:spAutoFit/>
            </a:bodyPr>
            <a:lstStyle/>
            <a:p>
              <a:pPr algn="l"/>
              <a:r>
                <a:rPr lang="zh-CN" sz="975" b="1" dirty="0">
                  <a:solidFill>
                    <a:srgbClr val="004C97"/>
                  </a:solidFill>
                  <a:latin typeface="Arial"/>
                  <a:ea typeface="Microsoft YaHei"/>
                  <a:cs typeface="Arial"/>
                </a:rPr>
                <a:t>Haver</a:t>
              </a:r>
              <a:r>
                <a:rPr lang="zh-CN" sz="975" dirty="0">
                  <a:solidFill>
                    <a:srgbClr val="5B6470"/>
                  </a:solidFill>
                  <a:latin typeface="Arial"/>
                  <a:ea typeface="Microsoft YaHei"/>
                  <a:cs typeface="Arial"/>
                </a:rPr>
                <a:t> (priority) · Bloomberg · Datastream · EDSS — added as new </a:t>
              </a:r>
              <a:r>
                <a:rPr lang="zh-CN" sz="975" dirty="0">
                  <a:solidFill>
                    <a:srgbClr val="009CDE"/>
                  </a:solidFill>
                  <a:latin typeface="Consolas"/>
                  <a:ea typeface="Microsoft YaHei"/>
                  <a:cs typeface="Consolas"/>
                </a:rPr>
                <a:t>imf-ra-*</a:t>
              </a:r>
              <a:r>
                <a:rPr lang="zh-CN" sz="975" dirty="0">
                  <a:solidFill>
                    <a:srgbClr val="5B6470"/>
                  </a:solidFill>
                  <a:latin typeface="Arial"/>
                  <a:ea typeface="Microsoft YaHei"/>
                  <a:cs typeface="Arial"/>
                </a:rPr>
                <a:t> workers, no rework of the chain.</a:t>
              </a:r>
            </a:p>
          </p:txBody>
        </p:sp>
        <p:sp>
          <p:nvSpPr>
            <p:cNvPr id="43" name="Rectangle 43"/>
            <p:cNvSpPr/>
            <p:nvPr/>
          </p:nvSpPr>
          <p:spPr>
            <a:xfrm>
              <a:off x="9239250" y="2400300"/>
              <a:ext cx="952500" cy="247650"/>
            </a:xfrm>
            <a:prstGeom prst="roundRect">
              <a:avLst>
                <a:gd name="adj" fmla="val 50000"/>
              </a:avLst>
            </a:prstGeom>
            <a:solidFill>
              <a:srgbClr val="F1F5F9"/>
            </a:solidFill>
            <a:ln>
              <a:noFill/>
            </a:ln>
          </p:spPr>
          <p:txBody>
            <a:bodyPr/>
            <a:lstStyle/>
            <a:p>
              <a:endParaRPr lang="en-US"/>
            </a:p>
          </p:txBody>
        </p:sp>
        <p:sp>
          <p:nvSpPr>
            <p:cNvPr id="44" name="TextBox 44"/>
            <p:cNvSpPr txBox="1"/>
            <p:nvPr/>
          </p:nvSpPr>
          <p:spPr>
            <a:xfrm>
              <a:off x="9461480" y="2482691"/>
              <a:ext cx="508041" cy="167640"/>
            </a:xfrm>
            <a:prstGeom prst="rect">
              <a:avLst/>
            </a:prstGeom>
            <a:noFill/>
            <a:ln>
              <a:noFill/>
            </a:ln>
          </p:spPr>
          <p:txBody>
            <a:bodyPr wrap="none" lIns="0" tIns="0" rIns="0" bIns="0" anchor="t" anchorCtr="0">
              <a:spAutoFit/>
            </a:bodyPr>
            <a:lstStyle/>
            <a:p>
              <a:pPr algn="ctr"/>
              <a:r>
                <a:rPr lang="zh-CN" sz="825" b="1" dirty="0">
                  <a:solidFill>
                    <a:srgbClr val="5B6470"/>
                  </a:solidFill>
                  <a:latin typeface="Arial"/>
                  <a:ea typeface="Microsoft YaHei"/>
                  <a:cs typeface="Arial"/>
                </a:rPr>
                <a:t>PLANNED</a:t>
              </a:r>
            </a:p>
          </p:txBody>
        </p:sp>
      </p:grpSp>
      <p:grpSp>
        <p:nvGrpSpPr>
          <p:cNvPr id="61" name="Group 61"/>
          <p:cNvGrpSpPr/>
          <p:nvPr/>
        </p:nvGrpSpPr>
        <p:grpSpPr>
          <a:xfrm>
            <a:off x="1671941" y="3238500"/>
            <a:ext cx="8670590" cy="762000"/>
            <a:chOff x="1671941" y="3238500"/>
            <a:chExt cx="8670590" cy="762000"/>
          </a:xfrm>
        </p:grpSpPr>
        <p:sp>
          <p:nvSpPr>
            <p:cNvPr id="46" name="TextBox 46"/>
            <p:cNvSpPr txBox="1"/>
            <p:nvPr/>
          </p:nvSpPr>
          <p:spPr>
            <a:xfrm>
              <a:off x="1671941" y="3571399"/>
              <a:ext cx="435941" cy="198120"/>
            </a:xfrm>
            <a:prstGeom prst="rect">
              <a:avLst/>
            </a:prstGeom>
            <a:noFill/>
            <a:ln>
              <a:noFill/>
            </a:ln>
          </p:spPr>
          <p:txBody>
            <a:bodyPr wrap="none" lIns="0" tIns="0" rIns="0" bIns="0" anchor="t" anchorCtr="0">
              <a:spAutoFit/>
            </a:bodyPr>
            <a:lstStyle/>
            <a:p>
              <a:pPr algn="r"/>
              <a:r>
                <a:rPr lang="zh-CN" sz="975" b="1" dirty="0">
                  <a:solidFill>
                    <a:srgbClr val="5B6470"/>
                  </a:solidFill>
                  <a:latin typeface="Arial"/>
                  <a:ea typeface="Microsoft YaHei"/>
                  <a:cs typeface="Arial"/>
                </a:rPr>
                <a:t>Later</a:t>
              </a:r>
            </a:p>
          </p:txBody>
        </p:sp>
        <p:sp>
          <p:nvSpPr>
            <p:cNvPr id="47" name="Ellipse 47"/>
            <p:cNvSpPr/>
            <p:nvPr/>
          </p:nvSpPr>
          <p:spPr>
            <a:xfrm>
              <a:off x="2152650" y="3486150"/>
              <a:ext cx="266700" cy="266700"/>
            </a:xfrm>
            <a:prstGeom prst="ellipse">
              <a:avLst/>
            </a:prstGeom>
            <a:solidFill>
              <a:srgbClr val="EAF6FD"/>
            </a:solidFill>
            <a:ln w="28575">
              <a:solidFill>
                <a:srgbClr val="9AA3AE"/>
              </a:solidFill>
            </a:ln>
          </p:spPr>
          <p:txBody>
            <a:bodyPr/>
            <a:lstStyle/>
            <a:p>
              <a:endParaRPr lang="en-US"/>
            </a:p>
          </p:txBody>
        </p:sp>
        <p:sp>
          <p:nvSpPr>
            <p:cNvPr id="48" name="Ellipse 48"/>
            <p:cNvSpPr/>
            <p:nvPr/>
          </p:nvSpPr>
          <p:spPr>
            <a:xfrm>
              <a:off x="2238375" y="3571875"/>
              <a:ext cx="95250" cy="95250"/>
            </a:xfrm>
            <a:prstGeom prst="ellipse">
              <a:avLst/>
            </a:prstGeom>
            <a:solidFill>
              <a:srgbClr val="9AA3AE"/>
            </a:solidFill>
            <a:ln>
              <a:noFill/>
            </a:ln>
          </p:spPr>
          <p:txBody>
            <a:bodyPr/>
            <a:lstStyle/>
            <a:p>
              <a:endParaRPr lang="en-US"/>
            </a:p>
          </p:txBody>
        </p:sp>
        <p:sp>
          <p:nvSpPr>
            <p:cNvPr id="49" name="Rectangle 49"/>
            <p:cNvSpPr/>
            <p:nvPr/>
          </p:nvSpPr>
          <p:spPr>
            <a:xfrm>
              <a:off x="2667000" y="3238500"/>
              <a:ext cx="7620000" cy="762000"/>
            </a:xfrm>
            <a:prstGeom prst="roundRect">
              <a:avLst>
                <a:gd name="adj" fmla="val 12500"/>
              </a:avLst>
            </a:prstGeom>
            <a:solidFill>
              <a:srgbClr val="FFFFFF"/>
            </a:solidFill>
            <a:ln w="14288">
              <a:solidFill>
                <a:srgbClr val="CDD7E2"/>
              </a:solidFill>
            </a:ln>
          </p:spPr>
          <p:txBody>
            <a:bodyPr/>
            <a:lstStyle/>
            <a:p>
              <a:endParaRPr lang="en-US"/>
            </a:p>
          </p:txBody>
        </p:sp>
        <p:sp>
          <p:nvSpPr>
            <p:cNvPr id="50" name="Line 50"/>
            <p:cNvSpPr/>
            <p:nvPr/>
          </p:nvSpPr>
          <p:spPr>
            <a:xfrm>
              <a:off x="2705100" y="3381375"/>
              <a:ext cx="9525" cy="476250"/>
            </a:xfrm>
            <a:custGeom>
              <a:avLst/>
              <a:gdLst/>
              <a:ahLst/>
              <a:cxnLst/>
              <a:rect l="l" t="t" r="r" b="b"/>
              <a:pathLst>
                <a:path w="9525" h="476250">
                  <a:moveTo>
                    <a:pt x="0" y="0"/>
                  </a:moveTo>
                  <a:lnTo>
                    <a:pt x="0" y="476250"/>
                  </a:lnTo>
                </a:path>
              </a:pathLst>
            </a:custGeom>
            <a:noFill/>
            <a:ln w="38100" cap="rnd">
              <a:solidFill>
                <a:srgbClr val="9AA3AE"/>
              </a:solidFill>
            </a:ln>
          </p:spPr>
          <p:txBody>
            <a:bodyPr/>
            <a:lstStyle/>
            <a:p>
              <a:endParaRPr lang="en-US"/>
            </a:p>
          </p:txBody>
        </p:sp>
        <p:grpSp>
          <p:nvGrpSpPr>
            <p:cNvPr id="56" name="Group 56"/>
            <p:cNvGrpSpPr/>
            <p:nvPr/>
          </p:nvGrpSpPr>
          <p:grpSpPr>
            <a:xfrm>
              <a:off x="2947988" y="3439709"/>
              <a:ext cx="209549" cy="162329"/>
              <a:chOff x="2947988" y="3439709"/>
              <a:chExt cx="209549" cy="162329"/>
            </a:xfrm>
          </p:grpSpPr>
          <p:sp>
            <p:nvSpPr>
              <p:cNvPr id="51" name="Freeform 51"/>
              <p:cNvSpPr/>
              <p:nvPr/>
            </p:nvSpPr>
            <p:spPr>
              <a:xfrm>
                <a:off x="2947988" y="3584172"/>
                <a:ext cx="200025" cy="17866"/>
              </a:xfrm>
              <a:custGeom>
                <a:avLst/>
                <a:gdLst/>
                <a:ahLst/>
                <a:cxnLst/>
                <a:rect l="l" t="t" r="r" b="b"/>
                <a:pathLst>
                  <a:path w="200025" h="17866">
                    <a:moveTo>
                      <a:pt x="0" y="17866"/>
                    </a:moveTo>
                    <a:cubicBezTo>
                      <a:pt x="30944" y="0"/>
                      <a:pt x="69069" y="0"/>
                      <a:pt x="100012" y="17866"/>
                    </a:cubicBezTo>
                    <a:cubicBezTo>
                      <a:pt x="130956" y="0"/>
                      <a:pt x="169081" y="0"/>
                      <a:pt x="200025" y="17866"/>
                    </a:cubicBezTo>
                  </a:path>
                </a:pathLst>
              </a:custGeom>
              <a:noFill/>
              <a:ln w="19050">
                <a:solidFill>
                  <a:srgbClr val="5B6470"/>
                </a:solidFill>
              </a:ln>
            </p:spPr>
            <p:txBody>
              <a:bodyPr/>
              <a:lstStyle/>
              <a:p>
                <a:endParaRPr lang="en-US"/>
              </a:p>
            </p:txBody>
          </p:sp>
          <p:sp>
            <p:nvSpPr>
              <p:cNvPr id="52" name="Freeform 52"/>
              <p:cNvSpPr/>
              <p:nvPr/>
            </p:nvSpPr>
            <p:spPr>
              <a:xfrm>
                <a:off x="2947988" y="3439709"/>
                <a:ext cx="200025" cy="17866"/>
              </a:xfrm>
              <a:custGeom>
                <a:avLst/>
                <a:gdLst/>
                <a:ahLst/>
                <a:cxnLst/>
                <a:rect l="l" t="t" r="r" b="b"/>
                <a:pathLst>
                  <a:path w="200025" h="17866">
                    <a:moveTo>
                      <a:pt x="0" y="17866"/>
                    </a:moveTo>
                    <a:cubicBezTo>
                      <a:pt x="30944" y="0"/>
                      <a:pt x="69069" y="0"/>
                      <a:pt x="100012" y="17866"/>
                    </a:cubicBezTo>
                    <a:cubicBezTo>
                      <a:pt x="130956" y="0"/>
                      <a:pt x="169081" y="0"/>
                      <a:pt x="200025" y="17866"/>
                    </a:cubicBezTo>
                  </a:path>
                </a:pathLst>
              </a:custGeom>
              <a:noFill/>
              <a:ln w="19050">
                <a:solidFill>
                  <a:srgbClr val="5B6470"/>
                </a:solidFill>
              </a:ln>
            </p:spPr>
            <p:txBody>
              <a:bodyPr/>
              <a:lstStyle/>
              <a:p>
                <a:endParaRPr lang="en-US"/>
              </a:p>
            </p:txBody>
          </p:sp>
          <p:sp>
            <p:nvSpPr>
              <p:cNvPr id="53" name="Freeform 53"/>
              <p:cNvSpPr/>
              <p:nvPr/>
            </p:nvSpPr>
            <p:spPr>
              <a:xfrm>
                <a:off x="2947988" y="3457575"/>
                <a:ext cx="9525" cy="144463"/>
              </a:xfrm>
              <a:custGeom>
                <a:avLst/>
                <a:gdLst/>
                <a:ahLst/>
                <a:cxnLst/>
                <a:rect l="l" t="t" r="r" b="b"/>
                <a:pathLst>
                  <a:path w="9525" h="144463">
                    <a:moveTo>
                      <a:pt x="0" y="0"/>
                    </a:moveTo>
                    <a:lnTo>
                      <a:pt x="0" y="144463"/>
                    </a:lnTo>
                  </a:path>
                </a:pathLst>
              </a:custGeom>
              <a:noFill/>
              <a:ln w="19050">
                <a:solidFill>
                  <a:srgbClr val="5B6470"/>
                </a:solidFill>
              </a:ln>
            </p:spPr>
            <p:txBody>
              <a:bodyPr/>
              <a:lstStyle/>
              <a:p>
                <a:endParaRPr lang="en-US"/>
              </a:p>
            </p:txBody>
          </p:sp>
          <p:sp>
            <p:nvSpPr>
              <p:cNvPr id="54" name="Freeform 54"/>
              <p:cNvSpPr/>
              <p:nvPr/>
            </p:nvSpPr>
            <p:spPr>
              <a:xfrm>
                <a:off x="3048000" y="3457575"/>
                <a:ext cx="9525" cy="144463"/>
              </a:xfrm>
              <a:custGeom>
                <a:avLst/>
                <a:gdLst/>
                <a:ahLst/>
                <a:cxnLst/>
                <a:rect l="l" t="t" r="r" b="b"/>
                <a:pathLst>
                  <a:path w="9525" h="144463">
                    <a:moveTo>
                      <a:pt x="0" y="0"/>
                    </a:moveTo>
                    <a:lnTo>
                      <a:pt x="0" y="144463"/>
                    </a:lnTo>
                  </a:path>
                </a:pathLst>
              </a:custGeom>
              <a:noFill/>
              <a:ln w="19050">
                <a:solidFill>
                  <a:srgbClr val="5B6470"/>
                </a:solidFill>
              </a:ln>
            </p:spPr>
            <p:txBody>
              <a:bodyPr/>
              <a:lstStyle/>
              <a:p>
                <a:endParaRPr lang="en-US"/>
              </a:p>
            </p:txBody>
          </p:sp>
          <p:sp>
            <p:nvSpPr>
              <p:cNvPr id="55" name="Freeform 55"/>
              <p:cNvSpPr/>
              <p:nvPr/>
            </p:nvSpPr>
            <p:spPr>
              <a:xfrm>
                <a:off x="3148012" y="3457575"/>
                <a:ext cx="9525" cy="144463"/>
              </a:xfrm>
              <a:custGeom>
                <a:avLst/>
                <a:gdLst/>
                <a:ahLst/>
                <a:cxnLst/>
                <a:rect l="l" t="t" r="r" b="b"/>
                <a:pathLst>
                  <a:path w="9525" h="144463">
                    <a:moveTo>
                      <a:pt x="0" y="0"/>
                    </a:moveTo>
                    <a:lnTo>
                      <a:pt x="0" y="144463"/>
                    </a:lnTo>
                  </a:path>
                </a:pathLst>
              </a:custGeom>
              <a:noFill/>
              <a:ln w="19050">
                <a:solidFill>
                  <a:srgbClr val="5B6470"/>
                </a:solidFill>
              </a:ln>
            </p:spPr>
            <p:txBody>
              <a:bodyPr/>
              <a:lstStyle/>
              <a:p>
                <a:endParaRPr lang="en-US"/>
              </a:p>
            </p:txBody>
          </p:sp>
        </p:grpSp>
        <p:sp>
          <p:nvSpPr>
            <p:cNvPr id="57" name="TextBox 57"/>
            <p:cNvSpPr txBox="1"/>
            <p:nvPr/>
          </p:nvSpPr>
          <p:spPr>
            <a:xfrm>
              <a:off x="3276600" y="3419475"/>
              <a:ext cx="5719810" cy="304800"/>
            </a:xfrm>
            <a:prstGeom prst="rect">
              <a:avLst/>
            </a:prstGeom>
            <a:noFill/>
            <a:ln>
              <a:noFill/>
            </a:ln>
          </p:spPr>
          <p:txBody>
            <a:bodyPr wrap="none" lIns="0" tIns="0" rIns="0" bIns="0" anchor="t" anchorCtr="0">
              <a:spAutoFit/>
            </a:bodyPr>
            <a:lstStyle/>
            <a:p>
              <a:pPr algn="l"/>
              <a:r>
                <a:rPr lang="zh-CN" sz="1500" b="1" dirty="0">
                  <a:solidFill>
                    <a:srgbClr val="334155"/>
                  </a:solidFill>
                  <a:latin typeface="Arial Black"/>
                  <a:ea typeface="Microsoft YaHei"/>
                  <a:cs typeface="Arial Black"/>
                </a:rPr>
                <a:t>Curated overlays — institutional knowledge as data</a:t>
              </a:r>
            </a:p>
          </p:txBody>
        </p:sp>
        <p:sp>
          <p:nvSpPr>
            <p:cNvPr id="58" name="TextBox 58"/>
            <p:cNvSpPr txBox="1"/>
            <p:nvPr/>
          </p:nvSpPr>
          <p:spPr>
            <a:xfrm>
              <a:off x="3283268" y="3704749"/>
              <a:ext cx="7059263" cy="198120"/>
            </a:xfrm>
            <a:prstGeom prst="rect">
              <a:avLst/>
            </a:prstGeom>
            <a:noFill/>
            <a:ln>
              <a:noFill/>
            </a:ln>
          </p:spPr>
          <p:txBody>
            <a:bodyPr wrap="none" lIns="0" tIns="0" rIns="0" bIns="0" anchor="t" anchorCtr="0">
              <a:spAutoFit/>
            </a:bodyPr>
            <a:lstStyle/>
            <a:p>
              <a:pPr algn="l"/>
              <a:r>
                <a:rPr lang="zh-CN" sz="975" i="1" dirty="0">
                  <a:solidFill>
                    <a:srgbClr val="1F2937"/>
                  </a:solidFill>
                  <a:latin typeface="Arial"/>
                  <a:ea typeface="Microsoft YaHei"/>
                  <a:cs typeface="Arial"/>
                </a:rPr>
                <a:t>"Use IFS quarterly, not WEO annual, for X."</a:t>
              </a:r>
              <a:r>
                <a:rPr lang="zh-CN" sz="975" dirty="0">
                  <a:solidFill>
                    <a:srgbClr val="5B6470"/>
                  </a:solidFill>
                  <a:latin typeface="Arial"/>
                  <a:ea typeface="Microsoft YaHei"/>
                  <a:cs typeface="Arial"/>
                </a:rPr>
                <a:t> Captured in </a:t>
              </a:r>
              <a:r>
                <a:rPr lang="zh-CN" sz="975" dirty="0">
                  <a:solidFill>
                    <a:srgbClr val="009CDE"/>
                  </a:solidFill>
                  <a:latin typeface="Consolas"/>
                  <a:ea typeface="Microsoft YaHei"/>
                  <a:cs typeface="Consolas"/>
                </a:rPr>
                <a:t>overlays/</a:t>
              </a:r>
              <a:r>
                <a:rPr lang="zh-CN" sz="975" dirty="0">
                  <a:solidFill>
                    <a:srgbClr val="5B6470"/>
                  </a:solidFill>
                  <a:latin typeface="Arial"/>
                  <a:ea typeface="Microsoft YaHei"/>
                  <a:cs typeface="Arial"/>
                </a:rPr>
                <a:t> so the agent stops re-learning it.</a:t>
              </a:r>
            </a:p>
          </p:txBody>
        </p:sp>
        <p:sp>
          <p:nvSpPr>
            <p:cNvPr id="59" name="Rectangle 59"/>
            <p:cNvSpPr/>
            <p:nvPr/>
          </p:nvSpPr>
          <p:spPr>
            <a:xfrm>
              <a:off x="9239250" y="3352800"/>
              <a:ext cx="952500" cy="247650"/>
            </a:xfrm>
            <a:prstGeom prst="roundRect">
              <a:avLst>
                <a:gd name="adj" fmla="val 50000"/>
              </a:avLst>
            </a:prstGeom>
            <a:solidFill>
              <a:srgbClr val="F1F5F9"/>
            </a:solidFill>
            <a:ln>
              <a:noFill/>
            </a:ln>
          </p:spPr>
          <p:txBody>
            <a:bodyPr/>
            <a:lstStyle/>
            <a:p>
              <a:endParaRPr lang="en-US"/>
            </a:p>
          </p:txBody>
        </p:sp>
        <p:sp>
          <p:nvSpPr>
            <p:cNvPr id="60" name="TextBox 60"/>
            <p:cNvSpPr txBox="1"/>
            <p:nvPr/>
          </p:nvSpPr>
          <p:spPr>
            <a:xfrm>
              <a:off x="9461480" y="3435191"/>
              <a:ext cx="508041" cy="167640"/>
            </a:xfrm>
            <a:prstGeom prst="rect">
              <a:avLst/>
            </a:prstGeom>
            <a:noFill/>
            <a:ln>
              <a:noFill/>
            </a:ln>
          </p:spPr>
          <p:txBody>
            <a:bodyPr wrap="none" lIns="0" tIns="0" rIns="0" bIns="0" anchor="t" anchorCtr="0">
              <a:spAutoFit/>
            </a:bodyPr>
            <a:lstStyle/>
            <a:p>
              <a:pPr algn="ctr"/>
              <a:r>
                <a:rPr lang="zh-CN" sz="825" b="1" dirty="0">
                  <a:solidFill>
                    <a:srgbClr val="5B6470"/>
                  </a:solidFill>
                  <a:latin typeface="Arial"/>
                  <a:ea typeface="Microsoft YaHei"/>
                  <a:cs typeface="Arial"/>
                </a:rPr>
                <a:t>PLANNED</a:t>
              </a:r>
            </a:p>
          </p:txBody>
        </p:sp>
      </p:grpSp>
      <p:grpSp>
        <p:nvGrpSpPr>
          <p:cNvPr id="72" name="Group 72"/>
          <p:cNvGrpSpPr/>
          <p:nvPr/>
        </p:nvGrpSpPr>
        <p:grpSpPr>
          <a:xfrm>
            <a:off x="1589706" y="4191000"/>
            <a:ext cx="8697294" cy="762000"/>
            <a:chOff x="1589706" y="4191000"/>
            <a:chExt cx="8697294" cy="762000"/>
          </a:xfrm>
        </p:grpSpPr>
        <p:sp>
          <p:nvSpPr>
            <p:cNvPr id="62" name="TextBox 62"/>
            <p:cNvSpPr txBox="1"/>
            <p:nvPr/>
          </p:nvSpPr>
          <p:spPr>
            <a:xfrm>
              <a:off x="1589706" y="4523899"/>
              <a:ext cx="518177" cy="198120"/>
            </a:xfrm>
            <a:prstGeom prst="rect">
              <a:avLst/>
            </a:prstGeom>
            <a:noFill/>
            <a:ln>
              <a:noFill/>
            </a:ln>
          </p:spPr>
          <p:txBody>
            <a:bodyPr wrap="none" lIns="0" tIns="0" rIns="0" bIns="0" anchor="t" anchorCtr="0">
              <a:spAutoFit/>
            </a:bodyPr>
            <a:lstStyle/>
            <a:p>
              <a:pPr algn="r"/>
              <a:r>
                <a:rPr lang="zh-CN" sz="975" b="1" dirty="0">
                  <a:solidFill>
                    <a:srgbClr val="5B6470"/>
                  </a:solidFill>
                  <a:latin typeface="Arial"/>
                  <a:ea typeface="Microsoft YaHei"/>
                  <a:cs typeface="Arial"/>
                </a:rPr>
                <a:t>Future</a:t>
              </a:r>
            </a:p>
          </p:txBody>
        </p:sp>
        <p:sp>
          <p:nvSpPr>
            <p:cNvPr id="63" name="Ellipse 63"/>
            <p:cNvSpPr/>
            <p:nvPr/>
          </p:nvSpPr>
          <p:spPr>
            <a:xfrm>
              <a:off x="2152650" y="4438650"/>
              <a:ext cx="266700" cy="266700"/>
            </a:xfrm>
            <a:prstGeom prst="ellipse">
              <a:avLst/>
            </a:prstGeom>
            <a:solidFill>
              <a:srgbClr val="EAF6FD"/>
            </a:solidFill>
            <a:ln w="28575">
              <a:solidFill>
                <a:srgbClr val="9AA3AE"/>
              </a:solidFill>
            </a:ln>
          </p:spPr>
          <p:txBody>
            <a:bodyPr/>
            <a:lstStyle/>
            <a:p>
              <a:endParaRPr lang="en-US"/>
            </a:p>
          </p:txBody>
        </p:sp>
        <p:sp>
          <p:nvSpPr>
            <p:cNvPr id="64" name="Ellipse 64"/>
            <p:cNvSpPr/>
            <p:nvPr/>
          </p:nvSpPr>
          <p:spPr>
            <a:xfrm>
              <a:off x="2238375" y="4524375"/>
              <a:ext cx="95250" cy="95250"/>
            </a:xfrm>
            <a:prstGeom prst="ellipse">
              <a:avLst/>
            </a:prstGeom>
            <a:solidFill>
              <a:srgbClr val="9AA3AE"/>
            </a:solidFill>
            <a:ln>
              <a:noFill/>
            </a:ln>
          </p:spPr>
          <p:txBody>
            <a:bodyPr/>
            <a:lstStyle/>
            <a:p>
              <a:endParaRPr lang="en-US"/>
            </a:p>
          </p:txBody>
        </p:sp>
        <p:sp>
          <p:nvSpPr>
            <p:cNvPr id="65" name="Rectangle 65"/>
            <p:cNvSpPr/>
            <p:nvPr/>
          </p:nvSpPr>
          <p:spPr>
            <a:xfrm>
              <a:off x="2667000" y="4191000"/>
              <a:ext cx="7620000" cy="762000"/>
            </a:xfrm>
            <a:prstGeom prst="roundRect">
              <a:avLst>
                <a:gd name="adj" fmla="val 12500"/>
              </a:avLst>
            </a:prstGeom>
            <a:solidFill>
              <a:srgbClr val="FFFFFF"/>
            </a:solidFill>
            <a:ln w="14288">
              <a:solidFill>
                <a:srgbClr val="CDD7E2"/>
              </a:solidFill>
            </a:ln>
          </p:spPr>
          <p:txBody>
            <a:bodyPr/>
            <a:lstStyle/>
            <a:p>
              <a:endParaRPr lang="en-US"/>
            </a:p>
          </p:txBody>
        </p:sp>
        <p:sp>
          <p:nvSpPr>
            <p:cNvPr id="66" name="Line 66"/>
            <p:cNvSpPr/>
            <p:nvPr/>
          </p:nvSpPr>
          <p:spPr>
            <a:xfrm>
              <a:off x="2705100" y="4333875"/>
              <a:ext cx="9525" cy="476250"/>
            </a:xfrm>
            <a:custGeom>
              <a:avLst/>
              <a:gdLst/>
              <a:ahLst/>
              <a:cxnLst/>
              <a:rect l="l" t="t" r="r" b="b"/>
              <a:pathLst>
                <a:path w="9525" h="476250">
                  <a:moveTo>
                    <a:pt x="0" y="0"/>
                  </a:moveTo>
                  <a:lnTo>
                    <a:pt x="0" y="476250"/>
                  </a:lnTo>
                </a:path>
              </a:pathLst>
            </a:custGeom>
            <a:noFill/>
            <a:ln w="38100" cap="rnd">
              <a:solidFill>
                <a:srgbClr val="9AA3AE"/>
              </a:solidFill>
            </a:ln>
          </p:spPr>
          <p:txBody>
            <a:bodyPr/>
            <a:lstStyle/>
            <a:p>
              <a:endParaRPr lang="en-US"/>
            </a:p>
          </p:txBody>
        </p:sp>
        <p:sp>
          <p:nvSpPr>
            <p:cNvPr id="67" name="Freeform 67"/>
            <p:cNvSpPr/>
            <p:nvPr/>
          </p:nvSpPr>
          <p:spPr>
            <a:xfrm>
              <a:off x="2970212" y="4398962"/>
              <a:ext cx="155575" cy="177800"/>
            </a:xfrm>
            <a:custGeom>
              <a:avLst/>
              <a:gdLst/>
              <a:ahLst/>
              <a:cxnLst/>
              <a:rect l="l" t="t" r="r" b="b"/>
              <a:pathLst>
                <a:path w="155575" h="177800">
                  <a:moveTo>
                    <a:pt x="0" y="100012"/>
                  </a:moveTo>
                  <a:lnTo>
                    <a:pt x="155575" y="100012"/>
                  </a:lnTo>
                  <a:lnTo>
                    <a:pt x="155575" y="0"/>
                  </a:lnTo>
                  <a:lnTo>
                    <a:pt x="0" y="0"/>
                  </a:lnTo>
                  <a:lnTo>
                    <a:pt x="0" y="177800"/>
                  </a:lnTo>
                </a:path>
              </a:pathLst>
            </a:custGeom>
            <a:noFill/>
            <a:ln w="19050">
              <a:solidFill>
                <a:srgbClr val="5B6470"/>
              </a:solidFill>
            </a:ln>
          </p:spPr>
          <p:txBody>
            <a:bodyPr/>
            <a:lstStyle/>
            <a:p>
              <a:endParaRPr lang="en-US"/>
            </a:p>
          </p:txBody>
        </p:sp>
        <p:sp>
          <p:nvSpPr>
            <p:cNvPr id="68" name="TextBox 68"/>
            <p:cNvSpPr txBox="1"/>
            <p:nvPr/>
          </p:nvSpPr>
          <p:spPr>
            <a:xfrm>
              <a:off x="3276600" y="4371975"/>
              <a:ext cx="2717935" cy="304800"/>
            </a:xfrm>
            <a:prstGeom prst="rect">
              <a:avLst/>
            </a:prstGeom>
            <a:noFill/>
            <a:ln>
              <a:noFill/>
            </a:ln>
          </p:spPr>
          <p:txBody>
            <a:bodyPr wrap="none" lIns="0" tIns="0" rIns="0" bIns="0" anchor="t" anchorCtr="0">
              <a:spAutoFit/>
            </a:bodyPr>
            <a:lstStyle/>
            <a:p>
              <a:pPr algn="l"/>
              <a:r>
                <a:rPr lang="zh-CN" sz="1500" b="1" dirty="0">
                  <a:solidFill>
                    <a:srgbClr val="334155"/>
                  </a:solidFill>
                  <a:latin typeface="Arial Black"/>
                  <a:ea typeface="Microsoft YaHei"/>
                  <a:cs typeface="Arial Black"/>
                </a:rPr>
                <a:t>Downstream automation</a:t>
              </a:r>
            </a:p>
          </p:txBody>
        </p:sp>
        <p:sp>
          <p:nvSpPr>
            <p:cNvPr id="69" name="TextBox 69"/>
            <p:cNvSpPr txBox="1"/>
            <p:nvPr/>
          </p:nvSpPr>
          <p:spPr>
            <a:xfrm>
              <a:off x="3283268" y="4657249"/>
              <a:ext cx="4873442" cy="198120"/>
            </a:xfrm>
            <a:prstGeom prst="rect">
              <a:avLst/>
            </a:prstGeom>
            <a:noFill/>
            <a:ln>
              <a:noFill/>
            </a:ln>
          </p:spPr>
          <p:txBody>
            <a:bodyPr wrap="none" lIns="0" tIns="0" rIns="0" bIns="0" anchor="t" anchorCtr="0">
              <a:spAutoFit/>
            </a:bodyPr>
            <a:lstStyle/>
            <a:p>
              <a:pPr algn="l"/>
              <a:r>
                <a:rPr lang="zh-CN" sz="975" dirty="0">
                  <a:solidFill>
                    <a:srgbClr val="5B6470"/>
                  </a:solidFill>
                  <a:latin typeface="Arial"/>
                  <a:ea typeface="Microsoft YaHei"/>
                  <a:cs typeface="Arial"/>
                </a:rPr>
                <a:t>Notebook templates · reusable modules · scheduled refresh pipelines.</a:t>
              </a:r>
            </a:p>
          </p:txBody>
        </p:sp>
        <p:sp>
          <p:nvSpPr>
            <p:cNvPr id="70" name="Rectangle 70"/>
            <p:cNvSpPr/>
            <p:nvPr/>
          </p:nvSpPr>
          <p:spPr>
            <a:xfrm>
              <a:off x="9239250" y="4305300"/>
              <a:ext cx="952500" cy="247650"/>
            </a:xfrm>
            <a:prstGeom prst="roundRect">
              <a:avLst>
                <a:gd name="adj" fmla="val 50000"/>
              </a:avLst>
            </a:prstGeom>
            <a:solidFill>
              <a:srgbClr val="F1F5F9"/>
            </a:solidFill>
            <a:ln>
              <a:noFill/>
            </a:ln>
          </p:spPr>
          <p:txBody>
            <a:bodyPr/>
            <a:lstStyle/>
            <a:p>
              <a:endParaRPr lang="en-US"/>
            </a:p>
          </p:txBody>
        </p:sp>
        <p:sp>
          <p:nvSpPr>
            <p:cNvPr id="71" name="TextBox 71"/>
            <p:cNvSpPr txBox="1"/>
            <p:nvPr/>
          </p:nvSpPr>
          <p:spPr>
            <a:xfrm>
              <a:off x="9496271" y="4387691"/>
              <a:ext cx="438457" cy="167640"/>
            </a:xfrm>
            <a:prstGeom prst="rect">
              <a:avLst/>
            </a:prstGeom>
            <a:noFill/>
            <a:ln>
              <a:noFill/>
            </a:ln>
          </p:spPr>
          <p:txBody>
            <a:bodyPr wrap="none" lIns="0" tIns="0" rIns="0" bIns="0" anchor="t" anchorCtr="0">
              <a:spAutoFit/>
            </a:bodyPr>
            <a:lstStyle/>
            <a:p>
              <a:pPr algn="ctr"/>
              <a:r>
                <a:rPr lang="zh-CN" sz="825" b="1" dirty="0">
                  <a:solidFill>
                    <a:srgbClr val="5B6470"/>
                  </a:solidFill>
                  <a:latin typeface="Arial"/>
                  <a:ea typeface="Microsoft YaHei"/>
                  <a:cs typeface="Arial"/>
                </a:rPr>
                <a:t>FUTURE</a:t>
              </a:r>
            </a:p>
          </p:txBody>
        </p:sp>
      </p:grpSp>
      <p:grpSp>
        <p:nvGrpSpPr>
          <p:cNvPr id="74" name="Group 74"/>
          <p:cNvGrpSpPr/>
          <p:nvPr/>
        </p:nvGrpSpPr>
        <p:grpSpPr>
          <a:xfrm>
            <a:off x="2190750" y="5238750"/>
            <a:ext cx="190500" cy="190500"/>
            <a:chOff x="2190750" y="5238750"/>
            <a:chExt cx="190500" cy="190500"/>
          </a:xfrm>
        </p:grpSpPr>
        <p:sp>
          <p:nvSpPr>
            <p:cNvPr id="73" name="Ellipse 73"/>
            <p:cNvSpPr/>
            <p:nvPr/>
          </p:nvSpPr>
          <p:spPr>
            <a:xfrm>
              <a:off x="2190750" y="5238750"/>
              <a:ext cx="190500" cy="190500"/>
            </a:xfrm>
            <a:prstGeom prst="ellipse">
              <a:avLst/>
            </a:prstGeom>
            <a:solidFill>
              <a:srgbClr val="9AA3AE"/>
            </a:solidFill>
            <a:ln>
              <a:noFill/>
            </a:ln>
          </p:spPr>
          <p:txBody>
            <a:bodyPr/>
            <a:lstStyle/>
            <a:p>
              <a:endParaRPr lang="en-US"/>
            </a:p>
          </p:txBody>
        </p:sp>
      </p:grpSp>
      <p:grpSp>
        <p:nvGrpSpPr>
          <p:cNvPr id="77" name="Group 77"/>
          <p:cNvGrpSpPr/>
          <p:nvPr/>
        </p:nvGrpSpPr>
        <p:grpSpPr>
          <a:xfrm>
            <a:off x="571500" y="5715000"/>
            <a:ext cx="11049000" cy="609600"/>
            <a:chOff x="571500" y="5715000"/>
            <a:chExt cx="11049000" cy="609600"/>
          </a:xfrm>
        </p:grpSpPr>
        <p:sp>
          <p:nvSpPr>
            <p:cNvPr id="75" name="Rectangle 75"/>
            <p:cNvSpPr/>
            <p:nvPr/>
          </p:nvSpPr>
          <p:spPr>
            <a:xfrm>
              <a:off x="571500" y="5715000"/>
              <a:ext cx="11049000" cy="609600"/>
            </a:xfrm>
            <a:prstGeom prst="roundRect">
              <a:avLst>
                <a:gd name="adj" fmla="val 12500"/>
              </a:avLst>
            </a:prstGeom>
            <a:solidFill>
              <a:srgbClr val="004C97"/>
            </a:solidFill>
            <a:ln>
              <a:noFill/>
            </a:ln>
          </p:spPr>
          <p:txBody>
            <a:bodyPr/>
            <a:lstStyle/>
            <a:p>
              <a:endParaRPr lang="en-US"/>
            </a:p>
          </p:txBody>
        </p:sp>
        <p:sp>
          <p:nvSpPr>
            <p:cNvPr id="76" name="TextBox 76"/>
            <p:cNvSpPr txBox="1"/>
            <p:nvPr/>
          </p:nvSpPr>
          <p:spPr>
            <a:xfrm>
              <a:off x="2062686" y="5936932"/>
              <a:ext cx="8066627" cy="335280"/>
            </a:xfrm>
            <a:prstGeom prst="rect">
              <a:avLst/>
            </a:prstGeom>
            <a:noFill/>
            <a:ln>
              <a:noFill/>
            </a:ln>
          </p:spPr>
          <p:txBody>
            <a:bodyPr wrap="none" lIns="0" tIns="0" rIns="0" bIns="0" anchor="t" anchorCtr="0">
              <a:spAutoFit/>
            </a:bodyPr>
            <a:lstStyle/>
            <a:p>
              <a:pPr algn="ctr"/>
              <a:r>
                <a:rPr lang="zh-CN" sz="1650" i="1" dirty="0">
                  <a:solidFill>
                    <a:srgbClr val="FFFFFF"/>
                  </a:solidFill>
                  <a:latin typeface="Arial Black"/>
                  <a:ea typeface="Microsoft YaHei"/>
                  <a:cs typeface="Arial Black"/>
                </a:rPr>
                <a:t>From chatbot to colleague — and the colleague keeps getting better.</a:t>
              </a:r>
            </a:p>
          </p:txBody>
        </p:sp>
      </p:grpSp>
      <p:grpSp>
        <p:nvGrpSpPr>
          <p:cNvPr id="80" name="Group 80"/>
          <p:cNvGrpSpPr/>
          <p:nvPr/>
        </p:nvGrpSpPr>
        <p:grpSpPr>
          <a:xfrm>
            <a:off x="561022" y="6578441"/>
            <a:ext cx="11069955" cy="167640"/>
            <a:chOff x="561022" y="6578441"/>
            <a:chExt cx="11069955" cy="167640"/>
          </a:xfrm>
        </p:grpSpPr>
        <p:sp>
          <p:nvSpPr>
            <p:cNvPr id="78" name="TextBox 78"/>
            <p:cNvSpPr txBox="1"/>
            <p:nvPr/>
          </p:nvSpPr>
          <p:spPr>
            <a:xfrm>
              <a:off x="561022" y="6578441"/>
              <a:ext cx="2099429" cy="167640"/>
            </a:xfrm>
            <a:prstGeom prst="rect">
              <a:avLst/>
            </a:prstGeom>
            <a:noFill/>
            <a:ln>
              <a:noFill/>
            </a:ln>
          </p:spPr>
          <p:txBody>
            <a:bodyPr wrap="none" lIns="0" tIns="0" rIns="0" bIns="0" anchor="t" anchorCtr="0">
              <a:spAutoFit/>
            </a:bodyPr>
            <a:lstStyle/>
            <a:p>
              <a:pPr algn="l"/>
              <a:r>
                <a:rPr lang="zh-CN" sz="825" dirty="0">
                  <a:solidFill>
                    <a:srgbClr val="9AA3AE"/>
                  </a:solidFill>
                  <a:latin typeface="Arial"/>
                  <a:ea typeface="Microsoft YaHei"/>
                  <a:cs typeface="Arial"/>
                </a:rPr>
                <a:t>RA Skills · Internal showcase · 2026</a:t>
              </a:r>
            </a:p>
          </p:txBody>
        </p:sp>
        <p:sp>
          <p:nvSpPr>
            <p:cNvPr id="79" name="TextBox 79"/>
            <p:cNvSpPr txBox="1"/>
            <p:nvPr/>
          </p:nvSpPr>
          <p:spPr>
            <a:xfrm>
              <a:off x="11266622" y="6578441"/>
              <a:ext cx="364355" cy="167640"/>
            </a:xfrm>
            <a:prstGeom prst="rect">
              <a:avLst/>
            </a:prstGeom>
            <a:noFill/>
            <a:ln>
              <a:noFill/>
            </a:ln>
          </p:spPr>
          <p:txBody>
            <a:bodyPr wrap="none" lIns="0" tIns="0" rIns="0" bIns="0" anchor="t" anchorCtr="0">
              <a:spAutoFit/>
            </a:bodyPr>
            <a:lstStyle/>
            <a:p>
              <a:pPr algn="r"/>
              <a:r>
                <a:rPr lang="zh-CN" sz="825" dirty="0">
                  <a:solidFill>
                    <a:srgbClr val="9AA3AE"/>
                  </a:solidFill>
                  <a:latin typeface="Arial"/>
                  <a:ea typeface="Microsoft YaHei"/>
                  <a:cs typeface="Arial"/>
                </a:rPr>
                <a:t>10 / 10</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900"/>
                            </p:stCondLst>
                            <p:childTnLst>
                              <p:par>
                                <p:cTn id="9" presetID="18" presetClass="entr" presetSubtype="12"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strips(downRight)">
                                      <p:cBhvr>
                                        <p:cTn id="11" dur="400"/>
                                        <p:tgtEl>
                                          <p:spTgt spid="31"/>
                                        </p:tgtEl>
                                      </p:cBhvr>
                                    </p:animEffect>
                                  </p:childTnLst>
                                </p:cTn>
                              </p:par>
                            </p:childTnLst>
                          </p:cTn>
                        </p:par>
                        <p:par>
                          <p:cTn id="12" fill="hold">
                            <p:stCondLst>
                              <p:cond delay="1800"/>
                            </p:stCondLst>
                            <p:childTnLst>
                              <p:par>
                                <p:cTn id="13" presetID="20" presetClass="entr" presetSubtype="0" fill="hold" nodeType="afterEffect">
                                  <p:stCondLst>
                                    <p:cond delay="0"/>
                                  </p:stCondLst>
                                  <p:childTnLst>
                                    <p:set>
                                      <p:cBhvr>
                                        <p:cTn id="14" dur="1" fill="hold">
                                          <p:stCondLst>
                                            <p:cond delay="0"/>
                                          </p:stCondLst>
                                        </p:cTn>
                                        <p:tgtEl>
                                          <p:spTgt spid="45"/>
                                        </p:tgtEl>
                                        <p:attrNameLst>
                                          <p:attrName>style.visibility</p:attrName>
                                        </p:attrNameLst>
                                      </p:cBhvr>
                                      <p:to>
                                        <p:strVal val="visible"/>
                                      </p:to>
                                    </p:set>
                                    <p:animEffect transition="in" filter="wedge">
                                      <p:cBhvr>
                                        <p:cTn id="15" dur="400"/>
                                        <p:tgtEl>
                                          <p:spTgt spid="45"/>
                                        </p:tgtEl>
                                      </p:cBhvr>
                                    </p:animEffect>
                                  </p:childTnLst>
                                </p:cTn>
                              </p:par>
                            </p:childTnLst>
                          </p:cTn>
                        </p:par>
                        <p:par>
                          <p:cTn id="16" fill="hold">
                            <p:stCondLst>
                              <p:cond delay="2700"/>
                            </p:stCondLst>
                            <p:childTnLst>
                              <p:par>
                                <p:cTn id="17" presetID="21" presetClass="entr" presetSubtype="0"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heel(4)">
                                      <p:cBhvr>
                                        <p:cTn id="19" dur="400"/>
                                        <p:tgtEl>
                                          <p:spTgt spid="61"/>
                                        </p:tgtEl>
                                      </p:cBhvr>
                                    </p:animEffect>
                                  </p:childTnLst>
                                </p:cTn>
                              </p:par>
                            </p:childTnLst>
                          </p:cTn>
                        </p:par>
                        <p:par>
                          <p:cTn id="20" fill="hold">
                            <p:stCondLst>
                              <p:cond delay="3600"/>
                            </p:stCondLst>
                            <p:childTnLst>
                              <p:par>
                                <p:cTn id="21" presetID="22" presetClass="entr" presetSubtype="1" fill="hold" nodeType="afterEffect">
                                  <p:stCondLst>
                                    <p:cond delay="0"/>
                                  </p:stCondLst>
                                  <p:childTnLst>
                                    <p:set>
                                      <p:cBhvr>
                                        <p:cTn id="22" dur="1" fill="hold">
                                          <p:stCondLst>
                                            <p:cond delay="0"/>
                                          </p:stCondLst>
                                        </p:cTn>
                                        <p:tgtEl>
                                          <p:spTgt spid="72"/>
                                        </p:tgtEl>
                                        <p:attrNameLst>
                                          <p:attrName>style.visibility</p:attrName>
                                        </p:attrNameLst>
                                      </p:cBhvr>
                                      <p:to>
                                        <p:strVal val="visible"/>
                                      </p:to>
                                    </p:set>
                                    <p:animEffect transition="in" filter="wipe(left)">
                                      <p:cBhvr>
                                        <p:cTn id="23" dur="400"/>
                                        <p:tgtEl>
                                          <p:spTgt spid="72"/>
                                        </p:tgtEl>
                                      </p:cBhvr>
                                    </p:animEffect>
                                  </p:childTnLst>
                                </p:cTn>
                              </p:par>
                            </p:childTnLst>
                          </p:cTn>
                        </p:par>
                        <p:par>
                          <p:cTn id="24" fill="hold">
                            <p:stCondLst>
                              <p:cond delay="4500"/>
                            </p:stCondLst>
                            <p:childTnLst>
                              <p:par>
                                <p:cTn id="25" presetID="50" presetClass="entr" presetSubtype="0" fill="hold" nodeType="after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stretch(across)">
                                      <p:cBhvr>
                                        <p:cTn id="27" dur="400"/>
                                        <p:tgtEl>
                                          <p:spTgt spid="74"/>
                                        </p:tgtEl>
                                      </p:cBhvr>
                                    </p:animEffect>
                                  </p:childTnLst>
                                </p:cTn>
                              </p:par>
                            </p:childTnLst>
                          </p:cTn>
                        </p:par>
                        <p:par>
                          <p:cTn id="28" fill="hold">
                            <p:stCondLst>
                              <p:cond delay="5400"/>
                            </p:stCondLst>
                            <p:childTnLst>
                              <p:par>
                                <p:cTn id="29" presetID="10" presetClass="entr" presetSubtype="0" fill="hold" nodeType="afterEffect">
                                  <p:stCondLst>
                                    <p:cond delay="0"/>
                                  </p:stCondLst>
                                  <p:childTnLst>
                                    <p:set>
                                      <p:cBhvr>
                                        <p:cTn id="30" dur="1" fill="hold">
                                          <p:stCondLst>
                                            <p:cond delay="0"/>
                                          </p:stCondLst>
                                        </p:cTn>
                                        <p:tgtEl>
                                          <p:spTgt spid="77"/>
                                        </p:tgtEl>
                                        <p:attrNameLst>
                                          <p:attrName>style.visibility</p:attrName>
                                        </p:attrNameLst>
                                      </p:cBhvr>
                                      <p:to>
                                        <p:strVal val="visible"/>
                                      </p:to>
                                    </p:set>
                                    <p:animEffect transition="in" filter="fade">
                                      <p:cBhvr>
                                        <p:cTn id="31"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31" grpId="0"/>
      <p:bldP spid="45" grpId="0"/>
      <p:bldP spid="61" grpId="0"/>
      <p:bldP spid="72" grpId="0"/>
      <p:bldP spid="74" grpId="0"/>
      <p:bldP spid="77"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2640</Words>
  <Application>Microsoft Macintosh PowerPoint</Application>
  <PresentationFormat>Widescreen</PresentationFormat>
  <Paragraphs>292</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Arial Black</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Huang, Chengyu</cp:lastModifiedBy>
  <cp:revision>2</cp:revision>
  <dcterms:created xsi:type="dcterms:W3CDTF">2013-01-27T09:14:16Z</dcterms:created>
  <dcterms:modified xsi:type="dcterms:W3CDTF">2026-05-10T21:48:34Z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c07ed86-5dc5-4593-ad03-a8684b843815_Enabled">
    <vt:lpwstr>true</vt:lpwstr>
  </property>
  <property fmtid="{D5CDD505-2E9C-101B-9397-08002B2CF9AE}" pid="3" name="MSIP_Label_0c07ed86-5dc5-4593-ad03-a8684b843815_SetDate">
    <vt:lpwstr>2026-05-10T21:48:33Z</vt:lpwstr>
  </property>
  <property fmtid="{D5CDD505-2E9C-101B-9397-08002B2CF9AE}" pid="4" name="MSIP_Label_0c07ed86-5dc5-4593-ad03-a8684b843815_Method">
    <vt:lpwstr>Standard</vt:lpwstr>
  </property>
  <property fmtid="{D5CDD505-2E9C-101B-9397-08002B2CF9AE}" pid="5" name="MSIP_Label_0c07ed86-5dc5-4593-ad03-a8684b843815_Name">
    <vt:lpwstr>0c07ed86-5dc5-4593-ad03-a8684b843815</vt:lpwstr>
  </property>
  <property fmtid="{D5CDD505-2E9C-101B-9397-08002B2CF9AE}" pid="6" name="MSIP_Label_0c07ed86-5dc5-4593-ad03-a8684b843815_SiteId">
    <vt:lpwstr>8085fa43-302e-45bd-b171-a6648c3b6be7</vt:lpwstr>
  </property>
  <property fmtid="{D5CDD505-2E9C-101B-9397-08002B2CF9AE}" pid="7" name="MSIP_Label_0c07ed86-5dc5-4593-ad03-a8684b843815_ActionId">
    <vt:lpwstr>4c120a36-4719-417c-a1de-f7171f4ce401</vt:lpwstr>
  </property>
  <property fmtid="{D5CDD505-2E9C-101B-9397-08002B2CF9AE}" pid="8" name="MSIP_Label_0c07ed86-5dc5-4593-ad03-a8684b843815_ContentBits">
    <vt:lpwstr>0</vt:lpwstr>
  </property>
  <property fmtid="{D5CDD505-2E9C-101B-9397-08002B2CF9AE}" pid="9" name="MSIP_Label_0c07ed86-5dc5-4593-ad03-a8684b843815_Tag">
    <vt:lpwstr>50, 3, 0, 1</vt:lpwstr>
  </property>
</Properties>
</file>